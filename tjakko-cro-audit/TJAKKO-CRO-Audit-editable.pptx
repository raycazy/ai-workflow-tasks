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00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-2286000"/>
            <a:ext cx="7772400" cy="6400800"/>
          </a:xfrm>
          <a:prstGeom prst="ellipse">
            <a:avLst/>
          </a:prstGeom>
          <a:solidFill>
            <a:srgbClr val="3A3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 spc="-300">
                <a:solidFill>
                  <a:srgbClr val="F7D007"/>
                </a:solidFill>
                <a:latin typeface="Helvetica Neue"/>
              </a:rPr>
              <a:t>TJÅKKO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 spc="-200">
                <a:solidFill>
                  <a:srgbClr val="FFFFFF"/>
                </a:solidFill>
                <a:latin typeface="Helvetica Neue"/>
              </a:rPr>
              <a:t>CRO Audit &amp; Opportunity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947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GA4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94760"/>
            <a:ext cx="141732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37947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79476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Funnel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3794760"/>
            <a:ext cx="96012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29000" y="37947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3794760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Heuristic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94760"/>
            <a:ext cx="160020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3794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379476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Voice of Customer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3794760"/>
            <a:ext cx="192024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7947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79476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00">
                <a:solidFill>
                  <a:srgbClr val="EFEEEE"/>
                </a:solidFill>
                <a:latin typeface="Helvetica Neue"/>
              </a:rPr>
              <a:t>Competitors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794760"/>
            <a:ext cx="1417320" cy="310896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tjakko.se  ·  Barfotaskor &amp; outdoor, Shopify, Sweden  ·  Audit date 26 Jun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Helvetica Neue"/>
              </a:rPr>
              <a:t>GA4 property 461672304 (90-day pull + 28-day funnel), PageSpeed, Trustpilot VOC, 5 verified competitors.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57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Prepared by EcomHouse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How this audit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Every finding is grounded in GA4 data, live page behaviour, or the customer's own words. Absolute GA4 numbers are directional; the step to step drop-off ratios are unaffected and drive every priority.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007" y="22860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039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//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039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GA4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39" y="32461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90-day pull + 28-day funnel from property 461672304: sessions, revenue, device split, traffic, sequential View to Purchase funnel.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767" y="22860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8799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//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799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Live page &amp;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99" y="32461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Full walk of homepage, collection, PDP and cart on desktop and mobile, plus Google PageSpeed on all three page types.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527" y="228600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3559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Menlo"/>
              </a:rPr>
              <a:t>//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3559" y="2834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VOC +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3559" y="324612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41 verbatim Trustpilot reviews (4.3/5) theme coded, plus 5 verified barefoot retailers (freefoot, simplybarefoot, barfooties + 2 EU refs).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892040"/>
            <a:ext cx="9997135" cy="10515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029200"/>
            <a:ext cx="95399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The one line version: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96% of product viewers never add to cart, the leak is concentrated on a mobile storefront that is 86% of traffic but converts at a third of desktop, and TJÅKKO already owns the proof and sizing help that would fix it but hides both at the decision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Where the money is leaking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90-day GA4: 47,312 sessions, 666 orders, 1.32M SEK revenue, 1.41% conversion. The funnel and the device split show exactly where to act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" y="196596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9195" y="21305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2427" y="211226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96% drop from View Product to Add to 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2427" y="244144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GA4 funnel: 6,656 users view a product, only 262 add to cart. Checkout itself is healthy.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2427" y="288036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92427" y="28803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3.9% VIEW TO ATC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96596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1315" y="21305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4547" y="211226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Mobile is 86% of traffic, converts 3x worse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547" y="244144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Mobile 1.06% CVR vs desktop 3.86% on 40,896 mobile sessions.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4547" y="288036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4547" y="28803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MOBILE CVR 1.06% VS 3.86%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027" y="338328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195" y="35478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2427" y="352958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42 reviews exist, 0 are shown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2427" y="385876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4.3/5 on Trustpilot, yet the PDP renders "0 recensioner" and cards show no stars.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92427" y="429768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2427" y="4297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SOCIAL PROOF HIDDEN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7" y="338328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1315" y="354787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4547" y="352958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Sizing, the #1 objection, buried in the FAQ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4547" y="385876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Sizing appears in 10 of 41 reviews. The measurement guide sits in the footer FAQ, not on the PDP.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24547" y="429768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4547" y="4297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DRIVES VIEW TO ATC DROP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027" y="480060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195" y="496519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2427" y="494690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75% of sessions are paid, half underperforming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92427" y="527608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Facebook paid 20,013 sessions at 0.76% CVR vs Google CPC at 1.51%.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92427" y="571500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2427" y="57150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FB PAID 0.76% CVR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0147" y="4800600"/>
            <a:ext cx="5303520" cy="1234440"/>
          </a:xfrm>
          <a:prstGeom prst="roundRect">
            <a:avLst>
              <a:gd name="adj" fmla="val 5000"/>
            </a:avLst>
          </a:prstGeom>
          <a:solidFill>
            <a:srgbClr val="140808"/>
          </a:solidFill>
          <a:ln w="9525">
            <a:solidFill>
              <a:srgbClr val="4A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1315" y="496519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Menlo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4547" y="4946904"/>
            <a:ext cx="4160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Helvetica Neue"/>
              </a:rPr>
              <a:t>Cart drawer has no cross-sell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4547" y="527608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  <a:latin typeface="Helvetica Neue"/>
              </a:rPr>
              <a:t>The drawer already has a free-shipping bar and free gift, but no cross-sell to reach them.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24547" y="5715000"/>
            <a:ext cx="2194560" cy="237744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4547" y="57150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EF4444"/>
                </a:solidFill>
                <a:latin typeface="Helvetica Neue"/>
              </a:rPr>
              <a:t>AOV LEVER HALF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QUANTITATIVE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GA4 property 461672304. 90-day totals and a 28-day sequential funnel.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Where TJÅKKO stands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Last 90 days, GA4 property 461672304. Treat absolute numbers as directional anchors.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1763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1763" y="240487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7D007"/>
                </a:solidFill>
                <a:latin typeface="Menlo"/>
              </a:rPr>
              <a:t>1.32M SEK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3203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REVENUE (90D)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2315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2315" y="240487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47,312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3755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SESSIONS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2867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867" y="240487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666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4307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43419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3419" y="240487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1.41%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859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CONVERSION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3971" y="214884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3971" y="240487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~1,986 SEK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5411" y="2926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AVG ORDER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1763" y="347472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763" y="373075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28,249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203" y="4251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USERS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82315" y="347472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82315" y="373075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37.6%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3755" y="4251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BOUNCE 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2867" y="347472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2867" y="373075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62%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4307" y="4251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ENGAGEMENT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3419" y="347472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3419" y="373075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enlo"/>
              </a:rPr>
              <a:t>2m 59s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859" y="4251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AVG SESSION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3971" y="347472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3971" y="3730752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F7D007"/>
                </a:solidFill>
                <a:latin typeface="Menlo"/>
              </a:rPr>
              <a:t>86%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5411" y="4251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20">
                <a:solidFill>
                  <a:srgbClr val="999999"/>
                </a:solidFill>
                <a:latin typeface="Helvetica Neue"/>
              </a:rPr>
              <a:t>TRAFFIC ON MOBILE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5029200"/>
            <a:ext cx="9997135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5166360"/>
            <a:ext cx="95399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A healthy revenue base with strong engagement (62%, low 37.6% bounce).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 problem is not getting people in or holding attention. It is converting the product view into a cart, especially on 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FUNNEL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One step is eating the funnel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GA4 sequential funnel, last 28 days, unique users per step. The leak is the jump from viewing a product to adding it to the cart.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Session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148840"/>
            <a:ext cx="54864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148840"/>
            <a:ext cx="5486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enlo"/>
              </a:rPr>
              <a:t>8,923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98064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View 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98064"/>
            <a:ext cx="54864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798064"/>
            <a:ext cx="4092854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798064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enlo"/>
              </a:rPr>
              <a:t>6,656  ·  74.6%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4728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Add to cart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447288"/>
            <a:ext cx="54864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447288"/>
            <a:ext cx="71323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447288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nlo"/>
              </a:rPr>
              <a:t>262  ·  3.9%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Begin checkout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96512"/>
            <a:ext cx="54864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4096512"/>
            <a:ext cx="493776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4096512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enlo"/>
              </a:rPr>
              <a:t>125  ·  47.7%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45736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Purchase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745736"/>
            <a:ext cx="548640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4745736"/>
            <a:ext cx="493776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745736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Menlo"/>
              </a:rPr>
              <a:t>83  ·  66.4%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5394960"/>
            <a:ext cx="9997135" cy="8229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5532120"/>
            <a:ext cx="953993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96.1% of product viewers never add to cart.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Checkout converts fine (66% of starts purchase). Every lever in this audit (reviews, sizing, mobile speed, PDP trust) targets this one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DEVICE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Mobile is the business, and it underperforms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90-day GA4. Mobile carries the traffic and most of the revenue, but converts at barely a quarter of desktop.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6727" y="2331720"/>
            <a:ext cx="3931920" cy="210312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2606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150">
                <a:solidFill>
                  <a:srgbClr val="999999"/>
                </a:solidFill>
                <a:latin typeface="Helvetica Neue"/>
              </a:rPr>
              <a:t>MOBILE (86% OF SESSIONS)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29718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EF4444"/>
                </a:solidFill>
                <a:latin typeface="Helvetica Neue"/>
              </a:rPr>
              <a:t>1.06%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3840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Helvetica Neue"/>
              </a:rPr>
              <a:t>40,896 sessions · 435 orders
800,166 SEK · 86% of all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47" y="2331720"/>
            <a:ext cx="3931920" cy="2103120"/>
          </a:xfrm>
          <a:prstGeom prst="roundRect">
            <a:avLst>
              <a:gd name="adj" fmla="val 5000"/>
            </a:avLst>
          </a:prstGeom>
          <a:solidFill>
            <a:srgbClr val="1411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3047" y="26060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150">
                <a:solidFill>
                  <a:srgbClr val="999999"/>
                </a:solidFill>
                <a:latin typeface="Helvetica Neue"/>
              </a:rPr>
              <a:t>DESKTOP (12% OF SESSIONS)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29718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 i="0">
                <a:solidFill>
                  <a:srgbClr val="F7D007"/>
                </a:solidFill>
                <a:latin typeface="Helvetica Neue"/>
              </a:rPr>
              <a:t>3.86%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8404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Helvetica Neue"/>
              </a:rPr>
              <a:t>5,779 sessions · 223 orders
511,806 SEK · 12% of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647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6B7C75"/>
                </a:solidFill>
                <a:latin typeface="Helvetica Neue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029200"/>
            <a:ext cx="9997135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166360"/>
            <a:ext cx="95399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Est. opportunity: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lifting mobile from 1.06% to just 1.5% conversion is roughly 180 extra orders per quarter at ~1,839 SEK, about 330,000 SEK per quarter. The lever is the mobile buy-box experience (reviews, sizing, trust), not raw page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TRAFFIC &amp;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Three quarters of sessions are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90-day GA4 by source / medium. Paid social brings the most sessions but converts worst, so the low-converting PDP is paid for twice.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0" y="2148840"/>
          <a:ext cx="9418320" cy="224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71600"/>
                <a:gridCol w="1097280"/>
                <a:gridCol w="1188720"/>
                <a:gridCol w="11887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Source / medium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Sessions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Share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Orders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CVR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Revenue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facebook / paid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20,013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42%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153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0.76%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282,025 SEK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google / cpc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15,425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33%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233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1.51%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444,841 SEK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direct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4,338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9%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67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C55E"/>
                          </a:solidFill>
                          <a:latin typeface="Helvetica Neue"/>
                        </a:rPr>
                        <a:t>1.54%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123,463 SEK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google / organic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2,676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6%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38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C55E"/>
                          </a:solidFill>
                          <a:latin typeface="Helvetica Neue"/>
                        </a:rPr>
                        <a:t>1.42%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70,564 SEK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shopify_email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793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C55E"/>
                          </a:solidFill>
                          <a:latin typeface="Helvetica Neue"/>
                        </a:rPr>
                        <a:t>2.14%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27,294 SEK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371600" y="507492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521208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Facebook paid is 42% of sessions at 0.76% CVR, half of Google CPC's 1.51%.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Email converts best (2.14%) on tiny volume, an underused owned channel. Fixing the PDP lifts the return on every paid krona.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Site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A hygiene check, not the headline. Shopify stores routinely score low on synthetic mobile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CORE WEB VITALS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Mobile speed: worth a look, not the 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Google PageSpeed lab scores, measured 26 Jun 2026. These are synthetic tests, and Shopify stores routinely score 30 to 50 on mobile. Confirm against real-user field data before investing.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97280" y="2331720"/>
          <a:ext cx="9966960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Page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Perf (mob)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FCP mob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LCP mob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Perf (desk)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LCP desk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CLS desk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Homepage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49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23.5s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33.9s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23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5.7s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0.155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Collection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33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23.7s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31.0s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28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4.6s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0.155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CCCCCC"/>
                          </a:solidFill>
                          <a:latin typeface="Helvetica Neue"/>
                        </a:rPr>
                        <a:t>PDP (Seacamp II)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47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23.7s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27.6s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F4444"/>
                          </a:solidFill>
                          <a:latin typeface="Helvetica Neue"/>
                        </a:rPr>
                        <a:t>44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4.9s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59E0B"/>
                          </a:solidFill>
                          <a:latin typeface="Helvetica Neue"/>
                        </a:rPr>
                        <a:t>0.179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097280" y="4206240"/>
            <a:ext cx="9966960" cy="146304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34340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How to read this: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these scores sit below average, but they are synthetic lab numbers (most Shopify stores land here) and not what real shoppers feel. The practical next step is small: audit the installed apps and third-party scripts, remove anything unused, then confirm any real gain in CrUX field data. It is a hygiene task, not the main conversion lever. The View to ATC fixes (reviews, sizing, trust) come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PAGE BY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The conversion walk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Why 96% of viewers do not add to cart. Homepage to collection to PDP to cart.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HOMEPAGE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A strong story, led by the wrong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The homepage holds attention (16.9% bounce, 4m54s on site). The issue is what gets the spotlight.</a:t>
            </a:r>
          </a:p>
        </p:txBody>
      </p:sp>
      <p:pic>
        <p:nvPicPr>
          <p:cNvPr id="10" name="Picture 9" descr="home-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1696100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" y="2002536"/>
            <a:ext cx="1805828" cy="3675887"/>
          </a:xfrm>
          <a:prstGeom prst="roundRect">
            <a:avLst>
              <a:gd name="adj" fmla="val 6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15000"/>
            <a:ext cx="2244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999999"/>
                </a:solidFill>
                <a:latin typeface="Helvetica Neue"/>
              </a:rPr>
              <a:t>LIVE,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we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Hero is a rotating SHAPEN supplier banner, not TJÅKKO's own promise.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Bestseller tiles show prices but almost no star ratings.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 large blank mid-page gap on cold load (ties to speed).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Sizing answer buried in a footer FAQ accordion.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 prominent Shapen delay notice is the first thing a visitor reads.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39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39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Lead with TJÅKKO's benefit hero ("frihet för fötterna").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2.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Add star ratings to bestseller and collection cards.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3.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Pull a "Hitta rätt storlek" entry point up near the hero.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4.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Fix the render gap so the homepage paints top to bottom.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5.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Scope the delay banner to affected products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60720"/>
            <a:ext cx="10637215" cy="6858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Customers describe the product as "att sätta fötterna fria".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That line belongs in the hero. A supplier's summer promo does 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COLLECTION / PLP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Products pushed below a wall of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/collections/barfotaskor. Filters exist (good), but a shopper works to reach a product.</a:t>
            </a:r>
          </a:p>
        </p:txBody>
      </p:sp>
      <p:pic>
        <p:nvPicPr>
          <p:cNvPr id="10" name="Picture 9" descr="collection-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1648358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" y="2002536"/>
            <a:ext cx="1758086" cy="3675887"/>
          </a:xfrm>
          <a:prstGeom prst="roundRect">
            <a:avLst>
              <a:gd name="adj" fmla="val 6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15000"/>
            <a:ext cx="21969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999999"/>
                </a:solidFill>
                <a:latin typeface="Helvetica Neue"/>
              </a:rPr>
              <a:t>LIVE,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we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Mobile opens with a full-screen lifestyle image + paragraphs of education before the first product.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 left filter rail is present on desktop (a real strength).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On cold capture the product grid rendered blank; images load late.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No star ratings on any of the 64 product cards.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No "for wide feet" or fit-based filter.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39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39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Compress the editorial intro on mobile, show products in the first scroll.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2.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Lazy load product images with priority hints.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3.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Seed and surface review stars on cards.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4.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Add a width / fit filter (smal / normal / bred).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5.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Keep the education, move it after the first product row.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60720"/>
            <a:ext cx="10637215" cy="6858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A collection page exists to show products.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Right now a mobile visitor reads a brand essay first, then waits for images. Both are fixable.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PRODUCT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A rich PDP with an empty review 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This is where the 96% leak happens. The PDP is content rich, but two gaps undercut it.</a:t>
            </a:r>
          </a:p>
        </p:txBody>
      </p:sp>
      <p:pic>
        <p:nvPicPr>
          <p:cNvPr id="10" name="Picture 9" descr="pdp-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1696100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" y="2002536"/>
            <a:ext cx="1805828" cy="3675887"/>
          </a:xfrm>
          <a:prstGeom prst="roundRect">
            <a:avLst>
              <a:gd name="adj" fmla="val 6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15000"/>
            <a:ext cx="22447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999999"/>
                </a:solidFill>
                <a:latin typeface="Helvetica Neue"/>
              </a:rPr>
              <a:t>LIVE,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we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Working well: a "BRED &amp; RYMLIG" fit indicator with footprint diagram.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Working well: trust badges (QR returns, secure delivery).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Working well: a curated "Nöjda kunder" photo-review strip lower down.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The Judge.me widget shows "0 recensioner" right above it.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Sizing is a link to a separate table; smallest size pre-selected.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39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39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Import the 42 Trustpilot reviews, surface the aggregate on PDP + cards.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2.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Move sizing inline: foot-measure guide + per-brand table + PDF.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3.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Stop pre-selecting the smallest size.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4.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Add a provenance / guarantee block to counter the "Temu" doubt.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60720"/>
            <a:ext cx="10637215" cy="6858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The highest impact fix in this audit: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surface the 42 reviews the brand already owns. The proof exists, it is just not on the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CART DRAWER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The drawer already nudges. It needs a cross-sell.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Add-to-cart opens a drawer with a free-shipping bar and a free-gift tier. Checkout converts well (66%).</a:t>
            </a:r>
          </a:p>
        </p:txBody>
      </p:sp>
      <p:pic>
        <p:nvPicPr>
          <p:cNvPr id="10" name="Picture 9" descr="ctrl-c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1658679" cy="3566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" y="2002536"/>
            <a:ext cx="1768407" cy="3675887"/>
          </a:xfrm>
          <a:prstGeom prst="roundRect">
            <a:avLst>
              <a:gd name="adj" fmla="val 6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715000"/>
            <a:ext cx="2207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00">
                <a:solidFill>
                  <a:srgbClr val="999999"/>
                </a:solidFill>
                <a:latin typeface="Helvetica Neue"/>
              </a:rPr>
              <a:t>LIVE,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we 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The drawer already shows a free-shipping bar and a free-gift tier. Both good.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It goes straight to checkout and remembers an order note.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The one gap: no curated cross-sell to reach the thresholds.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The gift and shipping nudges have no "here is what to add" to act 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39" y="2057400"/>
            <a:ext cx="3977639" cy="338328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39" y="2240280"/>
            <a:ext cx="3520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What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2587752"/>
            <a:ext cx="352043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Add a "Komplettera ditt köp" cross-sell of low-price accessories.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2.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Match each add-on to the gap to the next threshold (fri frakt / gåva).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3.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Keep the free-shipping bar, free gift and one-tap checkout as they are.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7D007"/>
                </a:solidFill>
                <a:latin typeface="Helvetica Neue"/>
              </a:rPr>
              <a:t>4.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Optional: a 40-day / secure-payment reassurance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60720"/>
            <a:ext cx="10637215" cy="6858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97880"/>
            <a:ext cx="10180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The drawer is already doing the hard part.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 missing piece is a concrete cross-sell so the nudge has somewhere to land.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IN THEIR OWN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Voice of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41 verbatim Trustpilot reviews, theme coded.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VOC · THEME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What 41 reviews actually talk 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Trustpilot 4.3/5, 42 reviews. Roughly 85% are 4 to 5 stars.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Fast 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148840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148840"/>
            <a:ext cx="548640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21488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15 mentions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Customer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642616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2642616"/>
            <a:ext cx="438912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264261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12 mentions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3639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Sizing / fit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136392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136392"/>
            <a:ext cx="36576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31363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10 mentions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3016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Comfort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630168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3630168"/>
            <a:ext cx="365760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27248" y="363016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10 mentions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2394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Returns / exchange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123944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4123944"/>
            <a:ext cx="29260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27248" y="412394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8 mentions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1772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Barefoot "freedom"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4617720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520" y="4617720"/>
            <a:ext cx="219456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461772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6 mentions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1149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Helvetica Neue"/>
              </a:rPr>
              <a:t>Slow delivery (neg)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111496"/>
            <a:ext cx="5486400" cy="38404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5111496"/>
            <a:ext cx="14630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7248" y="511149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4 mentions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486400"/>
            <a:ext cx="9997135" cy="77724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5623560"/>
            <a:ext cx="95399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Hidden asset: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42 reviews at 4.3/5 with vivid Swedish comfort and service stories, and 0 appear on the product pages. Surfacing this is the cheapest attack on the 96% View to ATC drop.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VOC · VERBATIM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The customer is writing your copy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All quotes are verbatim Trustpilot reviews for tjakko.se, captured 26 Jun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" y="196596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627" y="21305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The barefoot payoff (5★)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" y="244144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"Känns som att sätta fötterna fria"</a:t>
            </a:r>
          </a:p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99999"/>
                </a:solidFill>
                <a:latin typeface="Helvetica Neue"/>
              </a:rPr>
              <a:t>Feels like setting my feet free.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C75"/>
                </a:solidFill>
                <a:latin typeface="Helvetica Neue"/>
              </a:rPr>
              <a:t>→ This is your hero headline.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96596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21305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Sizing then easy exchange (5★)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44144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"1:a Storleken var för stor. Väldigt enkelt och snabb leverans för nästa sko som sitter perfekt"</a:t>
            </a:r>
          </a:p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99999"/>
                </a:solidFill>
                <a:latin typeface="Helvetica Neue"/>
              </a:rPr>
              <a:t>First size too big. Very easy, fast exchange.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C75"/>
                </a:solidFill>
                <a:latin typeface="Helvetica Neue"/>
              </a:rPr>
              <a:t>→ Inline size guide + promote easy exchange.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027" y="384048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627" y="40050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Kills "barefoot = cold" (5★)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627" y="431596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"Barfota vinterskor håller mina fötter varma och det känns ändå som att jag har kontakt med jorden"</a:t>
            </a:r>
          </a:p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99999"/>
                </a:solidFill>
                <a:latin typeface="Helvetica Neue"/>
              </a:rPr>
              <a:t>Warm and still connected to the ground.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C75"/>
                </a:solidFill>
                <a:latin typeface="Helvetica Neue"/>
              </a:rPr>
              <a:t>→ Proof block on winter PDPs.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384048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747" y="40050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The trust killer (1★)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4315968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Helvetica Neue"/>
              </a:rPr>
              <a:t>"Bildsöker deras skor och finner don på Temu, Aliexpress... Köp ej"</a:t>
            </a:r>
          </a:p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999999"/>
                </a:solidFill>
                <a:latin typeface="Helvetica Neue"/>
              </a:rPr>
              <a:t>Found them on Temu / AliExpress.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C75"/>
                </a:solidFill>
                <a:latin typeface="Helvetica Neue"/>
              </a:rPr>
              <a:t>→ Needs a provenance / "handgjord i Estland" block.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Competitor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Three Swedish barefoot retailers plus two EU references. Every URL verified.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BENCHMARK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Where TJÅKKO trails the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Observed on live sites, 26 Jun 2026. The two columns that decide barefoot purchases are TJÅKKO's weakest.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2148840"/>
          <a:ext cx="1088136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920240"/>
                <a:gridCol w="1737360"/>
                <a:gridCol w="1463040"/>
                <a:gridCol w="1737360"/>
                <a:gridCol w="21031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Store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Sizing UX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Reviews on PDP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Free ship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Risk reversal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99999"/>
                          </a:solidFill>
                          <a:latin typeface="Helvetica Neue"/>
                        </a:rPr>
                        <a:t>Education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7D007"/>
                          </a:solidFill>
                          <a:latin typeface="Helvetica Neue"/>
                        </a:rPr>
                        <a:t>TJÅKKO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cm table + link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F4444"/>
                          </a:solidFill>
                          <a:latin typeface="Helvetica Neue"/>
                        </a:rPr>
                        <a:t>0 shown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F4444"/>
                          </a:solidFill>
                          <a:latin typeface="Helvetica Neue"/>
                        </a:rPr>
                        <a:t>1700 kr (high)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40-day (quiet)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benefit + Sámi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CCCCCC"/>
                          </a:solidFill>
                          <a:latin typeface="Helvetica Neue"/>
                        </a:rPr>
                        <a:t>simplybarefoot.se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PDF + heel-to-wall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verified-buyer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498 kr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free size exchange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Barfotaskolan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CCCCCC"/>
                          </a:solidFill>
                          <a:latin typeface="Helvetica Neue"/>
                        </a:rPr>
                        <a:t>freefoot.se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per-brand guides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none on PDP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not stated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30-day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selection guide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CCCCCC"/>
                          </a:solidFill>
                          <a:latin typeface="Helvetica Neue"/>
                        </a:rPr>
                        <a:t>barfooties.se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+1.2 cm rule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86 reviews shown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not stated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standard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measurement edu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CCCCCC"/>
                          </a:solidFill>
                          <a:latin typeface="Helvetica Neue"/>
                        </a:rPr>
                        <a:t>wildling.shoes (ref)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Size Finder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none observed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200 EUR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free returns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materials story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CCCCCC"/>
                          </a:solidFill>
                          <a:latin typeface="Helvetica Neue"/>
                        </a:rPr>
                        <a:t>groundies.com (ref)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3 fit profiles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none observed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59E0B"/>
                          </a:solidFill>
                          <a:latin typeface="Helvetica Neue"/>
                        </a:rPr>
                        <a:t>not stated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14-day guarantee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C55E"/>
                          </a:solidFill>
                          <a:latin typeface="Helvetica Neue"/>
                        </a:rPr>
                        <a:t>"Why barefoot" hub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321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Every Swedish rival has solved sizing more concretely than TJÅKKO,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and barfooties proves shoppers expect review counts on the page. TJÅKKO has the raw assets to leapfrog both.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STEAL THESE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Seven patterns worth adopting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Each one observed live on a named competitor, mapped to a TJÅKKO gap on the View to ATC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307" y="20116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475" y="2157984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475" y="2395728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Downloadable PDF foot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75" y="2724912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simplybarefoot ships a printable true-scale template. TJÅKKO shows only a cm 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5627" y="20116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6795" y="2157984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795" y="2395728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Per-brand size guides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6795" y="2724912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freefoot links a brand-specific guide per PDP. TJÅKKO is multi-brand where lasts differ.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8947" y="201168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0115" y="2157984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0115" y="2395728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Inline heel-to-wall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0115" y="2724912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Put the measuring steps on the PDP, not buried on a separate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307" y="3410712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475" y="3557016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75" y="379476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Plain-language buffer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475" y="4123944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barfooties' "+1.2 cm" rule answers "which size do I order?".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5627" y="3410712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6795" y="3557016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6795" y="379476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Visible review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6795" y="4123944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barfooties shows 86 reviews at 4.9/5 on the PDP. TJÅKKO surfaces none despite owning 42.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8947" y="3410712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0115" y="3557016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Menlo"/>
              </a:rPr>
              <a:t>// 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0115" y="379476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Helvetica Neue"/>
              </a:rPr>
              <a:t>Risk reversal as a feature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0115" y="4123944"/>
            <a:ext cx="3118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Helvetica Neue"/>
              </a:rPr>
              <a:t>groundies' "14 day test guarantee". Elevate TJÅKKO's 40-day exchange near the ATC.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074920"/>
            <a:ext cx="10362895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212080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// 07 · Local trust + reachable thresholds: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simplybarefoot's "SVENSK BUTIK" badge and Swish build Swedish-buyer confidence. TJÅKKO's drawer already shows the 1700 kr bar, so add a local-trust signal and a cross-sell to reach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SEQUENCED FOR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90-day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Ordered by impact over effort. Everything targets the View to ATC step.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PRIORITIZED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Ordered by impact over effort. Everything targets the View to ATC step and the mobile conversion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007" y="219456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607" y="239572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PHASE 1 · WEEKS 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2670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Foundation &amp; free wins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607" y="30632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A1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607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F7D007"/>
                </a:solidFill>
                <a:latin typeface="Helvetica Neue"/>
              </a:rPr>
              <a:t>VIEW TO ATC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352044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F4444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Import 42 Trustpilot reviews, show stars on PDP + cards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F4444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Cart drawer cross-sell ("Komplettera ditt köp")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F4444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Inline sizing guide on the PDP, stop pre-selecting a size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EF4444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Lightweight image-loading pass (after a CrUX check)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767" y="219456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1367" y="239572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PHASE 2 · WEEKS 4-7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2670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Sizing &amp; basket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1367" y="30632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A1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F7D007"/>
                </a:solidFill>
                <a:latin typeface="Helvetica Neue"/>
              </a:rPr>
              <a:t>VIEW TO ATC + AOV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352044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Inline foot-measure guide + per-brand size tables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Stop pre-selecting the smallest size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Cart cross-sell to bridge to free shipping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59E0B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Rebuild homepage hero around the benefit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527" y="219456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6127" y="239572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999999"/>
                </a:solidFill>
                <a:latin typeface="Menlo"/>
              </a:rPr>
              <a:t>PHASE 3 · WEEKS 8-12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2670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Trust &amp; depth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6127" y="30632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A16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6127" y="3063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spc="100">
                <a:solidFill>
                  <a:srgbClr val="F7D007"/>
                </a:solidFill>
                <a:latin typeface="Helvetica Neue"/>
              </a:rPr>
              <a:t>BUILDS THE MOAT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127" y="352044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22C55E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Provenance / "handgjord i Estland" + guarantee block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22C55E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Width / fit filter on collection pages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22C55E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Per-brand lead times + proactive delay emails</a:t>
            </a:r>
          </a:p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22C55E"/>
                </a:solidFill>
                <a:latin typeface="Helvetica Neue"/>
              </a:rPr>
              <a:t>→  </a:t>
            </a:r>
            <a:r>
              <a:rPr sz="950" b="0" i="0">
                <a:solidFill>
                  <a:srgbClr val="CCCCCC"/>
                </a:solidFill>
                <a:latin typeface="Helvetica Neue"/>
              </a:rPr>
              <a:t>Grow the email channel (best CVR, smallest volume)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623560"/>
            <a:ext cx="9997135" cy="64008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760720"/>
            <a:ext cx="95399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Conservative target: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lifting mobile conversion from 1.06% to 1.5% is roughly 330,000 SEK per quarter. The full View to ATC fix has materially more headroom.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Just ship vs A/B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Some fixes are obviously correct with no downside. Others deserve a measured test against the 1.41%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167" y="2011680"/>
            <a:ext cx="5257800" cy="3566160"/>
          </a:xfrm>
          <a:prstGeom prst="roundRect">
            <a:avLst>
              <a:gd name="adj" fmla="val 3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199" y="221284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JUST SHIP  ·  no downside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199" y="25603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Mobile speed / render fixes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Import &amp; show Trustpilot reviews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Show 40-day exchange near the ATC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Stop pre-selecting smallest size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Inline sizing guide on PDP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011680"/>
            <a:ext cx="5257800" cy="3566160"/>
          </a:xfrm>
          <a:prstGeom prst="roundRect">
            <a:avLst>
              <a:gd name="adj" fmla="val 3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21284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7D007"/>
                </a:solidFill>
                <a:latin typeface="Helvetica Neue"/>
              </a:rPr>
              <a:t>A/B TEST  ·  measure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2560320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Cart drawer cross-sell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2.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Benefit hero vs supplier-promo hero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3.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Lower / tier the 1700 kr threshold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4.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Collection: products-first vs essay-first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7D007"/>
                </a:solidFill>
                <a:latin typeface="Helvetica Neue"/>
              </a:rPr>
              <a:t>5.  </a:t>
            </a:r>
            <a:r>
              <a:rPr sz="1050" b="0" i="0">
                <a:solidFill>
                  <a:srgbClr val="CCCCCC"/>
                </a:solidFill>
                <a:latin typeface="Helvetica Neue"/>
              </a:rPr>
              <a:t>Provenance / guarantee block on PDP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SUMMARY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 spc="-50">
                <a:solidFill>
                  <a:srgbClr val="FFFFFF"/>
                </a:solidFill>
                <a:latin typeface="Helvetica Neue"/>
              </a:rPr>
              <a:t>TJÅKKO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Where the storefront stands today, with the GA4 evidence behind each dimension.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148840"/>
          <a:ext cx="10515600" cy="3255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54480"/>
                <a:gridCol w="502920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Dimension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Today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Evidence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999999"/>
                          </a:solidFill>
                          <a:latin typeface="Helvetica Neue"/>
                        </a:rPr>
                        <a:t>Priority</a:t>
                      </a:r>
                    </a:p>
                  </a:txBody>
                  <a:tcPr marL="73152" marR="45720" marT="18288" marB="18288" anchor="ctr"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View to Add-to-Cart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Helvetica Neue"/>
                        </a:rPr>
                        <a:t>Critical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96.1% of viewers never add to cart (GA4 funnel)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Helvetica Neue"/>
                        </a:rPr>
                        <a:t>P1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Mobile buy-box UX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Weak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86% of traffic at 1.06% vs 3.86%; reviews/sizing on small screens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Helvetica Neue"/>
                        </a:rPr>
                        <a:t>P1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Social proof on page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Helvetica Neue"/>
                        </a:rPr>
                        <a:t>Missing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42 reviews exist, 0 shown on PDP/cards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EF4444"/>
                          </a:solidFill>
                          <a:latin typeface="Helvetica Neue"/>
                        </a:rPr>
                        <a:t>P1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Sizing guidance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Buried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#1 objection (10/41 reviews), help is in FAQ not PDP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P2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Cart drawer cross-sell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Missing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Drawer has bar + gift, but no cross-sell to reach them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P2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Mobile speed (lab)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Shopify-typical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Low synthetic scores like most Shopify; confirm via CrUX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59E0B"/>
                          </a:solidFill>
                          <a:latin typeface="Helvetica Neue"/>
                        </a:rPr>
                        <a:t>P3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Checkout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Helvetica Neue"/>
                        </a:rPr>
                        <a:t>Healthy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66% of begin_checkout purchase; do not touch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Helvetica Neue"/>
                        </a:rPr>
                        <a:t>keep</a:t>
                      </a:r>
                    </a:p>
                  </a:txBody>
                  <a:tcPr marL="73152" marR="45720" marT="18288" marB="18288" anchor="ctr">
                    <a:solidFill>
                      <a:srgbClr val="0D0D0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Engagement &amp; trust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Helvetica Neue"/>
                        </a:rPr>
                        <a:t>Solid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CCCCCC"/>
                          </a:solidFill>
                          <a:latin typeface="Helvetica Neue"/>
                        </a:rPr>
                        <a:t>37.6% bounce, 40-day exchange, broad payments, Sámi story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C55E"/>
                          </a:solidFill>
                          <a:latin typeface="Helvetica Neue"/>
                        </a:rPr>
                        <a:t>keep</a:t>
                      </a:r>
                    </a:p>
                  </a:txBody>
                  <a:tcPr marL="73152" marR="45720" marT="18288" marB="18288" anchor="ctr"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" y="548640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6235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Biggest single lever:  </a:t>
            </a:r>
            <a:r>
              <a:rPr sz="1200" b="1" i="0">
                <a:solidFill>
                  <a:srgbClr val="F7D007"/>
                </a:solidFill>
                <a:latin typeface="Helvetica Neue"/>
              </a:rPr>
              <a:t>Close the View to ATC leak: reviews + sizing + trust.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READY TO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A/B test 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The top three ideas as test cards: observation, hypothesis, metrics, and a control vs variant view.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326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2412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GA4 funnel: only 3.9% of product viewers add to cart (96% drop). The PDP renders "0 recensioner" despite 42 Trustpilot reviews at 4.3/5, and the smallest size is pre-selected.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58568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If we surface the 42 reviews and move sizing guidance inline on the PDP, then View to Add-to-Cart will rise, because the two biggest objections (trust and sizing) get answered at the decision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What we are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387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Aggregate rating by the title + a populated review block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Inline foot-measure guide, per-brand size table, PDF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Remove the pre-selected smallest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Key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188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032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1000" b="1" i="0">
                <a:solidFill>
                  <a:srgbClr val="F7D007"/>
                </a:solidFill>
                <a:latin typeface="Helvetica Neue"/>
              </a:rPr>
              <a:t>Add-to-Cart rate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2.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PDP conversion rate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3.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Exchange / return rate (guardrail)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77840"/>
            <a:ext cx="3566160" cy="86868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3 to 4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All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Expected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Product page (PDP)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29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T01 · PDP · Surface reviews + inline sizing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143000"/>
            <a:ext cx="6949440" cy="4572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1143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Test ID: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TJ-T01    </a:t>
            </a:r>
            <a:r>
              <a:rPr sz="1000" b="1" i="0">
                <a:solidFill>
                  <a:srgbClr val="FFFFFF"/>
                </a:solidFill>
                <a:latin typeface="Helvetica Neue"/>
              </a:rPr>
              <a:t>Status: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In planning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207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20700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pic>
        <p:nvPicPr>
          <p:cNvPr id="34" name="Picture 33" descr="ctrl-pd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20240"/>
            <a:ext cx="1702152" cy="38404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431536" y="1865376"/>
            <a:ext cx="1811880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5870448"/>
            <a:ext cx="2250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pic>
        <p:nvPicPr>
          <p:cNvPr id="37" name="Picture 36" descr="var-pd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952" y="1920240"/>
            <a:ext cx="1702152" cy="38404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048088" y="1865376"/>
            <a:ext cx="1811880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8632" y="5870448"/>
            <a:ext cx="2250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9EC06F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326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2412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AOV is ~1,986 SEK. The cart drawer already nudges with a free-shipping bar and a free-gift tier, but there is no curated cross-sell, so shoppers see the thresholds with no easy way to reach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58568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If we add a "Komplettera ditt köp" cross-sell of low-price accessories in the drawer, then AOV and revenue per session will rise, because shoppers get one-tap add-ons to cross the thresholds they are already shown.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What we are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387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Cross-sell row of low-price accessories (tåspridare, innersulor, skovax)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Match each add-on to the gap to the next threshold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Keep the free-shipping bar, free gift and one-tap 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Key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188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032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1000" b="1" i="0">
                <a:solidFill>
                  <a:srgbClr val="F7D007"/>
                </a:solidFill>
                <a:latin typeface="Helvetica Neue"/>
              </a:rPr>
              <a:t>Average order value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2.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Revenue per session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3.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Cross-sell attach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77840"/>
            <a:ext cx="3566160" cy="86868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3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All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Expected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Medium to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29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T02 · Cart drawer · Cross-sell to lift AOV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143000"/>
            <a:ext cx="6949440" cy="4572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1143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Test ID: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TJ-T02    </a:t>
            </a:r>
            <a:r>
              <a:rPr sz="1000" b="1" i="0">
                <a:solidFill>
                  <a:srgbClr val="FFFFFF"/>
                </a:solidFill>
                <a:latin typeface="Helvetica Neue"/>
              </a:rPr>
              <a:t>Status: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In planning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207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20700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pic>
        <p:nvPicPr>
          <p:cNvPr id="34" name="Picture 33" descr="ctrl-ca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20240"/>
            <a:ext cx="1786270" cy="38404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431536" y="1865376"/>
            <a:ext cx="1895998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5870448"/>
            <a:ext cx="23349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pic>
        <p:nvPicPr>
          <p:cNvPr id="37" name="Picture 36" descr="var-c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070" y="1920240"/>
            <a:ext cx="1742373" cy="38404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132206" y="1865376"/>
            <a:ext cx="1852101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2750" y="5870448"/>
            <a:ext cx="22910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9EC06F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9326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2412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The homepage holds attention (16.9% bounce) but leads with a rotating SHAPEN supplier banner, not TJÅKKO's own benefit. Bestseller tiles show no star ratings.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Hypothesis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671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58568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CCCCC"/>
                </a:solidFill>
                <a:latin typeface="Helvetica Neue"/>
              </a:rPr>
              <a:t>If we lead with TJÅKKO's own promise ("Frihet för fötterna") plus a Trustpilot trust row and rated tiles, then homepage to PDP click-through and CVR will rise.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What we are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3872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Benefit hero with two clear CTAs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Trust row (4,3/5 Trustpilot, 40-day returns, free shipping)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•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Star ratings on tiles, supplier promo demoted below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Key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18888"/>
            <a:ext cx="3566160" cy="19050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10328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7D007"/>
                </a:solidFill>
                <a:latin typeface="Helvetica Neue"/>
              </a:rPr>
              <a:t>1.  </a:t>
            </a:r>
            <a:r>
              <a:rPr sz="1000" b="1" i="0">
                <a:solidFill>
                  <a:srgbClr val="F7D007"/>
                </a:solidFill>
                <a:latin typeface="Helvetica Neue"/>
              </a:rPr>
              <a:t>Homepage to PDP click-through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2.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Site-wide conversion rate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999999"/>
                </a:solidFill>
                <a:latin typeface="Helvetica Neue"/>
              </a:rPr>
              <a:t>3. 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Bounce rate (guardrail)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77840"/>
            <a:ext cx="3566160" cy="86868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3 to 4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05856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8704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All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Expected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608990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7D007"/>
                </a:solidFill>
                <a:latin typeface="Helvetica Neue"/>
              </a:rPr>
              <a:t>URL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625449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Helvetica Neue"/>
              </a:rPr>
              <a:t>Homepage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02920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Helvetica Neue"/>
              </a:rPr>
              <a:t>T03 · Homepage · Benefit-led hero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143000"/>
            <a:ext cx="6949440" cy="457200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1143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Helvetica Neue"/>
              </a:rPr>
              <a:t>Test ID: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TJ-T03    </a:t>
            </a:r>
            <a:r>
              <a:rPr sz="1000" b="1" i="0">
                <a:solidFill>
                  <a:srgbClr val="FFFFFF"/>
                </a:solidFill>
                <a:latin typeface="Helvetica Neue"/>
              </a:rPr>
              <a:t>Status: </a:t>
            </a:r>
            <a:r>
              <a:rPr sz="1000" b="0" i="0">
                <a:solidFill>
                  <a:srgbClr val="CCCCCC"/>
                </a:solidFill>
                <a:latin typeface="Helvetica Neue"/>
              </a:rPr>
              <a:t>In planning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2070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120700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00">
                <a:solidFill>
                  <a:srgbClr val="000000"/>
                </a:solidFill>
                <a:latin typeface="Helvetica Neue"/>
              </a:rPr>
              <a:t>A/B TEST</a:t>
            </a:r>
          </a:p>
        </p:txBody>
      </p:sp>
      <p:pic>
        <p:nvPicPr>
          <p:cNvPr id="34" name="Picture 33" descr="home-curr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20240"/>
            <a:ext cx="1826570" cy="38404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431536" y="1865376"/>
            <a:ext cx="1936298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5870448"/>
            <a:ext cx="2375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FFFFFF"/>
                </a:solidFill>
                <a:latin typeface="Helvetica Neue"/>
              </a:rPr>
              <a:t>CONTROL</a:t>
            </a:r>
          </a:p>
        </p:txBody>
      </p:sp>
      <p:pic>
        <p:nvPicPr>
          <p:cNvPr id="37" name="Picture 36" descr="var-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370" y="1920240"/>
            <a:ext cx="1702152" cy="384048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172506" y="1865376"/>
            <a:ext cx="1811880" cy="3950208"/>
          </a:xfrm>
          <a:prstGeom prst="roundRect">
            <a:avLst>
              <a:gd name="adj" fmla="val 8000"/>
            </a:avLst>
          </a:prstGeom>
          <a:noFill/>
          <a:ln w="76200"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3050" y="5870448"/>
            <a:ext cx="2250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300">
                <a:solidFill>
                  <a:srgbClr val="9EC06F"/>
                </a:solidFill>
                <a:latin typeface="Helvetica Neue"/>
              </a:rPr>
              <a:t>VARIANT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82880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0" b="0" i="0">
                <a:solidFill>
                  <a:srgbClr val="332A02"/>
                </a:solidFill>
                <a:latin typeface="Menlo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291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F7D007"/>
                </a:solidFill>
                <a:latin typeface="Helvetica Neue"/>
              </a:rPr>
              <a:t>WHO RUNS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 spc="-100">
                <a:solidFill>
                  <a:srgbClr val="FFFFFF"/>
                </a:solidFill>
                <a:latin typeface="Helvetica Neue"/>
              </a:rPr>
              <a:t>How EcomHouse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34840"/>
            <a:ext cx="7619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99999"/>
                </a:solidFill>
                <a:latin typeface="Helvetica Neue"/>
              </a:rPr>
              <a:t>A zero-row CRO service: research, design, build, QA, deploy, test, analysis end to end. The method, and what it has delivered.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THE ECOMHOUSE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Six steps, end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You approve. We execute. Every step is owned by us, including build, QA, and rollout. Client only approves the brief and rollout.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427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07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GA4, Shopify, heatmaps, recordings, reviews,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507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1379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34259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4259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Ideate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4259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Hypothesis, variant concepts, copy, Figma prototype.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4459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3331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6211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211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Pre-test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6211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Written brief with metric, confidence, sample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6411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5283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8163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8163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Build +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8163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Shopify or test tool variant, tracked, QA'd across devices.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363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7235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0115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0115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Run + 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0115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Live test with guardrail watch, weekly progress updates.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0315" y="3383280"/>
            <a:ext cx="118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9187" y="2423160"/>
            <a:ext cx="1783080" cy="2194560"/>
          </a:xfrm>
          <a:prstGeom prst="roundRect">
            <a:avLst>
              <a:gd name="adj" fmla="val 6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2067" y="26517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7D007"/>
                </a:solidFill>
                <a:latin typeface="Menlo"/>
              </a:rPr>
              <a:t>//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206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Analyze + roll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2067" y="352044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Helvetica Neue"/>
              </a:rPr>
              <a:t>Written verdict, fee invoiced on rollout to 100 % of traffic.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029200"/>
            <a:ext cx="10360152" cy="91440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5166360"/>
            <a:ext cx="9902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Zero-row service: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 client is not expected to do production work. We handle everything from research through analysis. The client approves the pre-test brief and the rollout decision in writing.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BRIEF +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How every test launches and concludes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No test starts without a written, approved brief. Tests only conclude when all approved conditions are 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6858000" cy="420624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F7D007"/>
                </a:solidFill>
                <a:latin typeface="Helvetica Neue"/>
              </a:rPr>
              <a:t>PRE-TEST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Helvetica Neue"/>
              </a:rPr>
              <a:t>Every test launches with a written, approved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PART 1   Test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Hypothesis and Control vs Variant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Audience and traffic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Funnel stage and stage multiplier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URL targeting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532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Frozen baselines from trailing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337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// PART 2   Statistical parameters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703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Primary metric (RPV or funnel metric)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605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Statistical confidence (80 % default)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6177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Minimum visitor and order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74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074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Worked fee range at +5 / +10 / +15 %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532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7D007"/>
                </a:solidFill>
                <a:latin typeface="Helvetica Neu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532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Data sources named explicitly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2286000"/>
            <a:ext cx="3886200" cy="420624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15240">
            <a:solidFill>
              <a:srgbClr val="6A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25146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A9FF"/>
                </a:solidFill>
                <a:latin typeface="Helvetica Neue"/>
              </a:rPr>
              <a:t>TESTING 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27889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Guardrails on tooling, rigor, 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338328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DEFAULT TOOL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61188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IntelliGEMS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0" y="397764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Or Convert, GrowthBook, Shopify-native with written approval.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61220" y="338328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1220" y="361188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80 %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1220" y="397764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Higher per test if you require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89204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512064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All conditions met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0" y="548640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Min visitors, orders, and confidence reached.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1220" y="4892040"/>
            <a:ext cx="15316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6AA9FF"/>
                </a:solidFill>
                <a:latin typeface="Menlo"/>
              </a:rPr>
              <a:t>REPORTING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1220" y="5120640"/>
            <a:ext cx="15316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Weekly Loom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1220" y="5486400"/>
            <a:ext cx="15316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  <a:latin typeface="Helvetica Neue"/>
              </a:rPr>
              <a:t>Plus a running test log you can access anytime.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COMPENSATION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We win when you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Performance-based fee on every winning test rolled out to 100 % of traffic. One-time charge per test. No attribution window. No recurring 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487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41002"/>
          </a:solidFill>
          <a:ln w="19050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9527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// PERFORMANCE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527" y="2880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% of estimated monthly revenue uplift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9527" y="33832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7D007"/>
                </a:solidFill>
                <a:latin typeface="Menlo"/>
              </a:rPr>
              <a:t>Y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527" y="416052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Charged once per winning test on rollout. Calculated from the test's measured uplift and the client's own data, with the agreed stage multiplier applied.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9527" y="48006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2407" y="48006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One time fee per winning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527" y="50292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2407" y="50292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No recurring tail, no attribution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9527" y="52578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2407" y="52578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Loser and inconclusive tests are free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233172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047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F7D007"/>
                </a:solidFill>
                <a:latin typeface="Menlo"/>
              </a:rPr>
              <a:t>// OPTIONAL RETAINER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28803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-30">
                <a:solidFill>
                  <a:srgbClr val="FFFFFF"/>
                </a:solidFill>
                <a:latin typeface="Helvetica Neue"/>
              </a:rPr>
              <a:t>Fixed monthly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047" y="33832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7D007"/>
                </a:solidFill>
                <a:latin typeface="Menlo"/>
              </a:rPr>
              <a:t>X kr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0520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Helvetica Neue"/>
              </a:rPr>
              <a:t>Optional. Predictable monthly cost on top of (or instead of) the performance fee. Some clients prefer this for budgeting.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8006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48006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Billed on the 1st, in advance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047" y="50292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5927" y="50292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Void if not agreed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3047" y="5257800"/>
            <a:ext cx="1645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7D007"/>
                </a:solidFill>
                <a:latin typeface="Helvetica Neue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5927" y="525780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Helvetica Neue"/>
              </a:rPr>
              <a:t>Stackable with the performance fee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760720"/>
            <a:ext cx="10543032" cy="5943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897880"/>
            <a:ext cx="1008583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Billing: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one invoice on the 1st covering the retainer (if any) plus the performance fee for every winning test rolled out last month. 8 day payment terms. Third-party costs (test tools, apps) paid by the client.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SCHEDULE A · STAGE MULTIPLIERS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 spc="-50">
                <a:solidFill>
                  <a:srgbClr val="FFFFFF"/>
                </a:solidFill>
                <a:latin typeface="Helvetica Neue"/>
              </a:rPr>
              <a:t>Tests further from purchase carry more projection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The stage multiplier discounts the performance fee for upper-funnel tests where impact is estimated rather than measured.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9456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A1602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Menlo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677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RPV · AOV · Purchase CVR · Checkout CVR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4203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Revenue measured directly by the testing software.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395728"/>
            <a:ext cx="3017520" cy="2560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395728"/>
            <a:ext cx="3017520" cy="2560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2980944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A1602"/>
          </a:solidFill>
          <a:ln w="9525">
            <a:solidFill>
              <a:srgbClr val="F7D0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80944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7D007"/>
                </a:solidFill>
                <a:latin typeface="Menlo"/>
              </a:rPr>
              <a:t>75 %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5409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Cart to checkout · PDP add to 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32841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One step from purchase. Light projection of downstream behavior.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182112"/>
            <a:ext cx="3017520" cy="2560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3182112"/>
            <a:ext cx="2263139" cy="256032"/>
          </a:xfrm>
          <a:prstGeom prst="rect">
            <a:avLst/>
          </a:prstGeom>
          <a:solidFill>
            <a:srgbClr val="F7D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767328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A1602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67328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Menlo"/>
              </a:rPr>
              <a:t>50 %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8404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Collection to PDP · PDP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1148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Two steps from purchase. Multiple downstream rates to project.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968496"/>
            <a:ext cx="3017520" cy="2560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3968496"/>
            <a:ext cx="15087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553712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A1602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53712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Menlo"/>
              </a:rPr>
              <a:t>25 %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62686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Homepage to collection · Navigation ·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90118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Three or more steps from purchase. Heaviest projection assumptions.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754880"/>
            <a:ext cx="3017520" cy="2560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79" y="4754880"/>
            <a:ext cx="75438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5532120"/>
            <a:ext cx="10332720" cy="77724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66928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Only your own data goes into the estimate.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No industry benchmarks. Visitors, baseline CVRs and AOV are pulled from the trailing 30 days of GA4 and Shopify, frozen pre-test, and approved by you.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10908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F7D007"/>
                </a:solidFill>
                <a:latin typeface="Helvetica Neue"/>
              </a:rPr>
              <a:t>PROVEN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6868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 spc="-50">
                <a:solidFill>
                  <a:srgbClr val="FFFFFF"/>
                </a:solidFill>
                <a:latin typeface="Helvetica Neue"/>
              </a:rPr>
              <a:t>Recent A/B tests we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  <a:latin typeface="Helvetica Neue"/>
              </a:rPr>
              <a:t>Live winners on PH Import (Danish Shopify), measured in Intelligems. The same levers we recommend for TJÅKKO.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" y="196596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627" y="21122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CASE · PH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Assurance icons below Add to 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6627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Trust icons under the ATC to close hesitation. Same idea as surfacing your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627" y="3108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627" y="31638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+19.1%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627" y="34015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CVR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78227" y="3108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8227" y="31638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+17.5%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8227" y="34015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REV/VISITOR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49827" y="3108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9827" y="31638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+776K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9827" y="34015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DKK/MO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7" y="196596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8747" y="211226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CASE · PH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747" y="235000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Lighter homepage hero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8747" y="26517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Light homepage with a clear headline, CTA and USP row. Same as your benefit hero test.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8747" y="3108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8747" y="31638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+15.7%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747" y="34015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REV/VISITOR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0347" y="3108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0347" y="31638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+231K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0347" y="34015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DKK/MO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027" y="384048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6627" y="398678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CASE · PH IMPORT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627" y="42245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Pack selector + social-proof badge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627" y="4526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Preselected the higher pack with a "95% pick this" badge.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6627" y="4983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627" y="50383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+8.7%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627" y="52760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REV/VISITOR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78227" y="4983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78227" y="50383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8227" y="52760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AOV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49827" y="4983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49827" y="50383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+483K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9827" y="52760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DKK/MO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7" y="3840480"/>
            <a:ext cx="5303520" cy="16916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 w="9525"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8747" y="398678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7D007"/>
                </a:solidFill>
                <a:latin typeface="Menlo"/>
              </a:rPr>
              <a:t>CASE · PH IMPORT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8747" y="42245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Helvetica Neue"/>
              </a:rPr>
              <a:t>Tiered volume discounts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8747" y="4526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  <a:latin typeface="Helvetica Neue"/>
              </a:rPr>
              <a:t>Bulk discounting on high-volume consumables. Same AOV lever as your cross-sell.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38747" y="4983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8747" y="50383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+13.5%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8747" y="52760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CVR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0347" y="49834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0347" y="50383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7D007"/>
                </a:solidFill>
                <a:latin typeface="Menlo"/>
              </a:rPr>
              <a:t>+151K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0347" y="527608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 spc="50">
                <a:solidFill>
                  <a:srgbClr val="999999"/>
                </a:solidFill>
                <a:latin typeface="Helvetica Neue"/>
              </a:rPr>
              <a:t>DKK/MO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" y="5806440"/>
            <a:ext cx="9997135" cy="594360"/>
          </a:xfrm>
          <a:prstGeom prst="roundRect">
            <a:avLst>
              <a:gd name="adj" fmla="val 8000"/>
            </a:avLst>
          </a:prstGeom>
          <a:solidFill>
            <a:srgbClr val="1A1602"/>
          </a:solidFill>
          <a:ln w="9525">
            <a:solidFill>
              <a:srgbClr val="5749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25880" y="5943600"/>
            <a:ext cx="953993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F7D007"/>
                </a:solidFill>
                <a:latin typeface="Helvetica Neue"/>
              </a:rPr>
              <a:t>Every result above is a live, rolled-out A/B winner, not a projection. </a:t>
            </a:r>
            <a:r>
              <a:rPr sz="1100" b="0" i="0">
                <a:solidFill>
                  <a:srgbClr val="CCCCCC"/>
                </a:solidFill>
                <a:latin typeface="Helvetica Neue"/>
              </a:rPr>
              <a:t>The recommendations in this deck target the same levers that produced them.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comhous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873736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201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FEEEE"/>
                </a:solidFill>
                <a:latin typeface="Helvetica Neue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653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150">
                <a:solidFill>
                  <a:srgbClr val="EFEEEE"/>
                </a:solidFill>
                <a:latin typeface="Helvetica Neue"/>
              </a:rPr>
              <a:t>ECOMHOUSE ©ALL RIGHTS RESERVED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6539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EFEEEE"/>
                </a:solidFill>
                <a:latin typeface="Menlo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F7D007"/>
                </a:solidFill>
                <a:latin typeface="Helvetica Neue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Win the cart-add. 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7D007"/>
                </a:solidFill>
                <a:latin typeface="Helvetica Neue"/>
              </a:rPr>
              <a:t>Surface the proof. </a:t>
            </a:r>
            <a:r>
              <a:rPr sz="4600" b="1" i="0">
                <a:solidFill>
                  <a:srgbClr val="FFFFFF"/>
                </a:solidFill>
                <a:latin typeface="Helvetica Neue"/>
              </a:rPr>
              <a:t>Nail the sizing.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99999"/>
                </a:solidFill>
                <a:latin typeface="Helvetica Neue"/>
              </a:rPr>
              <a:t>96% of product viewers leave before adding to cart. Phase 1 (reviews + sizing + cart cross-sell) carries no downside and can ship in three weeks.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7D007"/>
                </a:solidFill>
                <a:latin typeface="Helvetica Neue"/>
              </a:rPr>
              <a:t>Conservative target: ~330,000 SEK per quarter from mobile conversion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C75"/>
                </a:solidFill>
                <a:latin typeface="Helvetica Neue"/>
              </a:rPr>
              <a:t>Prepared by EcomHouse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