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jpg"/><Relationship Id="rId4"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jpg"/><Relationship Id="rId4" Type="http://schemas.openxmlformats.org/officeDocument/2006/relationships/image" Target="../media/image1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00</a:t>
            </a:r>
          </a:p>
        </p:txBody>
      </p:sp>
      <p:sp>
        <p:nvSpPr>
          <p:cNvPr id="7" name="Oval 6"/>
          <p:cNvSpPr/>
          <p:nvPr/>
        </p:nvSpPr>
        <p:spPr>
          <a:xfrm>
            <a:off x="6400800" y="-2286000"/>
            <a:ext cx="7772400" cy="6400800"/>
          </a:xfrm>
          <a:prstGeom prst="ellipse">
            <a:avLst/>
          </a:prstGeom>
          <a:solidFill>
            <a:srgbClr val="3A3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10789920" cy="1097280"/>
          </a:xfrm>
          <a:prstGeom prst="rect">
            <a:avLst/>
          </a:prstGeom>
          <a:noFill/>
        </p:spPr>
        <p:txBody>
          <a:bodyPr wrap="square" lIns="0" rIns="0" tIns="0" bIns="0" anchor="t">
            <a:spAutoFit/>
          </a:bodyPr>
          <a:lstStyle/>
          <a:p>
            <a:pPr algn="l"/>
            <a:r>
              <a:rPr sz="5800" b="1" i="0" spc="-200">
                <a:solidFill>
                  <a:srgbClr val="F7D007"/>
                </a:solidFill>
                <a:latin typeface="Helvetica Neue"/>
              </a:rPr>
              <a:t>TECH-SHOPPEN.DK</a:t>
            </a:r>
          </a:p>
        </p:txBody>
      </p:sp>
      <p:sp>
        <p:nvSpPr>
          <p:cNvPr id="9" name="TextBox 8"/>
          <p:cNvSpPr txBox="1"/>
          <p:nvPr/>
        </p:nvSpPr>
        <p:spPr>
          <a:xfrm>
            <a:off x="777240" y="2606040"/>
            <a:ext cx="10515600" cy="914400"/>
          </a:xfrm>
          <a:prstGeom prst="rect">
            <a:avLst/>
          </a:prstGeom>
          <a:noFill/>
        </p:spPr>
        <p:txBody>
          <a:bodyPr wrap="square" lIns="0" rIns="0" tIns="0" bIns="0" anchor="t">
            <a:spAutoFit/>
          </a:bodyPr>
          <a:lstStyle/>
          <a:p>
            <a:pPr algn="l"/>
            <a:r>
              <a:rPr sz="4400" b="1" i="0" spc="-200">
                <a:solidFill>
                  <a:srgbClr val="FFFFFF"/>
                </a:solidFill>
                <a:latin typeface="Helvetica Neue"/>
              </a:rPr>
              <a:t>CRO Audit &amp; Opportunity Report</a:t>
            </a:r>
          </a:p>
        </p:txBody>
      </p:sp>
      <p:sp>
        <p:nvSpPr>
          <p:cNvPr id="10" name="Rounded Rectangle 9"/>
          <p:cNvSpPr/>
          <p:nvPr/>
        </p:nvSpPr>
        <p:spPr>
          <a:xfrm>
            <a:off x="777240" y="3794760"/>
            <a:ext cx="141732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794760"/>
            <a:ext cx="1417320" cy="310896"/>
          </a:xfrm>
          <a:prstGeom prst="rect">
            <a:avLst/>
          </a:prstGeom>
          <a:noFill/>
        </p:spPr>
        <p:txBody>
          <a:bodyPr wrap="square" lIns="0" rIns="0" tIns="0" bIns="0" anchor="ctr">
            <a:spAutoFit/>
          </a:bodyPr>
          <a:lstStyle/>
          <a:p>
            <a:pPr algn="ctr"/>
            <a:r>
              <a:rPr sz="1000" b="1" i="0" spc="100">
                <a:solidFill>
                  <a:srgbClr val="EFEEEE"/>
                </a:solidFill>
                <a:latin typeface="Helvetica Neue"/>
              </a:rPr>
              <a:t>GA4 Analysis</a:t>
            </a:r>
          </a:p>
        </p:txBody>
      </p:sp>
      <p:sp>
        <p:nvSpPr>
          <p:cNvPr id="12" name="Rounded Rectangle 11"/>
          <p:cNvSpPr/>
          <p:nvPr/>
        </p:nvSpPr>
        <p:spPr>
          <a:xfrm>
            <a:off x="777240" y="3794760"/>
            <a:ext cx="141732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31720" y="3794760"/>
            <a:ext cx="182880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3794760"/>
            <a:ext cx="1828800" cy="310896"/>
          </a:xfrm>
          <a:prstGeom prst="rect">
            <a:avLst/>
          </a:prstGeom>
          <a:noFill/>
        </p:spPr>
        <p:txBody>
          <a:bodyPr wrap="square" lIns="0" rIns="0" tIns="0" bIns="0" anchor="ctr">
            <a:spAutoFit/>
          </a:bodyPr>
          <a:lstStyle/>
          <a:p>
            <a:pPr algn="ctr"/>
            <a:r>
              <a:rPr sz="1000" b="1" i="0" spc="100">
                <a:solidFill>
                  <a:srgbClr val="EFEEEE"/>
                </a:solidFill>
                <a:latin typeface="Helvetica Neue"/>
              </a:rPr>
              <a:t>Sequential Funnel</a:t>
            </a:r>
          </a:p>
        </p:txBody>
      </p:sp>
      <p:sp>
        <p:nvSpPr>
          <p:cNvPr id="15" name="Rounded Rectangle 14"/>
          <p:cNvSpPr/>
          <p:nvPr/>
        </p:nvSpPr>
        <p:spPr>
          <a:xfrm>
            <a:off x="2331720" y="3794760"/>
            <a:ext cx="182880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97680" y="3794760"/>
            <a:ext cx="160020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3794760"/>
            <a:ext cx="1600200" cy="310896"/>
          </a:xfrm>
          <a:prstGeom prst="rect">
            <a:avLst/>
          </a:prstGeom>
          <a:noFill/>
        </p:spPr>
        <p:txBody>
          <a:bodyPr wrap="square" lIns="0" rIns="0" tIns="0" bIns="0" anchor="ctr">
            <a:spAutoFit/>
          </a:bodyPr>
          <a:lstStyle/>
          <a:p>
            <a:pPr algn="ctr"/>
            <a:r>
              <a:rPr sz="1000" b="1" i="0" spc="100">
                <a:solidFill>
                  <a:srgbClr val="EFEEEE"/>
                </a:solidFill>
                <a:latin typeface="Helvetica Neue"/>
              </a:rPr>
              <a:t>Heuristic Audit</a:t>
            </a:r>
          </a:p>
        </p:txBody>
      </p:sp>
      <p:sp>
        <p:nvSpPr>
          <p:cNvPr id="18" name="Rounded Rectangle 17"/>
          <p:cNvSpPr/>
          <p:nvPr/>
        </p:nvSpPr>
        <p:spPr>
          <a:xfrm>
            <a:off x="4297680" y="3794760"/>
            <a:ext cx="160020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794760"/>
            <a:ext cx="192024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794760"/>
            <a:ext cx="1920240" cy="310896"/>
          </a:xfrm>
          <a:prstGeom prst="rect">
            <a:avLst/>
          </a:prstGeom>
          <a:noFill/>
        </p:spPr>
        <p:txBody>
          <a:bodyPr wrap="square" lIns="0" rIns="0" tIns="0" bIns="0" anchor="ctr">
            <a:spAutoFit/>
          </a:bodyPr>
          <a:lstStyle/>
          <a:p>
            <a:pPr algn="ctr"/>
            <a:r>
              <a:rPr sz="1000" b="1" i="0" spc="100">
                <a:solidFill>
                  <a:srgbClr val="EFEEEE"/>
                </a:solidFill>
                <a:latin typeface="Helvetica Neue"/>
              </a:rPr>
              <a:t>Voice of Customer</a:t>
            </a:r>
          </a:p>
        </p:txBody>
      </p:sp>
      <p:sp>
        <p:nvSpPr>
          <p:cNvPr id="21" name="Rounded Rectangle 20"/>
          <p:cNvSpPr/>
          <p:nvPr/>
        </p:nvSpPr>
        <p:spPr>
          <a:xfrm>
            <a:off x="6035040" y="3794760"/>
            <a:ext cx="192024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794760"/>
            <a:ext cx="141732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3794760"/>
            <a:ext cx="1417320" cy="310896"/>
          </a:xfrm>
          <a:prstGeom prst="rect">
            <a:avLst/>
          </a:prstGeom>
          <a:noFill/>
        </p:spPr>
        <p:txBody>
          <a:bodyPr wrap="square" lIns="0" rIns="0" tIns="0" bIns="0" anchor="ctr">
            <a:spAutoFit/>
          </a:bodyPr>
          <a:lstStyle/>
          <a:p>
            <a:pPr algn="ctr"/>
            <a:r>
              <a:rPr sz="1000" b="1" i="0" spc="100">
                <a:solidFill>
                  <a:srgbClr val="EFEEEE"/>
                </a:solidFill>
                <a:latin typeface="Helvetica Neue"/>
              </a:rPr>
              <a:t>Competitors</a:t>
            </a:r>
          </a:p>
        </p:txBody>
      </p:sp>
      <p:sp>
        <p:nvSpPr>
          <p:cNvPr id="24" name="Rounded Rectangle 23"/>
          <p:cNvSpPr/>
          <p:nvPr/>
        </p:nvSpPr>
        <p:spPr>
          <a:xfrm>
            <a:off x="8092440" y="3794760"/>
            <a:ext cx="141732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26280"/>
            <a:ext cx="10515600" cy="274320"/>
          </a:xfrm>
          <a:prstGeom prst="rect">
            <a:avLst/>
          </a:prstGeom>
          <a:noFill/>
        </p:spPr>
        <p:txBody>
          <a:bodyPr wrap="square" lIns="0" rIns="0" tIns="0" bIns="0" anchor="t">
            <a:spAutoFit/>
          </a:bodyPr>
          <a:lstStyle/>
          <a:p>
            <a:pPr algn="l"/>
            <a:r>
              <a:rPr sz="1100" b="0" i="0">
                <a:solidFill>
                  <a:srgbClr val="999999"/>
                </a:solidFill>
                <a:latin typeface="Helvetica Neue"/>
              </a:rPr>
              <a:t>tech-shoppen.dk  ·  Kids tech &amp; home gadgets, Shopify, Denmark  ·  Audit date 15 Jul 2026</a:t>
            </a:r>
          </a:p>
        </p:txBody>
      </p:sp>
      <p:sp>
        <p:nvSpPr>
          <p:cNvPr id="26" name="TextBox 25"/>
          <p:cNvSpPr txBox="1"/>
          <p:nvPr/>
        </p:nvSpPr>
        <p:spPr>
          <a:xfrm>
            <a:off x="777240" y="4846320"/>
            <a:ext cx="10515600" cy="274320"/>
          </a:xfrm>
          <a:prstGeom prst="rect">
            <a:avLst/>
          </a:prstGeom>
          <a:noFill/>
        </p:spPr>
        <p:txBody>
          <a:bodyPr wrap="square" lIns="0" rIns="0" tIns="0" bIns="0" anchor="t">
            <a:spAutoFit/>
          </a:bodyPr>
          <a:lstStyle/>
          <a:p>
            <a:pPr algn="l"/>
            <a:r>
              <a:rPr sz="1100" b="0" i="0">
                <a:solidFill>
                  <a:srgbClr val="999999"/>
                </a:solidFill>
                <a:latin typeface="Helvetica Neue"/>
              </a:rPr>
              <a:t>GA4 property 375103003 (90-day pull, 16 Apr to 15 Jul 2026, + sequential funnel), PageSpeed, 404 Trustpilot reviews, 3 verified competitors.</a:t>
            </a:r>
          </a:p>
        </p:txBody>
      </p:sp>
      <p:sp>
        <p:nvSpPr>
          <p:cNvPr id="27" name="TextBox 26"/>
          <p:cNvSpPr txBox="1"/>
          <p:nvPr/>
        </p:nvSpPr>
        <p:spPr>
          <a:xfrm>
            <a:off x="777240" y="5257800"/>
            <a:ext cx="10515600" cy="274320"/>
          </a:xfrm>
          <a:prstGeom prst="rect">
            <a:avLst/>
          </a:prstGeom>
          <a:noFill/>
        </p:spPr>
        <p:txBody>
          <a:bodyPr wrap="square" lIns="0" rIns="0" tIns="0" bIns="0" anchor="t">
            <a:spAutoFit/>
          </a:bodyPr>
          <a:lstStyle/>
          <a:p>
            <a:pPr algn="l"/>
            <a:r>
              <a:rPr sz="1100" b="1" i="0">
                <a:solidFill>
                  <a:srgbClr val="F7D007"/>
                </a:solidFill>
                <a:latin typeface="Helvetica Neue"/>
              </a:rPr>
              <a:t>Prepared by EcomHouse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METHODOLOGY</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How this audit was built</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Every finding is grounded in GA4 data, live page behaviour, or the customer's own words. Absolute GA4 numbers are directional (a third of purchases arrive with no source), but the step to step ratios drive every priority.</a:t>
            </a:r>
          </a:p>
        </p:txBody>
      </p:sp>
      <p:sp>
        <p:nvSpPr>
          <p:cNvPr id="10" name="Rounded Rectangle 9"/>
          <p:cNvSpPr/>
          <p:nvPr/>
        </p:nvSpPr>
        <p:spPr>
          <a:xfrm>
            <a:off x="518007" y="2286000"/>
            <a:ext cx="3566160" cy="21945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039" y="2514600"/>
            <a:ext cx="3108960" cy="274320"/>
          </a:xfrm>
          <a:prstGeom prst="rect">
            <a:avLst/>
          </a:prstGeom>
          <a:noFill/>
        </p:spPr>
        <p:txBody>
          <a:bodyPr wrap="square" lIns="0" rIns="0" tIns="0" bIns="0" anchor="t">
            <a:spAutoFit/>
          </a:bodyPr>
          <a:lstStyle/>
          <a:p>
            <a:pPr algn="l"/>
            <a:r>
              <a:rPr sz="1000" b="1" i="0">
                <a:solidFill>
                  <a:srgbClr val="F7D007"/>
                </a:solidFill>
                <a:latin typeface="Menlo"/>
              </a:rPr>
              <a:t>// 01</a:t>
            </a:r>
          </a:p>
        </p:txBody>
      </p:sp>
      <p:sp>
        <p:nvSpPr>
          <p:cNvPr id="12" name="TextBox 11"/>
          <p:cNvSpPr txBox="1"/>
          <p:nvPr/>
        </p:nvSpPr>
        <p:spPr>
          <a:xfrm>
            <a:off x="774039" y="2834640"/>
            <a:ext cx="3108960" cy="365760"/>
          </a:xfrm>
          <a:prstGeom prst="rect">
            <a:avLst/>
          </a:prstGeom>
          <a:noFill/>
        </p:spPr>
        <p:txBody>
          <a:bodyPr wrap="square" lIns="0" rIns="0" tIns="0" bIns="0" anchor="t">
            <a:spAutoFit/>
          </a:bodyPr>
          <a:lstStyle/>
          <a:p>
            <a:pPr algn="l"/>
            <a:r>
              <a:rPr sz="1500" b="1" i="0">
                <a:solidFill>
                  <a:srgbClr val="FFFFFF"/>
                </a:solidFill>
                <a:latin typeface="Helvetica Neue"/>
              </a:rPr>
              <a:t>GA4 evidence</a:t>
            </a:r>
          </a:p>
        </p:txBody>
      </p:sp>
      <p:sp>
        <p:nvSpPr>
          <p:cNvPr id="13" name="TextBox 12"/>
          <p:cNvSpPr txBox="1"/>
          <p:nvPr/>
        </p:nvSpPr>
        <p:spPr>
          <a:xfrm>
            <a:off x="774039" y="3246120"/>
            <a:ext cx="3063240" cy="1097280"/>
          </a:xfrm>
          <a:prstGeom prst="rect">
            <a:avLst/>
          </a:prstGeom>
          <a:noFill/>
        </p:spPr>
        <p:txBody>
          <a:bodyPr wrap="square" lIns="0" rIns="0" tIns="0" bIns="0" anchor="t">
            <a:spAutoFit/>
          </a:bodyPr>
          <a:lstStyle/>
          <a:p>
            <a:pPr algn="l"/>
            <a:r>
              <a:rPr sz="1050" b="0" i="0">
                <a:solidFill>
                  <a:srgbClr val="CCCCCC"/>
                </a:solidFill>
                <a:latin typeface="Helvetica Neue"/>
              </a:rPr>
              <a:t>90-day pull + sequential funnel from property 375103003: sessions, revenue, device split, per-product landing performance, true View to Purchase funnel.</a:t>
            </a:r>
          </a:p>
        </p:txBody>
      </p:sp>
      <p:sp>
        <p:nvSpPr>
          <p:cNvPr id="14" name="Rounded Rectangle 13"/>
          <p:cNvSpPr/>
          <p:nvPr/>
        </p:nvSpPr>
        <p:spPr>
          <a:xfrm>
            <a:off x="4312767" y="2286000"/>
            <a:ext cx="3566160" cy="21945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8799" y="2514600"/>
            <a:ext cx="3108960" cy="274320"/>
          </a:xfrm>
          <a:prstGeom prst="rect">
            <a:avLst/>
          </a:prstGeom>
          <a:noFill/>
        </p:spPr>
        <p:txBody>
          <a:bodyPr wrap="square" lIns="0" rIns="0" tIns="0" bIns="0" anchor="t">
            <a:spAutoFit/>
          </a:bodyPr>
          <a:lstStyle/>
          <a:p>
            <a:pPr algn="l"/>
            <a:r>
              <a:rPr sz="1000" b="1" i="0">
                <a:solidFill>
                  <a:srgbClr val="F7D007"/>
                </a:solidFill>
                <a:latin typeface="Menlo"/>
              </a:rPr>
              <a:t>// 02</a:t>
            </a:r>
          </a:p>
        </p:txBody>
      </p:sp>
      <p:sp>
        <p:nvSpPr>
          <p:cNvPr id="16" name="TextBox 15"/>
          <p:cNvSpPr txBox="1"/>
          <p:nvPr/>
        </p:nvSpPr>
        <p:spPr>
          <a:xfrm>
            <a:off x="4568799" y="2834640"/>
            <a:ext cx="3108960" cy="365760"/>
          </a:xfrm>
          <a:prstGeom prst="rect">
            <a:avLst/>
          </a:prstGeom>
          <a:noFill/>
        </p:spPr>
        <p:txBody>
          <a:bodyPr wrap="square" lIns="0" rIns="0" tIns="0" bIns="0" anchor="t">
            <a:spAutoFit/>
          </a:bodyPr>
          <a:lstStyle/>
          <a:p>
            <a:pPr algn="l"/>
            <a:r>
              <a:rPr sz="1500" b="1" i="0">
                <a:solidFill>
                  <a:srgbClr val="FFFFFF"/>
                </a:solidFill>
                <a:latin typeface="Helvetica Neue"/>
              </a:rPr>
              <a:t>Live page &amp; speed</a:t>
            </a:r>
          </a:p>
        </p:txBody>
      </p:sp>
      <p:sp>
        <p:nvSpPr>
          <p:cNvPr id="17" name="TextBox 16"/>
          <p:cNvSpPr txBox="1"/>
          <p:nvPr/>
        </p:nvSpPr>
        <p:spPr>
          <a:xfrm>
            <a:off x="4568799" y="3246120"/>
            <a:ext cx="3063240" cy="1097280"/>
          </a:xfrm>
          <a:prstGeom prst="rect">
            <a:avLst/>
          </a:prstGeom>
          <a:noFill/>
        </p:spPr>
        <p:txBody>
          <a:bodyPr wrap="square" lIns="0" rIns="0" tIns="0" bIns="0" anchor="t">
            <a:spAutoFit/>
          </a:bodyPr>
          <a:lstStyle/>
          <a:p>
            <a:pPr algn="l"/>
            <a:r>
              <a:rPr sz="1050" b="0" i="0">
                <a:solidFill>
                  <a:srgbClr val="CCCCCC"/>
                </a:solidFill>
                <a:latin typeface="Helvetica Neue"/>
              </a:rPr>
              <a:t>Full walk of homepage, collection, KidsBuddy PDP and cart on desktop and mobile, plus Google PageSpeed and a live tag audit (GTM, GA4, Google Ads, Meta verified).</a:t>
            </a:r>
          </a:p>
        </p:txBody>
      </p:sp>
      <p:sp>
        <p:nvSpPr>
          <p:cNvPr id="18" name="Rounded Rectangle 17"/>
          <p:cNvSpPr/>
          <p:nvPr/>
        </p:nvSpPr>
        <p:spPr>
          <a:xfrm>
            <a:off x="8107527" y="2286000"/>
            <a:ext cx="3566160" cy="21945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3559" y="2514600"/>
            <a:ext cx="3108960" cy="274320"/>
          </a:xfrm>
          <a:prstGeom prst="rect">
            <a:avLst/>
          </a:prstGeom>
          <a:noFill/>
        </p:spPr>
        <p:txBody>
          <a:bodyPr wrap="square" lIns="0" rIns="0" tIns="0" bIns="0" anchor="t">
            <a:spAutoFit/>
          </a:bodyPr>
          <a:lstStyle/>
          <a:p>
            <a:pPr algn="l"/>
            <a:r>
              <a:rPr sz="1000" b="1" i="0">
                <a:solidFill>
                  <a:srgbClr val="F7D007"/>
                </a:solidFill>
                <a:latin typeface="Menlo"/>
              </a:rPr>
              <a:t>// 03</a:t>
            </a:r>
          </a:p>
        </p:txBody>
      </p:sp>
      <p:sp>
        <p:nvSpPr>
          <p:cNvPr id="20" name="TextBox 19"/>
          <p:cNvSpPr txBox="1"/>
          <p:nvPr/>
        </p:nvSpPr>
        <p:spPr>
          <a:xfrm>
            <a:off x="8363559" y="2834640"/>
            <a:ext cx="3108960" cy="365760"/>
          </a:xfrm>
          <a:prstGeom prst="rect">
            <a:avLst/>
          </a:prstGeom>
          <a:noFill/>
        </p:spPr>
        <p:txBody>
          <a:bodyPr wrap="square" lIns="0" rIns="0" tIns="0" bIns="0" anchor="t">
            <a:spAutoFit/>
          </a:bodyPr>
          <a:lstStyle/>
          <a:p>
            <a:pPr algn="l"/>
            <a:r>
              <a:rPr sz="1500" b="1" i="0">
                <a:solidFill>
                  <a:srgbClr val="FFFFFF"/>
                </a:solidFill>
                <a:latin typeface="Helvetica Neue"/>
              </a:rPr>
              <a:t>VOC + competitors</a:t>
            </a:r>
          </a:p>
        </p:txBody>
      </p:sp>
      <p:sp>
        <p:nvSpPr>
          <p:cNvPr id="21" name="TextBox 20"/>
          <p:cNvSpPr txBox="1"/>
          <p:nvPr/>
        </p:nvSpPr>
        <p:spPr>
          <a:xfrm>
            <a:off x="8363559" y="3246120"/>
            <a:ext cx="3063240" cy="1097280"/>
          </a:xfrm>
          <a:prstGeom prst="rect">
            <a:avLst/>
          </a:prstGeom>
          <a:noFill/>
        </p:spPr>
        <p:txBody>
          <a:bodyPr wrap="square" lIns="0" rIns="0" tIns="0" bIns="0" anchor="t">
            <a:spAutoFit/>
          </a:bodyPr>
          <a:lstStyle/>
          <a:p>
            <a:pPr algn="l"/>
            <a:r>
              <a:rPr sz="1050" b="0" i="0">
                <a:solidFill>
                  <a:srgbClr val="CCCCCC"/>
                </a:solidFill>
                <a:latin typeface="Helvetica Neue"/>
              </a:rPr>
              <a:t>404 Trustpilot reviews (3.9/5) theme coded with verbatim Danish quotes, plus 3 verified competitors: xplora.dk, kidsbuddy.dk and techbutik.dk.</a:t>
            </a:r>
          </a:p>
        </p:txBody>
      </p:sp>
      <p:sp>
        <p:nvSpPr>
          <p:cNvPr id="22" name="Rounded Rectangle 21"/>
          <p:cNvSpPr/>
          <p:nvPr/>
        </p:nvSpPr>
        <p:spPr>
          <a:xfrm>
            <a:off x="1097280" y="4892040"/>
            <a:ext cx="9997135" cy="10515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5029200"/>
            <a:ext cx="9539935" cy="7772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One gap worth naming: </a:t>
            </a:r>
            <a:r>
              <a:rPr sz="1100" b="0" i="0">
                <a:solidFill>
                  <a:srgbClr val="CCCCCC"/>
                </a:solidFill>
                <a:latin typeface="Helvetica Neue"/>
              </a:rPr>
              <a:t>no behavioral analytics tool (Microsoft Clarity or Hotjar) is installed, so there are no session recordings behind this audit. Clarity is free; installing it is itself a recommendation of this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EXECUTIVE SUMMARY</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Where the money is leaking</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90-day GA4: 49,156 sessions, 1,496 orders, 945,697 DKK revenue, 3.04% conversion, 632 DKK AOV. A healthy top line with six specific leaks under it.</a:t>
            </a:r>
          </a:p>
        </p:txBody>
      </p:sp>
      <p:sp>
        <p:nvSpPr>
          <p:cNvPr id="10" name="Rounded Rectangle 9"/>
          <p:cNvSpPr/>
          <p:nvPr/>
        </p:nvSpPr>
        <p:spPr>
          <a:xfrm>
            <a:off x="678027" y="196596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9195" y="2130552"/>
            <a:ext cx="640080" cy="548640"/>
          </a:xfrm>
          <a:prstGeom prst="rect">
            <a:avLst/>
          </a:prstGeom>
          <a:noFill/>
        </p:spPr>
        <p:txBody>
          <a:bodyPr wrap="square" lIns="0" rIns="0" tIns="0" bIns="0" anchor="t">
            <a:spAutoFit/>
          </a:bodyPr>
          <a:lstStyle/>
          <a:p>
            <a:pPr algn="l"/>
            <a:r>
              <a:rPr sz="2600" b="1" i="0">
                <a:solidFill>
                  <a:srgbClr val="EF4444"/>
                </a:solidFill>
                <a:latin typeface="Menlo"/>
              </a:rPr>
              <a:t>01</a:t>
            </a:r>
          </a:p>
        </p:txBody>
      </p:sp>
      <p:sp>
        <p:nvSpPr>
          <p:cNvPr id="12" name="TextBox 11"/>
          <p:cNvSpPr txBox="1"/>
          <p:nvPr/>
        </p:nvSpPr>
        <p:spPr>
          <a:xfrm>
            <a:off x="1592427" y="207568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92.8% drop from View Product to Add to Cart</a:t>
            </a:r>
          </a:p>
        </p:txBody>
      </p:sp>
      <p:sp>
        <p:nvSpPr>
          <p:cNvPr id="13" name="TextBox 12"/>
          <p:cNvSpPr txBox="1"/>
          <p:nvPr/>
        </p:nvSpPr>
        <p:spPr>
          <a:xfrm>
            <a:off x="1592427" y="242316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27,696 users view a product, only 1,994 add to cart. Concentrated on the long-tail PDPs, not KidsBuddy.</a:t>
            </a:r>
          </a:p>
        </p:txBody>
      </p:sp>
      <p:sp>
        <p:nvSpPr>
          <p:cNvPr id="14" name="Rounded Rectangle 13"/>
          <p:cNvSpPr/>
          <p:nvPr/>
        </p:nvSpPr>
        <p:spPr>
          <a:xfrm>
            <a:off x="1592427" y="289864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92427" y="289864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7.2% VIEW TO ATC</a:t>
            </a:r>
          </a:p>
        </p:txBody>
      </p:sp>
      <p:sp>
        <p:nvSpPr>
          <p:cNvPr id="16" name="Rounded Rectangle 15"/>
          <p:cNvSpPr/>
          <p:nvPr/>
        </p:nvSpPr>
        <p:spPr>
          <a:xfrm>
            <a:off x="6210147" y="196596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1315" y="2130552"/>
            <a:ext cx="640080" cy="548640"/>
          </a:xfrm>
          <a:prstGeom prst="rect">
            <a:avLst/>
          </a:prstGeom>
          <a:noFill/>
        </p:spPr>
        <p:txBody>
          <a:bodyPr wrap="square" lIns="0" rIns="0" tIns="0" bIns="0" anchor="t">
            <a:spAutoFit/>
          </a:bodyPr>
          <a:lstStyle/>
          <a:p>
            <a:pPr algn="l"/>
            <a:r>
              <a:rPr sz="2600" b="1" i="0">
                <a:solidFill>
                  <a:srgbClr val="EF4444"/>
                </a:solidFill>
                <a:latin typeface="Menlo"/>
              </a:rPr>
              <a:t>02</a:t>
            </a:r>
          </a:p>
        </p:txBody>
      </p:sp>
      <p:sp>
        <p:nvSpPr>
          <p:cNvPr id="18" name="TextBox 17"/>
          <p:cNvSpPr txBox="1"/>
          <p:nvPr/>
        </p:nvSpPr>
        <p:spPr>
          <a:xfrm>
            <a:off x="7124547" y="207568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A third of all orders have no traffic source</a:t>
            </a:r>
          </a:p>
        </p:txBody>
      </p:sp>
      <p:sp>
        <p:nvSpPr>
          <p:cNvPr id="19" name="TextBox 18"/>
          <p:cNvSpPr txBox="1"/>
          <p:nvPr/>
        </p:nvSpPr>
        <p:spPr>
          <a:xfrm>
            <a:off x="7124547" y="242316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"(not set)" holds 498 of 1,496 purchases and 296,226 DKK (31% of revenue) at a reported 100% bounce.</a:t>
            </a:r>
          </a:p>
        </p:txBody>
      </p:sp>
      <p:sp>
        <p:nvSpPr>
          <p:cNvPr id="20" name="Rounded Rectangle 19"/>
          <p:cNvSpPr/>
          <p:nvPr/>
        </p:nvSpPr>
        <p:spPr>
          <a:xfrm>
            <a:off x="7124547" y="289864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24547" y="289864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498 ORDERS UNATTRIBUTED</a:t>
            </a:r>
          </a:p>
        </p:txBody>
      </p:sp>
      <p:sp>
        <p:nvSpPr>
          <p:cNvPr id="22" name="Rounded Rectangle 21"/>
          <p:cNvSpPr/>
          <p:nvPr/>
        </p:nvSpPr>
        <p:spPr>
          <a:xfrm>
            <a:off x="678027" y="338328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195" y="3547872"/>
            <a:ext cx="640080" cy="548640"/>
          </a:xfrm>
          <a:prstGeom prst="rect">
            <a:avLst/>
          </a:prstGeom>
          <a:noFill/>
        </p:spPr>
        <p:txBody>
          <a:bodyPr wrap="square" lIns="0" rIns="0" tIns="0" bIns="0" anchor="t">
            <a:spAutoFit/>
          </a:bodyPr>
          <a:lstStyle/>
          <a:p>
            <a:pPr algn="l"/>
            <a:r>
              <a:rPr sz="2600" b="1" i="0">
                <a:solidFill>
                  <a:srgbClr val="EF4444"/>
                </a:solidFill>
                <a:latin typeface="Menlo"/>
              </a:rPr>
              <a:t>03</a:t>
            </a:r>
          </a:p>
        </p:txBody>
      </p:sp>
      <p:sp>
        <p:nvSpPr>
          <p:cNvPr id="24" name="TextBox 23"/>
          <p:cNvSpPr txBox="1"/>
          <p:nvPr/>
        </p:nvSpPr>
        <p:spPr>
          <a:xfrm>
            <a:off x="1592427" y="349300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Mobile wins the cart, then loses the checkout</a:t>
            </a:r>
          </a:p>
        </p:txBody>
      </p:sp>
      <p:sp>
        <p:nvSpPr>
          <p:cNvPr id="25" name="TextBox 24"/>
          <p:cNvSpPr txBox="1"/>
          <p:nvPr/>
        </p:nvSpPr>
        <p:spPr>
          <a:xfrm>
            <a:off x="1592427" y="384048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Mobile is 89% of sessions and adds to cart better than desktop (7.4% vs 5.3%), but only 45.3% of mobile checkouts complete vs 64.9%.</a:t>
            </a:r>
          </a:p>
        </p:txBody>
      </p:sp>
      <p:sp>
        <p:nvSpPr>
          <p:cNvPr id="26" name="Rounded Rectangle 25"/>
          <p:cNvSpPr/>
          <p:nvPr/>
        </p:nvSpPr>
        <p:spPr>
          <a:xfrm>
            <a:off x="1592427" y="431596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92427" y="431596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45.3% VS 64.9% CHECKOUT</a:t>
            </a:r>
          </a:p>
        </p:txBody>
      </p:sp>
      <p:sp>
        <p:nvSpPr>
          <p:cNvPr id="28" name="Rounded Rectangle 27"/>
          <p:cNvSpPr/>
          <p:nvPr/>
        </p:nvSpPr>
        <p:spPr>
          <a:xfrm>
            <a:off x="6210147" y="338328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1315" y="3547872"/>
            <a:ext cx="640080" cy="548640"/>
          </a:xfrm>
          <a:prstGeom prst="rect">
            <a:avLst/>
          </a:prstGeom>
          <a:noFill/>
        </p:spPr>
        <p:txBody>
          <a:bodyPr wrap="square" lIns="0" rIns="0" tIns="0" bIns="0" anchor="t">
            <a:spAutoFit/>
          </a:bodyPr>
          <a:lstStyle/>
          <a:p>
            <a:pPr algn="l"/>
            <a:r>
              <a:rPr sz="2600" b="1" i="0">
                <a:solidFill>
                  <a:srgbClr val="EF4444"/>
                </a:solidFill>
                <a:latin typeface="Menlo"/>
              </a:rPr>
              <a:t>04</a:t>
            </a:r>
          </a:p>
        </p:txBody>
      </p:sp>
      <p:sp>
        <p:nvSpPr>
          <p:cNvPr id="30" name="TextBox 29"/>
          <p:cNvSpPr txBox="1"/>
          <p:nvPr/>
        </p:nvSpPr>
        <p:spPr>
          <a:xfrm>
            <a:off x="7124547" y="349300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36% of traffic produces 9% of revenue</a:t>
            </a:r>
          </a:p>
        </p:txBody>
      </p:sp>
      <p:sp>
        <p:nvSpPr>
          <p:cNvPr id="31" name="TextBox 30"/>
          <p:cNvSpPr txBox="1"/>
          <p:nvPr/>
        </p:nvSpPr>
        <p:spPr>
          <a:xfrm>
            <a:off x="7124547" y="384048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Facebook paid (11,335 sessions, 0.86% CVR) and MakeInfluence (6,277 sessions, 0.64% CVR) bring 17,612 sessions for 86,671 DKK.</a:t>
            </a:r>
          </a:p>
        </p:txBody>
      </p:sp>
      <p:sp>
        <p:nvSpPr>
          <p:cNvPr id="32" name="Rounded Rectangle 31"/>
          <p:cNvSpPr/>
          <p:nvPr/>
        </p:nvSpPr>
        <p:spPr>
          <a:xfrm>
            <a:off x="7124547" y="431596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24547" y="431596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FB 6.3 VS GOOGLE 19.5 DKK/SESSION</a:t>
            </a:r>
          </a:p>
        </p:txBody>
      </p:sp>
      <p:sp>
        <p:nvSpPr>
          <p:cNvPr id="34" name="Rounded Rectangle 33"/>
          <p:cNvSpPr/>
          <p:nvPr/>
        </p:nvSpPr>
        <p:spPr>
          <a:xfrm>
            <a:off x="678027" y="480060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9195" y="4965192"/>
            <a:ext cx="640080" cy="548640"/>
          </a:xfrm>
          <a:prstGeom prst="rect">
            <a:avLst/>
          </a:prstGeom>
          <a:noFill/>
        </p:spPr>
        <p:txBody>
          <a:bodyPr wrap="square" lIns="0" rIns="0" tIns="0" bIns="0" anchor="t">
            <a:spAutoFit/>
          </a:bodyPr>
          <a:lstStyle/>
          <a:p>
            <a:pPr algn="l"/>
            <a:r>
              <a:rPr sz="2600" b="1" i="0">
                <a:solidFill>
                  <a:srgbClr val="EF4444"/>
                </a:solidFill>
                <a:latin typeface="Menlo"/>
              </a:rPr>
              <a:t>05</a:t>
            </a:r>
          </a:p>
        </p:txBody>
      </p:sp>
      <p:sp>
        <p:nvSpPr>
          <p:cNvPr id="36" name="TextBox 35"/>
          <p:cNvSpPr txBox="1"/>
          <p:nvPr/>
        </p:nvSpPr>
        <p:spPr>
          <a:xfrm>
            <a:off x="1592427" y="491032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KidsBuddy is 56% of revenue, its #1 objection unanswered</a:t>
            </a:r>
          </a:p>
        </p:txBody>
      </p:sp>
      <p:sp>
        <p:nvSpPr>
          <p:cNvPr id="37" name="TextBox 36"/>
          <p:cNvSpPr txBox="1"/>
          <p:nvPr/>
        </p:nvSpPr>
        <p:spPr>
          <a:xfrm>
            <a:off x="1592427" y="525780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The PDP converts 2.93%, but 7 of the last 39 Trustpilot reviews attack GPS accuracy and the app, and the page says nothing about either.</a:t>
            </a:r>
          </a:p>
        </p:txBody>
      </p:sp>
      <p:sp>
        <p:nvSpPr>
          <p:cNvPr id="38" name="Rounded Rectangle 37"/>
          <p:cNvSpPr/>
          <p:nvPr/>
        </p:nvSpPr>
        <p:spPr>
          <a:xfrm>
            <a:off x="1592427" y="573328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92427" y="573328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528,276 DKK ON ONE PDP</a:t>
            </a:r>
          </a:p>
        </p:txBody>
      </p:sp>
      <p:sp>
        <p:nvSpPr>
          <p:cNvPr id="40" name="Rounded Rectangle 39"/>
          <p:cNvSpPr/>
          <p:nvPr/>
        </p:nvSpPr>
        <p:spPr>
          <a:xfrm>
            <a:off x="6210147" y="4800600"/>
            <a:ext cx="5303520" cy="12344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11315" y="4965192"/>
            <a:ext cx="640080" cy="548640"/>
          </a:xfrm>
          <a:prstGeom prst="rect">
            <a:avLst/>
          </a:prstGeom>
          <a:noFill/>
        </p:spPr>
        <p:txBody>
          <a:bodyPr wrap="square" lIns="0" rIns="0" tIns="0" bIns="0" anchor="t">
            <a:spAutoFit/>
          </a:bodyPr>
          <a:lstStyle/>
          <a:p>
            <a:pPr algn="l"/>
            <a:r>
              <a:rPr sz="2600" b="1" i="0">
                <a:solidFill>
                  <a:srgbClr val="EF4444"/>
                </a:solidFill>
                <a:latin typeface="Menlo"/>
              </a:rPr>
              <a:t>06</a:t>
            </a:r>
          </a:p>
        </p:txBody>
      </p:sp>
      <p:sp>
        <p:nvSpPr>
          <p:cNvPr id="42" name="TextBox 41"/>
          <p:cNvSpPr txBox="1"/>
          <p:nvPr/>
        </p:nvSpPr>
        <p:spPr>
          <a:xfrm>
            <a:off x="7124547" y="4910328"/>
            <a:ext cx="4160520" cy="320040"/>
          </a:xfrm>
          <a:prstGeom prst="rect">
            <a:avLst/>
          </a:prstGeom>
          <a:noFill/>
        </p:spPr>
        <p:txBody>
          <a:bodyPr wrap="square" lIns="0" rIns="0" tIns="0" bIns="0" anchor="t">
            <a:spAutoFit/>
          </a:bodyPr>
          <a:lstStyle/>
          <a:p>
            <a:pPr algn="l"/>
            <a:r>
              <a:rPr sz="1150" b="1" i="0">
                <a:solidFill>
                  <a:srgbClr val="FFFFFF"/>
                </a:solidFill>
                <a:latin typeface="Helvetica Neue"/>
              </a:rPr>
              <a:t>Returning visitors convert 3x, almost none come back</a:t>
            </a:r>
          </a:p>
        </p:txBody>
      </p:sp>
      <p:sp>
        <p:nvSpPr>
          <p:cNvPr id="43" name="TextBox 42"/>
          <p:cNvSpPr txBox="1"/>
          <p:nvPr/>
        </p:nvSpPr>
        <p:spPr>
          <a:xfrm>
            <a:off x="7124547" y="5257800"/>
            <a:ext cx="4160520" cy="457200"/>
          </a:xfrm>
          <a:prstGeom prst="rect">
            <a:avLst/>
          </a:prstGeom>
          <a:noFill/>
        </p:spPr>
        <p:txBody>
          <a:bodyPr wrap="square" lIns="0" rIns="0" tIns="0" bIns="0" anchor="t">
            <a:spAutoFit/>
          </a:bodyPr>
          <a:lstStyle/>
          <a:p>
            <a:pPr algn="l"/>
            <a:r>
              <a:rPr sz="900" b="0" i="0">
                <a:solidFill>
                  <a:srgbClr val="CCCCCC"/>
                </a:solidFill>
                <a:latin typeface="Helvetica Neue"/>
              </a:rPr>
              <a:t>Returning sessions convert at 7.02% vs 2.37% for new, yet Klaviyo email drives just 1,293 sessions in 90 days.</a:t>
            </a:r>
          </a:p>
        </p:txBody>
      </p:sp>
      <p:sp>
        <p:nvSpPr>
          <p:cNvPr id="44" name="Rounded Rectangle 43"/>
          <p:cNvSpPr/>
          <p:nvPr/>
        </p:nvSpPr>
        <p:spPr>
          <a:xfrm>
            <a:off x="7124547" y="5733288"/>
            <a:ext cx="2468880" cy="237744"/>
          </a:xfrm>
          <a:prstGeom prst="roundRect">
            <a:avLst>
              <a:gd name="adj" fmla="val 50000"/>
            </a:avLst>
          </a:prstGeom>
          <a:solidFill>
            <a:srgbClr val="3A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24547" y="5733288"/>
            <a:ext cx="2468880" cy="237744"/>
          </a:xfrm>
          <a:prstGeom prst="rect">
            <a:avLst/>
          </a:prstGeom>
          <a:noFill/>
        </p:spPr>
        <p:txBody>
          <a:bodyPr wrap="square" lIns="0" rIns="0" tIns="0" bIns="0" anchor="ctr">
            <a:spAutoFit/>
          </a:bodyPr>
          <a:lstStyle/>
          <a:p>
            <a:pPr algn="ctr"/>
            <a:r>
              <a:rPr sz="750" b="1" i="0" spc="100">
                <a:solidFill>
                  <a:srgbClr val="EF4444"/>
                </a:solidFill>
                <a:latin typeface="Helvetica Neue"/>
              </a:rPr>
              <a:t>7.02% VS 2.37% CVR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00</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QUANTITATIVE ANALYSIS</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The numbers</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GA4 property 375103003. 90-day totals (16 Apr to 15 Jul 2026) and a sequential View to Purchase funnel.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BASELINE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Where tech-shoppen.dk stands today</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Last 90 days, GA4 property 375103003. Treat absolute numbers as directional anchors.</a:t>
            </a:r>
          </a:p>
        </p:txBody>
      </p:sp>
      <p:sp>
        <p:nvSpPr>
          <p:cNvPr id="10" name="Rounded Rectangle 9"/>
          <p:cNvSpPr/>
          <p:nvPr/>
        </p:nvSpPr>
        <p:spPr>
          <a:xfrm>
            <a:off x="678027" y="214884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8027" y="2404872"/>
            <a:ext cx="2057400" cy="502920"/>
          </a:xfrm>
          <a:prstGeom prst="rect">
            <a:avLst/>
          </a:prstGeom>
          <a:noFill/>
        </p:spPr>
        <p:txBody>
          <a:bodyPr wrap="square" lIns="0" rIns="0" tIns="0" bIns="0" anchor="t">
            <a:spAutoFit/>
          </a:bodyPr>
          <a:lstStyle/>
          <a:p>
            <a:pPr algn="ctr"/>
            <a:r>
              <a:rPr sz="1800" b="1" i="0">
                <a:solidFill>
                  <a:srgbClr val="F7D007"/>
                </a:solidFill>
                <a:latin typeface="Menlo"/>
              </a:rPr>
              <a:t>945,697 DKK</a:t>
            </a:r>
          </a:p>
        </p:txBody>
      </p:sp>
      <p:sp>
        <p:nvSpPr>
          <p:cNvPr id="12" name="TextBox 11"/>
          <p:cNvSpPr txBox="1"/>
          <p:nvPr/>
        </p:nvSpPr>
        <p:spPr>
          <a:xfrm>
            <a:off x="769467" y="292608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REVENUE (90D)</a:t>
            </a:r>
          </a:p>
        </p:txBody>
      </p:sp>
      <p:sp>
        <p:nvSpPr>
          <p:cNvPr id="13" name="Rounded Rectangle 12"/>
          <p:cNvSpPr/>
          <p:nvPr/>
        </p:nvSpPr>
        <p:spPr>
          <a:xfrm>
            <a:off x="2872587" y="214884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72587" y="2404872"/>
            <a:ext cx="2057400" cy="502920"/>
          </a:xfrm>
          <a:prstGeom prst="rect">
            <a:avLst/>
          </a:prstGeom>
          <a:noFill/>
        </p:spPr>
        <p:txBody>
          <a:bodyPr wrap="square" lIns="0" rIns="0" tIns="0" bIns="0" anchor="t">
            <a:spAutoFit/>
          </a:bodyPr>
          <a:lstStyle/>
          <a:p>
            <a:pPr algn="ctr"/>
            <a:r>
              <a:rPr sz="1800" b="1" i="0">
                <a:solidFill>
                  <a:srgbClr val="FFFFFF"/>
                </a:solidFill>
                <a:latin typeface="Menlo"/>
              </a:rPr>
              <a:t>49,156</a:t>
            </a:r>
          </a:p>
        </p:txBody>
      </p:sp>
      <p:sp>
        <p:nvSpPr>
          <p:cNvPr id="15" name="TextBox 14"/>
          <p:cNvSpPr txBox="1"/>
          <p:nvPr/>
        </p:nvSpPr>
        <p:spPr>
          <a:xfrm>
            <a:off x="2964027" y="292608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SESSIONS</a:t>
            </a:r>
          </a:p>
        </p:txBody>
      </p:sp>
      <p:sp>
        <p:nvSpPr>
          <p:cNvPr id="16" name="Rounded Rectangle 15"/>
          <p:cNvSpPr/>
          <p:nvPr/>
        </p:nvSpPr>
        <p:spPr>
          <a:xfrm>
            <a:off x="5067147" y="214884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67147" y="2404872"/>
            <a:ext cx="2057400" cy="502920"/>
          </a:xfrm>
          <a:prstGeom prst="rect">
            <a:avLst/>
          </a:prstGeom>
          <a:noFill/>
        </p:spPr>
        <p:txBody>
          <a:bodyPr wrap="square" lIns="0" rIns="0" tIns="0" bIns="0" anchor="t">
            <a:spAutoFit/>
          </a:bodyPr>
          <a:lstStyle/>
          <a:p>
            <a:pPr algn="ctr"/>
            <a:r>
              <a:rPr sz="1800" b="1" i="0">
                <a:solidFill>
                  <a:srgbClr val="FFFFFF"/>
                </a:solidFill>
                <a:latin typeface="Menlo"/>
              </a:rPr>
              <a:t>1,496</a:t>
            </a:r>
          </a:p>
        </p:txBody>
      </p:sp>
      <p:sp>
        <p:nvSpPr>
          <p:cNvPr id="18" name="TextBox 17"/>
          <p:cNvSpPr txBox="1"/>
          <p:nvPr/>
        </p:nvSpPr>
        <p:spPr>
          <a:xfrm>
            <a:off x="5158587" y="292608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ORDERS</a:t>
            </a:r>
          </a:p>
        </p:txBody>
      </p:sp>
      <p:sp>
        <p:nvSpPr>
          <p:cNvPr id="19" name="Rounded Rectangle 18"/>
          <p:cNvSpPr/>
          <p:nvPr/>
        </p:nvSpPr>
        <p:spPr>
          <a:xfrm>
            <a:off x="7261707" y="214884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1707" y="2404872"/>
            <a:ext cx="2057400" cy="502920"/>
          </a:xfrm>
          <a:prstGeom prst="rect">
            <a:avLst/>
          </a:prstGeom>
          <a:noFill/>
        </p:spPr>
        <p:txBody>
          <a:bodyPr wrap="square" lIns="0" rIns="0" tIns="0" bIns="0" anchor="t">
            <a:spAutoFit/>
          </a:bodyPr>
          <a:lstStyle/>
          <a:p>
            <a:pPr algn="ctr"/>
            <a:r>
              <a:rPr sz="1800" b="1" i="0">
                <a:solidFill>
                  <a:srgbClr val="FFFFFF"/>
                </a:solidFill>
                <a:latin typeface="Menlo"/>
              </a:rPr>
              <a:t>3.04%</a:t>
            </a:r>
          </a:p>
        </p:txBody>
      </p:sp>
      <p:sp>
        <p:nvSpPr>
          <p:cNvPr id="21" name="TextBox 20"/>
          <p:cNvSpPr txBox="1"/>
          <p:nvPr/>
        </p:nvSpPr>
        <p:spPr>
          <a:xfrm>
            <a:off x="7353147" y="292608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CONVERSION RATE</a:t>
            </a:r>
          </a:p>
        </p:txBody>
      </p:sp>
      <p:sp>
        <p:nvSpPr>
          <p:cNvPr id="22" name="Rounded Rectangle 21"/>
          <p:cNvSpPr/>
          <p:nvPr/>
        </p:nvSpPr>
        <p:spPr>
          <a:xfrm>
            <a:off x="9456267" y="214884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56267" y="2404872"/>
            <a:ext cx="2057400" cy="502920"/>
          </a:xfrm>
          <a:prstGeom prst="rect">
            <a:avLst/>
          </a:prstGeom>
          <a:noFill/>
        </p:spPr>
        <p:txBody>
          <a:bodyPr wrap="square" lIns="0" rIns="0" tIns="0" bIns="0" anchor="t">
            <a:spAutoFit/>
          </a:bodyPr>
          <a:lstStyle/>
          <a:p>
            <a:pPr algn="ctr"/>
            <a:r>
              <a:rPr sz="1800" b="1" i="0">
                <a:solidFill>
                  <a:srgbClr val="FFFFFF"/>
                </a:solidFill>
                <a:latin typeface="Menlo"/>
              </a:rPr>
              <a:t>632 DKK</a:t>
            </a:r>
          </a:p>
        </p:txBody>
      </p:sp>
      <p:sp>
        <p:nvSpPr>
          <p:cNvPr id="24" name="TextBox 23"/>
          <p:cNvSpPr txBox="1"/>
          <p:nvPr/>
        </p:nvSpPr>
        <p:spPr>
          <a:xfrm>
            <a:off x="9547707" y="292608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AVG ORDER VALUE</a:t>
            </a:r>
          </a:p>
        </p:txBody>
      </p:sp>
      <p:sp>
        <p:nvSpPr>
          <p:cNvPr id="25" name="Rounded Rectangle 24"/>
          <p:cNvSpPr/>
          <p:nvPr/>
        </p:nvSpPr>
        <p:spPr>
          <a:xfrm>
            <a:off x="678027" y="347472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8027" y="3730752"/>
            <a:ext cx="2057400" cy="502920"/>
          </a:xfrm>
          <a:prstGeom prst="rect">
            <a:avLst/>
          </a:prstGeom>
          <a:noFill/>
        </p:spPr>
        <p:txBody>
          <a:bodyPr wrap="square" lIns="0" rIns="0" tIns="0" bIns="0" anchor="t">
            <a:spAutoFit/>
          </a:bodyPr>
          <a:lstStyle/>
          <a:p>
            <a:pPr algn="ctr"/>
            <a:r>
              <a:rPr sz="1800" b="1" i="0">
                <a:solidFill>
                  <a:srgbClr val="FFFFFF"/>
                </a:solidFill>
                <a:latin typeface="Menlo"/>
              </a:rPr>
              <a:t>44,083</a:t>
            </a:r>
          </a:p>
        </p:txBody>
      </p:sp>
      <p:sp>
        <p:nvSpPr>
          <p:cNvPr id="27" name="TextBox 26"/>
          <p:cNvSpPr txBox="1"/>
          <p:nvPr/>
        </p:nvSpPr>
        <p:spPr>
          <a:xfrm>
            <a:off x="769467" y="425196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USERS</a:t>
            </a:r>
          </a:p>
        </p:txBody>
      </p:sp>
      <p:sp>
        <p:nvSpPr>
          <p:cNvPr id="28" name="Rounded Rectangle 27"/>
          <p:cNvSpPr/>
          <p:nvPr/>
        </p:nvSpPr>
        <p:spPr>
          <a:xfrm>
            <a:off x="2872587" y="347472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72587" y="3730752"/>
            <a:ext cx="2057400" cy="502920"/>
          </a:xfrm>
          <a:prstGeom prst="rect">
            <a:avLst/>
          </a:prstGeom>
          <a:noFill/>
        </p:spPr>
        <p:txBody>
          <a:bodyPr wrap="square" lIns="0" rIns="0" tIns="0" bIns="0" anchor="t">
            <a:spAutoFit/>
          </a:bodyPr>
          <a:lstStyle/>
          <a:p>
            <a:pPr algn="ctr"/>
            <a:r>
              <a:rPr sz="1800" b="1" i="0">
                <a:solidFill>
                  <a:srgbClr val="FFFFFF"/>
                </a:solidFill>
                <a:latin typeface="Menlo"/>
              </a:rPr>
              <a:t>19.24 DKK</a:t>
            </a:r>
          </a:p>
        </p:txBody>
      </p:sp>
      <p:sp>
        <p:nvSpPr>
          <p:cNvPr id="30" name="TextBox 29"/>
          <p:cNvSpPr txBox="1"/>
          <p:nvPr/>
        </p:nvSpPr>
        <p:spPr>
          <a:xfrm>
            <a:off x="2964027" y="425196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REVENUE / SESSION</a:t>
            </a:r>
          </a:p>
        </p:txBody>
      </p:sp>
      <p:sp>
        <p:nvSpPr>
          <p:cNvPr id="31" name="Rounded Rectangle 30"/>
          <p:cNvSpPr/>
          <p:nvPr/>
        </p:nvSpPr>
        <p:spPr>
          <a:xfrm>
            <a:off x="5067147" y="347472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67147" y="3730752"/>
            <a:ext cx="2057400" cy="502920"/>
          </a:xfrm>
          <a:prstGeom prst="rect">
            <a:avLst/>
          </a:prstGeom>
          <a:noFill/>
        </p:spPr>
        <p:txBody>
          <a:bodyPr wrap="square" lIns="0" rIns="0" tIns="0" bIns="0" anchor="t">
            <a:spAutoFit/>
          </a:bodyPr>
          <a:lstStyle/>
          <a:p>
            <a:pPr algn="ctr"/>
            <a:r>
              <a:rPr sz="1800" b="1" i="0">
                <a:solidFill>
                  <a:srgbClr val="FFFFFF"/>
                </a:solidFill>
                <a:latin typeface="Menlo"/>
              </a:rPr>
              <a:t>17.7%</a:t>
            </a:r>
          </a:p>
        </p:txBody>
      </p:sp>
      <p:sp>
        <p:nvSpPr>
          <p:cNvPr id="33" name="TextBox 32"/>
          <p:cNvSpPr txBox="1"/>
          <p:nvPr/>
        </p:nvSpPr>
        <p:spPr>
          <a:xfrm>
            <a:off x="5158587" y="425196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ENGAGEMENT RATE</a:t>
            </a:r>
          </a:p>
        </p:txBody>
      </p:sp>
      <p:sp>
        <p:nvSpPr>
          <p:cNvPr id="34" name="Rounded Rectangle 33"/>
          <p:cNvSpPr/>
          <p:nvPr/>
        </p:nvSpPr>
        <p:spPr>
          <a:xfrm>
            <a:off x="7261707" y="347472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61707" y="3730752"/>
            <a:ext cx="2057400" cy="502920"/>
          </a:xfrm>
          <a:prstGeom prst="rect">
            <a:avLst/>
          </a:prstGeom>
          <a:noFill/>
        </p:spPr>
        <p:txBody>
          <a:bodyPr wrap="square" lIns="0" rIns="0" tIns="0" bIns="0" anchor="t">
            <a:spAutoFit/>
          </a:bodyPr>
          <a:lstStyle/>
          <a:p>
            <a:pPr algn="ctr"/>
            <a:r>
              <a:rPr sz="1800" b="1" i="0">
                <a:solidFill>
                  <a:srgbClr val="FFFFFF"/>
                </a:solidFill>
                <a:latin typeface="Menlo"/>
              </a:rPr>
              <a:t>96%</a:t>
            </a:r>
          </a:p>
        </p:txBody>
      </p:sp>
      <p:sp>
        <p:nvSpPr>
          <p:cNvPr id="36" name="TextBox 35"/>
          <p:cNvSpPr txBox="1"/>
          <p:nvPr/>
        </p:nvSpPr>
        <p:spPr>
          <a:xfrm>
            <a:off x="7353147" y="425196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SESSIONS FROM DENMARK</a:t>
            </a:r>
          </a:p>
        </p:txBody>
      </p:sp>
      <p:sp>
        <p:nvSpPr>
          <p:cNvPr id="37" name="Rounded Rectangle 36"/>
          <p:cNvSpPr/>
          <p:nvPr/>
        </p:nvSpPr>
        <p:spPr>
          <a:xfrm>
            <a:off x="9456267" y="3474720"/>
            <a:ext cx="2057400" cy="11430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56267" y="3730752"/>
            <a:ext cx="2057400" cy="502920"/>
          </a:xfrm>
          <a:prstGeom prst="rect">
            <a:avLst/>
          </a:prstGeom>
          <a:noFill/>
        </p:spPr>
        <p:txBody>
          <a:bodyPr wrap="square" lIns="0" rIns="0" tIns="0" bIns="0" anchor="t">
            <a:spAutoFit/>
          </a:bodyPr>
          <a:lstStyle/>
          <a:p>
            <a:pPr algn="ctr"/>
            <a:r>
              <a:rPr sz="1800" b="1" i="0">
                <a:solidFill>
                  <a:srgbClr val="F7D007"/>
                </a:solidFill>
                <a:latin typeface="Menlo"/>
              </a:rPr>
              <a:t>89%</a:t>
            </a:r>
          </a:p>
        </p:txBody>
      </p:sp>
      <p:sp>
        <p:nvSpPr>
          <p:cNvPr id="39" name="TextBox 38"/>
          <p:cNvSpPr txBox="1"/>
          <p:nvPr/>
        </p:nvSpPr>
        <p:spPr>
          <a:xfrm>
            <a:off x="9547707" y="4251960"/>
            <a:ext cx="1874520" cy="274320"/>
          </a:xfrm>
          <a:prstGeom prst="rect">
            <a:avLst/>
          </a:prstGeom>
          <a:noFill/>
        </p:spPr>
        <p:txBody>
          <a:bodyPr wrap="square" lIns="0" rIns="0" tIns="0" bIns="0" anchor="t">
            <a:spAutoFit/>
          </a:bodyPr>
          <a:lstStyle/>
          <a:p>
            <a:pPr algn="ctr"/>
            <a:r>
              <a:rPr sz="800" b="1" i="0" spc="100">
                <a:solidFill>
                  <a:srgbClr val="999999"/>
                </a:solidFill>
                <a:latin typeface="Helvetica Neue"/>
              </a:rPr>
              <a:t>TRAFFIC ON MOBILE</a:t>
            </a:r>
          </a:p>
        </p:txBody>
      </p:sp>
      <p:sp>
        <p:nvSpPr>
          <p:cNvPr id="40" name="Rounded Rectangle 39"/>
          <p:cNvSpPr/>
          <p:nvPr/>
        </p:nvSpPr>
        <p:spPr>
          <a:xfrm>
            <a:off x="1097280" y="5029200"/>
            <a:ext cx="9997135"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25880" y="5166360"/>
            <a:ext cx="9539935"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A 3.04% blended conversion rate is a real strength for a store this young. </a:t>
            </a:r>
            <a:r>
              <a:rPr sz="1100" b="0" i="0">
                <a:solidFill>
                  <a:srgbClr val="CCCCCC"/>
                </a:solidFill>
                <a:latin typeface="Helvetica Neue"/>
              </a:rPr>
              <a:t>The caution flags are the 17.7% engagement rate (typical of cold paid PDP traffic) and how concentrated everything is: one product, one country, one device class.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FUNNEL DECOMPOSITION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Two steps are eating the funnel</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GA4 sequential funnel (Funnel API, unique users per step, same-session journeys; full 90-day total is 1,496 orders). The leaks: add to cart, and the checkout itself.</a:t>
            </a:r>
          </a:p>
        </p:txBody>
      </p:sp>
      <p:sp>
        <p:nvSpPr>
          <p:cNvPr id="10" name="TextBox 9"/>
          <p:cNvSpPr txBox="1"/>
          <p:nvPr/>
        </p:nvSpPr>
        <p:spPr>
          <a:xfrm>
            <a:off x="822960" y="2148840"/>
            <a:ext cx="1828800" cy="502920"/>
          </a:xfrm>
          <a:prstGeom prst="rect">
            <a:avLst/>
          </a:prstGeom>
          <a:noFill/>
        </p:spPr>
        <p:txBody>
          <a:bodyPr wrap="square" lIns="0" rIns="0" tIns="0" bIns="0" anchor="ctr">
            <a:spAutoFit/>
          </a:bodyPr>
          <a:lstStyle/>
          <a:p>
            <a:pPr algn="l"/>
            <a:r>
              <a:rPr sz="1100" b="0" i="0">
                <a:solidFill>
                  <a:srgbClr val="CCCCCC"/>
                </a:solidFill>
                <a:latin typeface="Helvetica Neue"/>
              </a:rPr>
              <a:t>Session start</a:t>
            </a:r>
          </a:p>
        </p:txBody>
      </p:sp>
      <p:sp>
        <p:nvSpPr>
          <p:cNvPr id="11" name="Rectangle 10"/>
          <p:cNvSpPr/>
          <p:nvPr/>
        </p:nvSpPr>
        <p:spPr>
          <a:xfrm>
            <a:off x="2743200" y="2148840"/>
            <a:ext cx="5486400" cy="502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2148840"/>
            <a:ext cx="5486400" cy="502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2148840"/>
            <a:ext cx="5486400" cy="502920"/>
          </a:xfrm>
          <a:prstGeom prst="rect">
            <a:avLst/>
          </a:prstGeom>
          <a:noFill/>
        </p:spPr>
        <p:txBody>
          <a:bodyPr wrap="square" lIns="0" rIns="0" tIns="0" bIns="0" anchor="ctr">
            <a:spAutoFit/>
          </a:bodyPr>
          <a:lstStyle/>
          <a:p>
            <a:pPr algn="l"/>
            <a:r>
              <a:rPr sz="1100" b="1" i="0">
                <a:solidFill>
                  <a:srgbClr val="000000"/>
                </a:solidFill>
                <a:latin typeface="Menlo"/>
              </a:rPr>
              <a:t>29,566</a:t>
            </a:r>
          </a:p>
        </p:txBody>
      </p:sp>
      <p:sp>
        <p:nvSpPr>
          <p:cNvPr id="14" name="TextBox 13"/>
          <p:cNvSpPr txBox="1"/>
          <p:nvPr/>
        </p:nvSpPr>
        <p:spPr>
          <a:xfrm>
            <a:off x="822960" y="2798064"/>
            <a:ext cx="1828800" cy="502920"/>
          </a:xfrm>
          <a:prstGeom prst="rect">
            <a:avLst/>
          </a:prstGeom>
          <a:noFill/>
        </p:spPr>
        <p:txBody>
          <a:bodyPr wrap="square" lIns="0" rIns="0" tIns="0" bIns="0" anchor="ctr">
            <a:spAutoFit/>
          </a:bodyPr>
          <a:lstStyle/>
          <a:p>
            <a:pPr algn="l"/>
            <a:r>
              <a:rPr sz="1100" b="0" i="0">
                <a:solidFill>
                  <a:srgbClr val="CCCCCC"/>
                </a:solidFill>
                <a:latin typeface="Helvetica Neue"/>
              </a:rPr>
              <a:t>View product</a:t>
            </a:r>
          </a:p>
        </p:txBody>
      </p:sp>
      <p:sp>
        <p:nvSpPr>
          <p:cNvPr id="15" name="Rectangle 14"/>
          <p:cNvSpPr/>
          <p:nvPr/>
        </p:nvSpPr>
        <p:spPr>
          <a:xfrm>
            <a:off x="2743200" y="2798064"/>
            <a:ext cx="5486400" cy="502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0" y="2798064"/>
            <a:ext cx="5140756" cy="502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2798064"/>
            <a:ext cx="5486400" cy="502920"/>
          </a:xfrm>
          <a:prstGeom prst="rect">
            <a:avLst/>
          </a:prstGeom>
          <a:noFill/>
        </p:spPr>
        <p:txBody>
          <a:bodyPr wrap="square" lIns="0" rIns="0" tIns="0" bIns="0" anchor="ctr">
            <a:spAutoFit/>
          </a:bodyPr>
          <a:lstStyle/>
          <a:p>
            <a:pPr algn="l"/>
            <a:r>
              <a:rPr sz="1100" b="1" i="0">
                <a:solidFill>
                  <a:srgbClr val="000000"/>
                </a:solidFill>
                <a:latin typeface="Menlo"/>
              </a:rPr>
              <a:t>27,696  ·  93.7%</a:t>
            </a:r>
          </a:p>
        </p:txBody>
      </p:sp>
      <p:sp>
        <p:nvSpPr>
          <p:cNvPr id="18" name="TextBox 17"/>
          <p:cNvSpPr txBox="1"/>
          <p:nvPr/>
        </p:nvSpPr>
        <p:spPr>
          <a:xfrm>
            <a:off x="822960" y="3447288"/>
            <a:ext cx="1828800" cy="502920"/>
          </a:xfrm>
          <a:prstGeom prst="rect">
            <a:avLst/>
          </a:prstGeom>
          <a:noFill/>
        </p:spPr>
        <p:txBody>
          <a:bodyPr wrap="square" lIns="0" rIns="0" tIns="0" bIns="0" anchor="ctr">
            <a:spAutoFit/>
          </a:bodyPr>
          <a:lstStyle/>
          <a:p>
            <a:pPr algn="l"/>
            <a:r>
              <a:rPr sz="1100" b="0" i="0">
                <a:solidFill>
                  <a:srgbClr val="CCCCCC"/>
                </a:solidFill>
                <a:latin typeface="Helvetica Neue"/>
              </a:rPr>
              <a:t>Add to cart</a:t>
            </a:r>
          </a:p>
        </p:txBody>
      </p:sp>
      <p:sp>
        <p:nvSpPr>
          <p:cNvPr id="19" name="Rectangle 18"/>
          <p:cNvSpPr/>
          <p:nvPr/>
        </p:nvSpPr>
        <p:spPr>
          <a:xfrm>
            <a:off x="2743200" y="3447288"/>
            <a:ext cx="5486400" cy="502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 y="3447288"/>
            <a:ext cx="877824"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3447288"/>
            <a:ext cx="5486400" cy="502920"/>
          </a:xfrm>
          <a:prstGeom prst="rect">
            <a:avLst/>
          </a:prstGeom>
          <a:noFill/>
        </p:spPr>
        <p:txBody>
          <a:bodyPr wrap="square" lIns="0" rIns="0" tIns="0" bIns="0" anchor="ctr">
            <a:spAutoFit/>
          </a:bodyPr>
          <a:lstStyle/>
          <a:p>
            <a:pPr algn="l"/>
            <a:r>
              <a:rPr sz="1100" b="1" i="0">
                <a:solidFill>
                  <a:srgbClr val="FFFFFF"/>
                </a:solidFill>
                <a:latin typeface="Menlo"/>
              </a:rPr>
              <a:t>1,994  ·  7.2%</a:t>
            </a:r>
          </a:p>
        </p:txBody>
      </p:sp>
      <p:sp>
        <p:nvSpPr>
          <p:cNvPr id="22" name="TextBox 21"/>
          <p:cNvSpPr txBox="1"/>
          <p:nvPr/>
        </p:nvSpPr>
        <p:spPr>
          <a:xfrm>
            <a:off x="822960" y="4096512"/>
            <a:ext cx="1828800" cy="502920"/>
          </a:xfrm>
          <a:prstGeom prst="rect">
            <a:avLst/>
          </a:prstGeom>
          <a:noFill/>
        </p:spPr>
        <p:txBody>
          <a:bodyPr wrap="square" lIns="0" rIns="0" tIns="0" bIns="0" anchor="ctr">
            <a:spAutoFit/>
          </a:bodyPr>
          <a:lstStyle/>
          <a:p>
            <a:pPr algn="l"/>
            <a:r>
              <a:rPr sz="1100" b="0" i="0">
                <a:solidFill>
                  <a:srgbClr val="CCCCCC"/>
                </a:solidFill>
                <a:latin typeface="Helvetica Neue"/>
              </a:rPr>
              <a:t>Begin checkout</a:t>
            </a:r>
          </a:p>
        </p:txBody>
      </p:sp>
      <p:sp>
        <p:nvSpPr>
          <p:cNvPr id="23" name="Rectangle 22"/>
          <p:cNvSpPr/>
          <p:nvPr/>
        </p:nvSpPr>
        <p:spPr>
          <a:xfrm>
            <a:off x="2743200" y="4096512"/>
            <a:ext cx="5486400" cy="502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4096512"/>
            <a:ext cx="658368"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80360" y="4096512"/>
            <a:ext cx="5486400" cy="502920"/>
          </a:xfrm>
          <a:prstGeom prst="rect">
            <a:avLst/>
          </a:prstGeom>
          <a:noFill/>
        </p:spPr>
        <p:txBody>
          <a:bodyPr wrap="square" lIns="0" rIns="0" tIns="0" bIns="0" anchor="ctr">
            <a:spAutoFit/>
          </a:bodyPr>
          <a:lstStyle/>
          <a:p>
            <a:pPr algn="l"/>
            <a:r>
              <a:rPr sz="1100" b="1" i="0">
                <a:solidFill>
                  <a:srgbClr val="000000"/>
                </a:solidFill>
                <a:latin typeface="Menlo"/>
              </a:rPr>
              <a:t>1,029  ·  51.6%</a:t>
            </a:r>
          </a:p>
        </p:txBody>
      </p:sp>
      <p:sp>
        <p:nvSpPr>
          <p:cNvPr id="26" name="TextBox 25"/>
          <p:cNvSpPr txBox="1"/>
          <p:nvPr/>
        </p:nvSpPr>
        <p:spPr>
          <a:xfrm>
            <a:off x="822960" y="4745736"/>
            <a:ext cx="1828800" cy="502920"/>
          </a:xfrm>
          <a:prstGeom prst="rect">
            <a:avLst/>
          </a:prstGeom>
          <a:noFill/>
        </p:spPr>
        <p:txBody>
          <a:bodyPr wrap="square" lIns="0" rIns="0" tIns="0" bIns="0" anchor="ctr">
            <a:spAutoFit/>
          </a:bodyPr>
          <a:lstStyle/>
          <a:p>
            <a:pPr algn="l"/>
            <a:r>
              <a:rPr sz="1100" b="0" i="0">
                <a:solidFill>
                  <a:srgbClr val="CCCCCC"/>
                </a:solidFill>
                <a:latin typeface="Helvetica Neue"/>
              </a:rPr>
              <a:t>Purchase</a:t>
            </a:r>
          </a:p>
        </p:txBody>
      </p:sp>
      <p:sp>
        <p:nvSpPr>
          <p:cNvPr id="27" name="Rectangle 26"/>
          <p:cNvSpPr/>
          <p:nvPr/>
        </p:nvSpPr>
        <p:spPr>
          <a:xfrm>
            <a:off x="2743200" y="4745736"/>
            <a:ext cx="5486400" cy="502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0" y="4745736"/>
            <a:ext cx="493776"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80360" y="4745736"/>
            <a:ext cx="5486400" cy="502920"/>
          </a:xfrm>
          <a:prstGeom prst="rect">
            <a:avLst/>
          </a:prstGeom>
          <a:noFill/>
        </p:spPr>
        <p:txBody>
          <a:bodyPr wrap="square" lIns="0" rIns="0" tIns="0" bIns="0" anchor="ctr">
            <a:spAutoFit/>
          </a:bodyPr>
          <a:lstStyle/>
          <a:p>
            <a:pPr algn="l"/>
            <a:r>
              <a:rPr sz="1100" b="1" i="0">
                <a:solidFill>
                  <a:srgbClr val="000000"/>
                </a:solidFill>
                <a:latin typeface="Menlo"/>
              </a:rPr>
              <a:t>481  ·  46.7%</a:t>
            </a:r>
          </a:p>
        </p:txBody>
      </p:sp>
      <p:sp>
        <p:nvSpPr>
          <p:cNvPr id="30" name="Rounded Rectangle 29"/>
          <p:cNvSpPr/>
          <p:nvPr/>
        </p:nvSpPr>
        <p:spPr>
          <a:xfrm>
            <a:off x="1097280" y="5394960"/>
            <a:ext cx="9997135" cy="8229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5532120"/>
            <a:ext cx="9539935" cy="5486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92.8% of product viewers never add to cart, </a:t>
            </a:r>
            <a:r>
              <a:rPr sz="1100" b="0" i="0">
                <a:solidFill>
                  <a:srgbClr val="CCCCCC"/>
                </a:solidFill>
                <a:latin typeface="Helvetica Neue"/>
              </a:rPr>
              <a:t>and of those who start a checkout, more than half abandon it. 93.7% of sessions reach a product page (ads land straight on PDPs), so the whole game is trust at the buy box and friction in the checkout.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DEVICE SPLIT</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Mobile fills the cart. Checkout empties it.</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89% of sessions are mobile. The funnel shows mobile shoppers are MORE willing to add to cart than desktop (7.4% vs 5.3%). Then the mobile checkout gives half of them back.</a:t>
            </a:r>
          </a:p>
        </p:txBody>
      </p:sp>
      <p:sp>
        <p:nvSpPr>
          <p:cNvPr id="10" name="Rounded Rectangle 9"/>
          <p:cNvSpPr/>
          <p:nvPr/>
        </p:nvSpPr>
        <p:spPr>
          <a:xfrm>
            <a:off x="1706727" y="2331720"/>
            <a:ext cx="3931920" cy="210312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6727" y="2606040"/>
            <a:ext cx="3931920" cy="274320"/>
          </a:xfrm>
          <a:prstGeom prst="rect">
            <a:avLst/>
          </a:prstGeom>
          <a:noFill/>
        </p:spPr>
        <p:txBody>
          <a:bodyPr wrap="square" lIns="0" rIns="0" tIns="0" bIns="0" anchor="t">
            <a:spAutoFit/>
          </a:bodyPr>
          <a:lstStyle/>
          <a:p>
            <a:pPr algn="ctr"/>
            <a:r>
              <a:rPr sz="1000" b="1" i="0" spc="150">
                <a:solidFill>
                  <a:srgbClr val="999999"/>
                </a:solidFill>
                <a:latin typeface="Helvetica Neue"/>
              </a:rPr>
              <a:t>MOBILE · 89% OF SESSIONS</a:t>
            </a:r>
          </a:p>
        </p:txBody>
      </p:sp>
      <p:sp>
        <p:nvSpPr>
          <p:cNvPr id="12" name="TextBox 11"/>
          <p:cNvSpPr txBox="1"/>
          <p:nvPr/>
        </p:nvSpPr>
        <p:spPr>
          <a:xfrm>
            <a:off x="1706727" y="2971800"/>
            <a:ext cx="3931920" cy="822960"/>
          </a:xfrm>
          <a:prstGeom prst="rect">
            <a:avLst/>
          </a:prstGeom>
          <a:noFill/>
        </p:spPr>
        <p:txBody>
          <a:bodyPr wrap="square" lIns="0" rIns="0" tIns="0" bIns="0" anchor="t">
            <a:spAutoFit/>
          </a:bodyPr>
          <a:lstStyle/>
          <a:p>
            <a:pPr algn="ctr"/>
            <a:r>
              <a:rPr sz="4800" b="1" i="0">
                <a:solidFill>
                  <a:srgbClr val="EF4444"/>
                </a:solidFill>
                <a:latin typeface="Helvetica Neue"/>
              </a:rPr>
              <a:t>45.3%</a:t>
            </a:r>
          </a:p>
        </p:txBody>
      </p:sp>
      <p:sp>
        <p:nvSpPr>
          <p:cNvPr id="13" name="TextBox 12"/>
          <p:cNvSpPr txBox="1"/>
          <p:nvPr/>
        </p:nvSpPr>
        <p:spPr>
          <a:xfrm>
            <a:off x="1706727" y="3794760"/>
            <a:ext cx="3931920" cy="594360"/>
          </a:xfrm>
          <a:prstGeom prst="rect">
            <a:avLst/>
          </a:prstGeom>
          <a:noFill/>
        </p:spPr>
        <p:txBody>
          <a:bodyPr wrap="square" lIns="0" rIns="0" tIns="0" bIns="0" anchor="t">
            <a:spAutoFit/>
          </a:bodyPr>
          <a:lstStyle/>
          <a:p>
            <a:pPr algn="ctr"/>
            <a:r>
              <a:rPr sz="1050" b="0" i="0">
                <a:solidFill>
                  <a:srgbClr val="CCCCCC"/>
                </a:solidFill>
                <a:latin typeface="Helvetica Neue"/>
              </a:rPr>
              <a:t>checkout completion
43,862 sessions · 1,276 orders · 801,256 DKK · 2.91% CVR</a:t>
            </a:r>
          </a:p>
        </p:txBody>
      </p:sp>
      <p:sp>
        <p:nvSpPr>
          <p:cNvPr id="14" name="Rounded Rectangle 13"/>
          <p:cNvSpPr/>
          <p:nvPr/>
        </p:nvSpPr>
        <p:spPr>
          <a:xfrm>
            <a:off x="6553047" y="2331720"/>
            <a:ext cx="3931920" cy="2103120"/>
          </a:xfrm>
          <a:prstGeom prst="roundRect">
            <a:avLst>
              <a:gd name="adj" fmla="val 5000"/>
            </a:avLst>
          </a:prstGeom>
          <a:solidFill>
            <a:srgbClr val="1411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3047" y="2606040"/>
            <a:ext cx="3931920" cy="274320"/>
          </a:xfrm>
          <a:prstGeom prst="rect">
            <a:avLst/>
          </a:prstGeom>
          <a:noFill/>
        </p:spPr>
        <p:txBody>
          <a:bodyPr wrap="square" lIns="0" rIns="0" tIns="0" bIns="0" anchor="t">
            <a:spAutoFit/>
          </a:bodyPr>
          <a:lstStyle/>
          <a:p>
            <a:pPr algn="ctr"/>
            <a:r>
              <a:rPr sz="1000" b="1" i="0" spc="150">
                <a:solidFill>
                  <a:srgbClr val="999999"/>
                </a:solidFill>
                <a:latin typeface="Helvetica Neue"/>
              </a:rPr>
              <a:t>DESKTOP · 11% OF SESSIONS</a:t>
            </a:r>
          </a:p>
        </p:txBody>
      </p:sp>
      <p:sp>
        <p:nvSpPr>
          <p:cNvPr id="16" name="TextBox 15"/>
          <p:cNvSpPr txBox="1"/>
          <p:nvPr/>
        </p:nvSpPr>
        <p:spPr>
          <a:xfrm>
            <a:off x="6553047" y="2971800"/>
            <a:ext cx="3931920" cy="822960"/>
          </a:xfrm>
          <a:prstGeom prst="rect">
            <a:avLst/>
          </a:prstGeom>
          <a:noFill/>
        </p:spPr>
        <p:txBody>
          <a:bodyPr wrap="square" lIns="0" rIns="0" tIns="0" bIns="0" anchor="t">
            <a:spAutoFit/>
          </a:bodyPr>
          <a:lstStyle/>
          <a:p>
            <a:pPr algn="ctr"/>
            <a:r>
              <a:rPr sz="4800" b="1" i="0">
                <a:solidFill>
                  <a:srgbClr val="F7D007"/>
                </a:solidFill>
                <a:latin typeface="Helvetica Neue"/>
              </a:rPr>
              <a:t>64.9%</a:t>
            </a:r>
          </a:p>
        </p:txBody>
      </p:sp>
      <p:sp>
        <p:nvSpPr>
          <p:cNvPr id="17" name="TextBox 16"/>
          <p:cNvSpPr txBox="1"/>
          <p:nvPr/>
        </p:nvSpPr>
        <p:spPr>
          <a:xfrm>
            <a:off x="6553047" y="3794760"/>
            <a:ext cx="3931920" cy="594360"/>
          </a:xfrm>
          <a:prstGeom prst="rect">
            <a:avLst/>
          </a:prstGeom>
          <a:noFill/>
        </p:spPr>
        <p:txBody>
          <a:bodyPr wrap="square" lIns="0" rIns="0" tIns="0" bIns="0" anchor="t">
            <a:spAutoFit/>
          </a:bodyPr>
          <a:lstStyle/>
          <a:p>
            <a:pPr algn="ctr"/>
            <a:r>
              <a:rPr sz="1050" b="0" i="0">
                <a:solidFill>
                  <a:srgbClr val="CCCCCC"/>
                </a:solidFill>
                <a:latin typeface="Helvetica Neue"/>
              </a:rPr>
              <a:t>checkout completion
5,363 sessions · 214 orders · 141,696 DKK · 3.99% CVR</a:t>
            </a:r>
          </a:p>
        </p:txBody>
      </p:sp>
      <p:sp>
        <p:nvSpPr>
          <p:cNvPr id="18" name="TextBox 17"/>
          <p:cNvSpPr txBox="1"/>
          <p:nvPr/>
        </p:nvSpPr>
        <p:spPr>
          <a:xfrm>
            <a:off x="5638647" y="3154680"/>
            <a:ext cx="914400" cy="457200"/>
          </a:xfrm>
          <a:prstGeom prst="rect">
            <a:avLst/>
          </a:prstGeom>
          <a:noFill/>
        </p:spPr>
        <p:txBody>
          <a:bodyPr wrap="square" lIns="0" rIns="0" tIns="0" bIns="0" anchor="t">
            <a:spAutoFit/>
          </a:bodyPr>
          <a:lstStyle/>
          <a:p>
            <a:pPr algn="ctr"/>
            <a:r>
              <a:rPr sz="2200" b="0" i="0">
                <a:solidFill>
                  <a:srgbClr val="6B7C75"/>
                </a:solidFill>
                <a:latin typeface="Helvetica Neue"/>
              </a:rPr>
              <a:t>vs</a:t>
            </a:r>
          </a:p>
        </p:txBody>
      </p:sp>
      <p:sp>
        <p:nvSpPr>
          <p:cNvPr id="19" name="Rounded Rectangle 18"/>
          <p:cNvSpPr/>
          <p:nvPr/>
        </p:nvSpPr>
        <p:spPr>
          <a:xfrm>
            <a:off x="1097280" y="5029200"/>
            <a:ext cx="9997135"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5166360"/>
            <a:ext cx="9539935"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Est. opportunity: </a:t>
            </a:r>
            <a:r>
              <a:rPr sz="1100" b="0" i="0">
                <a:solidFill>
                  <a:srgbClr val="CCCCCC"/>
                </a:solidFill>
                <a:latin typeface="Helvetica Neue"/>
              </a:rPr>
              <a:t>lifting mobile checkout completion from 45.3% to 55% (still 10 points under desktop) is roughly +270 orders per quarter at the 628 DKK mobile AOV, about Est. 170,000 DKK per quarter. The levers sit inside the checkout: payment method order (MobilePay first), shipping cost surprise, express pay before the 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TRAFFIC &amp; SPEND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Four paid channels, a 10x efficiency spread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90-day GA4 by source / medium. Revenue per session combines conversion and order value into what one click is worth. Top sources shown; the remainder is long tail.</a:t>
            </a:r>
          </a:p>
        </p:txBody>
      </p:sp>
      <p:graphicFrame>
        <p:nvGraphicFramePr>
          <p:cNvPr id="10" name="Table 9"/>
          <p:cNvGraphicFramePr>
            <a:graphicFrameLocks noGrp="1"/>
          </p:cNvGraphicFramePr>
          <p:nvPr/>
        </p:nvGraphicFramePr>
        <p:xfrm>
          <a:off x="1097280" y="2103120"/>
          <a:ext cx="9966960" cy="2962656"/>
        </p:xfrm>
        <a:graphic>
          <a:graphicData uri="http://schemas.openxmlformats.org/drawingml/2006/table">
            <a:tbl>
              <a:tblPr>
                <a:tableStyleId>{5C22544A-7EE6-4342-B048-85BDC9FD1C3A}</a:tableStyleId>
              </a:tblPr>
              <a:tblGrid>
                <a:gridCol w="2651760"/>
                <a:gridCol w="1280160"/>
                <a:gridCol w="1097280"/>
                <a:gridCol w="1188720"/>
                <a:gridCol w="1554480"/>
                <a:gridCol w="2194560"/>
              </a:tblGrid>
              <a:tr h="329184">
                <a:tc>
                  <a:txBody>
                    <a:bodyPr/>
                    <a:lstStyle/>
                    <a:p>
                      <a:pPr algn="l"/>
                      <a:r>
                        <a:rPr sz="850" b="1">
                          <a:solidFill>
                            <a:srgbClr val="999999"/>
                          </a:solidFill>
                          <a:latin typeface="Helvetica Neue"/>
                        </a:rPr>
                        <a:t>Source / medium</a:t>
                      </a:r>
                    </a:p>
                  </a:txBody>
                  <a:tcPr marL="73152" marR="45720" marT="18288" marB="18288" anchor="ctr">
                    <a:solidFill>
                      <a:srgbClr val="0A0A0A"/>
                    </a:solidFill>
                  </a:tcPr>
                </a:tc>
                <a:tc>
                  <a:txBody>
                    <a:bodyPr/>
                    <a:lstStyle/>
                    <a:p>
                      <a:pPr algn="ctr"/>
                      <a:r>
                        <a:rPr sz="850" b="1">
                          <a:solidFill>
                            <a:srgbClr val="999999"/>
                          </a:solidFill>
                          <a:latin typeface="Helvetica Neue"/>
                        </a:rPr>
                        <a:t>Sessions</a:t>
                      </a:r>
                    </a:p>
                  </a:txBody>
                  <a:tcPr marL="73152" marR="45720" marT="18288" marB="18288" anchor="ctr">
                    <a:solidFill>
                      <a:srgbClr val="0A0A0A"/>
                    </a:solidFill>
                  </a:tcPr>
                </a:tc>
                <a:tc>
                  <a:txBody>
                    <a:bodyPr/>
                    <a:lstStyle/>
                    <a:p>
                      <a:pPr algn="ctr"/>
                      <a:r>
                        <a:rPr sz="850" b="1">
                          <a:solidFill>
                            <a:srgbClr val="999999"/>
                          </a:solidFill>
                          <a:latin typeface="Helvetica Neue"/>
                        </a:rPr>
                        <a:t>Orders</a:t>
                      </a:r>
                    </a:p>
                  </a:txBody>
                  <a:tcPr marL="73152" marR="45720" marT="18288" marB="18288" anchor="ctr">
                    <a:solidFill>
                      <a:srgbClr val="0A0A0A"/>
                    </a:solidFill>
                  </a:tcPr>
                </a:tc>
                <a:tc>
                  <a:txBody>
                    <a:bodyPr/>
                    <a:lstStyle/>
                    <a:p>
                      <a:pPr algn="ctr"/>
                      <a:r>
                        <a:rPr sz="850" b="1">
                          <a:solidFill>
                            <a:srgbClr val="999999"/>
                          </a:solidFill>
                          <a:latin typeface="Helvetica Neue"/>
                        </a:rPr>
                        <a:t>CVR</a:t>
                      </a:r>
                    </a:p>
                  </a:txBody>
                  <a:tcPr marL="73152" marR="45720" marT="18288" marB="18288" anchor="ctr">
                    <a:solidFill>
                      <a:srgbClr val="0A0A0A"/>
                    </a:solidFill>
                  </a:tcPr>
                </a:tc>
                <a:tc>
                  <a:txBody>
                    <a:bodyPr/>
                    <a:lstStyle/>
                    <a:p>
                      <a:pPr algn="ctr"/>
                      <a:r>
                        <a:rPr sz="850" b="1">
                          <a:solidFill>
                            <a:srgbClr val="999999"/>
                          </a:solidFill>
                          <a:latin typeface="Helvetica Neue"/>
                        </a:rPr>
                        <a:t>Rev / session</a:t>
                      </a:r>
                    </a:p>
                  </a:txBody>
                  <a:tcPr marL="73152" marR="45720" marT="18288" marB="18288" anchor="ctr">
                    <a:solidFill>
                      <a:srgbClr val="0A0A0A"/>
                    </a:solidFill>
                  </a:tcPr>
                </a:tc>
                <a:tc>
                  <a:txBody>
                    <a:bodyPr/>
                    <a:lstStyle/>
                    <a:p>
                      <a:pPr algn="ctr"/>
                      <a:r>
                        <a:rPr sz="850" b="1">
                          <a:solidFill>
                            <a:srgbClr val="999999"/>
                          </a:solidFill>
                          <a:latin typeface="Helvetica Neue"/>
                        </a:rPr>
                        <a:t>Revenue</a:t>
                      </a:r>
                    </a:p>
                  </a:txBody>
                  <a:tcPr marL="73152" marR="45720" marT="18288" marB="18288" anchor="ctr">
                    <a:solidFill>
                      <a:srgbClr val="0A0A0A"/>
                    </a:solidFill>
                  </a:tcPr>
                </a:tc>
              </a:tr>
              <a:tr h="329184">
                <a:tc>
                  <a:txBody>
                    <a:bodyPr/>
                    <a:lstStyle/>
                    <a:p>
                      <a:pPr algn="l"/>
                      <a:r>
                        <a:rPr sz="950" b="0">
                          <a:solidFill>
                            <a:srgbClr val="CCCCCC"/>
                          </a:solidFill>
                          <a:latin typeface="Helvetica Neue"/>
                        </a:rPr>
                        <a:t>google / cpc</a:t>
                      </a:r>
                    </a:p>
                  </a:txBody>
                  <a:tcPr marL="73152" marR="45720" marT="18288" marB="18288" anchor="ctr">
                    <a:solidFill>
                      <a:srgbClr val="0D0D0D"/>
                    </a:solidFill>
                  </a:tcPr>
                </a:tc>
                <a:tc>
                  <a:txBody>
                    <a:bodyPr/>
                    <a:lstStyle/>
                    <a:p>
                      <a:pPr algn="ctr"/>
                      <a:r>
                        <a:rPr sz="950" b="0">
                          <a:solidFill>
                            <a:srgbClr val="CCCCCC"/>
                          </a:solidFill>
                          <a:latin typeface="Helvetica Neue"/>
                        </a:rPr>
                        <a:t>14,109</a:t>
                      </a:r>
                    </a:p>
                  </a:txBody>
                  <a:tcPr marL="73152" marR="45720" marT="18288" marB="18288" anchor="ctr">
                    <a:solidFill>
                      <a:srgbClr val="0D0D0D"/>
                    </a:solidFill>
                  </a:tcPr>
                </a:tc>
                <a:tc>
                  <a:txBody>
                    <a:bodyPr/>
                    <a:lstStyle/>
                    <a:p>
                      <a:pPr algn="ctr"/>
                      <a:r>
                        <a:rPr sz="950" b="0">
                          <a:solidFill>
                            <a:srgbClr val="CCCCCC"/>
                          </a:solidFill>
                          <a:latin typeface="Helvetica Neue"/>
                        </a:rPr>
                        <a:t>414</a:t>
                      </a:r>
                    </a:p>
                  </a:txBody>
                  <a:tcPr marL="73152" marR="45720" marT="18288" marB="18288" anchor="ctr">
                    <a:solidFill>
                      <a:srgbClr val="0D0D0D"/>
                    </a:solidFill>
                  </a:tcPr>
                </a:tc>
                <a:tc>
                  <a:txBody>
                    <a:bodyPr/>
                    <a:lstStyle/>
                    <a:p>
                      <a:pPr algn="ctr"/>
                      <a:r>
                        <a:rPr sz="950" b="1">
                          <a:solidFill>
                            <a:srgbClr val="22C55E"/>
                          </a:solidFill>
                          <a:latin typeface="Helvetica Neue"/>
                        </a:rPr>
                        <a:t>2.93%</a:t>
                      </a:r>
                    </a:p>
                  </a:txBody>
                  <a:tcPr marL="73152" marR="45720" marT="18288" marB="18288" anchor="ctr">
                    <a:solidFill>
                      <a:srgbClr val="0D0D0D"/>
                    </a:solidFill>
                  </a:tcPr>
                </a:tc>
                <a:tc>
                  <a:txBody>
                    <a:bodyPr/>
                    <a:lstStyle/>
                    <a:p>
                      <a:pPr algn="ctr"/>
                      <a:r>
                        <a:rPr sz="950" b="1">
                          <a:solidFill>
                            <a:srgbClr val="22C55E"/>
                          </a:solidFill>
                          <a:latin typeface="Helvetica Neue"/>
                        </a:rPr>
                        <a:t>19.5 DKK</a:t>
                      </a:r>
                    </a:p>
                  </a:txBody>
                  <a:tcPr marL="73152" marR="45720" marT="18288" marB="18288" anchor="ctr">
                    <a:solidFill>
                      <a:srgbClr val="0D0D0D"/>
                    </a:solidFill>
                  </a:tcPr>
                </a:tc>
                <a:tc>
                  <a:txBody>
                    <a:bodyPr/>
                    <a:lstStyle/>
                    <a:p>
                      <a:pPr algn="ctr"/>
                      <a:r>
                        <a:rPr sz="950" b="0">
                          <a:solidFill>
                            <a:srgbClr val="CCCCCC"/>
                          </a:solidFill>
                          <a:latin typeface="Helvetica Neue"/>
                        </a:rPr>
                        <a:t>275,505 DKK</a:t>
                      </a:r>
                    </a:p>
                  </a:txBody>
                  <a:tcPr marL="73152" marR="45720" marT="18288" marB="18288" anchor="ctr">
                    <a:solidFill>
                      <a:srgbClr val="0D0D0D"/>
                    </a:solidFill>
                  </a:tcPr>
                </a:tc>
              </a:tr>
              <a:tr h="329184">
                <a:tc>
                  <a:txBody>
                    <a:bodyPr/>
                    <a:lstStyle/>
                    <a:p>
                      <a:pPr algn="l"/>
                      <a:r>
                        <a:rPr sz="950" b="0">
                          <a:solidFill>
                            <a:srgbClr val="CCCCCC"/>
                          </a:solidFill>
                          <a:latin typeface="Helvetica Neue"/>
                        </a:rPr>
                        <a:t>facebook / paid</a:t>
                      </a:r>
                    </a:p>
                  </a:txBody>
                  <a:tcPr marL="73152" marR="45720" marT="18288" marB="18288" anchor="ctr">
                    <a:solidFill>
                      <a:srgbClr val="080808"/>
                    </a:solidFill>
                  </a:tcPr>
                </a:tc>
                <a:tc>
                  <a:txBody>
                    <a:bodyPr/>
                    <a:lstStyle/>
                    <a:p>
                      <a:pPr algn="ctr"/>
                      <a:r>
                        <a:rPr sz="950" b="0">
                          <a:solidFill>
                            <a:srgbClr val="CCCCCC"/>
                          </a:solidFill>
                          <a:latin typeface="Helvetica Neue"/>
                        </a:rPr>
                        <a:t>11,335</a:t>
                      </a:r>
                    </a:p>
                  </a:txBody>
                  <a:tcPr marL="73152" marR="45720" marT="18288" marB="18288" anchor="ctr">
                    <a:solidFill>
                      <a:srgbClr val="080808"/>
                    </a:solidFill>
                  </a:tcPr>
                </a:tc>
                <a:tc>
                  <a:txBody>
                    <a:bodyPr/>
                    <a:lstStyle/>
                    <a:p>
                      <a:pPr algn="ctr"/>
                      <a:r>
                        <a:rPr sz="950" b="0">
                          <a:solidFill>
                            <a:srgbClr val="CCCCCC"/>
                          </a:solidFill>
                          <a:latin typeface="Helvetica Neue"/>
                        </a:rPr>
                        <a:t>98</a:t>
                      </a:r>
                    </a:p>
                  </a:txBody>
                  <a:tcPr marL="73152" marR="45720" marT="18288" marB="18288" anchor="ctr">
                    <a:solidFill>
                      <a:srgbClr val="080808"/>
                    </a:solidFill>
                  </a:tcPr>
                </a:tc>
                <a:tc>
                  <a:txBody>
                    <a:bodyPr/>
                    <a:lstStyle/>
                    <a:p>
                      <a:pPr algn="ctr"/>
                      <a:r>
                        <a:rPr sz="950" b="1">
                          <a:solidFill>
                            <a:srgbClr val="EF4444"/>
                          </a:solidFill>
                          <a:latin typeface="Helvetica Neue"/>
                        </a:rPr>
                        <a:t>0.86%</a:t>
                      </a:r>
                    </a:p>
                  </a:txBody>
                  <a:tcPr marL="73152" marR="45720" marT="18288" marB="18288" anchor="ctr">
                    <a:solidFill>
                      <a:srgbClr val="080808"/>
                    </a:solidFill>
                  </a:tcPr>
                </a:tc>
                <a:tc>
                  <a:txBody>
                    <a:bodyPr/>
                    <a:lstStyle/>
                    <a:p>
                      <a:pPr algn="ctr"/>
                      <a:r>
                        <a:rPr sz="950" b="1">
                          <a:solidFill>
                            <a:srgbClr val="EF4444"/>
                          </a:solidFill>
                          <a:latin typeface="Helvetica Neue"/>
                        </a:rPr>
                        <a:t>6.3 DKK</a:t>
                      </a:r>
                    </a:p>
                  </a:txBody>
                  <a:tcPr marL="73152" marR="45720" marT="18288" marB="18288" anchor="ctr">
                    <a:solidFill>
                      <a:srgbClr val="080808"/>
                    </a:solidFill>
                  </a:tcPr>
                </a:tc>
                <a:tc>
                  <a:txBody>
                    <a:bodyPr/>
                    <a:lstStyle/>
                    <a:p>
                      <a:pPr algn="ctr"/>
                      <a:r>
                        <a:rPr sz="950" b="0">
                          <a:solidFill>
                            <a:srgbClr val="CCCCCC"/>
                          </a:solidFill>
                          <a:latin typeface="Helvetica Neue"/>
                        </a:rPr>
                        <a:t>71,103 DKK</a:t>
                      </a:r>
                    </a:p>
                  </a:txBody>
                  <a:tcPr marL="73152" marR="45720" marT="18288" marB="18288" anchor="ctr">
                    <a:solidFill>
                      <a:srgbClr val="080808"/>
                    </a:solidFill>
                  </a:tcPr>
                </a:tc>
              </a:tr>
              <a:tr h="329184">
                <a:tc>
                  <a:txBody>
                    <a:bodyPr/>
                    <a:lstStyle/>
                    <a:p>
                      <a:pPr algn="l"/>
                      <a:r>
                        <a:rPr sz="950" b="0">
                          <a:solidFill>
                            <a:srgbClr val="CCCCCC"/>
                          </a:solidFill>
                          <a:latin typeface="Helvetica Neue"/>
                        </a:rPr>
                        <a:t>makeinfluence / influencer</a:t>
                      </a:r>
                    </a:p>
                  </a:txBody>
                  <a:tcPr marL="73152" marR="45720" marT="18288" marB="18288" anchor="ctr">
                    <a:solidFill>
                      <a:srgbClr val="0D0D0D"/>
                    </a:solidFill>
                  </a:tcPr>
                </a:tc>
                <a:tc>
                  <a:txBody>
                    <a:bodyPr/>
                    <a:lstStyle/>
                    <a:p>
                      <a:pPr algn="ctr"/>
                      <a:r>
                        <a:rPr sz="950" b="0">
                          <a:solidFill>
                            <a:srgbClr val="CCCCCC"/>
                          </a:solidFill>
                          <a:latin typeface="Helvetica Neue"/>
                        </a:rPr>
                        <a:t>6,277</a:t>
                      </a:r>
                    </a:p>
                  </a:txBody>
                  <a:tcPr marL="73152" marR="45720" marT="18288" marB="18288" anchor="ctr">
                    <a:solidFill>
                      <a:srgbClr val="0D0D0D"/>
                    </a:solidFill>
                  </a:tcPr>
                </a:tc>
                <a:tc>
                  <a:txBody>
                    <a:bodyPr/>
                    <a:lstStyle/>
                    <a:p>
                      <a:pPr algn="ctr"/>
                      <a:r>
                        <a:rPr sz="950" b="0">
                          <a:solidFill>
                            <a:srgbClr val="CCCCCC"/>
                          </a:solidFill>
                          <a:latin typeface="Helvetica Neue"/>
                        </a:rPr>
                        <a:t>40</a:t>
                      </a:r>
                    </a:p>
                  </a:txBody>
                  <a:tcPr marL="73152" marR="45720" marT="18288" marB="18288" anchor="ctr">
                    <a:solidFill>
                      <a:srgbClr val="0D0D0D"/>
                    </a:solidFill>
                  </a:tcPr>
                </a:tc>
                <a:tc>
                  <a:txBody>
                    <a:bodyPr/>
                    <a:lstStyle/>
                    <a:p>
                      <a:pPr algn="ctr"/>
                      <a:r>
                        <a:rPr sz="950" b="1">
                          <a:solidFill>
                            <a:srgbClr val="EF4444"/>
                          </a:solidFill>
                          <a:latin typeface="Helvetica Neue"/>
                        </a:rPr>
                        <a:t>0.64%</a:t>
                      </a:r>
                    </a:p>
                  </a:txBody>
                  <a:tcPr marL="73152" marR="45720" marT="18288" marB="18288" anchor="ctr">
                    <a:solidFill>
                      <a:srgbClr val="0D0D0D"/>
                    </a:solidFill>
                  </a:tcPr>
                </a:tc>
                <a:tc>
                  <a:txBody>
                    <a:bodyPr/>
                    <a:lstStyle/>
                    <a:p>
                      <a:pPr algn="ctr"/>
                      <a:r>
                        <a:rPr sz="950" b="1">
                          <a:solidFill>
                            <a:srgbClr val="EF4444"/>
                          </a:solidFill>
                          <a:latin typeface="Helvetica Neue"/>
                        </a:rPr>
                        <a:t>2.5 DKK</a:t>
                      </a:r>
                    </a:p>
                  </a:txBody>
                  <a:tcPr marL="73152" marR="45720" marT="18288" marB="18288" anchor="ctr">
                    <a:solidFill>
                      <a:srgbClr val="0D0D0D"/>
                    </a:solidFill>
                  </a:tcPr>
                </a:tc>
                <a:tc>
                  <a:txBody>
                    <a:bodyPr/>
                    <a:lstStyle/>
                    <a:p>
                      <a:pPr algn="ctr"/>
                      <a:r>
                        <a:rPr sz="950" b="0">
                          <a:solidFill>
                            <a:srgbClr val="CCCCCC"/>
                          </a:solidFill>
                          <a:latin typeface="Helvetica Neue"/>
                        </a:rPr>
                        <a:t>15,568 DKK</a:t>
                      </a:r>
                    </a:p>
                  </a:txBody>
                  <a:tcPr marL="73152" marR="45720" marT="18288" marB="18288" anchor="ctr">
                    <a:solidFill>
                      <a:srgbClr val="0D0D0D"/>
                    </a:solidFill>
                  </a:tcPr>
                </a:tc>
              </a:tr>
              <a:tr h="329184">
                <a:tc>
                  <a:txBody>
                    <a:bodyPr/>
                    <a:lstStyle/>
                    <a:p>
                      <a:pPr algn="l"/>
                      <a:r>
                        <a:rPr sz="950" b="0">
                          <a:solidFill>
                            <a:srgbClr val="CCCCCC"/>
                          </a:solidFill>
                          <a:latin typeface="Helvetica Neue"/>
                        </a:rPr>
                        <a:t>partnerads / affiliate</a:t>
                      </a:r>
                    </a:p>
                  </a:txBody>
                  <a:tcPr marL="73152" marR="45720" marT="18288" marB="18288" anchor="ctr">
                    <a:solidFill>
                      <a:srgbClr val="080808"/>
                    </a:solidFill>
                  </a:tcPr>
                </a:tc>
                <a:tc>
                  <a:txBody>
                    <a:bodyPr/>
                    <a:lstStyle/>
                    <a:p>
                      <a:pPr algn="ctr"/>
                      <a:r>
                        <a:rPr sz="950" b="0">
                          <a:solidFill>
                            <a:srgbClr val="CCCCCC"/>
                          </a:solidFill>
                          <a:latin typeface="Helvetica Neue"/>
                        </a:rPr>
                        <a:t>6,073</a:t>
                      </a:r>
                    </a:p>
                  </a:txBody>
                  <a:tcPr marL="73152" marR="45720" marT="18288" marB="18288" anchor="ctr">
                    <a:solidFill>
                      <a:srgbClr val="080808"/>
                    </a:solidFill>
                  </a:tcPr>
                </a:tc>
                <a:tc>
                  <a:txBody>
                    <a:bodyPr/>
                    <a:lstStyle/>
                    <a:p>
                      <a:pPr algn="ctr"/>
                      <a:r>
                        <a:rPr sz="950" b="0">
                          <a:solidFill>
                            <a:srgbClr val="CCCCCC"/>
                          </a:solidFill>
                          <a:latin typeface="Helvetica Neue"/>
                        </a:rPr>
                        <a:t>262</a:t>
                      </a:r>
                    </a:p>
                  </a:txBody>
                  <a:tcPr marL="73152" marR="45720" marT="18288" marB="18288" anchor="ctr">
                    <a:solidFill>
                      <a:srgbClr val="080808"/>
                    </a:solidFill>
                  </a:tcPr>
                </a:tc>
                <a:tc>
                  <a:txBody>
                    <a:bodyPr/>
                    <a:lstStyle/>
                    <a:p>
                      <a:pPr algn="ctr"/>
                      <a:r>
                        <a:rPr sz="950" b="1">
                          <a:solidFill>
                            <a:srgbClr val="22C55E"/>
                          </a:solidFill>
                          <a:latin typeface="Helvetica Neue"/>
                        </a:rPr>
                        <a:t>4.31%</a:t>
                      </a:r>
                    </a:p>
                  </a:txBody>
                  <a:tcPr marL="73152" marR="45720" marT="18288" marB="18288" anchor="ctr">
                    <a:solidFill>
                      <a:srgbClr val="080808"/>
                    </a:solidFill>
                  </a:tcPr>
                </a:tc>
                <a:tc>
                  <a:txBody>
                    <a:bodyPr/>
                    <a:lstStyle/>
                    <a:p>
                      <a:pPr algn="ctr"/>
                      <a:r>
                        <a:rPr sz="950" b="1">
                          <a:solidFill>
                            <a:srgbClr val="22C55E"/>
                          </a:solidFill>
                          <a:latin typeface="Helvetica Neue"/>
                        </a:rPr>
                        <a:t>28.6 DKK</a:t>
                      </a:r>
                    </a:p>
                  </a:txBody>
                  <a:tcPr marL="73152" marR="45720" marT="18288" marB="18288" anchor="ctr">
                    <a:solidFill>
                      <a:srgbClr val="080808"/>
                    </a:solidFill>
                  </a:tcPr>
                </a:tc>
                <a:tc>
                  <a:txBody>
                    <a:bodyPr/>
                    <a:lstStyle/>
                    <a:p>
                      <a:pPr algn="ctr"/>
                      <a:r>
                        <a:rPr sz="950" b="0">
                          <a:solidFill>
                            <a:srgbClr val="CCCCCC"/>
                          </a:solidFill>
                          <a:latin typeface="Helvetica Neue"/>
                        </a:rPr>
                        <a:t>173,600 DKK</a:t>
                      </a:r>
                    </a:p>
                  </a:txBody>
                  <a:tcPr marL="73152" marR="45720" marT="18288" marB="18288" anchor="ctr">
                    <a:solidFill>
                      <a:srgbClr val="080808"/>
                    </a:solidFill>
                  </a:tcPr>
                </a:tc>
              </a:tr>
              <a:tr h="329184">
                <a:tc>
                  <a:txBody>
                    <a:bodyPr/>
                    <a:lstStyle/>
                    <a:p>
                      <a:pPr algn="l"/>
                      <a:r>
                        <a:rPr sz="950" b="0">
                          <a:solidFill>
                            <a:srgbClr val="CCCCCC"/>
                          </a:solidFill>
                          <a:latin typeface="Helvetica Neue"/>
                        </a:rPr>
                        <a:t>(not set)</a:t>
                      </a:r>
                    </a:p>
                  </a:txBody>
                  <a:tcPr marL="73152" marR="45720" marT="18288" marB="18288" anchor="ctr">
                    <a:solidFill>
                      <a:srgbClr val="0D0D0D"/>
                    </a:solidFill>
                  </a:tcPr>
                </a:tc>
                <a:tc>
                  <a:txBody>
                    <a:bodyPr/>
                    <a:lstStyle/>
                    <a:p>
                      <a:pPr algn="ctr"/>
                      <a:r>
                        <a:rPr sz="950" b="0">
                          <a:solidFill>
                            <a:srgbClr val="CCCCCC"/>
                          </a:solidFill>
                          <a:latin typeface="Helvetica Neue"/>
                        </a:rPr>
                        <a:t>4,386</a:t>
                      </a:r>
                    </a:p>
                  </a:txBody>
                  <a:tcPr marL="73152" marR="45720" marT="18288" marB="18288" anchor="ctr">
                    <a:solidFill>
                      <a:srgbClr val="0D0D0D"/>
                    </a:solidFill>
                  </a:tcPr>
                </a:tc>
                <a:tc>
                  <a:txBody>
                    <a:bodyPr/>
                    <a:lstStyle/>
                    <a:p>
                      <a:pPr algn="ctr"/>
                      <a:r>
                        <a:rPr sz="950" b="0">
                          <a:solidFill>
                            <a:srgbClr val="CCCCCC"/>
                          </a:solidFill>
                          <a:latin typeface="Helvetica Neue"/>
                        </a:rPr>
                        <a:t>498</a:t>
                      </a:r>
                    </a:p>
                  </a:txBody>
                  <a:tcPr marL="73152" marR="45720" marT="18288" marB="18288" anchor="ctr">
                    <a:solidFill>
                      <a:srgbClr val="0D0D0D"/>
                    </a:solidFill>
                  </a:tcPr>
                </a:tc>
                <a:tc>
                  <a:txBody>
                    <a:bodyPr/>
                    <a:lstStyle/>
                    <a:p>
                      <a:pPr algn="ctr"/>
                      <a:r>
                        <a:rPr sz="950" b="0">
                          <a:solidFill>
                            <a:srgbClr val="F59E0B"/>
                          </a:solidFill>
                          <a:latin typeface="Helvetica Neue"/>
                        </a:rPr>
                        <a:t>n/a</a:t>
                      </a:r>
                    </a:p>
                  </a:txBody>
                  <a:tcPr marL="73152" marR="45720" marT="18288" marB="18288" anchor="ctr">
                    <a:solidFill>
                      <a:srgbClr val="0D0D0D"/>
                    </a:solidFill>
                  </a:tcPr>
                </a:tc>
                <a:tc>
                  <a:txBody>
                    <a:bodyPr/>
                    <a:lstStyle/>
                    <a:p>
                      <a:pPr algn="ctr"/>
                      <a:r>
                        <a:rPr sz="950" b="0">
                          <a:solidFill>
                            <a:srgbClr val="F59E0B"/>
                          </a:solidFill>
                          <a:latin typeface="Helvetica Neue"/>
                        </a:rPr>
                        <a:t>n/a</a:t>
                      </a:r>
                    </a:p>
                  </a:txBody>
                  <a:tcPr marL="73152" marR="45720" marT="18288" marB="18288" anchor="ctr">
                    <a:solidFill>
                      <a:srgbClr val="0D0D0D"/>
                    </a:solidFill>
                  </a:tcPr>
                </a:tc>
                <a:tc>
                  <a:txBody>
                    <a:bodyPr/>
                    <a:lstStyle/>
                    <a:p>
                      <a:pPr algn="ctr"/>
                      <a:r>
                        <a:rPr sz="950" b="0">
                          <a:solidFill>
                            <a:srgbClr val="CCCCCC"/>
                          </a:solidFill>
                          <a:latin typeface="Helvetica Neue"/>
                        </a:rPr>
                        <a:t>296,226 DKK</a:t>
                      </a:r>
                    </a:p>
                  </a:txBody>
                  <a:tcPr marL="73152" marR="45720" marT="18288" marB="18288" anchor="ctr">
                    <a:solidFill>
                      <a:srgbClr val="0D0D0D"/>
                    </a:solidFill>
                  </a:tcPr>
                </a:tc>
              </a:tr>
              <a:tr h="329184">
                <a:tc>
                  <a:txBody>
                    <a:bodyPr/>
                    <a:lstStyle/>
                    <a:p>
                      <a:pPr algn="l"/>
                      <a:r>
                        <a:rPr sz="950" b="0">
                          <a:solidFill>
                            <a:srgbClr val="CCCCCC"/>
                          </a:solidFill>
                          <a:latin typeface="Helvetica Neue"/>
                        </a:rPr>
                        <a:t>(direct) / (none)</a:t>
                      </a:r>
                    </a:p>
                  </a:txBody>
                  <a:tcPr marL="73152" marR="45720" marT="18288" marB="18288" anchor="ctr">
                    <a:solidFill>
                      <a:srgbClr val="080808"/>
                    </a:solidFill>
                  </a:tcPr>
                </a:tc>
                <a:tc>
                  <a:txBody>
                    <a:bodyPr/>
                    <a:lstStyle/>
                    <a:p>
                      <a:pPr algn="ctr"/>
                      <a:r>
                        <a:rPr sz="950" b="0">
                          <a:solidFill>
                            <a:srgbClr val="CCCCCC"/>
                          </a:solidFill>
                          <a:latin typeface="Helvetica Neue"/>
                        </a:rPr>
                        <a:t>3,023</a:t>
                      </a:r>
                    </a:p>
                  </a:txBody>
                  <a:tcPr marL="73152" marR="45720" marT="18288" marB="18288" anchor="ctr">
                    <a:solidFill>
                      <a:srgbClr val="080808"/>
                    </a:solidFill>
                  </a:tcPr>
                </a:tc>
                <a:tc>
                  <a:txBody>
                    <a:bodyPr/>
                    <a:lstStyle/>
                    <a:p>
                      <a:pPr algn="ctr"/>
                      <a:r>
                        <a:rPr sz="950" b="0">
                          <a:solidFill>
                            <a:srgbClr val="CCCCCC"/>
                          </a:solidFill>
                          <a:latin typeface="Helvetica Neue"/>
                        </a:rPr>
                        <a:t>77</a:t>
                      </a:r>
                    </a:p>
                  </a:txBody>
                  <a:tcPr marL="73152" marR="45720" marT="18288" marB="18288" anchor="ctr">
                    <a:solidFill>
                      <a:srgbClr val="080808"/>
                    </a:solidFill>
                  </a:tcPr>
                </a:tc>
                <a:tc>
                  <a:txBody>
                    <a:bodyPr/>
                    <a:lstStyle/>
                    <a:p>
                      <a:pPr algn="ctr"/>
                      <a:r>
                        <a:rPr sz="950" b="0">
                          <a:solidFill>
                            <a:srgbClr val="CCCCCC"/>
                          </a:solidFill>
                          <a:latin typeface="Helvetica Neue"/>
                        </a:rPr>
                        <a:t>2.55%</a:t>
                      </a:r>
                    </a:p>
                  </a:txBody>
                  <a:tcPr marL="73152" marR="45720" marT="18288" marB="18288" anchor="ctr">
                    <a:solidFill>
                      <a:srgbClr val="080808"/>
                    </a:solidFill>
                  </a:tcPr>
                </a:tc>
                <a:tc>
                  <a:txBody>
                    <a:bodyPr/>
                    <a:lstStyle/>
                    <a:p>
                      <a:pPr algn="ctr"/>
                      <a:r>
                        <a:rPr sz="950" b="0">
                          <a:solidFill>
                            <a:srgbClr val="CCCCCC"/>
                          </a:solidFill>
                          <a:latin typeface="Helvetica Neue"/>
                        </a:rPr>
                        <a:t>16.5 DKK</a:t>
                      </a:r>
                    </a:p>
                  </a:txBody>
                  <a:tcPr marL="73152" marR="45720" marT="18288" marB="18288" anchor="ctr">
                    <a:solidFill>
                      <a:srgbClr val="080808"/>
                    </a:solidFill>
                  </a:tcPr>
                </a:tc>
                <a:tc>
                  <a:txBody>
                    <a:bodyPr/>
                    <a:lstStyle/>
                    <a:p>
                      <a:pPr algn="ctr"/>
                      <a:r>
                        <a:rPr sz="950" b="0">
                          <a:solidFill>
                            <a:srgbClr val="CCCCCC"/>
                          </a:solidFill>
                          <a:latin typeface="Helvetica Neue"/>
                        </a:rPr>
                        <a:t>49,782 DKK</a:t>
                      </a:r>
                    </a:p>
                  </a:txBody>
                  <a:tcPr marL="73152" marR="45720" marT="18288" marB="18288" anchor="ctr">
                    <a:solidFill>
                      <a:srgbClr val="080808"/>
                    </a:solidFill>
                  </a:tcPr>
                </a:tc>
              </a:tr>
              <a:tr h="329184">
                <a:tc>
                  <a:txBody>
                    <a:bodyPr/>
                    <a:lstStyle/>
                    <a:p>
                      <a:pPr algn="l"/>
                      <a:r>
                        <a:rPr sz="950" b="0">
                          <a:solidFill>
                            <a:srgbClr val="CCCCCC"/>
                          </a:solidFill>
                          <a:latin typeface="Helvetica Neue"/>
                        </a:rPr>
                        <a:t>Klaviyo / email</a:t>
                      </a:r>
                    </a:p>
                  </a:txBody>
                  <a:tcPr marL="73152" marR="45720" marT="18288" marB="18288" anchor="ctr">
                    <a:solidFill>
                      <a:srgbClr val="0D0D0D"/>
                    </a:solidFill>
                  </a:tcPr>
                </a:tc>
                <a:tc>
                  <a:txBody>
                    <a:bodyPr/>
                    <a:lstStyle/>
                    <a:p>
                      <a:pPr algn="ctr"/>
                      <a:r>
                        <a:rPr sz="950" b="0">
                          <a:solidFill>
                            <a:srgbClr val="CCCCCC"/>
                          </a:solidFill>
                          <a:latin typeface="Helvetica Neue"/>
                        </a:rPr>
                        <a:t>1,293</a:t>
                      </a:r>
                    </a:p>
                  </a:txBody>
                  <a:tcPr marL="73152" marR="45720" marT="18288" marB="18288" anchor="ctr">
                    <a:solidFill>
                      <a:srgbClr val="0D0D0D"/>
                    </a:solidFill>
                  </a:tcPr>
                </a:tc>
                <a:tc>
                  <a:txBody>
                    <a:bodyPr/>
                    <a:lstStyle/>
                    <a:p>
                      <a:pPr algn="ctr"/>
                      <a:r>
                        <a:rPr sz="950" b="0">
                          <a:solidFill>
                            <a:srgbClr val="CCCCCC"/>
                          </a:solidFill>
                          <a:latin typeface="Helvetica Neue"/>
                        </a:rPr>
                        <a:t>43</a:t>
                      </a:r>
                    </a:p>
                  </a:txBody>
                  <a:tcPr marL="73152" marR="45720" marT="18288" marB="18288" anchor="ctr">
                    <a:solidFill>
                      <a:srgbClr val="0D0D0D"/>
                    </a:solidFill>
                  </a:tcPr>
                </a:tc>
                <a:tc>
                  <a:txBody>
                    <a:bodyPr/>
                    <a:lstStyle/>
                    <a:p>
                      <a:pPr algn="ctr"/>
                      <a:r>
                        <a:rPr sz="950" b="1">
                          <a:solidFill>
                            <a:srgbClr val="22C55E"/>
                          </a:solidFill>
                          <a:latin typeface="Helvetica Neue"/>
                        </a:rPr>
                        <a:t>3.33%</a:t>
                      </a:r>
                    </a:p>
                  </a:txBody>
                  <a:tcPr marL="73152" marR="45720" marT="18288" marB="18288" anchor="ctr">
                    <a:solidFill>
                      <a:srgbClr val="0D0D0D"/>
                    </a:solidFill>
                  </a:tcPr>
                </a:tc>
                <a:tc>
                  <a:txBody>
                    <a:bodyPr/>
                    <a:lstStyle/>
                    <a:p>
                      <a:pPr algn="ctr"/>
                      <a:r>
                        <a:rPr sz="950" b="0">
                          <a:solidFill>
                            <a:srgbClr val="CCCCCC"/>
                          </a:solidFill>
                          <a:latin typeface="Helvetica Neue"/>
                        </a:rPr>
                        <a:t>18.7 DKK</a:t>
                      </a:r>
                    </a:p>
                  </a:txBody>
                  <a:tcPr marL="73152" marR="45720" marT="18288" marB="18288" anchor="ctr">
                    <a:solidFill>
                      <a:srgbClr val="0D0D0D"/>
                    </a:solidFill>
                  </a:tcPr>
                </a:tc>
                <a:tc>
                  <a:txBody>
                    <a:bodyPr/>
                    <a:lstStyle/>
                    <a:p>
                      <a:pPr algn="ctr"/>
                      <a:r>
                        <a:rPr sz="950" b="0">
                          <a:solidFill>
                            <a:srgbClr val="CCCCCC"/>
                          </a:solidFill>
                          <a:latin typeface="Helvetica Neue"/>
                        </a:rPr>
                        <a:t>24,192 DKK</a:t>
                      </a:r>
                    </a:p>
                  </a:txBody>
                  <a:tcPr marL="73152" marR="45720" marT="18288" marB="18288" anchor="ctr">
                    <a:solidFill>
                      <a:srgbClr val="0D0D0D"/>
                    </a:solidFill>
                  </a:tcPr>
                </a:tc>
              </a:tr>
              <a:tr h="329184">
                <a:tc>
                  <a:txBody>
                    <a:bodyPr/>
                    <a:lstStyle/>
                    <a:p>
                      <a:pPr algn="l"/>
                      <a:r>
                        <a:rPr sz="950" b="0">
                          <a:solidFill>
                            <a:srgbClr val="CCCCCC"/>
                          </a:solidFill>
                          <a:latin typeface="Helvetica Neue"/>
                        </a:rPr>
                        <a:t>google / organic</a:t>
                      </a:r>
                    </a:p>
                  </a:txBody>
                  <a:tcPr marL="73152" marR="45720" marT="18288" marB="18288" anchor="ctr">
                    <a:solidFill>
                      <a:srgbClr val="080808"/>
                    </a:solidFill>
                  </a:tcPr>
                </a:tc>
                <a:tc>
                  <a:txBody>
                    <a:bodyPr/>
                    <a:lstStyle/>
                    <a:p>
                      <a:pPr algn="ctr"/>
                      <a:r>
                        <a:rPr sz="950" b="0">
                          <a:solidFill>
                            <a:srgbClr val="CCCCCC"/>
                          </a:solidFill>
                          <a:latin typeface="Helvetica Neue"/>
                        </a:rPr>
                        <a:t>1,138</a:t>
                      </a:r>
                    </a:p>
                  </a:txBody>
                  <a:tcPr marL="73152" marR="45720" marT="18288" marB="18288" anchor="ctr">
                    <a:solidFill>
                      <a:srgbClr val="080808"/>
                    </a:solidFill>
                  </a:tcPr>
                </a:tc>
                <a:tc>
                  <a:txBody>
                    <a:bodyPr/>
                    <a:lstStyle/>
                    <a:p>
                      <a:pPr algn="ctr"/>
                      <a:r>
                        <a:rPr sz="950" b="0">
                          <a:solidFill>
                            <a:srgbClr val="CCCCCC"/>
                          </a:solidFill>
                          <a:latin typeface="Helvetica Neue"/>
                        </a:rPr>
                        <a:t>25</a:t>
                      </a:r>
                    </a:p>
                  </a:txBody>
                  <a:tcPr marL="73152" marR="45720" marT="18288" marB="18288" anchor="ctr">
                    <a:solidFill>
                      <a:srgbClr val="080808"/>
                    </a:solidFill>
                  </a:tcPr>
                </a:tc>
                <a:tc>
                  <a:txBody>
                    <a:bodyPr/>
                    <a:lstStyle/>
                    <a:p>
                      <a:pPr algn="ctr"/>
                      <a:r>
                        <a:rPr sz="950" b="0">
                          <a:solidFill>
                            <a:srgbClr val="CCCCCC"/>
                          </a:solidFill>
                          <a:latin typeface="Helvetica Neue"/>
                        </a:rPr>
                        <a:t>2.20%</a:t>
                      </a:r>
                    </a:p>
                  </a:txBody>
                  <a:tcPr marL="73152" marR="45720" marT="18288" marB="18288" anchor="ctr">
                    <a:solidFill>
                      <a:srgbClr val="080808"/>
                    </a:solidFill>
                  </a:tcPr>
                </a:tc>
                <a:tc>
                  <a:txBody>
                    <a:bodyPr/>
                    <a:lstStyle/>
                    <a:p>
                      <a:pPr algn="ctr"/>
                      <a:r>
                        <a:rPr sz="950" b="0">
                          <a:solidFill>
                            <a:srgbClr val="CCCCCC"/>
                          </a:solidFill>
                          <a:latin typeface="Helvetica Neue"/>
                        </a:rPr>
                        <a:t>13.6 DKK</a:t>
                      </a:r>
                    </a:p>
                  </a:txBody>
                  <a:tcPr marL="73152" marR="45720" marT="18288" marB="18288" anchor="ctr">
                    <a:solidFill>
                      <a:srgbClr val="080808"/>
                    </a:solidFill>
                  </a:tcPr>
                </a:tc>
                <a:tc>
                  <a:txBody>
                    <a:bodyPr/>
                    <a:lstStyle/>
                    <a:p>
                      <a:pPr algn="ctr"/>
                      <a:r>
                        <a:rPr sz="950" b="0">
                          <a:solidFill>
                            <a:srgbClr val="CCCCCC"/>
                          </a:solidFill>
                          <a:latin typeface="Helvetica Neue"/>
                        </a:rPr>
                        <a:t>15,444 DKK</a:t>
                      </a:r>
                    </a:p>
                  </a:txBody>
                  <a:tcPr marL="73152" marR="45720" marT="18288" marB="18288" anchor="ctr">
                    <a:solidFill>
                      <a:srgbClr val="080808"/>
                    </a:solidFill>
                  </a:tcPr>
                </a:tc>
              </a:tr>
            </a:tbl>
          </a:graphicData>
        </a:graphic>
      </p:graphicFrame>
      <p:sp>
        <p:nvSpPr>
          <p:cNvPr id="11" name="Rounded Rectangle 10"/>
          <p:cNvSpPr/>
          <p:nvPr/>
        </p:nvSpPr>
        <p:spPr>
          <a:xfrm>
            <a:off x="1097280" y="5486400"/>
            <a:ext cx="9966960" cy="8229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5623560"/>
            <a:ext cx="9509760" cy="5486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An affiliate click via Partner-ads is worth 11x an influencer click </a:t>
            </a:r>
            <a:r>
              <a:rPr sz="1100" b="0" i="0">
                <a:solidFill>
                  <a:srgbClr val="CCCCCC"/>
                </a:solidFill>
                <a:latin typeface="Helvetica Neue"/>
              </a:rPr>
              <a:t>(28.6 vs 2.5 DKK) and Google CPC is worth 3x Facebook. Facebook and MakeInfluence together are 36% of sessions for 9% of revenue. And the "(not set)" row means some of this table's credit is misassigned: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ATTRIBUTION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A third of your orders are invisible to marketing</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The single strangest number in the account, and the most fixable. 498 orders (296,226 DKK) sit in a channel GA4 calls "(not set)", reported with 100% bounce and zero engagement.</a:t>
            </a:r>
          </a:p>
        </p:txBody>
      </p:sp>
      <p:sp>
        <p:nvSpPr>
          <p:cNvPr id="10" name="Rounded Rectangle 9"/>
          <p:cNvSpPr/>
          <p:nvPr/>
        </p:nvSpPr>
        <p:spPr>
          <a:xfrm>
            <a:off x="1295247" y="2286000"/>
            <a:ext cx="4480560" cy="21488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5247" y="2514600"/>
            <a:ext cx="4480560" cy="274320"/>
          </a:xfrm>
          <a:prstGeom prst="rect">
            <a:avLst/>
          </a:prstGeom>
          <a:noFill/>
        </p:spPr>
        <p:txBody>
          <a:bodyPr wrap="square" lIns="0" rIns="0" tIns="0" bIns="0" anchor="t">
            <a:spAutoFit/>
          </a:bodyPr>
          <a:lstStyle/>
          <a:p>
            <a:pPr algn="ctr"/>
            <a:r>
              <a:rPr sz="1000" b="1" i="0" spc="150">
                <a:solidFill>
                  <a:srgbClr val="999999"/>
                </a:solidFill>
                <a:latin typeface="Helvetica Neue"/>
              </a:rPr>
              <a:t>"(NOT SET)" CHANNEL · 90 DAYS</a:t>
            </a:r>
          </a:p>
        </p:txBody>
      </p:sp>
      <p:sp>
        <p:nvSpPr>
          <p:cNvPr id="12" name="TextBox 11"/>
          <p:cNvSpPr txBox="1"/>
          <p:nvPr/>
        </p:nvSpPr>
        <p:spPr>
          <a:xfrm>
            <a:off x="1295247" y="2834640"/>
            <a:ext cx="4480560" cy="777240"/>
          </a:xfrm>
          <a:prstGeom prst="rect">
            <a:avLst/>
          </a:prstGeom>
          <a:noFill/>
        </p:spPr>
        <p:txBody>
          <a:bodyPr wrap="square" lIns="0" rIns="0" tIns="0" bIns="0" anchor="t">
            <a:spAutoFit/>
          </a:bodyPr>
          <a:lstStyle/>
          <a:p>
            <a:pPr algn="ctr"/>
            <a:r>
              <a:rPr sz="4600" b="1" i="0">
                <a:solidFill>
                  <a:srgbClr val="EF4444"/>
                </a:solidFill>
                <a:latin typeface="Menlo"/>
              </a:rPr>
              <a:t>498</a:t>
            </a:r>
          </a:p>
        </p:txBody>
      </p:sp>
      <p:sp>
        <p:nvSpPr>
          <p:cNvPr id="13" name="TextBox 12"/>
          <p:cNvSpPr txBox="1"/>
          <p:nvPr/>
        </p:nvSpPr>
        <p:spPr>
          <a:xfrm>
            <a:off x="1569567" y="3657600"/>
            <a:ext cx="3931920" cy="731520"/>
          </a:xfrm>
          <a:prstGeom prst="rect">
            <a:avLst/>
          </a:prstGeom>
          <a:noFill/>
        </p:spPr>
        <p:txBody>
          <a:bodyPr wrap="square" lIns="0" rIns="0" tIns="0" bIns="0" anchor="t">
            <a:spAutoFit/>
          </a:bodyPr>
          <a:lstStyle/>
          <a:p>
            <a:pPr algn="ctr"/>
            <a:r>
              <a:rPr sz="950" b="0" i="0">
                <a:solidFill>
                  <a:srgbClr val="CCCCCC"/>
                </a:solidFill>
                <a:latin typeface="Helvetica Neue"/>
              </a:rPr>
              <a:t>orders with no traffic source
4,386 sessions · 296,226 DKK · 31% of all revenue
100% bounce, 0 engaged sessions: broken sessions, not real visits</a:t>
            </a:r>
          </a:p>
        </p:txBody>
      </p:sp>
      <p:sp>
        <p:nvSpPr>
          <p:cNvPr id="14" name="Rounded Rectangle 13"/>
          <p:cNvSpPr/>
          <p:nvPr/>
        </p:nvSpPr>
        <p:spPr>
          <a:xfrm>
            <a:off x="6415887" y="2286000"/>
            <a:ext cx="4480560" cy="2148840"/>
          </a:xfrm>
          <a:prstGeom prst="roundRect">
            <a:avLst>
              <a:gd name="adj" fmla="val 5000"/>
            </a:avLst>
          </a:prstGeom>
          <a:solidFill>
            <a:srgbClr val="140808"/>
          </a:solidFill>
          <a:ln w="9525">
            <a:solidFill>
              <a:srgbClr val="4A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5887" y="2514600"/>
            <a:ext cx="4480560" cy="274320"/>
          </a:xfrm>
          <a:prstGeom prst="rect">
            <a:avLst/>
          </a:prstGeom>
          <a:noFill/>
        </p:spPr>
        <p:txBody>
          <a:bodyPr wrap="square" lIns="0" rIns="0" tIns="0" bIns="0" anchor="t">
            <a:spAutoFit/>
          </a:bodyPr>
          <a:lstStyle/>
          <a:p>
            <a:pPr algn="ctr"/>
            <a:r>
              <a:rPr sz="1000" b="1" i="0" spc="150">
                <a:solidFill>
                  <a:srgbClr val="999999"/>
                </a:solidFill>
                <a:latin typeface="Helvetica Neue"/>
              </a:rPr>
              <a:t>"(NOT SET)" LANDING PAGE</a:t>
            </a:r>
          </a:p>
        </p:txBody>
      </p:sp>
      <p:sp>
        <p:nvSpPr>
          <p:cNvPr id="16" name="TextBox 15"/>
          <p:cNvSpPr txBox="1"/>
          <p:nvPr/>
        </p:nvSpPr>
        <p:spPr>
          <a:xfrm>
            <a:off x="6415887" y="2834640"/>
            <a:ext cx="4480560" cy="777240"/>
          </a:xfrm>
          <a:prstGeom prst="rect">
            <a:avLst/>
          </a:prstGeom>
          <a:noFill/>
        </p:spPr>
        <p:txBody>
          <a:bodyPr wrap="square" lIns="0" rIns="0" tIns="0" bIns="0" anchor="t">
            <a:spAutoFit/>
          </a:bodyPr>
          <a:lstStyle/>
          <a:p>
            <a:pPr algn="ctr"/>
            <a:r>
              <a:rPr sz="4600" b="1" i="0">
                <a:solidFill>
                  <a:srgbClr val="EF4444"/>
                </a:solidFill>
                <a:latin typeface="Menlo"/>
              </a:rPr>
              <a:t>1,863</a:t>
            </a:r>
          </a:p>
        </p:txBody>
      </p:sp>
      <p:sp>
        <p:nvSpPr>
          <p:cNvPr id="17" name="TextBox 16"/>
          <p:cNvSpPr txBox="1"/>
          <p:nvPr/>
        </p:nvSpPr>
        <p:spPr>
          <a:xfrm>
            <a:off x="6690207" y="3657600"/>
            <a:ext cx="3931920" cy="731520"/>
          </a:xfrm>
          <a:prstGeom prst="rect">
            <a:avLst/>
          </a:prstGeom>
          <a:noFill/>
        </p:spPr>
        <p:txBody>
          <a:bodyPr wrap="square" lIns="0" rIns="0" tIns="0" bIns="0" anchor="t">
            <a:spAutoFit/>
          </a:bodyPr>
          <a:lstStyle/>
          <a:p>
            <a:pPr algn="ctr"/>
            <a:r>
              <a:rPr sz="950" b="0" i="0">
                <a:solidFill>
                  <a:srgbClr val="CCCCCC"/>
                </a:solidFill>
                <a:latin typeface="Helvetica Neue"/>
              </a:rPr>
              <a:t>sessions with no landing page
99.5% bounce · 0 purchases attributed
the classic signature of tracking broken by consent handling or session loss</a:t>
            </a:r>
          </a:p>
        </p:txBody>
      </p:sp>
      <p:sp>
        <p:nvSpPr>
          <p:cNvPr id="18" name="TextBox 17"/>
          <p:cNvSpPr txBox="1"/>
          <p:nvPr/>
        </p:nvSpPr>
        <p:spPr>
          <a:xfrm>
            <a:off x="5775807" y="3108960"/>
            <a:ext cx="640080" cy="457200"/>
          </a:xfrm>
          <a:prstGeom prst="rect">
            <a:avLst/>
          </a:prstGeom>
          <a:noFill/>
        </p:spPr>
        <p:txBody>
          <a:bodyPr wrap="square" lIns="0" rIns="0" tIns="0" bIns="0" anchor="t">
            <a:spAutoFit/>
          </a:bodyPr>
          <a:lstStyle/>
          <a:p>
            <a:pPr algn="ctr"/>
            <a:r>
              <a:rPr sz="2600" b="0" i="0">
                <a:solidFill>
                  <a:srgbClr val="6B7C75"/>
                </a:solidFill>
                <a:latin typeface="Helvetica Neue"/>
              </a:rPr>
              <a:t>+</a:t>
            </a:r>
          </a:p>
        </p:txBody>
      </p:sp>
      <p:sp>
        <p:nvSpPr>
          <p:cNvPr id="19" name="Rounded Rectangle 18"/>
          <p:cNvSpPr/>
          <p:nvPr/>
        </p:nvSpPr>
        <p:spPr>
          <a:xfrm>
            <a:off x="1097280" y="4937760"/>
            <a:ext cx="9997135" cy="11430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5074920"/>
            <a:ext cx="9539935" cy="8686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What this means in practice: </a:t>
            </a:r>
            <a:r>
              <a:rPr sz="1100" b="0" i="0">
                <a:solidFill>
                  <a:srgbClr val="CCCCCC"/>
                </a:solidFill>
                <a:latin typeface="Helvetica Neue"/>
              </a:rPr>
              <a:t>Google and Meta smart bidding, and every "which channel works" decision, run on two thirds of the truth. The fix list is standard and cheap: verify Consent Mode v2 fires before GA4, check first-party cookies survive the checkout domain, enforce UTM tags on every paid, influencer and email link, and add Meta Conversions API server-side. Do this before judging any channel.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PRODUCT ECONOMICS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One PDP pays for everything. The rest leak.</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Landing sessions per product, 90 days. KidsBuddy converts 2.93% cold. The long tail converts at a third to a tenth of that, on the same store.</a:t>
            </a:r>
          </a:p>
        </p:txBody>
      </p:sp>
      <p:graphicFrame>
        <p:nvGraphicFramePr>
          <p:cNvPr id="10" name="Table 9"/>
          <p:cNvGraphicFramePr>
            <a:graphicFrameLocks noGrp="1"/>
          </p:cNvGraphicFramePr>
          <p:nvPr/>
        </p:nvGraphicFramePr>
        <p:xfrm>
          <a:off x="1097280" y="2148840"/>
          <a:ext cx="9966960" cy="2962656"/>
        </p:xfrm>
        <a:graphic>
          <a:graphicData uri="http://schemas.openxmlformats.org/drawingml/2006/table">
            <a:tbl>
              <a:tblPr>
                <a:tableStyleId>{5C22544A-7EE6-4342-B048-85BDC9FD1C3A}</a:tableStyleId>
              </a:tblPr>
              <a:tblGrid>
                <a:gridCol w="2926080"/>
                <a:gridCol w="1280160"/>
                <a:gridCol w="1097280"/>
                <a:gridCol w="1188720"/>
                <a:gridCol w="1828800"/>
                <a:gridCol w="1645920"/>
              </a:tblGrid>
              <a:tr h="329184">
                <a:tc>
                  <a:txBody>
                    <a:bodyPr/>
                    <a:lstStyle/>
                    <a:p>
                      <a:pPr algn="l"/>
                      <a:r>
                        <a:rPr sz="850" b="1">
                          <a:solidFill>
                            <a:srgbClr val="999999"/>
                          </a:solidFill>
                          <a:latin typeface="Helvetica Neue"/>
                        </a:rPr>
                        <a:t>Landing page</a:t>
                      </a:r>
                    </a:p>
                  </a:txBody>
                  <a:tcPr marL="73152" marR="45720" marT="18288" marB="18288" anchor="ctr">
                    <a:solidFill>
                      <a:srgbClr val="0A0A0A"/>
                    </a:solidFill>
                  </a:tcPr>
                </a:tc>
                <a:tc>
                  <a:txBody>
                    <a:bodyPr/>
                    <a:lstStyle/>
                    <a:p>
                      <a:pPr algn="ctr"/>
                      <a:r>
                        <a:rPr sz="850" b="1">
                          <a:solidFill>
                            <a:srgbClr val="999999"/>
                          </a:solidFill>
                          <a:latin typeface="Helvetica Neue"/>
                        </a:rPr>
                        <a:t>Sessions</a:t>
                      </a:r>
                    </a:p>
                  </a:txBody>
                  <a:tcPr marL="73152" marR="45720" marT="18288" marB="18288" anchor="ctr">
                    <a:solidFill>
                      <a:srgbClr val="0A0A0A"/>
                    </a:solidFill>
                  </a:tcPr>
                </a:tc>
                <a:tc>
                  <a:txBody>
                    <a:bodyPr/>
                    <a:lstStyle/>
                    <a:p>
                      <a:pPr algn="ctr"/>
                      <a:r>
                        <a:rPr sz="850" b="1">
                          <a:solidFill>
                            <a:srgbClr val="999999"/>
                          </a:solidFill>
                          <a:latin typeface="Helvetica Neue"/>
                        </a:rPr>
                        <a:t>Orders</a:t>
                      </a:r>
                    </a:p>
                  </a:txBody>
                  <a:tcPr marL="73152" marR="45720" marT="18288" marB="18288" anchor="ctr">
                    <a:solidFill>
                      <a:srgbClr val="0A0A0A"/>
                    </a:solidFill>
                  </a:tcPr>
                </a:tc>
                <a:tc>
                  <a:txBody>
                    <a:bodyPr/>
                    <a:lstStyle/>
                    <a:p>
                      <a:pPr algn="ctr"/>
                      <a:r>
                        <a:rPr sz="850" b="1">
                          <a:solidFill>
                            <a:srgbClr val="999999"/>
                          </a:solidFill>
                          <a:latin typeface="Helvetica Neue"/>
                        </a:rPr>
                        <a:t>CVR</a:t>
                      </a:r>
                    </a:p>
                  </a:txBody>
                  <a:tcPr marL="73152" marR="45720" marT="18288" marB="18288" anchor="ctr">
                    <a:solidFill>
                      <a:srgbClr val="0A0A0A"/>
                    </a:solidFill>
                  </a:tcPr>
                </a:tc>
                <a:tc>
                  <a:txBody>
                    <a:bodyPr/>
                    <a:lstStyle/>
                    <a:p>
                      <a:pPr algn="ctr"/>
                      <a:r>
                        <a:rPr sz="850" b="1">
                          <a:solidFill>
                            <a:srgbClr val="999999"/>
                          </a:solidFill>
                          <a:latin typeface="Helvetica Neue"/>
                        </a:rPr>
                        <a:t>Revenue</a:t>
                      </a:r>
                    </a:p>
                  </a:txBody>
                  <a:tcPr marL="73152" marR="45720" marT="18288" marB="18288" anchor="ctr">
                    <a:solidFill>
                      <a:srgbClr val="0A0A0A"/>
                    </a:solidFill>
                  </a:tcPr>
                </a:tc>
                <a:tc>
                  <a:txBody>
                    <a:bodyPr/>
                    <a:lstStyle/>
                    <a:p>
                      <a:pPr algn="ctr"/>
                      <a:r>
                        <a:rPr sz="850" b="1">
                          <a:solidFill>
                            <a:srgbClr val="999999"/>
                          </a:solidFill>
                          <a:latin typeface="Helvetica Neue"/>
                        </a:rPr>
                        <a:t>Rev share</a:t>
                      </a:r>
                    </a:p>
                  </a:txBody>
                  <a:tcPr marL="73152" marR="45720" marT="18288" marB="18288" anchor="ctr">
                    <a:solidFill>
                      <a:srgbClr val="0A0A0A"/>
                    </a:solidFill>
                  </a:tcPr>
                </a:tc>
              </a:tr>
              <a:tr h="329184">
                <a:tc>
                  <a:txBody>
                    <a:bodyPr/>
                    <a:lstStyle/>
                    <a:p>
                      <a:pPr algn="l"/>
                      <a:r>
                        <a:rPr sz="950" b="0">
                          <a:solidFill>
                            <a:srgbClr val="F7D007"/>
                          </a:solidFill>
                          <a:latin typeface="Helvetica Neue"/>
                        </a:rPr>
                        <a:t>KidsBuddy GPS smartwatch</a:t>
                      </a:r>
                    </a:p>
                  </a:txBody>
                  <a:tcPr marL="73152" marR="45720" marT="18288" marB="18288" anchor="ctr">
                    <a:solidFill>
                      <a:srgbClr val="0D0D0D"/>
                    </a:solidFill>
                  </a:tcPr>
                </a:tc>
                <a:tc>
                  <a:txBody>
                    <a:bodyPr/>
                    <a:lstStyle/>
                    <a:p>
                      <a:pPr algn="ctr"/>
                      <a:r>
                        <a:rPr sz="950" b="0">
                          <a:solidFill>
                            <a:srgbClr val="CCCCCC"/>
                          </a:solidFill>
                          <a:latin typeface="Helvetica Neue"/>
                        </a:rPr>
                        <a:t>24,331</a:t>
                      </a:r>
                    </a:p>
                  </a:txBody>
                  <a:tcPr marL="73152" marR="45720" marT="18288" marB="18288" anchor="ctr">
                    <a:solidFill>
                      <a:srgbClr val="0D0D0D"/>
                    </a:solidFill>
                  </a:tcPr>
                </a:tc>
                <a:tc>
                  <a:txBody>
                    <a:bodyPr/>
                    <a:lstStyle/>
                    <a:p>
                      <a:pPr algn="ctr"/>
                      <a:r>
                        <a:rPr sz="950" b="0">
                          <a:solidFill>
                            <a:srgbClr val="CCCCCC"/>
                          </a:solidFill>
                          <a:latin typeface="Helvetica Neue"/>
                        </a:rPr>
                        <a:t>713</a:t>
                      </a:r>
                    </a:p>
                  </a:txBody>
                  <a:tcPr marL="73152" marR="45720" marT="18288" marB="18288" anchor="ctr">
                    <a:solidFill>
                      <a:srgbClr val="0D0D0D"/>
                    </a:solidFill>
                  </a:tcPr>
                </a:tc>
                <a:tc>
                  <a:txBody>
                    <a:bodyPr/>
                    <a:lstStyle/>
                    <a:p>
                      <a:pPr algn="ctr"/>
                      <a:r>
                        <a:rPr sz="950" b="1">
                          <a:solidFill>
                            <a:srgbClr val="22C55E"/>
                          </a:solidFill>
                          <a:latin typeface="Helvetica Neue"/>
                        </a:rPr>
                        <a:t>2.93%</a:t>
                      </a:r>
                    </a:p>
                  </a:txBody>
                  <a:tcPr marL="73152" marR="45720" marT="18288" marB="18288" anchor="ctr">
                    <a:solidFill>
                      <a:srgbClr val="0D0D0D"/>
                    </a:solidFill>
                  </a:tcPr>
                </a:tc>
                <a:tc>
                  <a:txBody>
                    <a:bodyPr/>
                    <a:lstStyle/>
                    <a:p>
                      <a:pPr algn="ctr"/>
                      <a:r>
                        <a:rPr sz="950" b="0">
                          <a:solidFill>
                            <a:srgbClr val="CCCCCC"/>
                          </a:solidFill>
                          <a:latin typeface="Helvetica Neue"/>
                        </a:rPr>
                        <a:t>528,276 DKK</a:t>
                      </a:r>
                    </a:p>
                  </a:txBody>
                  <a:tcPr marL="73152" marR="45720" marT="18288" marB="18288" anchor="ctr">
                    <a:solidFill>
                      <a:srgbClr val="0D0D0D"/>
                    </a:solidFill>
                  </a:tcPr>
                </a:tc>
                <a:tc>
                  <a:txBody>
                    <a:bodyPr/>
                    <a:lstStyle/>
                    <a:p>
                      <a:pPr algn="ctr"/>
                      <a:r>
                        <a:rPr sz="950" b="0">
                          <a:solidFill>
                            <a:srgbClr val="CCCCCC"/>
                          </a:solidFill>
                          <a:latin typeface="Helvetica Neue"/>
                        </a:rPr>
                        <a:t>55.9%</a:t>
                      </a:r>
                    </a:p>
                  </a:txBody>
                  <a:tcPr marL="73152" marR="45720" marT="18288" marB="18288" anchor="ctr">
                    <a:solidFill>
                      <a:srgbClr val="0D0D0D"/>
                    </a:solidFill>
                  </a:tcPr>
                </a:tc>
              </a:tr>
              <a:tr h="329184">
                <a:tc>
                  <a:txBody>
                    <a:bodyPr/>
                    <a:lstStyle/>
                    <a:p>
                      <a:pPr algn="l"/>
                      <a:r>
                        <a:rPr sz="950" b="0">
                          <a:solidFill>
                            <a:srgbClr val="CCCCCC"/>
                          </a:solidFill>
                          <a:latin typeface="Helvetica Neue"/>
                        </a:rPr>
                        <a:t>Bærbar blender</a:t>
                      </a:r>
                    </a:p>
                  </a:txBody>
                  <a:tcPr marL="73152" marR="45720" marT="18288" marB="18288" anchor="ctr">
                    <a:solidFill>
                      <a:srgbClr val="080808"/>
                    </a:solidFill>
                  </a:tcPr>
                </a:tc>
                <a:tc>
                  <a:txBody>
                    <a:bodyPr/>
                    <a:lstStyle/>
                    <a:p>
                      <a:pPr algn="ctr"/>
                      <a:r>
                        <a:rPr sz="950" b="0">
                          <a:solidFill>
                            <a:srgbClr val="CCCCCC"/>
                          </a:solidFill>
                          <a:latin typeface="Helvetica Neue"/>
                        </a:rPr>
                        <a:t>684</a:t>
                      </a:r>
                    </a:p>
                  </a:txBody>
                  <a:tcPr marL="73152" marR="45720" marT="18288" marB="18288" anchor="ctr">
                    <a:solidFill>
                      <a:srgbClr val="080808"/>
                    </a:solidFill>
                  </a:tcPr>
                </a:tc>
                <a:tc>
                  <a:txBody>
                    <a:bodyPr/>
                    <a:lstStyle/>
                    <a:p>
                      <a:pPr algn="ctr"/>
                      <a:r>
                        <a:rPr sz="950" b="0">
                          <a:solidFill>
                            <a:srgbClr val="CCCCCC"/>
                          </a:solidFill>
                          <a:latin typeface="Helvetica Neue"/>
                        </a:rPr>
                        <a:t>34</a:t>
                      </a:r>
                    </a:p>
                  </a:txBody>
                  <a:tcPr marL="73152" marR="45720" marT="18288" marB="18288" anchor="ctr">
                    <a:solidFill>
                      <a:srgbClr val="080808"/>
                    </a:solidFill>
                  </a:tcPr>
                </a:tc>
                <a:tc>
                  <a:txBody>
                    <a:bodyPr/>
                    <a:lstStyle/>
                    <a:p>
                      <a:pPr algn="ctr"/>
                      <a:r>
                        <a:rPr sz="950" b="1">
                          <a:solidFill>
                            <a:srgbClr val="22C55E"/>
                          </a:solidFill>
                          <a:latin typeface="Helvetica Neue"/>
                        </a:rPr>
                        <a:t>4.97%</a:t>
                      </a:r>
                    </a:p>
                  </a:txBody>
                  <a:tcPr marL="73152" marR="45720" marT="18288" marB="18288" anchor="ctr">
                    <a:solidFill>
                      <a:srgbClr val="080808"/>
                    </a:solidFill>
                  </a:tcPr>
                </a:tc>
                <a:tc>
                  <a:txBody>
                    <a:bodyPr/>
                    <a:lstStyle/>
                    <a:p>
                      <a:pPr algn="ctr"/>
                      <a:r>
                        <a:rPr sz="950" b="0">
                          <a:solidFill>
                            <a:srgbClr val="CCCCCC"/>
                          </a:solidFill>
                          <a:latin typeface="Helvetica Neue"/>
                        </a:rPr>
                        <a:t>4,710 DKK</a:t>
                      </a:r>
                    </a:p>
                  </a:txBody>
                  <a:tcPr marL="73152" marR="45720" marT="18288" marB="18288" anchor="ctr">
                    <a:solidFill>
                      <a:srgbClr val="080808"/>
                    </a:solidFill>
                  </a:tcPr>
                </a:tc>
                <a:tc>
                  <a:txBody>
                    <a:bodyPr/>
                    <a:lstStyle/>
                    <a:p>
                      <a:pPr algn="ctr"/>
                      <a:r>
                        <a:rPr sz="950" b="0">
                          <a:solidFill>
                            <a:srgbClr val="CCCCCC"/>
                          </a:solidFill>
                          <a:latin typeface="Helvetica Neue"/>
                        </a:rPr>
                        <a:t>0.5%</a:t>
                      </a:r>
                    </a:p>
                  </a:txBody>
                  <a:tcPr marL="73152" marR="45720" marT="18288" marB="18288" anchor="ctr">
                    <a:solidFill>
                      <a:srgbClr val="080808"/>
                    </a:solidFill>
                  </a:tcPr>
                </a:tc>
              </a:tr>
              <a:tr h="329184">
                <a:tc>
                  <a:txBody>
                    <a:bodyPr/>
                    <a:lstStyle/>
                    <a:p>
                      <a:pPr algn="l"/>
                      <a:r>
                        <a:rPr sz="950" b="0">
                          <a:solidFill>
                            <a:srgbClr val="CCCCCC"/>
                          </a:solidFill>
                          <a:latin typeface="Helvetica Neue"/>
                        </a:rPr>
                        <a:t>Kidsboard magnettavle</a:t>
                      </a:r>
                    </a:p>
                  </a:txBody>
                  <a:tcPr marL="73152" marR="45720" marT="18288" marB="18288" anchor="ctr">
                    <a:solidFill>
                      <a:srgbClr val="0D0D0D"/>
                    </a:solidFill>
                  </a:tcPr>
                </a:tc>
                <a:tc>
                  <a:txBody>
                    <a:bodyPr/>
                    <a:lstStyle/>
                    <a:p>
                      <a:pPr algn="ctr"/>
                      <a:r>
                        <a:rPr sz="950" b="0">
                          <a:solidFill>
                            <a:srgbClr val="CCCCCC"/>
                          </a:solidFill>
                          <a:latin typeface="Helvetica Neue"/>
                        </a:rPr>
                        <a:t>3,553</a:t>
                      </a:r>
                    </a:p>
                  </a:txBody>
                  <a:tcPr marL="73152" marR="45720" marT="18288" marB="18288" anchor="ctr">
                    <a:solidFill>
                      <a:srgbClr val="0D0D0D"/>
                    </a:solidFill>
                  </a:tcPr>
                </a:tc>
                <a:tc>
                  <a:txBody>
                    <a:bodyPr/>
                    <a:lstStyle/>
                    <a:p>
                      <a:pPr algn="ctr"/>
                      <a:r>
                        <a:rPr sz="950" b="0">
                          <a:solidFill>
                            <a:srgbClr val="CCCCCC"/>
                          </a:solidFill>
                          <a:latin typeface="Helvetica Neue"/>
                        </a:rPr>
                        <a:t>75</a:t>
                      </a:r>
                    </a:p>
                  </a:txBody>
                  <a:tcPr marL="73152" marR="45720" marT="18288" marB="18288" anchor="ctr">
                    <a:solidFill>
                      <a:srgbClr val="0D0D0D"/>
                    </a:solidFill>
                  </a:tcPr>
                </a:tc>
                <a:tc>
                  <a:txBody>
                    <a:bodyPr/>
                    <a:lstStyle/>
                    <a:p>
                      <a:pPr algn="ctr"/>
                      <a:r>
                        <a:rPr sz="950" b="0">
                          <a:solidFill>
                            <a:srgbClr val="CCCCCC"/>
                          </a:solidFill>
                          <a:latin typeface="Helvetica Neue"/>
                        </a:rPr>
                        <a:t>2.11%</a:t>
                      </a:r>
                    </a:p>
                  </a:txBody>
                  <a:tcPr marL="73152" marR="45720" marT="18288" marB="18288" anchor="ctr">
                    <a:solidFill>
                      <a:srgbClr val="0D0D0D"/>
                    </a:solidFill>
                  </a:tcPr>
                </a:tc>
                <a:tc>
                  <a:txBody>
                    <a:bodyPr/>
                    <a:lstStyle/>
                    <a:p>
                      <a:pPr algn="ctr"/>
                      <a:r>
                        <a:rPr sz="950" b="0">
                          <a:solidFill>
                            <a:srgbClr val="CCCCCC"/>
                          </a:solidFill>
                          <a:latin typeface="Helvetica Neue"/>
                        </a:rPr>
                        <a:t>43,893 DKK</a:t>
                      </a:r>
                    </a:p>
                  </a:txBody>
                  <a:tcPr marL="73152" marR="45720" marT="18288" marB="18288" anchor="ctr">
                    <a:solidFill>
                      <a:srgbClr val="0D0D0D"/>
                    </a:solidFill>
                  </a:tcPr>
                </a:tc>
                <a:tc>
                  <a:txBody>
                    <a:bodyPr/>
                    <a:lstStyle/>
                    <a:p>
                      <a:pPr algn="ctr"/>
                      <a:r>
                        <a:rPr sz="950" b="0">
                          <a:solidFill>
                            <a:srgbClr val="CCCCCC"/>
                          </a:solidFill>
                          <a:latin typeface="Helvetica Neue"/>
                        </a:rPr>
                        <a:t>4.6%</a:t>
                      </a:r>
                    </a:p>
                  </a:txBody>
                  <a:tcPr marL="73152" marR="45720" marT="18288" marB="18288" anchor="ctr">
                    <a:solidFill>
                      <a:srgbClr val="0D0D0D"/>
                    </a:solidFill>
                  </a:tcPr>
                </a:tc>
              </a:tr>
              <a:tr h="329184">
                <a:tc>
                  <a:txBody>
                    <a:bodyPr/>
                    <a:lstStyle/>
                    <a:p>
                      <a:pPr algn="l"/>
                      <a:r>
                        <a:rPr sz="950" b="0">
                          <a:solidFill>
                            <a:srgbClr val="CCCCCC"/>
                          </a:solidFill>
                          <a:latin typeface="Helvetica Neue"/>
                        </a:rPr>
                        <a:t>Noomu søvntræner</a:t>
                      </a:r>
                    </a:p>
                  </a:txBody>
                  <a:tcPr marL="73152" marR="45720" marT="18288" marB="18288" anchor="ctr">
                    <a:solidFill>
                      <a:srgbClr val="080808"/>
                    </a:solidFill>
                  </a:tcPr>
                </a:tc>
                <a:tc>
                  <a:txBody>
                    <a:bodyPr/>
                    <a:lstStyle/>
                    <a:p>
                      <a:pPr algn="ctr"/>
                      <a:r>
                        <a:rPr sz="950" b="0">
                          <a:solidFill>
                            <a:srgbClr val="CCCCCC"/>
                          </a:solidFill>
                          <a:latin typeface="Helvetica Neue"/>
                        </a:rPr>
                        <a:t>1,291</a:t>
                      </a:r>
                    </a:p>
                  </a:txBody>
                  <a:tcPr marL="73152" marR="45720" marT="18288" marB="18288" anchor="ctr">
                    <a:solidFill>
                      <a:srgbClr val="080808"/>
                    </a:solidFill>
                  </a:tcPr>
                </a:tc>
                <a:tc>
                  <a:txBody>
                    <a:bodyPr/>
                    <a:lstStyle/>
                    <a:p>
                      <a:pPr algn="ctr"/>
                      <a:r>
                        <a:rPr sz="950" b="0">
                          <a:solidFill>
                            <a:srgbClr val="CCCCCC"/>
                          </a:solidFill>
                          <a:latin typeface="Helvetica Neue"/>
                        </a:rPr>
                        <a:t>25</a:t>
                      </a:r>
                    </a:p>
                  </a:txBody>
                  <a:tcPr marL="73152" marR="45720" marT="18288" marB="18288" anchor="ctr">
                    <a:solidFill>
                      <a:srgbClr val="080808"/>
                    </a:solidFill>
                  </a:tcPr>
                </a:tc>
                <a:tc>
                  <a:txBody>
                    <a:bodyPr/>
                    <a:lstStyle/>
                    <a:p>
                      <a:pPr algn="ctr"/>
                      <a:r>
                        <a:rPr sz="950" b="0">
                          <a:solidFill>
                            <a:srgbClr val="CCCCCC"/>
                          </a:solidFill>
                          <a:latin typeface="Helvetica Neue"/>
                        </a:rPr>
                        <a:t>1.94%</a:t>
                      </a:r>
                    </a:p>
                  </a:txBody>
                  <a:tcPr marL="73152" marR="45720" marT="18288" marB="18288" anchor="ctr">
                    <a:solidFill>
                      <a:srgbClr val="080808"/>
                    </a:solidFill>
                  </a:tcPr>
                </a:tc>
                <a:tc>
                  <a:txBody>
                    <a:bodyPr/>
                    <a:lstStyle/>
                    <a:p>
                      <a:pPr algn="ctr"/>
                      <a:r>
                        <a:rPr sz="950" b="0">
                          <a:solidFill>
                            <a:srgbClr val="CCCCCC"/>
                          </a:solidFill>
                          <a:latin typeface="Helvetica Neue"/>
                        </a:rPr>
                        <a:t>11,354 DKK</a:t>
                      </a:r>
                    </a:p>
                  </a:txBody>
                  <a:tcPr marL="73152" marR="45720" marT="18288" marB="18288" anchor="ctr">
                    <a:solidFill>
                      <a:srgbClr val="080808"/>
                    </a:solidFill>
                  </a:tcPr>
                </a:tc>
                <a:tc>
                  <a:txBody>
                    <a:bodyPr/>
                    <a:lstStyle/>
                    <a:p>
                      <a:pPr algn="ctr"/>
                      <a:r>
                        <a:rPr sz="950" b="0">
                          <a:solidFill>
                            <a:srgbClr val="CCCCCC"/>
                          </a:solidFill>
                          <a:latin typeface="Helvetica Neue"/>
                        </a:rPr>
                        <a:t>1.2%</a:t>
                      </a:r>
                    </a:p>
                  </a:txBody>
                  <a:tcPr marL="73152" marR="45720" marT="18288" marB="18288" anchor="ctr">
                    <a:solidFill>
                      <a:srgbClr val="080808"/>
                    </a:solidFill>
                  </a:tcPr>
                </a:tc>
              </a:tr>
              <a:tr h="329184">
                <a:tc>
                  <a:txBody>
                    <a:bodyPr/>
                    <a:lstStyle/>
                    <a:p>
                      <a:pPr algn="l"/>
                      <a:r>
                        <a:rPr sz="950" b="0">
                          <a:solidFill>
                            <a:srgbClr val="CCCCCC"/>
                          </a:solidFill>
                          <a:latin typeface="Helvetica Neue"/>
                        </a:rPr>
                        <a:t>Stjernehimmel projektor</a:t>
                      </a:r>
                    </a:p>
                  </a:txBody>
                  <a:tcPr marL="73152" marR="45720" marT="18288" marB="18288" anchor="ctr">
                    <a:solidFill>
                      <a:srgbClr val="0D0D0D"/>
                    </a:solidFill>
                  </a:tcPr>
                </a:tc>
                <a:tc>
                  <a:txBody>
                    <a:bodyPr/>
                    <a:lstStyle/>
                    <a:p>
                      <a:pPr algn="ctr"/>
                      <a:r>
                        <a:rPr sz="950" b="0">
                          <a:solidFill>
                            <a:srgbClr val="CCCCCC"/>
                          </a:solidFill>
                          <a:latin typeface="Helvetica Neue"/>
                        </a:rPr>
                        <a:t>3,548</a:t>
                      </a:r>
                    </a:p>
                  </a:txBody>
                  <a:tcPr marL="73152" marR="45720" marT="18288" marB="18288" anchor="ctr">
                    <a:solidFill>
                      <a:srgbClr val="0D0D0D"/>
                    </a:solidFill>
                  </a:tcPr>
                </a:tc>
                <a:tc>
                  <a:txBody>
                    <a:bodyPr/>
                    <a:lstStyle/>
                    <a:p>
                      <a:pPr algn="ctr"/>
                      <a:r>
                        <a:rPr sz="950" b="0">
                          <a:solidFill>
                            <a:srgbClr val="CCCCCC"/>
                          </a:solidFill>
                          <a:latin typeface="Helvetica Neue"/>
                        </a:rPr>
                        <a:t>60</a:t>
                      </a:r>
                    </a:p>
                  </a:txBody>
                  <a:tcPr marL="73152" marR="45720" marT="18288" marB="18288" anchor="ctr">
                    <a:solidFill>
                      <a:srgbClr val="0D0D0D"/>
                    </a:solidFill>
                  </a:tcPr>
                </a:tc>
                <a:tc>
                  <a:txBody>
                    <a:bodyPr/>
                    <a:lstStyle/>
                    <a:p>
                      <a:pPr algn="ctr"/>
                      <a:r>
                        <a:rPr sz="950" b="0">
                          <a:solidFill>
                            <a:srgbClr val="F59E0B"/>
                          </a:solidFill>
                          <a:latin typeface="Helvetica Neue"/>
                        </a:rPr>
                        <a:t>1.69%</a:t>
                      </a:r>
                    </a:p>
                  </a:txBody>
                  <a:tcPr marL="73152" marR="45720" marT="18288" marB="18288" anchor="ctr">
                    <a:solidFill>
                      <a:srgbClr val="0D0D0D"/>
                    </a:solidFill>
                  </a:tcPr>
                </a:tc>
                <a:tc>
                  <a:txBody>
                    <a:bodyPr/>
                    <a:lstStyle/>
                    <a:p>
                      <a:pPr algn="ctr"/>
                      <a:r>
                        <a:rPr sz="950" b="0">
                          <a:solidFill>
                            <a:srgbClr val="CCCCCC"/>
                          </a:solidFill>
                          <a:latin typeface="Helvetica Neue"/>
                        </a:rPr>
                        <a:t>17,231 DKK</a:t>
                      </a:r>
                    </a:p>
                  </a:txBody>
                  <a:tcPr marL="73152" marR="45720" marT="18288" marB="18288" anchor="ctr">
                    <a:solidFill>
                      <a:srgbClr val="0D0D0D"/>
                    </a:solidFill>
                  </a:tcPr>
                </a:tc>
                <a:tc>
                  <a:txBody>
                    <a:bodyPr/>
                    <a:lstStyle/>
                    <a:p>
                      <a:pPr algn="ctr"/>
                      <a:r>
                        <a:rPr sz="950" b="0">
                          <a:solidFill>
                            <a:srgbClr val="CCCCCC"/>
                          </a:solidFill>
                          <a:latin typeface="Helvetica Neue"/>
                        </a:rPr>
                        <a:t>1.8%</a:t>
                      </a:r>
                    </a:p>
                  </a:txBody>
                  <a:tcPr marL="73152" marR="45720" marT="18288" marB="18288" anchor="ctr">
                    <a:solidFill>
                      <a:srgbClr val="0D0D0D"/>
                    </a:solidFill>
                  </a:tcPr>
                </a:tc>
              </a:tr>
              <a:tr h="329184">
                <a:tc>
                  <a:txBody>
                    <a:bodyPr/>
                    <a:lstStyle/>
                    <a:p>
                      <a:pPr algn="l"/>
                      <a:r>
                        <a:rPr sz="950" b="0">
                          <a:solidFill>
                            <a:srgbClr val="CCCCCC"/>
                          </a:solidFill>
                          <a:latin typeface="Helvetica Neue"/>
                        </a:rPr>
                        <a:t>Beamly wifi projektor</a:t>
                      </a:r>
                    </a:p>
                  </a:txBody>
                  <a:tcPr marL="73152" marR="45720" marT="18288" marB="18288" anchor="ctr">
                    <a:solidFill>
                      <a:srgbClr val="080808"/>
                    </a:solidFill>
                  </a:tcPr>
                </a:tc>
                <a:tc>
                  <a:txBody>
                    <a:bodyPr/>
                    <a:lstStyle/>
                    <a:p>
                      <a:pPr algn="ctr"/>
                      <a:r>
                        <a:rPr sz="950" b="0">
                          <a:solidFill>
                            <a:srgbClr val="CCCCCC"/>
                          </a:solidFill>
                          <a:latin typeface="Helvetica Neue"/>
                        </a:rPr>
                        <a:t>2,806</a:t>
                      </a:r>
                    </a:p>
                  </a:txBody>
                  <a:tcPr marL="73152" marR="45720" marT="18288" marB="18288" anchor="ctr">
                    <a:solidFill>
                      <a:srgbClr val="080808"/>
                    </a:solidFill>
                  </a:tcPr>
                </a:tc>
                <a:tc>
                  <a:txBody>
                    <a:bodyPr/>
                    <a:lstStyle/>
                    <a:p>
                      <a:pPr algn="ctr"/>
                      <a:r>
                        <a:rPr sz="950" b="0">
                          <a:solidFill>
                            <a:srgbClr val="CCCCCC"/>
                          </a:solidFill>
                          <a:latin typeface="Helvetica Neue"/>
                        </a:rPr>
                        <a:t>30</a:t>
                      </a:r>
                    </a:p>
                  </a:txBody>
                  <a:tcPr marL="73152" marR="45720" marT="18288" marB="18288" anchor="ctr">
                    <a:solidFill>
                      <a:srgbClr val="080808"/>
                    </a:solidFill>
                  </a:tcPr>
                </a:tc>
                <a:tc>
                  <a:txBody>
                    <a:bodyPr/>
                    <a:lstStyle/>
                    <a:p>
                      <a:pPr algn="ctr"/>
                      <a:r>
                        <a:rPr sz="950" b="0">
                          <a:solidFill>
                            <a:srgbClr val="F59E0B"/>
                          </a:solidFill>
                          <a:latin typeface="Helvetica Neue"/>
                        </a:rPr>
                        <a:t>1.07%</a:t>
                      </a:r>
                    </a:p>
                  </a:txBody>
                  <a:tcPr marL="73152" marR="45720" marT="18288" marB="18288" anchor="ctr">
                    <a:solidFill>
                      <a:srgbClr val="080808"/>
                    </a:solidFill>
                  </a:tcPr>
                </a:tc>
                <a:tc>
                  <a:txBody>
                    <a:bodyPr/>
                    <a:lstStyle/>
                    <a:p>
                      <a:pPr algn="ctr"/>
                      <a:r>
                        <a:rPr sz="950" b="0">
                          <a:solidFill>
                            <a:srgbClr val="CCCCCC"/>
                          </a:solidFill>
                          <a:latin typeface="Helvetica Neue"/>
                        </a:rPr>
                        <a:t>21,699 DKK</a:t>
                      </a:r>
                    </a:p>
                  </a:txBody>
                  <a:tcPr marL="73152" marR="45720" marT="18288" marB="18288" anchor="ctr">
                    <a:solidFill>
                      <a:srgbClr val="080808"/>
                    </a:solidFill>
                  </a:tcPr>
                </a:tc>
                <a:tc>
                  <a:txBody>
                    <a:bodyPr/>
                    <a:lstStyle/>
                    <a:p>
                      <a:pPr algn="ctr"/>
                      <a:r>
                        <a:rPr sz="950" b="0">
                          <a:solidFill>
                            <a:srgbClr val="CCCCCC"/>
                          </a:solidFill>
                          <a:latin typeface="Helvetica Neue"/>
                        </a:rPr>
                        <a:t>2.3%</a:t>
                      </a:r>
                    </a:p>
                  </a:txBody>
                  <a:tcPr marL="73152" marR="45720" marT="18288" marB="18288" anchor="ctr">
                    <a:solidFill>
                      <a:srgbClr val="080808"/>
                    </a:solidFill>
                  </a:tcPr>
                </a:tc>
              </a:tr>
              <a:tr h="329184">
                <a:tc>
                  <a:txBody>
                    <a:bodyPr/>
                    <a:lstStyle/>
                    <a:p>
                      <a:pPr algn="l"/>
                      <a:r>
                        <a:rPr sz="950" b="0">
                          <a:solidFill>
                            <a:srgbClr val="CCCCCC"/>
                          </a:solidFill>
                          <a:latin typeface="Helvetica Neue"/>
                        </a:rPr>
                        <a:t>Glimmt løbecykel</a:t>
                      </a:r>
                    </a:p>
                  </a:txBody>
                  <a:tcPr marL="73152" marR="45720" marT="18288" marB="18288" anchor="ctr">
                    <a:solidFill>
                      <a:srgbClr val="0D0D0D"/>
                    </a:solidFill>
                  </a:tcPr>
                </a:tc>
                <a:tc>
                  <a:txBody>
                    <a:bodyPr/>
                    <a:lstStyle/>
                    <a:p>
                      <a:pPr algn="ctr"/>
                      <a:r>
                        <a:rPr sz="950" b="0">
                          <a:solidFill>
                            <a:srgbClr val="CCCCCC"/>
                          </a:solidFill>
                          <a:latin typeface="Helvetica Neue"/>
                        </a:rPr>
                        <a:t>3,080</a:t>
                      </a:r>
                    </a:p>
                  </a:txBody>
                  <a:tcPr marL="73152" marR="45720" marT="18288" marB="18288" anchor="ctr">
                    <a:solidFill>
                      <a:srgbClr val="0D0D0D"/>
                    </a:solidFill>
                  </a:tcPr>
                </a:tc>
                <a:tc>
                  <a:txBody>
                    <a:bodyPr/>
                    <a:lstStyle/>
                    <a:p>
                      <a:pPr algn="ctr"/>
                      <a:r>
                        <a:rPr sz="950" b="0">
                          <a:solidFill>
                            <a:srgbClr val="CCCCCC"/>
                          </a:solidFill>
                          <a:latin typeface="Helvetica Neue"/>
                        </a:rPr>
                        <a:t>28</a:t>
                      </a:r>
                    </a:p>
                  </a:txBody>
                  <a:tcPr marL="73152" marR="45720" marT="18288" marB="18288" anchor="ctr">
                    <a:solidFill>
                      <a:srgbClr val="0D0D0D"/>
                    </a:solidFill>
                  </a:tcPr>
                </a:tc>
                <a:tc>
                  <a:txBody>
                    <a:bodyPr/>
                    <a:lstStyle/>
                    <a:p>
                      <a:pPr algn="ctr"/>
                      <a:r>
                        <a:rPr sz="950" b="1">
                          <a:solidFill>
                            <a:srgbClr val="EF4444"/>
                          </a:solidFill>
                          <a:latin typeface="Helvetica Neue"/>
                        </a:rPr>
                        <a:t>0.91%</a:t>
                      </a:r>
                    </a:p>
                  </a:txBody>
                  <a:tcPr marL="73152" marR="45720" marT="18288" marB="18288" anchor="ctr">
                    <a:solidFill>
                      <a:srgbClr val="0D0D0D"/>
                    </a:solidFill>
                  </a:tcPr>
                </a:tc>
                <a:tc>
                  <a:txBody>
                    <a:bodyPr/>
                    <a:lstStyle/>
                    <a:p>
                      <a:pPr algn="ctr"/>
                      <a:r>
                        <a:rPr sz="950" b="0">
                          <a:solidFill>
                            <a:srgbClr val="CCCCCC"/>
                          </a:solidFill>
                          <a:latin typeface="Helvetica Neue"/>
                        </a:rPr>
                        <a:t>21,094 DKK</a:t>
                      </a:r>
                    </a:p>
                  </a:txBody>
                  <a:tcPr marL="73152" marR="45720" marT="18288" marB="18288" anchor="ctr">
                    <a:solidFill>
                      <a:srgbClr val="0D0D0D"/>
                    </a:solidFill>
                  </a:tcPr>
                </a:tc>
                <a:tc>
                  <a:txBody>
                    <a:bodyPr/>
                    <a:lstStyle/>
                    <a:p>
                      <a:pPr algn="ctr"/>
                      <a:r>
                        <a:rPr sz="950" b="0">
                          <a:solidFill>
                            <a:srgbClr val="CCCCCC"/>
                          </a:solidFill>
                          <a:latin typeface="Helvetica Neue"/>
                        </a:rPr>
                        <a:t>2.2%</a:t>
                      </a:r>
                    </a:p>
                  </a:txBody>
                  <a:tcPr marL="73152" marR="45720" marT="18288" marB="18288" anchor="ctr">
                    <a:solidFill>
                      <a:srgbClr val="0D0D0D"/>
                    </a:solidFill>
                  </a:tcPr>
                </a:tc>
              </a:tr>
              <a:tr h="329184">
                <a:tc>
                  <a:txBody>
                    <a:bodyPr/>
                    <a:lstStyle/>
                    <a:p>
                      <a:pPr algn="l"/>
                      <a:r>
                        <a:rPr sz="950" b="0">
                          <a:solidFill>
                            <a:srgbClr val="CCCCCC"/>
                          </a:solidFill>
                          <a:latin typeface="Helvetica Neue"/>
                        </a:rPr>
                        <a:t>Smart cleaner</a:t>
                      </a:r>
                    </a:p>
                  </a:txBody>
                  <a:tcPr marL="73152" marR="45720" marT="18288" marB="18288" anchor="ctr">
                    <a:solidFill>
                      <a:srgbClr val="080808"/>
                    </a:solidFill>
                  </a:tcPr>
                </a:tc>
                <a:tc>
                  <a:txBody>
                    <a:bodyPr/>
                    <a:lstStyle/>
                    <a:p>
                      <a:pPr algn="ctr"/>
                      <a:r>
                        <a:rPr sz="950" b="0">
                          <a:solidFill>
                            <a:srgbClr val="CCCCCC"/>
                          </a:solidFill>
                          <a:latin typeface="Helvetica Neue"/>
                        </a:rPr>
                        <a:t>224</a:t>
                      </a:r>
                    </a:p>
                  </a:txBody>
                  <a:tcPr marL="73152" marR="45720" marT="18288" marB="18288" anchor="ctr">
                    <a:solidFill>
                      <a:srgbClr val="080808"/>
                    </a:solidFill>
                  </a:tcPr>
                </a:tc>
                <a:tc>
                  <a:txBody>
                    <a:bodyPr/>
                    <a:lstStyle/>
                    <a:p>
                      <a:pPr algn="ctr"/>
                      <a:r>
                        <a:rPr sz="950" b="0">
                          <a:solidFill>
                            <a:srgbClr val="CCCCCC"/>
                          </a:solidFill>
                          <a:latin typeface="Helvetica Neue"/>
                        </a:rPr>
                        <a:t>0</a:t>
                      </a:r>
                    </a:p>
                  </a:txBody>
                  <a:tcPr marL="73152" marR="45720" marT="18288" marB="18288" anchor="ctr">
                    <a:solidFill>
                      <a:srgbClr val="080808"/>
                    </a:solidFill>
                  </a:tcPr>
                </a:tc>
                <a:tc>
                  <a:txBody>
                    <a:bodyPr/>
                    <a:lstStyle/>
                    <a:p>
                      <a:pPr algn="ctr"/>
                      <a:r>
                        <a:rPr sz="950" b="1">
                          <a:solidFill>
                            <a:srgbClr val="EF4444"/>
                          </a:solidFill>
                          <a:latin typeface="Helvetica Neue"/>
                        </a:rPr>
                        <a:t>0.00%</a:t>
                      </a:r>
                    </a:p>
                  </a:txBody>
                  <a:tcPr marL="73152" marR="45720" marT="18288" marB="18288" anchor="ctr">
                    <a:solidFill>
                      <a:srgbClr val="080808"/>
                    </a:solidFill>
                  </a:tcPr>
                </a:tc>
                <a:tc>
                  <a:txBody>
                    <a:bodyPr/>
                    <a:lstStyle/>
                    <a:p>
                      <a:pPr algn="ctr"/>
                      <a:r>
                        <a:rPr sz="950" b="0">
                          <a:solidFill>
                            <a:srgbClr val="CCCCCC"/>
                          </a:solidFill>
                          <a:latin typeface="Helvetica Neue"/>
                        </a:rPr>
                        <a:t>0 DKK</a:t>
                      </a:r>
                    </a:p>
                  </a:txBody>
                  <a:tcPr marL="73152" marR="45720" marT="18288" marB="18288" anchor="ctr">
                    <a:solidFill>
                      <a:srgbClr val="080808"/>
                    </a:solidFill>
                  </a:tcPr>
                </a:tc>
                <a:tc>
                  <a:txBody>
                    <a:bodyPr/>
                    <a:lstStyle/>
                    <a:p>
                      <a:pPr algn="ctr"/>
                      <a:r>
                        <a:rPr sz="950" b="0">
                          <a:solidFill>
                            <a:srgbClr val="CCCCCC"/>
                          </a:solidFill>
                          <a:latin typeface="Helvetica Neue"/>
                        </a:rPr>
                        <a:t>0%</a:t>
                      </a:r>
                    </a:p>
                  </a:txBody>
                  <a:tcPr marL="73152" marR="45720" marT="18288" marB="18288" anchor="ctr">
                    <a:solidFill>
                      <a:srgbClr val="080808"/>
                    </a:solidFill>
                  </a:tcPr>
                </a:tc>
              </a:tr>
            </a:tbl>
          </a:graphicData>
        </a:graphic>
      </p:graphicFrame>
      <p:sp>
        <p:nvSpPr>
          <p:cNvPr id="11" name="Rounded Rectangle 10"/>
          <p:cNvSpPr/>
          <p:nvPr/>
        </p:nvSpPr>
        <p:spPr>
          <a:xfrm>
            <a:off x="1097280" y="5532120"/>
            <a:ext cx="9966960" cy="8229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5669280"/>
            <a:ext cx="9509760" cy="5486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spread is the opportunity. </a:t>
            </a:r>
            <a:r>
              <a:rPr sz="1100" b="0" i="0">
                <a:solidFill>
                  <a:srgbClr val="CCCCCC"/>
                </a:solidFill>
                <a:latin typeface="Helvetica Neue"/>
              </a:rPr>
              <a:t>Glimmt, Beamly and Stjernehimmel receive 9,434 mostly paid sessions at 0.91 to 1.69%. Bringing them to Kidsboard's 2.11% is Est. +80 orders per quarter (~50,000 DKK). KidsBuddy's own lever is attach: the 299 DKK screen guarantee converts 7.58% for those who find it as a separate product.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RETENTION &amp; EMAIL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The 3x audience nobody is inviting back</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90-day GA4, new vs returning. A gadget store for parents has natural repeat purchases, and returning visitors already behave like fans.</a:t>
            </a:r>
          </a:p>
        </p:txBody>
      </p:sp>
      <p:sp>
        <p:nvSpPr>
          <p:cNvPr id="10" name="Rounded Rectangle 9"/>
          <p:cNvSpPr/>
          <p:nvPr/>
        </p:nvSpPr>
        <p:spPr>
          <a:xfrm>
            <a:off x="1706727" y="2331720"/>
            <a:ext cx="3931920" cy="210312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6727" y="2606040"/>
            <a:ext cx="39319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VISITORS · 85% OF SESSIONS</a:t>
            </a:r>
          </a:p>
        </p:txBody>
      </p:sp>
      <p:sp>
        <p:nvSpPr>
          <p:cNvPr id="12" name="TextBox 11"/>
          <p:cNvSpPr txBox="1"/>
          <p:nvPr/>
        </p:nvSpPr>
        <p:spPr>
          <a:xfrm>
            <a:off x="1706727" y="2971800"/>
            <a:ext cx="3931920" cy="822960"/>
          </a:xfrm>
          <a:prstGeom prst="rect">
            <a:avLst/>
          </a:prstGeom>
          <a:noFill/>
        </p:spPr>
        <p:txBody>
          <a:bodyPr wrap="square" lIns="0" rIns="0" tIns="0" bIns="0" anchor="t">
            <a:spAutoFit/>
          </a:bodyPr>
          <a:lstStyle/>
          <a:p>
            <a:pPr algn="ctr"/>
            <a:r>
              <a:rPr sz="4800" b="1" i="0">
                <a:solidFill>
                  <a:srgbClr val="EF4444"/>
                </a:solidFill>
                <a:latin typeface="Helvetica Neue"/>
              </a:rPr>
              <a:t>2.37%</a:t>
            </a:r>
          </a:p>
        </p:txBody>
      </p:sp>
      <p:sp>
        <p:nvSpPr>
          <p:cNvPr id="13" name="TextBox 12"/>
          <p:cNvSpPr txBox="1"/>
          <p:nvPr/>
        </p:nvSpPr>
        <p:spPr>
          <a:xfrm>
            <a:off x="1706727" y="3840480"/>
            <a:ext cx="3931920" cy="548640"/>
          </a:xfrm>
          <a:prstGeom prst="rect">
            <a:avLst/>
          </a:prstGeom>
          <a:noFill/>
        </p:spPr>
        <p:txBody>
          <a:bodyPr wrap="square" lIns="0" rIns="0" tIns="0" bIns="0" anchor="t">
            <a:spAutoFit/>
          </a:bodyPr>
          <a:lstStyle/>
          <a:p>
            <a:pPr algn="ctr"/>
            <a:r>
              <a:rPr sz="1100" b="0" i="0">
                <a:solidFill>
                  <a:srgbClr val="CCCCCC"/>
                </a:solidFill>
                <a:latin typeface="Helvetica Neue"/>
              </a:rPr>
              <a:t>41,374 sessions · 979 orders
590,220 DKK · 86.6% bounce</a:t>
            </a:r>
          </a:p>
        </p:txBody>
      </p:sp>
      <p:sp>
        <p:nvSpPr>
          <p:cNvPr id="14" name="Rounded Rectangle 13"/>
          <p:cNvSpPr/>
          <p:nvPr/>
        </p:nvSpPr>
        <p:spPr>
          <a:xfrm>
            <a:off x="6553047" y="2331720"/>
            <a:ext cx="3931920" cy="2103120"/>
          </a:xfrm>
          <a:prstGeom prst="roundRect">
            <a:avLst>
              <a:gd name="adj" fmla="val 5000"/>
            </a:avLst>
          </a:prstGeom>
          <a:solidFill>
            <a:srgbClr val="1411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3047" y="2606040"/>
            <a:ext cx="39319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 15% OF SESSIONS</a:t>
            </a:r>
          </a:p>
        </p:txBody>
      </p:sp>
      <p:sp>
        <p:nvSpPr>
          <p:cNvPr id="16" name="TextBox 15"/>
          <p:cNvSpPr txBox="1"/>
          <p:nvPr/>
        </p:nvSpPr>
        <p:spPr>
          <a:xfrm>
            <a:off x="6553047" y="2971800"/>
            <a:ext cx="3931920" cy="822960"/>
          </a:xfrm>
          <a:prstGeom prst="rect">
            <a:avLst/>
          </a:prstGeom>
          <a:noFill/>
        </p:spPr>
        <p:txBody>
          <a:bodyPr wrap="square" lIns="0" rIns="0" tIns="0" bIns="0" anchor="t">
            <a:spAutoFit/>
          </a:bodyPr>
          <a:lstStyle/>
          <a:p>
            <a:pPr algn="ctr"/>
            <a:r>
              <a:rPr sz="4800" b="1" i="0">
                <a:solidFill>
                  <a:srgbClr val="F7D007"/>
                </a:solidFill>
                <a:latin typeface="Helvetica Neue"/>
              </a:rPr>
              <a:t>7.02%</a:t>
            </a:r>
          </a:p>
        </p:txBody>
      </p:sp>
      <p:sp>
        <p:nvSpPr>
          <p:cNvPr id="17" name="TextBox 16"/>
          <p:cNvSpPr txBox="1"/>
          <p:nvPr/>
        </p:nvSpPr>
        <p:spPr>
          <a:xfrm>
            <a:off x="6553047" y="3840480"/>
            <a:ext cx="3931920" cy="548640"/>
          </a:xfrm>
          <a:prstGeom prst="rect">
            <a:avLst/>
          </a:prstGeom>
          <a:noFill/>
        </p:spPr>
        <p:txBody>
          <a:bodyPr wrap="square" lIns="0" rIns="0" tIns="0" bIns="0" anchor="t">
            <a:spAutoFit/>
          </a:bodyPr>
          <a:lstStyle/>
          <a:p>
            <a:pPr algn="ctr"/>
            <a:r>
              <a:rPr sz="1100" b="0" i="0">
                <a:solidFill>
                  <a:srgbClr val="CCCCCC"/>
                </a:solidFill>
                <a:latin typeface="Helvetica Neue"/>
              </a:rPr>
              <a:t>7,348 sessions · 516 orders
355,177 DKK · 57.7% bounce</a:t>
            </a:r>
          </a:p>
        </p:txBody>
      </p:sp>
      <p:sp>
        <p:nvSpPr>
          <p:cNvPr id="18" name="TextBox 17"/>
          <p:cNvSpPr txBox="1"/>
          <p:nvPr/>
        </p:nvSpPr>
        <p:spPr>
          <a:xfrm>
            <a:off x="5638647" y="3154680"/>
            <a:ext cx="914400" cy="457200"/>
          </a:xfrm>
          <a:prstGeom prst="rect">
            <a:avLst/>
          </a:prstGeom>
          <a:noFill/>
        </p:spPr>
        <p:txBody>
          <a:bodyPr wrap="square" lIns="0" rIns="0" tIns="0" bIns="0" anchor="t">
            <a:spAutoFit/>
          </a:bodyPr>
          <a:lstStyle/>
          <a:p>
            <a:pPr algn="ctr"/>
            <a:r>
              <a:rPr sz="2200" b="0" i="0">
                <a:solidFill>
                  <a:srgbClr val="6B7C75"/>
                </a:solidFill>
                <a:latin typeface="Helvetica Neue"/>
              </a:rPr>
              <a:t>vs</a:t>
            </a:r>
          </a:p>
        </p:txBody>
      </p:sp>
      <p:sp>
        <p:nvSpPr>
          <p:cNvPr id="19" name="Rounded Rectangle 18"/>
          <p:cNvSpPr/>
          <p:nvPr/>
        </p:nvSpPr>
        <p:spPr>
          <a:xfrm>
            <a:off x="1097280" y="5029200"/>
            <a:ext cx="9997135" cy="10058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5166360"/>
            <a:ext cx="9539935" cy="7315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Klaviyo converts well (3.33% CVR, 18.7 DKK/session) but drove only 1,293 sessions in 90 days. </a:t>
            </a:r>
            <a:r>
              <a:rPr sz="1100" b="0" i="0">
                <a:solidFill>
                  <a:srgbClr val="CCCCCC"/>
                </a:solidFill>
                <a:latin typeface="Helvetica Neue"/>
              </a:rPr>
              <a:t>Post-purchase flows (SIM reminders, accessory cross-sell, the guarantee offer inside its 14-day window), browse abandon, and one weekly campaign are the cheapest sessions this store can buy. Caveat from the reviews: fix support reply times first, or email volume amplifies the frustration.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11</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FOUNDATION</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Site performance</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A hygiene check, not the headline. Shopify stores routinely score low on synthetic mobile tests. One number still stands 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CORE WEB VITALS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The money page is the heaviest page</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Google PageSpeed lab scores, 15 Jul 2026. Synthetic and throttled: most Shopify stores land at 30 to 50 on mobile. Read direction, not absolutes; confirm in CrUX before investing.</a:t>
            </a:r>
          </a:p>
        </p:txBody>
      </p:sp>
      <p:graphicFrame>
        <p:nvGraphicFramePr>
          <p:cNvPr id="10" name="Table 9"/>
          <p:cNvGraphicFramePr>
            <a:graphicFrameLocks noGrp="1"/>
          </p:cNvGraphicFramePr>
          <p:nvPr/>
        </p:nvGraphicFramePr>
        <p:xfrm>
          <a:off x="1097280" y="2331720"/>
          <a:ext cx="9966960" cy="1097280"/>
        </p:xfrm>
        <a:graphic>
          <a:graphicData uri="http://schemas.openxmlformats.org/drawingml/2006/table">
            <a:tbl>
              <a:tblPr>
                <a:tableStyleId>{5C22544A-7EE6-4342-B048-85BDC9FD1C3A}</a:tableStyleId>
              </a:tblPr>
              <a:tblGrid>
                <a:gridCol w="2286000"/>
                <a:gridCol w="1280160"/>
                <a:gridCol w="1280160"/>
                <a:gridCol w="1280160"/>
                <a:gridCol w="1280160"/>
                <a:gridCol w="1280160"/>
                <a:gridCol w="1280160"/>
              </a:tblGrid>
              <a:tr h="329184">
                <a:tc>
                  <a:txBody>
                    <a:bodyPr/>
                    <a:lstStyle/>
                    <a:p>
                      <a:pPr algn="l"/>
                      <a:r>
                        <a:rPr sz="850" b="1">
                          <a:solidFill>
                            <a:srgbClr val="999999"/>
                          </a:solidFill>
                          <a:latin typeface="Helvetica Neue"/>
                        </a:rPr>
                        <a:t>Page</a:t>
                      </a:r>
                    </a:p>
                  </a:txBody>
                  <a:tcPr marL="73152" marR="45720" marT="18288" marB="18288" anchor="ctr">
                    <a:solidFill>
                      <a:srgbClr val="0A0A0A"/>
                    </a:solidFill>
                  </a:tcPr>
                </a:tc>
                <a:tc>
                  <a:txBody>
                    <a:bodyPr/>
                    <a:lstStyle/>
                    <a:p>
                      <a:pPr algn="ctr"/>
                      <a:r>
                        <a:rPr sz="850" b="1">
                          <a:solidFill>
                            <a:srgbClr val="999999"/>
                          </a:solidFill>
                          <a:latin typeface="Helvetica Neue"/>
                        </a:rPr>
                        <a:t>Perf (mob)</a:t>
                      </a:r>
                    </a:p>
                  </a:txBody>
                  <a:tcPr marL="73152" marR="45720" marT="18288" marB="18288" anchor="ctr">
                    <a:solidFill>
                      <a:srgbClr val="0A0A0A"/>
                    </a:solidFill>
                  </a:tcPr>
                </a:tc>
                <a:tc>
                  <a:txBody>
                    <a:bodyPr/>
                    <a:lstStyle/>
                    <a:p>
                      <a:pPr algn="ctr"/>
                      <a:r>
                        <a:rPr sz="850" b="1">
                          <a:solidFill>
                            <a:srgbClr val="999999"/>
                          </a:solidFill>
                          <a:latin typeface="Helvetica Neue"/>
                        </a:rPr>
                        <a:t>LCP mob</a:t>
                      </a:r>
                    </a:p>
                  </a:txBody>
                  <a:tcPr marL="73152" marR="45720" marT="18288" marB="18288" anchor="ctr">
                    <a:solidFill>
                      <a:srgbClr val="0A0A0A"/>
                    </a:solidFill>
                  </a:tcPr>
                </a:tc>
                <a:tc>
                  <a:txBody>
                    <a:bodyPr/>
                    <a:lstStyle/>
                    <a:p>
                      <a:pPr algn="ctr"/>
                      <a:r>
                        <a:rPr sz="850" b="1">
                          <a:solidFill>
                            <a:srgbClr val="999999"/>
                          </a:solidFill>
                          <a:latin typeface="Helvetica Neue"/>
                        </a:rPr>
                        <a:t>TBT mob</a:t>
                      </a:r>
                    </a:p>
                  </a:txBody>
                  <a:tcPr marL="73152" marR="45720" marT="18288" marB="18288" anchor="ctr">
                    <a:solidFill>
                      <a:srgbClr val="0A0A0A"/>
                    </a:solidFill>
                  </a:tcPr>
                </a:tc>
                <a:tc>
                  <a:txBody>
                    <a:bodyPr/>
                    <a:lstStyle/>
                    <a:p>
                      <a:pPr algn="ctr"/>
                      <a:r>
                        <a:rPr sz="850" b="1">
                          <a:solidFill>
                            <a:srgbClr val="999999"/>
                          </a:solidFill>
                          <a:latin typeface="Helvetica Neue"/>
                        </a:rPr>
                        <a:t>Speed Index mob</a:t>
                      </a:r>
                    </a:p>
                  </a:txBody>
                  <a:tcPr marL="73152" marR="45720" marT="18288" marB="18288" anchor="ctr">
                    <a:solidFill>
                      <a:srgbClr val="0A0A0A"/>
                    </a:solidFill>
                  </a:tcPr>
                </a:tc>
                <a:tc>
                  <a:txBody>
                    <a:bodyPr/>
                    <a:lstStyle/>
                    <a:p>
                      <a:pPr algn="ctr"/>
                      <a:r>
                        <a:rPr sz="850" b="1">
                          <a:solidFill>
                            <a:srgbClr val="999999"/>
                          </a:solidFill>
                          <a:latin typeface="Helvetica Neue"/>
                        </a:rPr>
                        <a:t>Perf (desk)</a:t>
                      </a:r>
                    </a:p>
                  </a:txBody>
                  <a:tcPr marL="73152" marR="45720" marT="18288" marB="18288" anchor="ctr">
                    <a:solidFill>
                      <a:srgbClr val="0A0A0A"/>
                    </a:solidFill>
                  </a:tcPr>
                </a:tc>
                <a:tc>
                  <a:txBody>
                    <a:bodyPr/>
                    <a:lstStyle/>
                    <a:p>
                      <a:pPr algn="ctr"/>
                      <a:r>
                        <a:rPr sz="850" b="1">
                          <a:solidFill>
                            <a:srgbClr val="999999"/>
                          </a:solidFill>
                          <a:latin typeface="Helvetica Neue"/>
                        </a:rPr>
                        <a:t>LCP desk</a:t>
                      </a:r>
                    </a:p>
                  </a:txBody>
                  <a:tcPr marL="73152" marR="45720" marT="18288" marB="18288" anchor="ctr">
                    <a:solidFill>
                      <a:srgbClr val="0A0A0A"/>
                    </a:solidFill>
                  </a:tcPr>
                </a:tc>
              </a:tr>
              <a:tr h="384048">
                <a:tc>
                  <a:txBody>
                    <a:bodyPr/>
                    <a:lstStyle/>
                    <a:p>
                      <a:pPr algn="l"/>
                      <a:r>
                        <a:rPr sz="1000" b="0">
                          <a:solidFill>
                            <a:srgbClr val="CCCCCC"/>
                          </a:solidFill>
                          <a:latin typeface="Helvetica Neue"/>
                        </a:rPr>
                        <a:t>Homepage</a:t>
                      </a:r>
                    </a:p>
                  </a:txBody>
                  <a:tcPr marL="73152" marR="45720" marT="18288" marB="18288" anchor="ctr">
                    <a:solidFill>
                      <a:srgbClr val="0D0D0D"/>
                    </a:solidFill>
                  </a:tcPr>
                </a:tc>
                <a:tc>
                  <a:txBody>
                    <a:bodyPr/>
                    <a:lstStyle/>
                    <a:p>
                      <a:pPr algn="ctr"/>
                      <a:r>
                        <a:rPr sz="1000" b="0">
                          <a:solidFill>
                            <a:srgbClr val="F59E0B"/>
                          </a:solidFill>
                          <a:latin typeface="Helvetica Neue"/>
                        </a:rPr>
                        <a:t>40</a:t>
                      </a:r>
                    </a:p>
                  </a:txBody>
                  <a:tcPr marL="73152" marR="45720" marT="18288" marB="18288" anchor="ctr">
                    <a:solidFill>
                      <a:srgbClr val="0D0D0D"/>
                    </a:solidFill>
                  </a:tcPr>
                </a:tc>
                <a:tc>
                  <a:txBody>
                    <a:bodyPr/>
                    <a:lstStyle/>
                    <a:p>
                      <a:pPr algn="ctr"/>
                      <a:r>
                        <a:rPr sz="1000" b="0">
                          <a:solidFill>
                            <a:srgbClr val="F59E0B"/>
                          </a:solidFill>
                          <a:latin typeface="Helvetica Neue"/>
                        </a:rPr>
                        <a:t>6.6s</a:t>
                      </a:r>
                    </a:p>
                  </a:txBody>
                  <a:tcPr marL="73152" marR="45720" marT="18288" marB="18288" anchor="ctr">
                    <a:solidFill>
                      <a:srgbClr val="0D0D0D"/>
                    </a:solidFill>
                  </a:tcPr>
                </a:tc>
                <a:tc>
                  <a:txBody>
                    <a:bodyPr/>
                    <a:lstStyle/>
                    <a:p>
                      <a:pPr algn="ctr"/>
                      <a:r>
                        <a:rPr sz="1000" b="0">
                          <a:solidFill>
                            <a:srgbClr val="F59E0B"/>
                          </a:solidFill>
                          <a:latin typeface="Helvetica Neue"/>
                        </a:rPr>
                        <a:t>1,090ms</a:t>
                      </a:r>
                    </a:p>
                  </a:txBody>
                  <a:tcPr marL="73152" marR="45720" marT="18288" marB="18288" anchor="ctr">
                    <a:solidFill>
                      <a:srgbClr val="0D0D0D"/>
                    </a:solidFill>
                  </a:tcPr>
                </a:tc>
                <a:tc>
                  <a:txBody>
                    <a:bodyPr/>
                    <a:lstStyle/>
                    <a:p>
                      <a:pPr algn="ctr"/>
                      <a:r>
                        <a:rPr sz="1000" b="0">
                          <a:solidFill>
                            <a:srgbClr val="F59E0B"/>
                          </a:solidFill>
                          <a:latin typeface="Helvetica Neue"/>
                        </a:rPr>
                        <a:t>7.1s</a:t>
                      </a:r>
                    </a:p>
                  </a:txBody>
                  <a:tcPr marL="73152" marR="45720" marT="18288" marB="18288" anchor="ctr">
                    <a:solidFill>
                      <a:srgbClr val="0D0D0D"/>
                    </a:solidFill>
                  </a:tcPr>
                </a:tc>
                <a:tc>
                  <a:txBody>
                    <a:bodyPr/>
                    <a:lstStyle/>
                    <a:p>
                      <a:pPr algn="ctr"/>
                      <a:r>
                        <a:rPr sz="1000" b="0">
                          <a:solidFill>
                            <a:srgbClr val="F59E0B"/>
                          </a:solidFill>
                          <a:latin typeface="Helvetica Neue"/>
                        </a:rPr>
                        <a:t>60</a:t>
                      </a:r>
                    </a:p>
                  </a:txBody>
                  <a:tcPr marL="73152" marR="45720" marT="18288" marB="18288" anchor="ctr">
                    <a:solidFill>
                      <a:srgbClr val="0D0D0D"/>
                    </a:solidFill>
                  </a:tcPr>
                </a:tc>
                <a:tc>
                  <a:txBody>
                    <a:bodyPr/>
                    <a:lstStyle/>
                    <a:p>
                      <a:pPr algn="ctr"/>
                      <a:r>
                        <a:rPr sz="1000" b="1">
                          <a:solidFill>
                            <a:srgbClr val="22C55E"/>
                          </a:solidFill>
                          <a:latin typeface="Helvetica Neue"/>
                        </a:rPr>
                        <a:t>1.6s</a:t>
                      </a:r>
                    </a:p>
                  </a:txBody>
                  <a:tcPr marL="73152" marR="45720" marT="18288" marB="18288" anchor="ctr">
                    <a:solidFill>
                      <a:srgbClr val="0D0D0D"/>
                    </a:solidFill>
                  </a:tcPr>
                </a:tc>
              </a:tr>
              <a:tr h="384048">
                <a:tc>
                  <a:txBody>
                    <a:bodyPr/>
                    <a:lstStyle/>
                    <a:p>
                      <a:pPr algn="l"/>
                      <a:r>
                        <a:rPr sz="1000" b="0">
                          <a:solidFill>
                            <a:srgbClr val="CCCCCC"/>
                          </a:solidFill>
                          <a:latin typeface="Helvetica Neue"/>
                        </a:rPr>
                        <a:t>PDP (KidsBuddy)</a:t>
                      </a:r>
                    </a:p>
                  </a:txBody>
                  <a:tcPr marL="73152" marR="45720" marT="18288" marB="18288" anchor="ctr">
                    <a:solidFill>
                      <a:srgbClr val="080808"/>
                    </a:solidFill>
                  </a:tcPr>
                </a:tc>
                <a:tc>
                  <a:txBody>
                    <a:bodyPr/>
                    <a:lstStyle/>
                    <a:p>
                      <a:pPr algn="ctr"/>
                      <a:r>
                        <a:rPr sz="1000" b="1">
                          <a:solidFill>
                            <a:srgbClr val="EF4444"/>
                          </a:solidFill>
                          <a:latin typeface="Helvetica Neue"/>
                        </a:rPr>
                        <a:t>28</a:t>
                      </a:r>
                    </a:p>
                  </a:txBody>
                  <a:tcPr marL="73152" marR="45720" marT="18288" marB="18288" anchor="ctr">
                    <a:solidFill>
                      <a:srgbClr val="080808"/>
                    </a:solidFill>
                  </a:tcPr>
                </a:tc>
                <a:tc>
                  <a:txBody>
                    <a:bodyPr/>
                    <a:lstStyle/>
                    <a:p>
                      <a:pPr algn="ctr"/>
                      <a:r>
                        <a:rPr sz="1000" b="1">
                          <a:solidFill>
                            <a:srgbClr val="EF4444"/>
                          </a:solidFill>
                          <a:latin typeface="Helvetica Neue"/>
                        </a:rPr>
                        <a:t>9.4s</a:t>
                      </a:r>
                    </a:p>
                  </a:txBody>
                  <a:tcPr marL="73152" marR="45720" marT="18288" marB="18288" anchor="ctr">
                    <a:solidFill>
                      <a:srgbClr val="080808"/>
                    </a:solidFill>
                  </a:tcPr>
                </a:tc>
                <a:tc>
                  <a:txBody>
                    <a:bodyPr/>
                    <a:lstStyle/>
                    <a:p>
                      <a:pPr algn="ctr"/>
                      <a:r>
                        <a:rPr sz="1000" b="1">
                          <a:solidFill>
                            <a:srgbClr val="EF4444"/>
                          </a:solidFill>
                          <a:latin typeface="Helvetica Neue"/>
                        </a:rPr>
                        <a:t>2,000ms</a:t>
                      </a:r>
                    </a:p>
                  </a:txBody>
                  <a:tcPr marL="73152" marR="45720" marT="18288" marB="18288" anchor="ctr">
                    <a:solidFill>
                      <a:srgbClr val="080808"/>
                    </a:solidFill>
                  </a:tcPr>
                </a:tc>
                <a:tc>
                  <a:txBody>
                    <a:bodyPr/>
                    <a:lstStyle/>
                    <a:p>
                      <a:pPr algn="ctr"/>
                      <a:r>
                        <a:rPr sz="1000" b="1">
                          <a:solidFill>
                            <a:srgbClr val="EF4444"/>
                          </a:solidFill>
                          <a:latin typeface="Helvetica Neue"/>
                        </a:rPr>
                        <a:t>13.5s</a:t>
                      </a:r>
                    </a:p>
                  </a:txBody>
                  <a:tcPr marL="73152" marR="45720" marT="18288" marB="18288" anchor="ctr">
                    <a:solidFill>
                      <a:srgbClr val="080808"/>
                    </a:solidFill>
                  </a:tcPr>
                </a:tc>
                <a:tc>
                  <a:txBody>
                    <a:bodyPr/>
                    <a:lstStyle/>
                    <a:p>
                      <a:pPr algn="ctr"/>
                      <a:r>
                        <a:rPr sz="1000" b="0">
                          <a:solidFill>
                            <a:srgbClr val="F59E0B"/>
                          </a:solidFill>
                          <a:latin typeface="Helvetica Neue"/>
                        </a:rPr>
                        <a:t>52</a:t>
                      </a:r>
                    </a:p>
                  </a:txBody>
                  <a:tcPr marL="73152" marR="45720" marT="18288" marB="18288" anchor="ctr">
                    <a:solidFill>
                      <a:srgbClr val="080808"/>
                    </a:solidFill>
                  </a:tcPr>
                </a:tc>
                <a:tc>
                  <a:txBody>
                    <a:bodyPr/>
                    <a:lstStyle/>
                    <a:p>
                      <a:pPr algn="ctr"/>
                      <a:r>
                        <a:rPr sz="1000" b="1">
                          <a:solidFill>
                            <a:srgbClr val="22C55E"/>
                          </a:solidFill>
                          <a:latin typeface="Helvetica Neue"/>
                        </a:rPr>
                        <a:t>1.8s</a:t>
                      </a:r>
                    </a:p>
                  </a:txBody>
                  <a:tcPr marL="73152" marR="45720" marT="18288" marB="18288" anchor="ctr">
                    <a:solidFill>
                      <a:srgbClr val="080808"/>
                    </a:solidFill>
                  </a:tcPr>
                </a:tc>
              </a:tr>
            </a:tbl>
          </a:graphicData>
        </a:graphic>
      </p:graphicFrame>
      <p:sp>
        <p:nvSpPr>
          <p:cNvPr id="11" name="Rounded Rectangle 10"/>
          <p:cNvSpPr/>
          <p:nvPr/>
        </p:nvSpPr>
        <p:spPr>
          <a:xfrm>
            <a:off x="1097280" y="3977639"/>
            <a:ext cx="9966960" cy="14630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4114799"/>
            <a:ext cx="9509760" cy="11887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How to read this: </a:t>
            </a:r>
            <a:r>
              <a:rPr sz="1100" b="0" i="0">
                <a:solidFill>
                  <a:srgbClr val="CCCCCC"/>
                </a:solidFill>
                <a:latin typeface="Helvetica Neue"/>
              </a:rPr>
              <a:t>the homepage sits in the normal Shopify band. The KidsBuddy PDP does not: a 9.4s lab LCP and 13.5s Speed Index on the page that receives 24,331 sessions (49% of all traffic), on a store that is 89% mobile. The practical step is small: compress the PDP image stack and the 11 badge logos, audit installed apps, defer third-party scripts, then verify in CrUX. Hygiene task, worth doing because of where the weight sits.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02</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PAGE BY PAGE</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The conversion walk</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Why 92.8% of viewers do not add to cart, and why half of mobile checkouts die. Every claim verified against a captured screenshot.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HOMEPAGE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A strong hero, undercut by its own popup</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Homepage landings convert at 2.08% with a 57% bounce, the healthiest engagement on the site. It is also only 6% of landings.</a:t>
            </a:r>
          </a:p>
        </p:txBody>
      </p:sp>
      <p:pic>
        <p:nvPicPr>
          <p:cNvPr id="10" name="Picture 9" descr="home-mobile-fold.png"/>
          <p:cNvPicPr>
            <a:picLocks noChangeAspect="1"/>
          </p:cNvPicPr>
          <p:nvPr/>
        </p:nvPicPr>
        <p:blipFill>
          <a:blip r:embed="rId3"/>
          <a:stretch>
            <a:fillRect/>
          </a:stretch>
        </p:blipFill>
        <p:spPr>
          <a:xfrm>
            <a:off x="777240" y="2057400"/>
            <a:ext cx="1647870" cy="3566160"/>
          </a:xfrm>
          <a:prstGeom prst="rect">
            <a:avLst/>
          </a:prstGeom>
        </p:spPr>
      </p:pic>
      <p:sp>
        <p:nvSpPr>
          <p:cNvPr id="11" name="Rounded Rectangle 10"/>
          <p:cNvSpPr/>
          <p:nvPr/>
        </p:nvSpPr>
        <p:spPr>
          <a:xfrm>
            <a:off x="722376" y="2002536"/>
            <a:ext cx="1757598" cy="3675887"/>
          </a:xfrm>
          <a:prstGeom prst="roundRect">
            <a:avLst>
              <a:gd name="adj" fmla="val 6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715000"/>
            <a:ext cx="2196510" cy="274320"/>
          </a:xfrm>
          <a:prstGeom prst="rect">
            <a:avLst/>
          </a:prstGeom>
          <a:noFill/>
        </p:spPr>
        <p:txBody>
          <a:bodyPr wrap="square" lIns="0" rIns="0" tIns="0" bIns="0" anchor="t">
            <a:spAutoFit/>
          </a:bodyPr>
          <a:lstStyle/>
          <a:p>
            <a:pPr algn="ctr"/>
            <a:r>
              <a:rPr sz="900" b="1" i="0" spc="200">
                <a:solidFill>
                  <a:srgbClr val="999999"/>
                </a:solidFill>
                <a:latin typeface="Helvetica Neue"/>
              </a:rPr>
              <a:t>LIVE, MOBILE · 15 JUL 2026</a:t>
            </a:r>
          </a:p>
        </p:txBody>
      </p:sp>
      <p:sp>
        <p:nvSpPr>
          <p:cNvPr id="13" name="Rounded Rectangle 12"/>
          <p:cNvSpPr/>
          <p:nvPr/>
        </p:nvSpPr>
        <p:spPr>
          <a:xfrm>
            <a:off x="3383280"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we observed</a:t>
            </a:r>
          </a:p>
        </p:txBody>
      </p:sp>
      <p:sp>
        <p:nvSpPr>
          <p:cNvPr id="15" name="TextBox 14"/>
          <p:cNvSpPr txBox="1"/>
          <p:nvPr/>
        </p:nvSpPr>
        <p:spPr>
          <a:xfrm>
            <a:off x="3611880"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  </a:t>
            </a:r>
            <a:r>
              <a:rPr sz="950" b="0" i="0">
                <a:solidFill>
                  <a:srgbClr val="CCCCCC"/>
                </a:solidFill>
                <a:latin typeface="Helvetica Neue"/>
              </a:rPr>
              <a:t>Real lifestyle hero (a child holding the watch) with a benefit headline. Genuinely good.</a:t>
            </a:r>
          </a:p>
          <a:p>
            <a:pPr algn="l">
              <a:lnSpc>
                <a:spcPct val="130000"/>
              </a:lnSpc>
            </a:pPr>
            <a:r>
              <a:rPr sz="950" b="1" i="0">
                <a:solidFill>
                  <a:srgbClr val="F7D007"/>
                </a:solidFill>
                <a:latin typeface="Helvetica Neue"/>
              </a:rPr>
              <a:t>•  </a:t>
            </a:r>
            <a:r>
              <a:rPr sz="950" b="0" i="0">
                <a:solidFill>
                  <a:srgbClr val="CCCCCC"/>
                </a:solidFill>
                <a:latin typeface="Helvetica Neue"/>
              </a:rPr>
              <a:t>A Klaviyo popup fires after ~5-7 seconds and covers the entire mobile fold, on every fresh page load.</a:t>
            </a:r>
          </a:p>
          <a:p>
            <a:pPr algn="l">
              <a:lnSpc>
                <a:spcPct val="130000"/>
              </a:lnSpc>
            </a:pPr>
            <a:r>
              <a:rPr sz="950" b="1" i="0">
                <a:solidFill>
                  <a:srgbClr val="F7D007"/>
                </a:solidFill>
                <a:latin typeface="Helvetica Neue"/>
              </a:rPr>
              <a:t>•  </a:t>
            </a:r>
            <a:r>
              <a:rPr sz="950" b="0" i="0">
                <a:solidFill>
                  <a:srgbClr val="CCCCCC"/>
                </a:solidFill>
                <a:latin typeface="Helvetica Neue"/>
              </a:rPr>
              <a:t>The hero badge says "Fremragende" with green stars. The live Trustpilot score is 3.9 ("God").</a:t>
            </a:r>
          </a:p>
          <a:p>
            <a:pPr algn="l">
              <a:lnSpc>
                <a:spcPct val="130000"/>
              </a:lnSpc>
            </a:pPr>
            <a:r>
              <a:rPr sz="950" b="1" i="0">
                <a:solidFill>
                  <a:srgbClr val="F7D007"/>
                </a:solidFill>
                <a:latin typeface="Helvetica Neue"/>
              </a:rPr>
              <a:t>•  </a:t>
            </a:r>
            <a:r>
              <a:rPr sz="950" b="0" i="0">
                <a:solidFill>
                  <a:srgbClr val="CCCCCC"/>
                </a:solidFill>
                <a:latin typeface="Helvetica Neue"/>
              </a:rPr>
              <a:t>Hero CTA is a vague "Se den her", and the slideshow rotates the message away.</a:t>
            </a:r>
          </a:p>
          <a:p>
            <a:pPr algn="l">
              <a:lnSpc>
                <a:spcPct val="130000"/>
              </a:lnSpc>
            </a:pPr>
            <a:r>
              <a:rPr sz="950" b="1" i="0">
                <a:solidFill>
                  <a:srgbClr val="F7D007"/>
                </a:solidFill>
                <a:latin typeface="Helvetica Neue"/>
              </a:rPr>
              <a:t>•  </a:t>
            </a:r>
            <a:r>
              <a:rPr sz="950" b="0" i="0">
                <a:solidFill>
                  <a:srgbClr val="CCCCCC"/>
                </a:solidFill>
                <a:latin typeface="Helvetica Neue"/>
              </a:rPr>
              <a:t>Navigation is flat: no category entry points anywhere.</a:t>
            </a:r>
          </a:p>
        </p:txBody>
      </p:sp>
      <p:sp>
        <p:nvSpPr>
          <p:cNvPr id="16" name="Rounded Rectangle 15"/>
          <p:cNvSpPr/>
          <p:nvPr/>
        </p:nvSpPr>
        <p:spPr>
          <a:xfrm>
            <a:off x="7635239"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9"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to do</a:t>
            </a:r>
          </a:p>
        </p:txBody>
      </p:sp>
      <p:sp>
        <p:nvSpPr>
          <p:cNvPr id="18" name="TextBox 17"/>
          <p:cNvSpPr txBox="1"/>
          <p:nvPr/>
        </p:nvSpPr>
        <p:spPr>
          <a:xfrm>
            <a:off x="7863839"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1.  </a:t>
            </a:r>
            <a:r>
              <a:rPr sz="950" b="0" i="0">
                <a:solidFill>
                  <a:srgbClr val="CCCCCC"/>
                </a:solidFill>
                <a:latin typeface="Helvetica Neue"/>
              </a:rPr>
              <a:t>Delay the popup to exit intent or 30s+, never over a PDP buy box.</a:t>
            </a:r>
          </a:p>
          <a:p>
            <a:pPr algn="l">
              <a:lnSpc>
                <a:spcPct val="130000"/>
              </a:lnSpc>
            </a:pPr>
            <a:r>
              <a:rPr sz="950" b="1" i="0">
                <a:solidFill>
                  <a:srgbClr val="F7D007"/>
                </a:solidFill>
                <a:latin typeface="Helvetica Neue"/>
              </a:rPr>
              <a:t>2.  </a:t>
            </a:r>
            <a:r>
              <a:rPr sz="950" b="0" i="0">
                <a:solidFill>
                  <a:srgbClr val="CCCCCC"/>
                </a:solidFill>
                <a:latin typeface="Helvetica Neue"/>
              </a:rPr>
              <a:t>Replace "Fremragende" with a true, checkable number.</a:t>
            </a:r>
          </a:p>
          <a:p>
            <a:pPr algn="l">
              <a:lnSpc>
                <a:spcPct val="130000"/>
              </a:lnSpc>
            </a:pPr>
            <a:r>
              <a:rPr sz="950" b="1" i="0">
                <a:solidFill>
                  <a:srgbClr val="F7D007"/>
                </a:solidFill>
                <a:latin typeface="Helvetica Neue"/>
              </a:rPr>
              <a:t>3.  </a:t>
            </a:r>
            <a:r>
              <a:rPr sz="950" b="0" i="0">
                <a:solidFill>
                  <a:srgbClr val="CCCCCC"/>
                </a:solidFill>
                <a:latin typeface="Helvetica Neue"/>
              </a:rPr>
              <a:t>Make the CTA concrete: "Se KidsBuddy, fra 749 kr".</a:t>
            </a:r>
          </a:p>
          <a:p>
            <a:pPr algn="l">
              <a:lnSpc>
                <a:spcPct val="130000"/>
              </a:lnSpc>
            </a:pPr>
            <a:r>
              <a:rPr sz="950" b="1" i="0">
                <a:solidFill>
                  <a:srgbClr val="F7D007"/>
                </a:solidFill>
                <a:latin typeface="Helvetica Neue"/>
              </a:rPr>
              <a:t>4.  </a:t>
            </a:r>
            <a:r>
              <a:rPr sz="950" b="0" i="0">
                <a:solidFill>
                  <a:srgbClr val="CCCCCC"/>
                </a:solidFill>
                <a:latin typeface="Helvetica Neue"/>
              </a:rPr>
              <a:t>Add 3-4 category tiles above "Populært lige nu".</a:t>
            </a:r>
          </a:p>
          <a:p>
            <a:pPr algn="l">
              <a:lnSpc>
                <a:spcPct val="130000"/>
              </a:lnSpc>
            </a:pPr>
            <a:r>
              <a:rPr sz="950" b="1" i="0">
                <a:solidFill>
                  <a:srgbClr val="F7D007"/>
                </a:solidFill>
                <a:latin typeface="Helvetica Neue"/>
              </a:rPr>
              <a:t>5.  </a:t>
            </a:r>
            <a:r>
              <a:rPr sz="950" b="0" i="0">
                <a:solidFill>
                  <a:srgbClr val="CCCCCC"/>
                </a:solidFill>
                <a:latin typeface="Helvetica Neue"/>
              </a:rPr>
              <a:t>Keep the lifestyle hero. It is the best asset on the site.</a:t>
            </a:r>
          </a:p>
        </p:txBody>
      </p:sp>
      <p:sp>
        <p:nvSpPr>
          <p:cNvPr id="19" name="Rounded Rectangle 18"/>
          <p:cNvSpPr/>
          <p:nvPr/>
        </p:nvSpPr>
        <p:spPr>
          <a:xfrm>
            <a:off x="777240" y="5760720"/>
            <a:ext cx="10637215" cy="6858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97880"/>
            <a:ext cx="10180015" cy="4114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homepage is not the problem, it is the proof: </a:t>
            </a:r>
            <a:r>
              <a:rPr sz="1100" b="0" i="0">
                <a:solidFill>
                  <a:srgbClr val="CCCCCC"/>
                </a:solidFill>
                <a:latin typeface="Helvetica Neue"/>
              </a:rPr>
              <a:t>when visitors land with story and context, bounce halves. The task is to bring that context to the PDPs, where 84% of landings arrive.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COLLECTION / PLP</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One flat list, no proof, no paths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/collections/produkter converts landings at 4.07%, second best on the site, but receives only 565 landing sessions in 90 days.</a:t>
            </a:r>
          </a:p>
        </p:txBody>
      </p:sp>
      <p:pic>
        <p:nvPicPr>
          <p:cNvPr id="10" name="Picture 9" descr="collection-produkter-mobile-fold.png"/>
          <p:cNvPicPr>
            <a:picLocks noChangeAspect="1"/>
          </p:cNvPicPr>
          <p:nvPr/>
        </p:nvPicPr>
        <p:blipFill>
          <a:blip r:embed="rId3"/>
          <a:stretch>
            <a:fillRect/>
          </a:stretch>
        </p:blipFill>
        <p:spPr>
          <a:xfrm>
            <a:off x="777240" y="2057400"/>
            <a:ext cx="1647870" cy="3566160"/>
          </a:xfrm>
          <a:prstGeom prst="rect">
            <a:avLst/>
          </a:prstGeom>
        </p:spPr>
      </p:pic>
      <p:sp>
        <p:nvSpPr>
          <p:cNvPr id="11" name="Rounded Rectangle 10"/>
          <p:cNvSpPr/>
          <p:nvPr/>
        </p:nvSpPr>
        <p:spPr>
          <a:xfrm>
            <a:off x="722376" y="2002536"/>
            <a:ext cx="1757598" cy="3675887"/>
          </a:xfrm>
          <a:prstGeom prst="roundRect">
            <a:avLst>
              <a:gd name="adj" fmla="val 6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715000"/>
            <a:ext cx="2196510" cy="274320"/>
          </a:xfrm>
          <a:prstGeom prst="rect">
            <a:avLst/>
          </a:prstGeom>
          <a:noFill/>
        </p:spPr>
        <p:txBody>
          <a:bodyPr wrap="square" lIns="0" rIns="0" tIns="0" bIns="0" anchor="t">
            <a:spAutoFit/>
          </a:bodyPr>
          <a:lstStyle/>
          <a:p>
            <a:pPr algn="ctr"/>
            <a:r>
              <a:rPr sz="900" b="1" i="0" spc="200">
                <a:solidFill>
                  <a:srgbClr val="999999"/>
                </a:solidFill>
                <a:latin typeface="Helvetica Neue"/>
              </a:rPr>
              <a:t>LIVE, MOBILE · 15 JUL 2026</a:t>
            </a:r>
          </a:p>
        </p:txBody>
      </p:sp>
      <p:sp>
        <p:nvSpPr>
          <p:cNvPr id="13" name="Rounded Rectangle 12"/>
          <p:cNvSpPr/>
          <p:nvPr/>
        </p:nvSpPr>
        <p:spPr>
          <a:xfrm>
            <a:off x="3383280"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we observed</a:t>
            </a:r>
          </a:p>
        </p:txBody>
      </p:sp>
      <p:sp>
        <p:nvSpPr>
          <p:cNvPr id="15" name="TextBox 14"/>
          <p:cNvSpPr txBox="1"/>
          <p:nvPr/>
        </p:nvSpPr>
        <p:spPr>
          <a:xfrm>
            <a:off x="3611880"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  </a:t>
            </a:r>
            <a:r>
              <a:rPr sz="950" b="0" i="0">
                <a:solidFill>
                  <a:srgbClr val="CCCCCC"/>
                </a:solidFill>
                <a:latin typeface="Helvetica Neue"/>
              </a:rPr>
              <a:t>34 products in one flat grid: watches, projectors, blenders and accessories side by side. Only price and stock filters.</a:t>
            </a:r>
          </a:p>
          <a:p>
            <a:pPr algn="l">
              <a:lnSpc>
                <a:spcPct val="130000"/>
              </a:lnSpc>
            </a:pPr>
            <a:r>
              <a:rPr sz="950" b="1" i="0">
                <a:solidFill>
                  <a:srgbClr val="F7D007"/>
                </a:solidFill>
                <a:latin typeface="Helvetica Neue"/>
              </a:rPr>
              <a:t>•  </a:t>
            </a:r>
            <a:r>
              <a:rPr sz="950" b="0" i="0">
                <a:solidFill>
                  <a:srgbClr val="CCCCCC"/>
                </a:solidFill>
                <a:latin typeface="Helvetica Neue"/>
              </a:rPr>
              <a:t>No review stars on any product card.</a:t>
            </a:r>
          </a:p>
          <a:p>
            <a:pPr algn="l">
              <a:lnSpc>
                <a:spcPct val="130000"/>
              </a:lnSpc>
            </a:pPr>
            <a:r>
              <a:rPr sz="950" b="1" i="0">
                <a:solidFill>
                  <a:srgbClr val="F7D007"/>
                </a:solidFill>
                <a:latin typeface="Helvetica Neue"/>
              </a:rPr>
              <a:t>•  </a:t>
            </a:r>
            <a:r>
              <a:rPr sz="950" b="0" i="0">
                <a:solidFill>
                  <a:srgbClr val="CCCCCC"/>
                </a:solidFill>
                <a:latin typeface="Helvetica Neue"/>
              </a:rPr>
              <a:t>Discount badges ("Spar 25%") + "Vejledende udsalgspris" anchors on most cards, a pattern shoppers associate with dropship stores.</a:t>
            </a:r>
          </a:p>
          <a:p>
            <a:pPr algn="l">
              <a:lnSpc>
                <a:spcPct val="130000"/>
              </a:lnSpc>
            </a:pPr>
            <a:r>
              <a:rPr sz="950" b="1" i="0">
                <a:solidFill>
                  <a:srgbClr val="F7D007"/>
                </a:solidFill>
                <a:latin typeface="Helvetica Neue"/>
              </a:rPr>
              <a:t>•  </a:t>
            </a:r>
            <a:r>
              <a:rPr sz="950" b="0" i="0">
                <a:solidFill>
                  <a:srgbClr val="CCCCCC"/>
                </a:solidFill>
                <a:latin typeface="Helvetica Neue"/>
              </a:rPr>
              <a:t>Clean 2-column mobile grid, prices visible. The basics are right.</a:t>
            </a:r>
          </a:p>
        </p:txBody>
      </p:sp>
      <p:sp>
        <p:nvSpPr>
          <p:cNvPr id="16" name="Rounded Rectangle 15"/>
          <p:cNvSpPr/>
          <p:nvPr/>
        </p:nvSpPr>
        <p:spPr>
          <a:xfrm>
            <a:off x="7635239"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9"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to do</a:t>
            </a:r>
          </a:p>
        </p:txBody>
      </p:sp>
      <p:sp>
        <p:nvSpPr>
          <p:cNvPr id="18" name="TextBox 17"/>
          <p:cNvSpPr txBox="1"/>
          <p:nvPr/>
        </p:nvSpPr>
        <p:spPr>
          <a:xfrm>
            <a:off x="7863839"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1.  </a:t>
            </a:r>
            <a:r>
              <a:rPr sz="950" b="0" i="0">
                <a:solidFill>
                  <a:srgbClr val="CCCCCC"/>
                </a:solidFill>
                <a:latin typeface="Helvetica Neue"/>
              </a:rPr>
              <a:t>Split into 3-4 real collections and link them from nav + homepage tiles.</a:t>
            </a:r>
          </a:p>
          <a:p>
            <a:pPr algn="l">
              <a:lnSpc>
                <a:spcPct val="130000"/>
              </a:lnSpc>
            </a:pPr>
            <a:r>
              <a:rPr sz="950" b="1" i="0">
                <a:solidFill>
                  <a:srgbClr val="F7D007"/>
                </a:solidFill>
                <a:latin typeface="Helvetica Neue"/>
              </a:rPr>
              <a:t>2.  </a:t>
            </a:r>
            <a:r>
              <a:rPr sz="950" b="0" i="0">
                <a:solidFill>
                  <a:srgbClr val="CCCCCC"/>
                </a:solidFill>
                <a:latin typeface="Helvetica Neue"/>
              </a:rPr>
              <a:t>Show Loox stars + counts on cards for products with reviews.</a:t>
            </a:r>
          </a:p>
          <a:p>
            <a:pPr algn="l">
              <a:lnSpc>
                <a:spcPct val="130000"/>
              </a:lnSpc>
            </a:pPr>
            <a:r>
              <a:rPr sz="950" b="1" i="0">
                <a:solidFill>
                  <a:srgbClr val="F7D007"/>
                </a:solidFill>
                <a:latin typeface="Helvetica Neue"/>
              </a:rPr>
              <a:t>3.  </a:t>
            </a:r>
            <a:r>
              <a:rPr sz="950" b="0" i="0">
                <a:solidFill>
                  <a:srgbClr val="CCCCCC"/>
                </a:solidFill>
                <a:latin typeface="Helvetica Neue"/>
              </a:rPr>
              <a:t>Add a "KidsBuddy tilbehør" collection, linked from the KidsBuddy PDP.</a:t>
            </a:r>
          </a:p>
          <a:p>
            <a:pPr algn="l">
              <a:lnSpc>
                <a:spcPct val="130000"/>
              </a:lnSpc>
            </a:pPr>
            <a:r>
              <a:rPr sz="950" b="1" i="0">
                <a:solidFill>
                  <a:srgbClr val="F7D007"/>
                </a:solidFill>
                <a:latin typeface="Helvetica Neue"/>
              </a:rPr>
              <a:t>4.  </a:t>
            </a:r>
            <a:r>
              <a:rPr sz="950" b="0" i="0">
                <a:solidFill>
                  <a:srgbClr val="CCCCCC"/>
                </a:solidFill>
                <a:latin typeface="Helvetica Neue"/>
              </a:rPr>
              <a:t>Reserve strikethrough anchors for real campaigns to protect price credibility.</a:t>
            </a:r>
          </a:p>
        </p:txBody>
      </p:sp>
      <p:sp>
        <p:nvSpPr>
          <p:cNvPr id="19" name="Rounded Rectangle 18"/>
          <p:cNvSpPr/>
          <p:nvPr/>
        </p:nvSpPr>
        <p:spPr>
          <a:xfrm>
            <a:off x="777240" y="5760720"/>
            <a:ext cx="10637215" cy="6858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97880"/>
            <a:ext cx="10180015" cy="4114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Collection and Bestsellers landings convert at 4.07% and 4.76%, roughly double the PDP average. </a:t>
            </a:r>
            <a:r>
              <a:rPr sz="1100" b="0" i="0">
                <a:solidFill>
                  <a:srgbClr val="CCCCCC"/>
                </a:solidFill>
                <a:latin typeface="Helvetica Neue"/>
              </a:rPr>
              <a:t>More internal paths into these pages is free conversion.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PRODUCT PAGE · KIDSBUDDY</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The money page sells hard and reassures little</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24,331 landing sessions, 2.93% CVR, 56% of revenue. The buy box stacks offer on offer while the #1 doubt (GPS + app) is answered nowhere.</a:t>
            </a:r>
          </a:p>
        </p:txBody>
      </p:sp>
      <p:pic>
        <p:nvPicPr>
          <p:cNvPr id="10" name="Picture 9" descr="pdp-kidsbuddy-mobile-fold.png"/>
          <p:cNvPicPr>
            <a:picLocks noChangeAspect="1"/>
          </p:cNvPicPr>
          <p:nvPr/>
        </p:nvPicPr>
        <p:blipFill>
          <a:blip r:embed="rId3"/>
          <a:stretch>
            <a:fillRect/>
          </a:stretch>
        </p:blipFill>
        <p:spPr>
          <a:xfrm>
            <a:off x="777240" y="2057400"/>
            <a:ext cx="1647870" cy="3566160"/>
          </a:xfrm>
          <a:prstGeom prst="rect">
            <a:avLst/>
          </a:prstGeom>
        </p:spPr>
      </p:pic>
      <p:sp>
        <p:nvSpPr>
          <p:cNvPr id="11" name="Rounded Rectangle 10"/>
          <p:cNvSpPr/>
          <p:nvPr/>
        </p:nvSpPr>
        <p:spPr>
          <a:xfrm>
            <a:off x="722376" y="2002536"/>
            <a:ext cx="1757598" cy="3675887"/>
          </a:xfrm>
          <a:prstGeom prst="roundRect">
            <a:avLst>
              <a:gd name="adj" fmla="val 6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715000"/>
            <a:ext cx="2196510" cy="274320"/>
          </a:xfrm>
          <a:prstGeom prst="rect">
            <a:avLst/>
          </a:prstGeom>
          <a:noFill/>
        </p:spPr>
        <p:txBody>
          <a:bodyPr wrap="square" lIns="0" rIns="0" tIns="0" bIns="0" anchor="t">
            <a:spAutoFit/>
          </a:bodyPr>
          <a:lstStyle/>
          <a:p>
            <a:pPr algn="ctr"/>
            <a:r>
              <a:rPr sz="900" b="1" i="0" spc="200">
                <a:solidFill>
                  <a:srgbClr val="999999"/>
                </a:solidFill>
                <a:latin typeface="Helvetica Neue"/>
              </a:rPr>
              <a:t>LIVE, MOBILE · 15 JUL 2026</a:t>
            </a:r>
          </a:p>
        </p:txBody>
      </p:sp>
      <p:sp>
        <p:nvSpPr>
          <p:cNvPr id="13" name="Rounded Rectangle 12"/>
          <p:cNvSpPr/>
          <p:nvPr/>
        </p:nvSpPr>
        <p:spPr>
          <a:xfrm>
            <a:off x="3383280"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we observed</a:t>
            </a:r>
          </a:p>
        </p:txBody>
      </p:sp>
      <p:sp>
        <p:nvSpPr>
          <p:cNvPr id="15" name="TextBox 14"/>
          <p:cNvSpPr txBox="1"/>
          <p:nvPr/>
        </p:nvSpPr>
        <p:spPr>
          <a:xfrm>
            <a:off x="3611880"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  </a:t>
            </a:r>
            <a:r>
              <a:rPr sz="950" b="0" i="0">
                <a:solidFill>
                  <a:srgbClr val="CCCCCC"/>
                </a:solidFill>
                <a:latin typeface="Helvetica Neue"/>
              </a:rPr>
              <a:t>Good bones: 6 USP bullets, variants, dispatch countdown, sticky ATC, ViaBill monthly price.</a:t>
            </a:r>
          </a:p>
          <a:p>
            <a:pPr algn="l">
              <a:lnSpc>
                <a:spcPct val="130000"/>
              </a:lnSpc>
            </a:pPr>
            <a:r>
              <a:rPr sz="950" b="1" i="0">
                <a:solidFill>
                  <a:srgbClr val="F7D007"/>
                </a:solidFill>
                <a:latin typeface="Helvetica Neue"/>
              </a:rPr>
              <a:t>•  </a:t>
            </a:r>
            <a:r>
              <a:rPr sz="950" b="0" i="0">
                <a:solidFill>
                  <a:srgbClr val="CCCCCC"/>
                </a:solidFill>
                <a:latin typeface="Helvetica Neue"/>
              </a:rPr>
              <a:t>No review stars or count anywhere in the buy box. The twin kidsbuddy.dk shows "4.8/5 fra 2,200+ forældre".</a:t>
            </a:r>
          </a:p>
          <a:p>
            <a:pPr algn="l">
              <a:lnSpc>
                <a:spcPct val="130000"/>
              </a:lnSpc>
            </a:pPr>
            <a:r>
              <a:rPr sz="950" b="1" i="0">
                <a:solidFill>
                  <a:srgbClr val="F7D007"/>
                </a:solidFill>
                <a:latin typeface="Helvetica Neue"/>
              </a:rPr>
              <a:t>•  </a:t>
            </a:r>
            <a:r>
              <a:rPr sz="950" b="0" i="0">
                <a:solidFill>
                  <a:srgbClr val="CCCCCC"/>
                </a:solidFill>
                <a:latin typeface="Helvetica Neue"/>
              </a:rPr>
              <a:t>The "SuperDeal" bundle is pre-selected: one plain ATC click added 3 items (999 kr).</a:t>
            </a:r>
          </a:p>
          <a:p>
            <a:pPr algn="l">
              <a:lnSpc>
                <a:spcPct val="130000"/>
              </a:lnSpc>
            </a:pPr>
            <a:r>
              <a:rPr sz="950" b="1" i="0">
                <a:solidFill>
                  <a:srgbClr val="F7D007"/>
                </a:solidFill>
                <a:latin typeface="Helvetica Neue"/>
              </a:rPr>
              <a:t>•  </a:t>
            </a:r>
            <a:r>
              <a:rPr sz="950" b="0" i="0">
                <a:solidFill>
                  <a:srgbClr val="CCCCCC"/>
                </a:solidFill>
                <a:latin typeface="Helvetica Neue"/>
              </a:rPr>
              <a:t>Trust is outsourced to 11 affiliate "best in test" badges; GPS and app doubts go unmentioned.</a:t>
            </a:r>
          </a:p>
          <a:p>
            <a:pPr algn="l">
              <a:lnSpc>
                <a:spcPct val="130000"/>
              </a:lnSpc>
            </a:pPr>
            <a:r>
              <a:rPr sz="950" b="1" i="0">
                <a:solidFill>
                  <a:srgbClr val="F7D007"/>
                </a:solidFill>
                <a:latin typeface="Helvetica Neue"/>
              </a:rPr>
              <a:t>•  </a:t>
            </a:r>
            <a:r>
              <a:rPr sz="950" b="0" i="0">
                <a:solidFill>
                  <a:srgbClr val="CCCCCC"/>
                </a:solidFill>
                <a:latin typeface="Helvetica Neue"/>
              </a:rPr>
              <a:t>No video, no real app screenshots, no GPS expectations block.</a:t>
            </a:r>
          </a:p>
        </p:txBody>
      </p:sp>
      <p:sp>
        <p:nvSpPr>
          <p:cNvPr id="16" name="Rounded Rectangle 15"/>
          <p:cNvSpPr/>
          <p:nvPr/>
        </p:nvSpPr>
        <p:spPr>
          <a:xfrm>
            <a:off x="7635239"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9"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to do</a:t>
            </a:r>
          </a:p>
        </p:txBody>
      </p:sp>
      <p:sp>
        <p:nvSpPr>
          <p:cNvPr id="18" name="TextBox 17"/>
          <p:cNvSpPr txBox="1"/>
          <p:nvPr/>
        </p:nvSpPr>
        <p:spPr>
          <a:xfrm>
            <a:off x="7863839"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1.  </a:t>
            </a:r>
            <a:r>
              <a:rPr sz="950" b="0" i="0">
                <a:solidFill>
                  <a:srgbClr val="CCCCCC"/>
                </a:solidFill>
                <a:latin typeface="Helvetica Neue"/>
              </a:rPr>
              <a:t>Pin Loox stars + review count directly under the title.</a:t>
            </a:r>
          </a:p>
          <a:p>
            <a:pPr algn="l">
              <a:lnSpc>
                <a:spcPct val="130000"/>
              </a:lnSpc>
            </a:pPr>
            <a:r>
              <a:rPr sz="950" b="1" i="0">
                <a:solidFill>
                  <a:srgbClr val="F7D007"/>
                </a:solidFill>
                <a:latin typeface="Helvetica Neue"/>
              </a:rPr>
              <a:t>2.  </a:t>
            </a:r>
            <a:r>
              <a:rPr sz="950" b="0" i="0">
                <a:solidFill>
                  <a:srgbClr val="CCCCCC"/>
                </a:solidFill>
                <a:latin typeface="Helvetica Neue"/>
              </a:rPr>
              <a:t>Make SuperDeal an explicit opt-in (1 stk 749 kr pre-selected).</a:t>
            </a:r>
          </a:p>
          <a:p>
            <a:pPr algn="l">
              <a:lnSpc>
                <a:spcPct val="130000"/>
              </a:lnSpc>
            </a:pPr>
            <a:r>
              <a:rPr sz="950" b="1" i="0">
                <a:solidFill>
                  <a:srgbClr val="F7D007"/>
                </a:solidFill>
                <a:latin typeface="Helvetica Neue"/>
              </a:rPr>
              <a:t>3.  </a:t>
            </a:r>
            <a:r>
              <a:rPr sz="950" b="0" i="0">
                <a:solidFill>
                  <a:srgbClr val="CCCCCC"/>
                </a:solidFill>
                <a:latin typeface="Helvetica Neue"/>
              </a:rPr>
              <a:t>Add an honest GPS + app block with real SeTracker2 screens.</a:t>
            </a:r>
          </a:p>
          <a:p>
            <a:pPr algn="l">
              <a:lnSpc>
                <a:spcPct val="130000"/>
              </a:lnSpc>
            </a:pPr>
            <a:r>
              <a:rPr sz="950" b="1" i="0">
                <a:solidFill>
                  <a:srgbClr val="F7D007"/>
                </a:solidFill>
                <a:latin typeface="Helvetica Neue"/>
              </a:rPr>
              <a:t>4.  </a:t>
            </a:r>
            <a:r>
              <a:rPr sz="950" b="0" i="0">
                <a:solidFill>
                  <a:srgbClr val="CCCCCC"/>
                </a:solidFill>
                <a:latin typeface="Helvetica Neue"/>
              </a:rPr>
              <a:t>Add a 20-30s demo video (live tracking + a video call).</a:t>
            </a:r>
          </a:p>
          <a:p>
            <a:pPr algn="l">
              <a:lnSpc>
                <a:spcPct val="130000"/>
              </a:lnSpc>
            </a:pPr>
            <a:r>
              <a:rPr sz="950" b="1" i="0">
                <a:solidFill>
                  <a:srgbClr val="F7D007"/>
                </a:solidFill>
                <a:latin typeface="Helvetica Neue"/>
              </a:rPr>
              <a:t>5.  </a:t>
            </a:r>
            <a:r>
              <a:rPr sz="950" b="0" i="0">
                <a:solidFill>
                  <a:srgbClr val="CCCCCC"/>
                </a:solidFill>
                <a:latin typeface="Helvetica Neue"/>
              </a:rPr>
              <a:t>Add the anti-Xplora comparison: 749 kr once vs 1,599 kr + abonnement.</a:t>
            </a:r>
          </a:p>
        </p:txBody>
      </p:sp>
      <p:sp>
        <p:nvSpPr>
          <p:cNvPr id="19" name="Rounded Rectangle 18"/>
          <p:cNvSpPr/>
          <p:nvPr/>
        </p:nvSpPr>
        <p:spPr>
          <a:xfrm>
            <a:off x="777240" y="5760720"/>
            <a:ext cx="10637215" cy="6858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97880"/>
            <a:ext cx="10180015" cy="4114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math of honesty: </a:t>
            </a:r>
            <a:r>
              <a:rPr sz="1100" b="0" i="0">
                <a:solidFill>
                  <a:srgbClr val="CCCCCC"/>
                </a:solidFill>
                <a:latin typeface="Helvetica Neue"/>
              </a:rPr>
              <a:t>every element that overstates (a "Fremragende" badge vs a 3.9 Trustpilot, an auto-added bundle) feeds the "dropshipping" suspicion 4 recent reviews voice verbatim. The fixes are additions of proof, not redesigns.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PRODUCT PAGE · LONG TAIL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The same template cannot carry a 349 kr impulse buy</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Moona Stjernehimmel: 3,548 sessions, 1.69% CVR. Glimmt: 3,080 at 0.91%. Beamly: 2,806 at 1.07%. Together 9,434 sessions at half the store average.</a:t>
            </a:r>
          </a:p>
        </p:txBody>
      </p:sp>
      <p:pic>
        <p:nvPicPr>
          <p:cNvPr id="10" name="Picture 9" descr="pdp-stjernehimmel-mobile-fold.png"/>
          <p:cNvPicPr>
            <a:picLocks noChangeAspect="1"/>
          </p:cNvPicPr>
          <p:nvPr/>
        </p:nvPicPr>
        <p:blipFill>
          <a:blip r:embed="rId3"/>
          <a:stretch>
            <a:fillRect/>
          </a:stretch>
        </p:blipFill>
        <p:spPr>
          <a:xfrm>
            <a:off x="777240" y="2057400"/>
            <a:ext cx="1647870" cy="3566160"/>
          </a:xfrm>
          <a:prstGeom prst="rect">
            <a:avLst/>
          </a:prstGeom>
        </p:spPr>
      </p:pic>
      <p:sp>
        <p:nvSpPr>
          <p:cNvPr id="11" name="Rounded Rectangle 10"/>
          <p:cNvSpPr/>
          <p:nvPr/>
        </p:nvSpPr>
        <p:spPr>
          <a:xfrm>
            <a:off x="722376" y="2002536"/>
            <a:ext cx="1757598" cy="3675887"/>
          </a:xfrm>
          <a:prstGeom prst="roundRect">
            <a:avLst>
              <a:gd name="adj" fmla="val 6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715000"/>
            <a:ext cx="2196510" cy="274320"/>
          </a:xfrm>
          <a:prstGeom prst="rect">
            <a:avLst/>
          </a:prstGeom>
          <a:noFill/>
        </p:spPr>
        <p:txBody>
          <a:bodyPr wrap="square" lIns="0" rIns="0" tIns="0" bIns="0" anchor="t">
            <a:spAutoFit/>
          </a:bodyPr>
          <a:lstStyle/>
          <a:p>
            <a:pPr algn="ctr"/>
            <a:r>
              <a:rPr sz="900" b="1" i="0" spc="200">
                <a:solidFill>
                  <a:srgbClr val="999999"/>
                </a:solidFill>
                <a:latin typeface="Helvetica Neue"/>
              </a:rPr>
              <a:t>LIVE, MOBILE · 15 JUL 2026</a:t>
            </a:r>
          </a:p>
        </p:txBody>
      </p:sp>
      <p:sp>
        <p:nvSpPr>
          <p:cNvPr id="13" name="Rounded Rectangle 12"/>
          <p:cNvSpPr/>
          <p:nvPr/>
        </p:nvSpPr>
        <p:spPr>
          <a:xfrm>
            <a:off x="3383280"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we observed</a:t>
            </a:r>
          </a:p>
        </p:txBody>
      </p:sp>
      <p:sp>
        <p:nvSpPr>
          <p:cNvPr id="15" name="TextBox 14"/>
          <p:cNvSpPr txBox="1"/>
          <p:nvPr/>
        </p:nvSpPr>
        <p:spPr>
          <a:xfrm>
            <a:off x="3611880"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  </a:t>
            </a:r>
            <a:r>
              <a:rPr sz="950" b="0" i="0">
                <a:solidFill>
                  <a:srgbClr val="CCCCCC"/>
                </a:solidFill>
                <a:latin typeface="Helvetica Neue"/>
              </a:rPr>
              <a:t>Same template as KidsBuddy with the trust stripped out: 3 thin USP bullets, no testimonials, no badges.</a:t>
            </a:r>
          </a:p>
          <a:p>
            <a:pPr algn="l">
              <a:lnSpc>
                <a:spcPct val="130000"/>
              </a:lnSpc>
            </a:pPr>
            <a:r>
              <a:rPr sz="950" b="1" i="0">
                <a:solidFill>
                  <a:srgbClr val="F7D007"/>
                </a:solidFill>
                <a:latin typeface="Helvetica Neue"/>
              </a:rPr>
              <a:t>•  </a:t>
            </a:r>
            <a:r>
              <a:rPr sz="950" b="0" i="0">
                <a:solidFill>
                  <a:srgbClr val="CCCCCC"/>
                </a:solidFill>
                <a:latin typeface="Helvetica Neue"/>
              </a:rPr>
              <a:t>Gallery is a generic supplier render, identical to any marketplace at half the price.</a:t>
            </a:r>
          </a:p>
          <a:p>
            <a:pPr algn="l">
              <a:lnSpc>
                <a:spcPct val="130000"/>
              </a:lnSpc>
            </a:pPr>
            <a:r>
              <a:rPr sz="950" b="1" i="0">
                <a:solidFill>
                  <a:srgbClr val="F7D007"/>
                </a:solidFill>
                <a:latin typeface="Helvetica Neue"/>
              </a:rPr>
              <a:t>•  </a:t>
            </a:r>
            <a:r>
              <a:rPr sz="950" b="0" i="0">
                <a:solidFill>
                  <a:srgbClr val="CCCCCC"/>
                </a:solidFill>
                <a:latin typeface="Helvetica Neue"/>
              </a:rPr>
              <a:t>Same "Spar 22%" anchor pattern, which reads as markup without proof around it.</a:t>
            </a:r>
          </a:p>
          <a:p>
            <a:pPr algn="l">
              <a:lnSpc>
                <a:spcPct val="130000"/>
              </a:lnSpc>
            </a:pPr>
            <a:r>
              <a:rPr sz="950" b="1" i="0">
                <a:solidFill>
                  <a:srgbClr val="F7D007"/>
                </a:solidFill>
                <a:latin typeface="Helvetica Neue"/>
              </a:rPr>
              <a:t>•  </a:t>
            </a:r>
            <a:r>
              <a:rPr sz="950" b="0" i="0">
                <a:solidFill>
                  <a:srgbClr val="CCCCCC"/>
                </a:solidFill>
                <a:latin typeface="Helvetica Neue"/>
              </a:rPr>
              <a:t>The discount popup interrupts these cold paid landings too.</a:t>
            </a:r>
          </a:p>
          <a:p>
            <a:pPr algn="l">
              <a:lnSpc>
                <a:spcPct val="130000"/>
              </a:lnSpc>
            </a:pPr>
            <a:r>
              <a:rPr sz="950" b="1" i="0">
                <a:solidFill>
                  <a:srgbClr val="F7D007"/>
                </a:solidFill>
                <a:latin typeface="Helvetica Neue"/>
              </a:rPr>
              <a:t>•  </a:t>
            </a:r>
            <a:r>
              <a:rPr sz="950" b="0" i="0">
                <a:solidFill>
                  <a:srgbClr val="CCCCCC"/>
                </a:solidFill>
                <a:latin typeface="Helvetica Neue"/>
              </a:rPr>
              <a:t>No cross-sell into the rest of the catalog.</a:t>
            </a:r>
          </a:p>
        </p:txBody>
      </p:sp>
      <p:sp>
        <p:nvSpPr>
          <p:cNvPr id="16" name="Rounded Rectangle 15"/>
          <p:cNvSpPr/>
          <p:nvPr/>
        </p:nvSpPr>
        <p:spPr>
          <a:xfrm>
            <a:off x="7635239"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9"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to do</a:t>
            </a:r>
          </a:p>
        </p:txBody>
      </p:sp>
      <p:sp>
        <p:nvSpPr>
          <p:cNvPr id="18" name="TextBox 17"/>
          <p:cNvSpPr txBox="1"/>
          <p:nvPr/>
        </p:nvSpPr>
        <p:spPr>
          <a:xfrm>
            <a:off x="7863839"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1.  </a:t>
            </a:r>
            <a:r>
              <a:rPr sz="950" b="0" i="0">
                <a:solidFill>
                  <a:srgbClr val="CCCCCC"/>
                </a:solidFill>
                <a:latin typeface="Helvetica Neue"/>
              </a:rPr>
              <a:t>Build one stronger long-tail template: lifestyle photo first, stars + count, delivery at ATC.</a:t>
            </a:r>
          </a:p>
          <a:p>
            <a:pPr algn="l">
              <a:lnSpc>
                <a:spcPct val="130000"/>
              </a:lnSpc>
            </a:pPr>
            <a:r>
              <a:rPr sz="950" b="1" i="0">
                <a:solidFill>
                  <a:srgbClr val="F7D007"/>
                </a:solidFill>
                <a:latin typeface="Helvetica Neue"/>
              </a:rPr>
              <a:t>2.  </a:t>
            </a:r>
            <a:r>
              <a:rPr sz="950" b="0" i="0">
                <a:solidFill>
                  <a:srgbClr val="CCCCCC"/>
                </a:solidFill>
                <a:latin typeface="Helvetica Neue"/>
              </a:rPr>
              <a:t>Shoot or source one photo in real context per hero product.</a:t>
            </a:r>
          </a:p>
          <a:p>
            <a:pPr algn="l">
              <a:lnSpc>
                <a:spcPct val="130000"/>
              </a:lnSpc>
            </a:pPr>
            <a:r>
              <a:rPr sz="950" b="1" i="0">
                <a:solidFill>
                  <a:srgbClr val="F7D007"/>
                </a:solidFill>
                <a:latin typeface="Helvetica Neue"/>
              </a:rPr>
              <a:t>3.  </a:t>
            </a:r>
            <a:r>
              <a:rPr sz="950" b="0" i="0">
                <a:solidFill>
                  <a:srgbClr val="CCCCCC"/>
                </a:solidFill>
                <a:latin typeface="Helvetica Neue"/>
              </a:rPr>
              <a:t>Add "Købes ofte sammen" cross-sells between the kids products.</a:t>
            </a:r>
          </a:p>
          <a:p>
            <a:pPr algn="l">
              <a:lnSpc>
                <a:spcPct val="130000"/>
              </a:lnSpc>
            </a:pPr>
            <a:r>
              <a:rPr sz="950" b="1" i="0">
                <a:solidFill>
                  <a:srgbClr val="F7D007"/>
                </a:solidFill>
                <a:latin typeface="Helvetica Neue"/>
              </a:rPr>
              <a:t>4.  </a:t>
            </a:r>
            <a:r>
              <a:rPr sz="950" b="0" i="0">
                <a:solidFill>
                  <a:srgbClr val="CCCCCC"/>
                </a:solidFill>
                <a:latin typeface="Helvetica Neue"/>
              </a:rPr>
              <a:t>Roll the winner template to Glimmt and Beamly, measure against 0.91% / 1.07%.</a:t>
            </a:r>
          </a:p>
          <a:p>
            <a:pPr algn="l">
              <a:lnSpc>
                <a:spcPct val="130000"/>
              </a:lnSpc>
            </a:pPr>
            <a:r>
              <a:rPr sz="950" b="1" i="0">
                <a:solidFill>
                  <a:srgbClr val="F7D007"/>
                </a:solidFill>
                <a:latin typeface="Helvetica Neue"/>
              </a:rPr>
              <a:t>5.  </a:t>
            </a:r>
            <a:r>
              <a:rPr sz="950" b="0" i="0">
                <a:solidFill>
                  <a:srgbClr val="CCCCCC"/>
                </a:solidFill>
                <a:latin typeface="Helvetica Neue"/>
              </a:rPr>
              <a:t>Pause or fix Smart Cleaner (224 sessions, 0 orders).</a:t>
            </a:r>
          </a:p>
        </p:txBody>
      </p:sp>
      <p:sp>
        <p:nvSpPr>
          <p:cNvPr id="19" name="Rounded Rectangle 18"/>
          <p:cNvSpPr/>
          <p:nvPr/>
        </p:nvSpPr>
        <p:spPr>
          <a:xfrm>
            <a:off x="777240" y="5760720"/>
            <a:ext cx="10637215" cy="6858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97880"/>
            <a:ext cx="10180015" cy="4114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Visitors spend nearly 4 minutes on the Moona page and still do not buy: </a:t>
            </a:r>
            <a:r>
              <a:rPr sz="1100" b="0" i="0">
                <a:solidFill>
                  <a:srgbClr val="CCCCCC"/>
                </a:solidFill>
                <a:latin typeface="Helvetica Neue"/>
              </a:rPr>
              <a:t>interest is there, belief is not. Lifting the three to Kidsboard's 2.11% adds Est. +80 orders per quarter.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CART DRAWER</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A good drawer with two silent leaks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GA4: 51.6% of add-to-carts reach checkout, then only 45.3% of mobile checkouts finish. The drawer has the right furniture; two details work against it.</a:t>
            </a:r>
          </a:p>
        </p:txBody>
      </p:sp>
      <p:pic>
        <p:nvPicPr>
          <p:cNvPr id="10" name="Picture 9" descr="cart-mobile.png"/>
          <p:cNvPicPr>
            <a:picLocks noChangeAspect="1"/>
          </p:cNvPicPr>
          <p:nvPr/>
        </p:nvPicPr>
        <p:blipFill>
          <a:blip r:embed="rId3"/>
          <a:stretch>
            <a:fillRect/>
          </a:stretch>
        </p:blipFill>
        <p:spPr>
          <a:xfrm>
            <a:off x="777240" y="2057400"/>
            <a:ext cx="1647870" cy="3566160"/>
          </a:xfrm>
          <a:prstGeom prst="rect">
            <a:avLst/>
          </a:prstGeom>
        </p:spPr>
      </p:pic>
      <p:sp>
        <p:nvSpPr>
          <p:cNvPr id="11" name="Rounded Rectangle 10"/>
          <p:cNvSpPr/>
          <p:nvPr/>
        </p:nvSpPr>
        <p:spPr>
          <a:xfrm>
            <a:off x="722376" y="2002536"/>
            <a:ext cx="1757598" cy="3675887"/>
          </a:xfrm>
          <a:prstGeom prst="roundRect">
            <a:avLst>
              <a:gd name="adj" fmla="val 6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715000"/>
            <a:ext cx="2196510" cy="274320"/>
          </a:xfrm>
          <a:prstGeom prst="rect">
            <a:avLst/>
          </a:prstGeom>
          <a:noFill/>
        </p:spPr>
        <p:txBody>
          <a:bodyPr wrap="square" lIns="0" rIns="0" tIns="0" bIns="0" anchor="t">
            <a:spAutoFit/>
          </a:bodyPr>
          <a:lstStyle/>
          <a:p>
            <a:pPr algn="ctr"/>
            <a:r>
              <a:rPr sz="900" b="1" i="0" spc="200">
                <a:solidFill>
                  <a:srgbClr val="999999"/>
                </a:solidFill>
                <a:latin typeface="Helvetica Neue"/>
              </a:rPr>
              <a:t>LIVE, MOBILE · 15 JUL 2026</a:t>
            </a:r>
          </a:p>
        </p:txBody>
      </p:sp>
      <p:sp>
        <p:nvSpPr>
          <p:cNvPr id="13" name="Rounded Rectangle 12"/>
          <p:cNvSpPr/>
          <p:nvPr/>
        </p:nvSpPr>
        <p:spPr>
          <a:xfrm>
            <a:off x="3383280"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we observed</a:t>
            </a:r>
          </a:p>
        </p:txBody>
      </p:sp>
      <p:sp>
        <p:nvSpPr>
          <p:cNvPr id="15" name="TextBox 14"/>
          <p:cNvSpPr txBox="1"/>
          <p:nvPr/>
        </p:nvSpPr>
        <p:spPr>
          <a:xfrm>
            <a:off x="3611880"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  </a:t>
            </a:r>
            <a:r>
              <a:rPr sz="950" b="0" i="0">
                <a:solidFill>
                  <a:srgbClr val="CCCCCC"/>
                </a:solidFill>
                <a:latin typeface="Helvetica Neue"/>
              </a:rPr>
              <a:t>Strong furniture: free-shipping progress, a 1% charity selector, payment logos.</a:t>
            </a:r>
          </a:p>
          <a:p>
            <a:pPr algn="l">
              <a:lnSpc>
                <a:spcPct val="130000"/>
              </a:lnSpc>
            </a:pPr>
            <a:r>
              <a:rPr sz="950" b="1" i="0">
                <a:solidFill>
                  <a:srgbClr val="F7D007"/>
                </a:solidFill>
                <a:latin typeface="Helvetica Neue"/>
              </a:rPr>
              <a:t>•  </a:t>
            </a:r>
            <a:r>
              <a:rPr sz="950" b="0" i="0">
                <a:solidFill>
                  <a:srgbClr val="CCCCCC"/>
                </a:solidFill>
                <a:latin typeface="Helvetica Neue"/>
              </a:rPr>
              <a:t>The 749 kr decision became a 999 kr total: the pre-selected SuperDeal added the guarantee and cable without an explicit choice.</a:t>
            </a:r>
          </a:p>
          <a:p>
            <a:pPr algn="l">
              <a:lnSpc>
                <a:spcPct val="130000"/>
              </a:lnSpc>
            </a:pPr>
            <a:r>
              <a:rPr sz="950" b="1" i="0">
                <a:solidFill>
                  <a:srgbClr val="F7D007"/>
                </a:solidFill>
                <a:latin typeface="Helvetica Neue"/>
              </a:rPr>
              <a:t>•  </a:t>
            </a:r>
            <a:r>
              <a:rPr sz="950" b="0" i="0">
                <a:solidFill>
                  <a:srgbClr val="CCCCCC"/>
                </a:solidFill>
                <a:latin typeface="Helvetica Neue"/>
              </a:rPr>
              <a:t>A manual "Jeg accepterer handelsbetingelserne" checkbox gates the checkout button. Unticked, the CTA silently fails.</a:t>
            </a:r>
          </a:p>
          <a:p>
            <a:pPr algn="l">
              <a:lnSpc>
                <a:spcPct val="130000"/>
              </a:lnSpc>
            </a:pPr>
            <a:r>
              <a:rPr sz="950" b="1" i="0">
                <a:solidFill>
                  <a:srgbClr val="F7D007"/>
                </a:solidFill>
                <a:latin typeface="Helvetica Neue"/>
              </a:rPr>
              <a:t>•  </a:t>
            </a:r>
            <a:r>
              <a:rPr sz="950" b="0" i="0">
                <a:solidFill>
                  <a:srgbClr val="CCCCCC"/>
                </a:solidFill>
                <a:latin typeface="Helvetica Neue"/>
              </a:rPr>
              <a:t>The trust bar claims 5 stars; Trustpilot says 3.9.</a:t>
            </a:r>
          </a:p>
        </p:txBody>
      </p:sp>
      <p:sp>
        <p:nvSpPr>
          <p:cNvPr id="16" name="Rounded Rectangle 15"/>
          <p:cNvSpPr/>
          <p:nvPr/>
        </p:nvSpPr>
        <p:spPr>
          <a:xfrm>
            <a:off x="7635239" y="2057400"/>
            <a:ext cx="3977639"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39" y="2240280"/>
            <a:ext cx="3520439" cy="274320"/>
          </a:xfrm>
          <a:prstGeom prst="rect">
            <a:avLst/>
          </a:prstGeom>
          <a:noFill/>
        </p:spPr>
        <p:txBody>
          <a:bodyPr wrap="square" lIns="0" rIns="0" tIns="0" bIns="0" anchor="t">
            <a:spAutoFit/>
          </a:bodyPr>
          <a:lstStyle/>
          <a:p>
            <a:pPr algn="l"/>
            <a:r>
              <a:rPr sz="1100" b="1" i="0" spc="150">
                <a:solidFill>
                  <a:srgbClr val="F7D007"/>
                </a:solidFill>
                <a:latin typeface="Helvetica Neue"/>
              </a:rPr>
              <a:t>What to do</a:t>
            </a:r>
          </a:p>
        </p:txBody>
      </p:sp>
      <p:sp>
        <p:nvSpPr>
          <p:cNvPr id="18" name="TextBox 17"/>
          <p:cNvSpPr txBox="1"/>
          <p:nvPr/>
        </p:nvSpPr>
        <p:spPr>
          <a:xfrm>
            <a:off x="7863839" y="2587752"/>
            <a:ext cx="3520439" cy="2697480"/>
          </a:xfrm>
          <a:prstGeom prst="rect">
            <a:avLst/>
          </a:prstGeom>
          <a:noFill/>
        </p:spPr>
        <p:txBody>
          <a:bodyPr wrap="square" lIns="0" rIns="0" tIns="0" bIns="0" anchor="t">
            <a:spAutoFit/>
          </a:bodyPr>
          <a:lstStyle/>
          <a:p>
            <a:pPr algn="l">
              <a:lnSpc>
                <a:spcPct val="130000"/>
              </a:lnSpc>
            </a:pPr>
            <a:r>
              <a:rPr sz="950" b="1" i="0">
                <a:solidFill>
                  <a:srgbClr val="F7D007"/>
                </a:solidFill>
                <a:latin typeface="Helvetica Neue"/>
              </a:rPr>
              <a:t>1.  </a:t>
            </a:r>
            <a:r>
              <a:rPr sz="950" b="0" i="0">
                <a:solidFill>
                  <a:srgbClr val="CCCCCC"/>
                </a:solidFill>
                <a:latin typeface="Helvetica Neue"/>
              </a:rPr>
              <a:t>Make the bundle opt-in on the PDP so the drawer total matches the expectation.</a:t>
            </a:r>
          </a:p>
          <a:p>
            <a:pPr algn="l">
              <a:lnSpc>
                <a:spcPct val="130000"/>
              </a:lnSpc>
            </a:pPr>
            <a:r>
              <a:rPr sz="950" b="1" i="0">
                <a:solidFill>
                  <a:srgbClr val="F7D007"/>
                </a:solidFill>
                <a:latin typeface="Helvetica Neue"/>
              </a:rPr>
              <a:t>2.  </a:t>
            </a:r>
            <a:r>
              <a:rPr sz="950" b="0" i="0">
                <a:solidFill>
                  <a:srgbClr val="CCCCCC"/>
                </a:solidFill>
                <a:latin typeface="Helvetica Neue"/>
              </a:rPr>
              <a:t>Remove the terms checkbox from the drawer (keep acceptance at checkout).</a:t>
            </a:r>
          </a:p>
          <a:p>
            <a:pPr algn="l">
              <a:lnSpc>
                <a:spcPct val="130000"/>
              </a:lnSpc>
            </a:pPr>
            <a:r>
              <a:rPr sz="950" b="1" i="0">
                <a:solidFill>
                  <a:srgbClr val="F7D007"/>
                </a:solidFill>
                <a:latin typeface="Helvetica Neue"/>
              </a:rPr>
              <a:t>3.  </a:t>
            </a:r>
            <a:r>
              <a:rPr sz="950" b="0" i="0">
                <a:solidFill>
                  <a:srgbClr val="CCCCCC"/>
                </a:solidFill>
                <a:latin typeface="Helvetica Neue"/>
              </a:rPr>
              <a:t>Swap the 5-star claim for a real, checkable number.</a:t>
            </a:r>
          </a:p>
          <a:p>
            <a:pPr algn="l">
              <a:lnSpc>
                <a:spcPct val="130000"/>
              </a:lnSpc>
            </a:pPr>
            <a:r>
              <a:rPr sz="950" b="1" i="0">
                <a:solidFill>
                  <a:srgbClr val="F7D007"/>
                </a:solidFill>
                <a:latin typeface="Helvetica Neue"/>
              </a:rPr>
              <a:t>4.  </a:t>
            </a:r>
            <a:r>
              <a:rPr sz="950" b="0" i="0">
                <a:solidFill>
                  <a:srgbClr val="CCCCCC"/>
                </a:solidFill>
                <a:latin typeface="Helvetica Neue"/>
              </a:rPr>
              <a:t>Add one-tap express pay (MobilePay / Shop Pay) for the 89% on mobile.</a:t>
            </a:r>
          </a:p>
          <a:p>
            <a:pPr algn="l">
              <a:lnSpc>
                <a:spcPct val="130000"/>
              </a:lnSpc>
            </a:pPr>
            <a:r>
              <a:rPr sz="950" b="1" i="0">
                <a:solidFill>
                  <a:srgbClr val="F7D007"/>
                </a:solidFill>
                <a:latin typeface="Helvetica Neue"/>
              </a:rPr>
              <a:t>5.  </a:t>
            </a:r>
            <a:r>
              <a:rPr sz="950" b="0" i="0">
                <a:solidFill>
                  <a:srgbClr val="CCCCCC"/>
                </a:solidFill>
                <a:latin typeface="Helvetica Neue"/>
              </a:rPr>
              <a:t>Keep the charity selector and the free-shipping bar.</a:t>
            </a:r>
          </a:p>
        </p:txBody>
      </p:sp>
      <p:sp>
        <p:nvSpPr>
          <p:cNvPr id="19" name="Rounded Rectangle 18"/>
          <p:cNvSpPr/>
          <p:nvPr/>
        </p:nvSpPr>
        <p:spPr>
          <a:xfrm>
            <a:off x="777240" y="5760720"/>
            <a:ext cx="10637215" cy="6858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97880"/>
            <a:ext cx="10180015" cy="4114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Test order matters here: </a:t>
            </a:r>
            <a:r>
              <a:rPr sz="1100" b="0" i="0">
                <a:solidFill>
                  <a:srgbClr val="CCCCCC"/>
                </a:solidFill>
                <a:latin typeface="Helvetica Neue"/>
              </a:rPr>
              <a:t>the checkbox removal and express pay target the 45.3% mobile checkout completion directly and are cheap to run.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19</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03</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IN THEIR OWN WORDS</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Voice of customer</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404 Trustpilot reviews (3.9/5), theme coded with verbatim Danish quotes.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VOC · THEME COUNTS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What 404 reviews actually talk about</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Trustpilot 3.9/5: 62% five-star, but 22% of all reviews are 1 or 2 stars. Theme coded from the 39 most recent verbatims plus the 1-star filter.</a:t>
            </a:r>
          </a:p>
        </p:txBody>
      </p:sp>
      <p:sp>
        <p:nvSpPr>
          <p:cNvPr id="10" name="TextBox 9"/>
          <p:cNvSpPr txBox="1"/>
          <p:nvPr/>
        </p:nvSpPr>
        <p:spPr>
          <a:xfrm>
            <a:off x="822960" y="2148840"/>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Fast delivery (pos)</a:t>
            </a:r>
          </a:p>
        </p:txBody>
      </p:sp>
      <p:sp>
        <p:nvSpPr>
          <p:cNvPr id="11" name="Rectangle 10"/>
          <p:cNvSpPr/>
          <p:nvPr/>
        </p:nvSpPr>
        <p:spPr>
          <a:xfrm>
            <a:off x="3566160" y="2148840"/>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2148840"/>
            <a:ext cx="5120640" cy="38404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8" y="2148840"/>
            <a:ext cx="5120640" cy="384048"/>
          </a:xfrm>
          <a:prstGeom prst="rect">
            <a:avLst/>
          </a:prstGeom>
          <a:noFill/>
        </p:spPr>
        <p:txBody>
          <a:bodyPr wrap="square" lIns="0" rIns="0" tIns="0" bIns="0" anchor="ctr">
            <a:spAutoFit/>
          </a:bodyPr>
          <a:lstStyle/>
          <a:p>
            <a:pPr algn="l"/>
            <a:r>
              <a:rPr sz="1000" b="1" i="0">
                <a:solidFill>
                  <a:srgbClr val="000000"/>
                </a:solidFill>
                <a:latin typeface="Helvetica Neue"/>
              </a:rPr>
              <a:t>9 mentions</a:t>
            </a:r>
          </a:p>
        </p:txBody>
      </p:sp>
      <p:sp>
        <p:nvSpPr>
          <p:cNvPr id="14" name="TextBox 13"/>
          <p:cNvSpPr txBox="1"/>
          <p:nvPr/>
        </p:nvSpPr>
        <p:spPr>
          <a:xfrm>
            <a:off x="822960" y="2642616"/>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Service unresponsive / AI replies</a:t>
            </a:r>
          </a:p>
        </p:txBody>
      </p:sp>
      <p:sp>
        <p:nvSpPr>
          <p:cNvPr id="15" name="Rectangle 14"/>
          <p:cNvSpPr/>
          <p:nvPr/>
        </p:nvSpPr>
        <p:spPr>
          <a:xfrm>
            <a:off x="3566160" y="2642616"/>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0" y="2642616"/>
            <a:ext cx="5120640" cy="38404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2642616"/>
            <a:ext cx="5120640" cy="384048"/>
          </a:xfrm>
          <a:prstGeom prst="rect">
            <a:avLst/>
          </a:prstGeom>
          <a:noFill/>
        </p:spPr>
        <p:txBody>
          <a:bodyPr wrap="square" lIns="0" rIns="0" tIns="0" bIns="0" anchor="ctr">
            <a:spAutoFit/>
          </a:bodyPr>
          <a:lstStyle/>
          <a:p>
            <a:pPr algn="l"/>
            <a:r>
              <a:rPr sz="1000" b="1" i="0">
                <a:solidFill>
                  <a:srgbClr val="FFFFFF"/>
                </a:solidFill>
                <a:latin typeface="Helvetica Neue"/>
              </a:rPr>
              <a:t>9 mentions</a:t>
            </a:r>
          </a:p>
        </p:txBody>
      </p:sp>
      <p:sp>
        <p:nvSpPr>
          <p:cNvPr id="18" name="TextBox 17"/>
          <p:cNvSpPr txBox="1"/>
          <p:nvPr/>
        </p:nvSpPr>
        <p:spPr>
          <a:xfrm>
            <a:off x="822960" y="3136392"/>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Helpful service (pos)</a:t>
            </a:r>
          </a:p>
        </p:txBody>
      </p:sp>
      <p:sp>
        <p:nvSpPr>
          <p:cNvPr id="19" name="Rectangle 18"/>
          <p:cNvSpPr/>
          <p:nvPr/>
        </p:nvSpPr>
        <p:spPr>
          <a:xfrm>
            <a:off x="3566160" y="3136392"/>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66160" y="3136392"/>
            <a:ext cx="4551680" cy="38404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75888" y="3136392"/>
            <a:ext cx="5120640" cy="384048"/>
          </a:xfrm>
          <a:prstGeom prst="rect">
            <a:avLst/>
          </a:prstGeom>
          <a:noFill/>
        </p:spPr>
        <p:txBody>
          <a:bodyPr wrap="square" lIns="0" rIns="0" tIns="0" bIns="0" anchor="ctr">
            <a:spAutoFit/>
          </a:bodyPr>
          <a:lstStyle/>
          <a:p>
            <a:pPr algn="l"/>
            <a:r>
              <a:rPr sz="1000" b="1" i="0">
                <a:solidFill>
                  <a:srgbClr val="000000"/>
                </a:solidFill>
                <a:latin typeface="Helvetica Neue"/>
              </a:rPr>
              <a:t>8 mentions</a:t>
            </a:r>
          </a:p>
        </p:txBody>
      </p:sp>
      <p:sp>
        <p:nvSpPr>
          <p:cNvPr id="22" name="TextBox 21"/>
          <p:cNvSpPr txBox="1"/>
          <p:nvPr/>
        </p:nvSpPr>
        <p:spPr>
          <a:xfrm>
            <a:off x="822960" y="3630168"/>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GPS inaccurate / unusable</a:t>
            </a:r>
          </a:p>
        </p:txBody>
      </p:sp>
      <p:sp>
        <p:nvSpPr>
          <p:cNvPr id="23" name="Rectangle 22"/>
          <p:cNvSpPr/>
          <p:nvPr/>
        </p:nvSpPr>
        <p:spPr>
          <a:xfrm>
            <a:off x="3566160" y="3630168"/>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66160" y="3630168"/>
            <a:ext cx="3982719" cy="38404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75888" y="3630168"/>
            <a:ext cx="5120640" cy="384048"/>
          </a:xfrm>
          <a:prstGeom prst="rect">
            <a:avLst/>
          </a:prstGeom>
          <a:noFill/>
        </p:spPr>
        <p:txBody>
          <a:bodyPr wrap="square" lIns="0" rIns="0" tIns="0" bIns="0" anchor="ctr">
            <a:spAutoFit/>
          </a:bodyPr>
          <a:lstStyle/>
          <a:p>
            <a:pPr algn="l"/>
            <a:r>
              <a:rPr sz="1000" b="1" i="0">
                <a:solidFill>
                  <a:srgbClr val="FFFFFF"/>
                </a:solidFill>
                <a:latin typeface="Helvetica Neue"/>
              </a:rPr>
              <a:t>7 mentions</a:t>
            </a:r>
          </a:p>
        </p:txBody>
      </p:sp>
      <p:sp>
        <p:nvSpPr>
          <p:cNvPr id="26" name="TextBox 25"/>
          <p:cNvSpPr txBox="1"/>
          <p:nvPr/>
        </p:nvSpPr>
        <p:spPr>
          <a:xfrm>
            <a:off x="822960" y="4123944"/>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Return / refund friction</a:t>
            </a:r>
          </a:p>
        </p:txBody>
      </p:sp>
      <p:sp>
        <p:nvSpPr>
          <p:cNvPr id="27" name="Rectangle 26"/>
          <p:cNvSpPr/>
          <p:nvPr/>
        </p:nvSpPr>
        <p:spPr>
          <a:xfrm>
            <a:off x="3566160" y="4123944"/>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66160" y="4123944"/>
            <a:ext cx="3982719" cy="38404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5888" y="4123944"/>
            <a:ext cx="5120640" cy="384048"/>
          </a:xfrm>
          <a:prstGeom prst="rect">
            <a:avLst/>
          </a:prstGeom>
          <a:noFill/>
        </p:spPr>
        <p:txBody>
          <a:bodyPr wrap="square" lIns="0" rIns="0" tIns="0" bIns="0" anchor="ctr">
            <a:spAutoFit/>
          </a:bodyPr>
          <a:lstStyle/>
          <a:p>
            <a:pPr algn="l"/>
            <a:r>
              <a:rPr sz="1000" b="1" i="0">
                <a:solidFill>
                  <a:srgbClr val="FFFFFF"/>
                </a:solidFill>
                <a:latin typeface="Helvetica Neue"/>
              </a:rPr>
              <a:t>7 mentions</a:t>
            </a:r>
          </a:p>
        </p:txBody>
      </p:sp>
      <p:sp>
        <p:nvSpPr>
          <p:cNvPr id="30" name="TextBox 29"/>
          <p:cNvSpPr txBox="1"/>
          <p:nvPr/>
        </p:nvSpPr>
        <p:spPr>
          <a:xfrm>
            <a:off x="822960" y="4617720"/>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App quality (Turkish text, ads)</a:t>
            </a:r>
          </a:p>
        </p:txBody>
      </p:sp>
      <p:sp>
        <p:nvSpPr>
          <p:cNvPr id="31" name="Rectangle 30"/>
          <p:cNvSpPr/>
          <p:nvPr/>
        </p:nvSpPr>
        <p:spPr>
          <a:xfrm>
            <a:off x="3566160" y="4617720"/>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66160" y="4617720"/>
            <a:ext cx="2844800" cy="3840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75888" y="4617720"/>
            <a:ext cx="5120640" cy="384048"/>
          </a:xfrm>
          <a:prstGeom prst="rect">
            <a:avLst/>
          </a:prstGeom>
          <a:noFill/>
        </p:spPr>
        <p:txBody>
          <a:bodyPr wrap="square" lIns="0" rIns="0" tIns="0" bIns="0" anchor="ctr">
            <a:spAutoFit/>
          </a:bodyPr>
          <a:lstStyle/>
          <a:p>
            <a:pPr algn="l"/>
            <a:r>
              <a:rPr sz="1000" b="1" i="0">
                <a:solidFill>
                  <a:srgbClr val="000000"/>
                </a:solidFill>
                <a:latin typeface="Helvetica Neue"/>
              </a:rPr>
              <a:t>5 mentions</a:t>
            </a:r>
          </a:p>
        </p:txBody>
      </p:sp>
      <p:sp>
        <p:nvSpPr>
          <p:cNvPr id="34" name="TextBox 33"/>
          <p:cNvSpPr txBox="1"/>
          <p:nvPr/>
        </p:nvSpPr>
        <p:spPr>
          <a:xfrm>
            <a:off x="822960" y="5111496"/>
            <a:ext cx="2651760" cy="384048"/>
          </a:xfrm>
          <a:prstGeom prst="rect">
            <a:avLst/>
          </a:prstGeom>
          <a:noFill/>
        </p:spPr>
        <p:txBody>
          <a:bodyPr wrap="square" lIns="0" rIns="0" tIns="0" bIns="0" anchor="ctr">
            <a:spAutoFit/>
          </a:bodyPr>
          <a:lstStyle/>
          <a:p>
            <a:pPr algn="l"/>
            <a:r>
              <a:rPr sz="1000" b="0" i="0">
                <a:solidFill>
                  <a:srgbClr val="CCCCCC"/>
                </a:solidFill>
                <a:latin typeface="Helvetica Neue"/>
              </a:rPr>
              <a:t>"Cheap China product" perception</a:t>
            </a:r>
          </a:p>
        </p:txBody>
      </p:sp>
      <p:sp>
        <p:nvSpPr>
          <p:cNvPr id="35" name="Rectangle 34"/>
          <p:cNvSpPr/>
          <p:nvPr/>
        </p:nvSpPr>
        <p:spPr>
          <a:xfrm>
            <a:off x="3566160" y="5111496"/>
            <a:ext cx="5120640" cy="384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66160" y="5111496"/>
            <a:ext cx="2275840" cy="3840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75888" y="5111496"/>
            <a:ext cx="5120640" cy="384048"/>
          </a:xfrm>
          <a:prstGeom prst="rect">
            <a:avLst/>
          </a:prstGeom>
          <a:noFill/>
        </p:spPr>
        <p:txBody>
          <a:bodyPr wrap="square" lIns="0" rIns="0" tIns="0" bIns="0" anchor="ctr">
            <a:spAutoFit/>
          </a:bodyPr>
          <a:lstStyle/>
          <a:p>
            <a:pPr algn="l"/>
            <a:r>
              <a:rPr sz="1000" b="1" i="0">
                <a:solidFill>
                  <a:srgbClr val="000000"/>
                </a:solidFill>
                <a:latin typeface="Helvetica Neue"/>
              </a:rPr>
              <a:t>4 mentions</a:t>
            </a:r>
          </a:p>
        </p:txBody>
      </p:sp>
      <p:sp>
        <p:nvSpPr>
          <p:cNvPr id="38" name="Rounded Rectangle 37"/>
          <p:cNvSpPr/>
          <p:nvPr/>
        </p:nvSpPr>
        <p:spPr>
          <a:xfrm>
            <a:off x="1097280" y="5486400"/>
            <a:ext cx="9997135" cy="86868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25880" y="5623560"/>
            <a:ext cx="9539935" cy="59436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service paradox: </a:t>
            </a:r>
            <a:r>
              <a:rPr sz="1100" b="0" i="0">
                <a:solidFill>
                  <a:srgbClr val="CCCCCC"/>
                </a:solidFill>
                <a:latin typeface="Helvetica Neue"/>
              </a:rPr>
              <a:t>customer service is simultaneously the most praised theme and the most attacked one (a broken 48 hour reply promise, gift cards offered instead of refunds). Two reviewers state their refund only arrived after posting the review. That is a policy fix, and it caps every trust signal the site can show.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VOC · VERBATIM</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The customer is writing your copy</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All quotes are verbatim Trustpilot reviews for tech-shoppen.dk, captured 15 Jul 2026.</a:t>
            </a:r>
          </a:p>
        </p:txBody>
      </p:sp>
      <p:sp>
        <p:nvSpPr>
          <p:cNvPr id="10" name="Rounded Rectangle 9"/>
          <p:cNvSpPr/>
          <p:nvPr/>
        </p:nvSpPr>
        <p:spPr>
          <a:xfrm>
            <a:off x="678027" y="1965960"/>
            <a:ext cx="5303520" cy="1783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6627" y="2112264"/>
            <a:ext cx="4846320" cy="274320"/>
          </a:xfrm>
          <a:prstGeom prst="rect">
            <a:avLst/>
          </a:prstGeom>
          <a:noFill/>
        </p:spPr>
        <p:txBody>
          <a:bodyPr wrap="square" lIns="0" rIns="0" tIns="0" bIns="0" anchor="t">
            <a:spAutoFit/>
          </a:bodyPr>
          <a:lstStyle/>
          <a:p>
            <a:pPr algn="l"/>
            <a:r>
              <a:rPr sz="1100" b="1" i="0">
                <a:solidFill>
                  <a:srgbClr val="F7D007"/>
                </a:solidFill>
                <a:latin typeface="Helvetica Neue"/>
              </a:rPr>
              <a:t>The purchase driver (5★)</a:t>
            </a:r>
          </a:p>
        </p:txBody>
      </p:sp>
      <p:sp>
        <p:nvSpPr>
          <p:cNvPr id="12" name="TextBox 11"/>
          <p:cNvSpPr txBox="1"/>
          <p:nvPr/>
        </p:nvSpPr>
        <p:spPr>
          <a:xfrm>
            <a:off x="906627" y="2404872"/>
            <a:ext cx="4846320" cy="1234440"/>
          </a:xfrm>
          <a:prstGeom prst="rect">
            <a:avLst/>
          </a:prstGeom>
          <a:noFill/>
        </p:spPr>
        <p:txBody>
          <a:bodyPr wrap="square" lIns="0" rIns="0" tIns="0" bIns="0" anchor="t">
            <a:spAutoFit/>
          </a:bodyPr>
          <a:lstStyle/>
          <a:p>
            <a:pPr algn="l">
              <a:lnSpc>
                <a:spcPct val="120000"/>
              </a:lnSpc>
            </a:pPr>
            <a:r>
              <a:rPr sz="900" b="0" i="0">
                <a:solidFill>
                  <a:srgbClr val="FFFFFF"/>
                </a:solidFill>
                <a:latin typeface="Helvetica Neue"/>
              </a:rPr>
              <a:t>"Det har givet os en kæmpe ro i maven i hverdagen ... det føles bare trygt og smart"</a:t>
            </a:r>
          </a:p>
          <a:p>
            <a:pPr algn="l">
              <a:lnSpc>
                <a:spcPct val="120000"/>
              </a:lnSpc>
            </a:pPr>
            <a:r>
              <a:rPr sz="850" b="0" i="1">
                <a:solidFill>
                  <a:srgbClr val="999999"/>
                </a:solidFill>
                <a:latin typeface="Helvetica Neue"/>
              </a:rPr>
              <a:t>It gives us huge peace of mind. It just feels safe and smart.</a:t>
            </a:r>
          </a:p>
          <a:p>
            <a:pPr algn="l">
              <a:lnSpc>
                <a:spcPct val="120000"/>
              </a:lnSpc>
            </a:pPr>
            <a:r>
              <a:rPr sz="850" b="0" i="0">
                <a:solidFill>
                  <a:srgbClr val="6B7C75"/>
                </a:solidFill>
                <a:latin typeface="Helvetica Neue"/>
              </a:rPr>
              <a:t>→ "Ro i maven" is the hero headline. Parents buy calm, not hardware.</a:t>
            </a:r>
          </a:p>
        </p:txBody>
      </p:sp>
      <p:sp>
        <p:nvSpPr>
          <p:cNvPr id="13" name="Rounded Rectangle 12"/>
          <p:cNvSpPr/>
          <p:nvPr/>
        </p:nvSpPr>
        <p:spPr>
          <a:xfrm>
            <a:off x="6210147" y="1965960"/>
            <a:ext cx="5303520" cy="1783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8747" y="2112264"/>
            <a:ext cx="4846320" cy="274320"/>
          </a:xfrm>
          <a:prstGeom prst="rect">
            <a:avLst/>
          </a:prstGeom>
          <a:noFill/>
        </p:spPr>
        <p:txBody>
          <a:bodyPr wrap="square" lIns="0" rIns="0" tIns="0" bIns="0" anchor="t">
            <a:spAutoFit/>
          </a:bodyPr>
          <a:lstStyle/>
          <a:p>
            <a:pPr algn="l"/>
            <a:r>
              <a:rPr sz="1100" b="1" i="0">
                <a:solidFill>
                  <a:srgbClr val="F7D007"/>
                </a:solidFill>
                <a:latin typeface="Helvetica Neue"/>
              </a:rPr>
              <a:t>The product doubt (1★)</a:t>
            </a:r>
          </a:p>
        </p:txBody>
      </p:sp>
      <p:sp>
        <p:nvSpPr>
          <p:cNvPr id="15" name="TextBox 14"/>
          <p:cNvSpPr txBox="1"/>
          <p:nvPr/>
        </p:nvSpPr>
        <p:spPr>
          <a:xfrm>
            <a:off x="6438747" y="2404872"/>
            <a:ext cx="4846320" cy="1234440"/>
          </a:xfrm>
          <a:prstGeom prst="rect">
            <a:avLst/>
          </a:prstGeom>
          <a:noFill/>
        </p:spPr>
        <p:txBody>
          <a:bodyPr wrap="square" lIns="0" rIns="0" tIns="0" bIns="0" anchor="t">
            <a:spAutoFit/>
          </a:bodyPr>
          <a:lstStyle/>
          <a:p>
            <a:pPr algn="l">
              <a:lnSpc>
                <a:spcPct val="120000"/>
              </a:lnSpc>
            </a:pPr>
            <a:r>
              <a:rPr sz="900" b="0" i="0">
                <a:solidFill>
                  <a:srgbClr val="FFFFFF"/>
                </a:solidFill>
                <a:latin typeface="Helvetica Neue"/>
              </a:rPr>
              <a:t>"GPSen er helt hen i vejret ... Appen er virkelig dårlig og med meget dårligt oversat dansk/tyrkisk blanding?! ... Levering var dog super hurtigt!"</a:t>
            </a:r>
          </a:p>
          <a:p>
            <a:pPr algn="l">
              <a:lnSpc>
                <a:spcPct val="120000"/>
              </a:lnSpc>
            </a:pPr>
            <a:r>
              <a:rPr sz="850" b="0" i="1">
                <a:solidFill>
                  <a:srgbClr val="999999"/>
                </a:solidFill>
                <a:latin typeface="Helvetica Neue"/>
              </a:rPr>
              <a:t>GPS way off, app badly translated. Delivery was fast though.</a:t>
            </a:r>
          </a:p>
          <a:p>
            <a:pPr algn="l">
              <a:lnSpc>
                <a:spcPct val="120000"/>
              </a:lnSpc>
            </a:pPr>
            <a:r>
              <a:rPr sz="850" b="0" i="0">
                <a:solidFill>
                  <a:srgbClr val="6B7C75"/>
                </a:solidFill>
                <a:latin typeface="Helvetica Neue"/>
              </a:rPr>
              <a:t>→ The PDP must show real app screens and honest GPS expectations.</a:t>
            </a:r>
          </a:p>
        </p:txBody>
      </p:sp>
      <p:sp>
        <p:nvSpPr>
          <p:cNvPr id="16" name="Rounded Rectangle 15"/>
          <p:cNvSpPr/>
          <p:nvPr/>
        </p:nvSpPr>
        <p:spPr>
          <a:xfrm>
            <a:off x="678027" y="3931920"/>
            <a:ext cx="5303520" cy="1783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627" y="4078224"/>
            <a:ext cx="4846320" cy="274320"/>
          </a:xfrm>
          <a:prstGeom prst="rect">
            <a:avLst/>
          </a:prstGeom>
          <a:noFill/>
        </p:spPr>
        <p:txBody>
          <a:bodyPr wrap="square" lIns="0" rIns="0" tIns="0" bIns="0" anchor="t">
            <a:spAutoFit/>
          </a:bodyPr>
          <a:lstStyle/>
          <a:p>
            <a:pPr algn="l"/>
            <a:r>
              <a:rPr sz="1100" b="1" i="0">
                <a:solidFill>
                  <a:srgbClr val="F7D007"/>
                </a:solidFill>
                <a:latin typeface="Helvetica Neue"/>
              </a:rPr>
              <a:t>The refund wound (1★)</a:t>
            </a:r>
          </a:p>
        </p:txBody>
      </p:sp>
      <p:sp>
        <p:nvSpPr>
          <p:cNvPr id="18" name="TextBox 17"/>
          <p:cNvSpPr txBox="1"/>
          <p:nvPr/>
        </p:nvSpPr>
        <p:spPr>
          <a:xfrm>
            <a:off x="906627" y="4370832"/>
            <a:ext cx="4846320" cy="1234440"/>
          </a:xfrm>
          <a:prstGeom prst="rect">
            <a:avLst/>
          </a:prstGeom>
          <a:noFill/>
        </p:spPr>
        <p:txBody>
          <a:bodyPr wrap="square" lIns="0" rIns="0" tIns="0" bIns="0" anchor="t">
            <a:spAutoFit/>
          </a:bodyPr>
          <a:lstStyle/>
          <a:p>
            <a:pPr algn="l">
              <a:lnSpc>
                <a:spcPct val="120000"/>
              </a:lnSpc>
            </a:pPr>
            <a:r>
              <a:rPr sz="900" b="0" i="0">
                <a:solidFill>
                  <a:srgbClr val="FFFFFF"/>
                </a:solidFill>
                <a:latin typeface="Helvetica Neue"/>
              </a:rPr>
              <a:t>"I erkender problemet men vil nu kun tilbyde et gavekort og ikke pengene retur ... Ifølge købeloven har vi ret til at få pengene retur"</a:t>
            </a:r>
          </a:p>
          <a:p>
            <a:pPr algn="l">
              <a:lnSpc>
                <a:spcPct val="120000"/>
              </a:lnSpc>
            </a:pPr>
            <a:r>
              <a:rPr sz="850" b="0" i="1">
                <a:solidFill>
                  <a:srgbClr val="999999"/>
                </a:solidFill>
                <a:latin typeface="Helvetica Neue"/>
              </a:rPr>
              <a:t>You admit the problem but only offer a gift card, not a refund.</a:t>
            </a:r>
          </a:p>
          <a:p>
            <a:pPr algn="l">
              <a:lnSpc>
                <a:spcPct val="120000"/>
              </a:lnSpc>
            </a:pPr>
            <a:r>
              <a:rPr sz="850" b="0" i="0">
                <a:solidFill>
                  <a:srgbClr val="6B7C75"/>
                </a:solidFill>
                <a:latin typeface="Helvetica Neue"/>
              </a:rPr>
              <a:t>→ Offering gift cards before refunds is manufacturing 1-star reviews.</a:t>
            </a:r>
          </a:p>
        </p:txBody>
      </p:sp>
      <p:sp>
        <p:nvSpPr>
          <p:cNvPr id="19" name="Rounded Rectangle 18"/>
          <p:cNvSpPr/>
          <p:nvPr/>
        </p:nvSpPr>
        <p:spPr>
          <a:xfrm>
            <a:off x="6210147" y="3931920"/>
            <a:ext cx="5303520" cy="1783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8747" y="4078224"/>
            <a:ext cx="4846320" cy="274320"/>
          </a:xfrm>
          <a:prstGeom prst="rect">
            <a:avLst/>
          </a:prstGeom>
          <a:noFill/>
        </p:spPr>
        <p:txBody>
          <a:bodyPr wrap="square" lIns="0" rIns="0" tIns="0" bIns="0" anchor="t">
            <a:spAutoFit/>
          </a:bodyPr>
          <a:lstStyle/>
          <a:p>
            <a:pPr algn="l"/>
            <a:r>
              <a:rPr sz="1100" b="1" i="0">
                <a:solidFill>
                  <a:srgbClr val="F7D007"/>
                </a:solidFill>
                <a:latin typeface="Helvetica Neue"/>
              </a:rPr>
              <a:t>The email irony (2★)</a:t>
            </a:r>
          </a:p>
        </p:txBody>
      </p:sp>
      <p:sp>
        <p:nvSpPr>
          <p:cNvPr id="21" name="TextBox 20"/>
          <p:cNvSpPr txBox="1"/>
          <p:nvPr/>
        </p:nvSpPr>
        <p:spPr>
          <a:xfrm>
            <a:off x="6438747" y="4370832"/>
            <a:ext cx="4846320" cy="1234440"/>
          </a:xfrm>
          <a:prstGeom prst="rect">
            <a:avLst/>
          </a:prstGeom>
          <a:noFill/>
        </p:spPr>
        <p:txBody>
          <a:bodyPr wrap="square" lIns="0" rIns="0" tIns="0" bIns="0" anchor="t">
            <a:spAutoFit/>
          </a:bodyPr>
          <a:lstStyle/>
          <a:p>
            <a:pPr algn="l">
              <a:lnSpc>
                <a:spcPct val="120000"/>
              </a:lnSpc>
            </a:pPr>
            <a:r>
              <a:rPr sz="900" b="0" i="0">
                <a:solidFill>
                  <a:srgbClr val="FFFFFF"/>
                </a:solidFill>
                <a:latin typeface="Helvetica Neue"/>
              </a:rPr>
              <a:t>"De svarer ikke på deres mails, men ironisk nok modtager jeg en frygtelig masse nyheds- og opfølgende mails på min bestilling"</a:t>
            </a:r>
          </a:p>
          <a:p>
            <a:pPr algn="l">
              <a:lnSpc>
                <a:spcPct val="120000"/>
              </a:lnSpc>
            </a:pPr>
            <a:r>
              <a:rPr sz="850" b="0" i="1">
                <a:solidFill>
                  <a:srgbClr val="999999"/>
                </a:solidFill>
                <a:latin typeface="Helvetica Neue"/>
              </a:rPr>
              <a:t>They do not answer support mails but flood me with newsletters.</a:t>
            </a:r>
          </a:p>
          <a:p>
            <a:pPr algn="l">
              <a:lnSpc>
                <a:spcPct val="120000"/>
              </a:lnSpc>
            </a:pPr>
            <a:r>
              <a:rPr sz="850" b="0" i="0">
                <a:solidFill>
                  <a:srgbClr val="6B7C75"/>
                </a:solidFill>
                <a:latin typeface="Helvetica Neue"/>
              </a:rPr>
              <a:t>→ Scale email only after support response times are fixed.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CUSTOMER INTELLIGENCE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Why they buy. Why they hesitate.</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Compiled from 404 Trustpilot reviews, on-site Loox quotes, and the GA4 behaviour of 44,083 users. The left column belongs on the PDP. The right column is what the PDP must answer.</a:t>
            </a:r>
          </a:p>
        </p:txBody>
      </p:sp>
      <p:sp>
        <p:nvSpPr>
          <p:cNvPr id="10" name="Rounded Rectangle 9"/>
          <p:cNvSpPr/>
          <p:nvPr/>
        </p:nvSpPr>
        <p:spPr>
          <a:xfrm>
            <a:off x="655167" y="2148840"/>
            <a:ext cx="5257800" cy="3017520"/>
          </a:xfrm>
          <a:prstGeom prst="roundRect">
            <a:avLst>
              <a:gd name="adj" fmla="val 3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199" y="2350008"/>
            <a:ext cx="4800600" cy="274320"/>
          </a:xfrm>
          <a:prstGeom prst="rect">
            <a:avLst/>
          </a:prstGeom>
          <a:noFill/>
        </p:spPr>
        <p:txBody>
          <a:bodyPr wrap="square" lIns="0" rIns="0" tIns="0" bIns="0" anchor="t">
            <a:spAutoFit/>
          </a:bodyPr>
          <a:lstStyle/>
          <a:p>
            <a:pPr algn="l"/>
            <a:r>
              <a:rPr sz="1100" b="1" i="0" spc="150">
                <a:solidFill>
                  <a:srgbClr val="F7D007"/>
                </a:solidFill>
                <a:latin typeface="Helvetica Neue"/>
              </a:rPr>
              <a:t>WHY THEY BUY  ·  amplify</a:t>
            </a:r>
          </a:p>
        </p:txBody>
      </p:sp>
      <p:sp>
        <p:nvSpPr>
          <p:cNvPr id="12" name="TextBox 11"/>
          <p:cNvSpPr txBox="1"/>
          <p:nvPr/>
        </p:nvSpPr>
        <p:spPr>
          <a:xfrm>
            <a:off x="911199" y="2697480"/>
            <a:ext cx="4754880" cy="2286000"/>
          </a:xfrm>
          <a:prstGeom prst="rect">
            <a:avLst/>
          </a:prstGeom>
          <a:noFill/>
        </p:spPr>
        <p:txBody>
          <a:bodyPr wrap="square" lIns="0" rIns="0" tIns="0" bIns="0" anchor="t">
            <a:spAutoFit/>
          </a:bodyPr>
          <a:lstStyle/>
          <a:p>
            <a:pPr algn="l">
              <a:lnSpc>
                <a:spcPct val="135000"/>
              </a:lnSpc>
            </a:pPr>
            <a:r>
              <a:rPr sz="1050" b="1" i="0">
                <a:solidFill>
                  <a:srgbClr val="F7D007"/>
                </a:solidFill>
                <a:latin typeface="Helvetica Neue"/>
              </a:rPr>
              <a:t>•  </a:t>
            </a:r>
            <a:r>
              <a:rPr sz="1050" b="0" i="0">
                <a:solidFill>
                  <a:srgbClr val="CCCCCC"/>
                </a:solidFill>
                <a:latin typeface="Helvetica Neue"/>
              </a:rPr>
              <a:t>"Ro i maven": GPS + call = peace of mind (hero)</a:t>
            </a:r>
          </a:p>
          <a:p>
            <a:pPr algn="l">
              <a:lnSpc>
                <a:spcPct val="135000"/>
              </a:lnSpc>
            </a:pPr>
            <a:r>
              <a:rPr sz="1050" b="1" i="0">
                <a:solidFill>
                  <a:srgbClr val="F7D007"/>
                </a:solidFill>
                <a:latin typeface="Helvetica Neue"/>
              </a:rPr>
              <a:t>•  </a:t>
            </a:r>
            <a:r>
              <a:rPr sz="1050" b="0" i="0">
                <a:solidFill>
                  <a:srgbClr val="CCCCCC"/>
                </a:solidFill>
                <a:latin typeface="Helvetica Neue"/>
              </a:rPr>
              <a:t>Fast delivery, praised even in 1-star reviews (buy box)</a:t>
            </a:r>
          </a:p>
          <a:p>
            <a:pPr algn="l">
              <a:lnSpc>
                <a:spcPct val="135000"/>
              </a:lnSpc>
            </a:pPr>
            <a:r>
              <a:rPr sz="1050" b="1" i="0">
                <a:solidFill>
                  <a:srgbClr val="F7D007"/>
                </a:solidFill>
                <a:latin typeface="Helvetica Neue"/>
              </a:rPr>
              <a:t>•  </a:t>
            </a:r>
            <a:r>
              <a:rPr sz="1050" b="0" i="0">
                <a:solidFill>
                  <a:srgbClr val="CCCCCC"/>
                </a:solidFill>
                <a:latin typeface="Helvetica Neue"/>
              </a:rPr>
              <a:t>749 kr once vs Xplora at 1,599 kr + 99 kr/month (compare)</a:t>
            </a:r>
          </a:p>
          <a:p>
            <a:pPr algn="l">
              <a:lnSpc>
                <a:spcPct val="135000"/>
              </a:lnSpc>
            </a:pPr>
            <a:r>
              <a:rPr sz="1050" b="1" i="0">
                <a:solidFill>
                  <a:srgbClr val="F7D007"/>
                </a:solidFill>
                <a:latin typeface="Helvetica Neue"/>
              </a:rPr>
              <a:t>•  </a:t>
            </a:r>
            <a:r>
              <a:rPr sz="1050" b="0" i="0">
                <a:solidFill>
                  <a:srgbClr val="CCCCCC"/>
                </a:solidFill>
                <a:latin typeface="Helvetica Neue"/>
              </a:rPr>
              <a:t>SIM included, no subscription (buy box)</a:t>
            </a:r>
          </a:p>
          <a:p>
            <a:pPr algn="l">
              <a:lnSpc>
                <a:spcPct val="135000"/>
              </a:lnSpc>
            </a:pPr>
            <a:r>
              <a:rPr sz="1050" b="1" i="0">
                <a:solidFill>
                  <a:srgbClr val="F7D007"/>
                </a:solidFill>
                <a:latin typeface="Helvetica Neue"/>
              </a:rPr>
              <a:t>•  </a:t>
            </a:r>
            <a:r>
              <a:rPr sz="1050" b="0" i="0">
                <a:solidFill>
                  <a:srgbClr val="CCCCCC"/>
                </a:solidFill>
                <a:latin typeface="Helvetica Neue"/>
              </a:rPr>
              <a:t>Danish shop, Danish service, e-mærket (trust bar)</a:t>
            </a:r>
          </a:p>
        </p:txBody>
      </p:sp>
      <p:sp>
        <p:nvSpPr>
          <p:cNvPr id="13" name="Rounded Rectangle 12"/>
          <p:cNvSpPr/>
          <p:nvPr/>
        </p:nvSpPr>
        <p:spPr>
          <a:xfrm>
            <a:off x="6278727" y="2148840"/>
            <a:ext cx="5257800" cy="3017520"/>
          </a:xfrm>
          <a:prstGeom prst="roundRect">
            <a:avLst>
              <a:gd name="adj" fmla="val 3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4759" y="2350008"/>
            <a:ext cx="4800600" cy="274320"/>
          </a:xfrm>
          <a:prstGeom prst="rect">
            <a:avLst/>
          </a:prstGeom>
          <a:noFill/>
        </p:spPr>
        <p:txBody>
          <a:bodyPr wrap="square" lIns="0" rIns="0" tIns="0" bIns="0" anchor="t">
            <a:spAutoFit/>
          </a:bodyPr>
          <a:lstStyle/>
          <a:p>
            <a:pPr algn="l"/>
            <a:r>
              <a:rPr sz="1100" b="1" i="0" spc="150">
                <a:solidFill>
                  <a:srgbClr val="F7D007"/>
                </a:solidFill>
                <a:latin typeface="Helvetica Neue"/>
              </a:rPr>
              <a:t>WHY THEY HESITATE  ·  answer</a:t>
            </a:r>
          </a:p>
        </p:txBody>
      </p:sp>
      <p:sp>
        <p:nvSpPr>
          <p:cNvPr id="15" name="TextBox 14"/>
          <p:cNvSpPr txBox="1"/>
          <p:nvPr/>
        </p:nvSpPr>
        <p:spPr>
          <a:xfrm>
            <a:off x="6534759" y="2697480"/>
            <a:ext cx="4754880" cy="2286000"/>
          </a:xfrm>
          <a:prstGeom prst="rect">
            <a:avLst/>
          </a:prstGeom>
          <a:noFill/>
        </p:spPr>
        <p:txBody>
          <a:bodyPr wrap="square" lIns="0" rIns="0" tIns="0" bIns="0" anchor="t">
            <a:spAutoFit/>
          </a:bodyPr>
          <a:lstStyle/>
          <a:p>
            <a:pPr algn="l">
              <a:lnSpc>
                <a:spcPct val="135000"/>
              </a:lnSpc>
            </a:pPr>
            <a:r>
              <a:rPr sz="1050" b="1" i="0">
                <a:solidFill>
                  <a:srgbClr val="F7D007"/>
                </a:solidFill>
                <a:latin typeface="Helvetica Neue"/>
              </a:rPr>
              <a:t>1.  </a:t>
            </a:r>
            <a:r>
              <a:rPr sz="1050" b="0" i="0">
                <a:solidFill>
                  <a:srgbClr val="CCCCCC"/>
                </a:solidFill>
                <a:latin typeface="Helvetica Neue"/>
              </a:rPr>
              <a:t>"Does the GPS actually work?" (7 reviews say no)</a:t>
            </a:r>
          </a:p>
          <a:p>
            <a:pPr algn="l">
              <a:lnSpc>
                <a:spcPct val="135000"/>
              </a:lnSpc>
            </a:pPr>
            <a:r>
              <a:rPr sz="1050" b="1" i="0">
                <a:solidFill>
                  <a:srgbClr val="F7D007"/>
                </a:solidFill>
                <a:latin typeface="Helvetica Neue"/>
              </a:rPr>
              <a:t>2.  </a:t>
            </a:r>
            <a:r>
              <a:rPr sz="1050" b="0" i="0">
                <a:solidFill>
                  <a:srgbClr val="CCCCCC"/>
                </a:solidFill>
                <a:latin typeface="Helvetica Neue"/>
              </a:rPr>
              <a:t>App quality: Turkish text, ads, missing features</a:t>
            </a:r>
          </a:p>
          <a:p>
            <a:pPr algn="l">
              <a:lnSpc>
                <a:spcPct val="135000"/>
              </a:lnSpc>
            </a:pPr>
            <a:r>
              <a:rPr sz="1050" b="1" i="0">
                <a:solidFill>
                  <a:srgbClr val="F7D007"/>
                </a:solidFill>
                <a:latin typeface="Helvetica Neue"/>
              </a:rPr>
              <a:t>3.  </a:t>
            </a:r>
            <a:r>
              <a:rPr sz="1050" b="0" i="0">
                <a:solidFill>
                  <a:srgbClr val="CCCCCC"/>
                </a:solidFill>
                <a:latin typeface="Helvetica Neue"/>
              </a:rPr>
              <a:t>"Cheap China product / dropshipping" suspicion</a:t>
            </a:r>
          </a:p>
          <a:p>
            <a:pPr algn="l">
              <a:lnSpc>
                <a:spcPct val="135000"/>
              </a:lnSpc>
            </a:pPr>
            <a:r>
              <a:rPr sz="1050" b="1" i="0">
                <a:solidFill>
                  <a:srgbClr val="F7D007"/>
                </a:solidFill>
                <a:latin typeface="Helvetica Neue"/>
              </a:rPr>
              <a:t>4.  </a:t>
            </a:r>
            <a:r>
              <a:rPr sz="1050" b="0" i="0">
                <a:solidFill>
                  <a:srgbClr val="CCCCCC"/>
                </a:solidFill>
                <a:latin typeface="Helvetica Neue"/>
              </a:rPr>
              <a:t>No phone number, slow replies, robotic emails</a:t>
            </a:r>
          </a:p>
          <a:p>
            <a:pPr algn="l">
              <a:lnSpc>
                <a:spcPct val="135000"/>
              </a:lnSpc>
            </a:pPr>
            <a:r>
              <a:rPr sz="1050" b="1" i="0">
                <a:solidFill>
                  <a:srgbClr val="F7D007"/>
                </a:solidFill>
                <a:latin typeface="Helvetica Neue"/>
              </a:rPr>
              <a:t>5.  </a:t>
            </a:r>
            <a:r>
              <a:rPr sz="1050" b="0" i="0">
                <a:solidFill>
                  <a:srgbClr val="CCCCCC"/>
                </a:solidFill>
                <a:latin typeface="Helvetica Neue"/>
              </a:rPr>
              <a:t>Gift card instead of refund at reklamation</a:t>
            </a:r>
          </a:p>
        </p:txBody>
      </p:sp>
      <p:sp>
        <p:nvSpPr>
          <p:cNvPr id="16" name="Rounded Rectangle 15"/>
          <p:cNvSpPr/>
          <p:nvPr/>
        </p:nvSpPr>
        <p:spPr>
          <a:xfrm>
            <a:off x="1097280" y="5486400"/>
            <a:ext cx="9997135"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5623560"/>
            <a:ext cx="9539935" cy="5029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store already owns everything the left column needs. </a:t>
            </a:r>
            <a:r>
              <a:rPr sz="1100" b="0" i="0">
                <a:solidFill>
                  <a:srgbClr val="CCCCCC"/>
                </a:solidFill>
                <a:latin typeface="Helvetica Neue"/>
              </a:rPr>
              <a:t>The right column is why 92.8% of viewers still walk away: when a parent buys safety for 749 kr and "does it actually work" goes unanswered, the default answer is no.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04</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THE FIELD</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Competitor benchmark</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Three verified Danish competitors: xplora.dk, kidsbuddy.dk and techbutik.dk. Every claim fetched live.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BENCHMARK MATRIX</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Same watch, same price, different proof</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kidsbuddy.dk sells the identical watch at the identical 749 kr. The fight is on visible proof and delivery sharpness, and on reframing against Xplora's subscription. Fetched live, 15 Jul 2026.</a:t>
            </a:r>
          </a:p>
        </p:txBody>
      </p:sp>
      <p:graphicFrame>
        <p:nvGraphicFramePr>
          <p:cNvPr id="10" name="Table 9"/>
          <p:cNvGraphicFramePr>
            <a:graphicFrameLocks noGrp="1"/>
          </p:cNvGraphicFramePr>
          <p:nvPr/>
        </p:nvGraphicFramePr>
        <p:xfrm>
          <a:off x="640080" y="2148840"/>
          <a:ext cx="10881360" cy="2761488"/>
        </p:xfrm>
        <a:graphic>
          <a:graphicData uri="http://schemas.openxmlformats.org/drawingml/2006/table">
            <a:tbl>
              <a:tblPr>
                <a:tableStyleId>{5C22544A-7EE6-4342-B048-85BDC9FD1C3A}</a:tableStyleId>
              </a:tblPr>
              <a:tblGrid>
                <a:gridCol w="1920240"/>
                <a:gridCol w="2377440"/>
                <a:gridCol w="2103120"/>
                <a:gridCol w="2377440"/>
                <a:gridCol w="2103120"/>
              </a:tblGrid>
              <a:tr h="329184">
                <a:tc>
                  <a:txBody>
                    <a:bodyPr/>
                    <a:lstStyle/>
                    <a:p>
                      <a:pPr algn="l"/>
                      <a:r>
                        <a:rPr sz="800" b="1">
                          <a:solidFill>
                            <a:srgbClr val="999999"/>
                          </a:solidFill>
                          <a:latin typeface="Helvetica Neue"/>
                        </a:rPr>
                        <a:t>Dimension</a:t>
                      </a:r>
                    </a:p>
                  </a:txBody>
                  <a:tcPr marL="73152" marR="45720" marT="18288" marB="18288" anchor="ctr">
                    <a:solidFill>
                      <a:srgbClr val="0A0A0A"/>
                    </a:solidFill>
                  </a:tcPr>
                </a:tc>
                <a:tc>
                  <a:txBody>
                    <a:bodyPr/>
                    <a:lstStyle/>
                    <a:p>
                      <a:pPr algn="ctr"/>
                      <a:r>
                        <a:rPr sz="800" b="1">
                          <a:solidFill>
                            <a:srgbClr val="999999"/>
                          </a:solidFill>
                          <a:latin typeface="Helvetica Neue"/>
                        </a:rPr>
                        <a:t>tech-shoppen.dk</a:t>
                      </a:r>
                    </a:p>
                  </a:txBody>
                  <a:tcPr marL="73152" marR="45720" marT="18288" marB="18288" anchor="ctr">
                    <a:solidFill>
                      <a:srgbClr val="0A0A0A"/>
                    </a:solidFill>
                  </a:tcPr>
                </a:tc>
                <a:tc>
                  <a:txBody>
                    <a:bodyPr/>
                    <a:lstStyle/>
                    <a:p>
                      <a:pPr algn="ctr"/>
                      <a:r>
                        <a:rPr sz="800" b="1">
                          <a:solidFill>
                            <a:srgbClr val="999999"/>
                          </a:solidFill>
                          <a:latin typeface="Helvetica Neue"/>
                        </a:rPr>
                        <a:t>xplora.dk</a:t>
                      </a:r>
                    </a:p>
                  </a:txBody>
                  <a:tcPr marL="73152" marR="45720" marT="18288" marB="18288" anchor="ctr">
                    <a:solidFill>
                      <a:srgbClr val="0A0A0A"/>
                    </a:solidFill>
                  </a:tcPr>
                </a:tc>
                <a:tc>
                  <a:txBody>
                    <a:bodyPr/>
                    <a:lstStyle/>
                    <a:p>
                      <a:pPr algn="ctr"/>
                      <a:r>
                        <a:rPr sz="800" b="1">
                          <a:solidFill>
                            <a:srgbClr val="999999"/>
                          </a:solidFill>
                          <a:latin typeface="Helvetica Neue"/>
                        </a:rPr>
                        <a:t>kidsbuddy.dk</a:t>
                      </a:r>
                    </a:p>
                  </a:txBody>
                  <a:tcPr marL="73152" marR="45720" marT="18288" marB="18288" anchor="ctr">
                    <a:solidFill>
                      <a:srgbClr val="0A0A0A"/>
                    </a:solidFill>
                  </a:tcPr>
                </a:tc>
                <a:tc>
                  <a:txBody>
                    <a:bodyPr/>
                    <a:lstStyle/>
                    <a:p>
                      <a:pPr algn="ctr"/>
                      <a:r>
                        <a:rPr sz="800" b="1">
                          <a:solidFill>
                            <a:srgbClr val="999999"/>
                          </a:solidFill>
                          <a:latin typeface="Helvetica Neue"/>
                        </a:rPr>
                        <a:t>techbutik.dk</a:t>
                      </a:r>
                    </a:p>
                  </a:txBody>
                  <a:tcPr marL="73152" marR="45720" marT="18288" marB="18288" anchor="ctr">
                    <a:solidFill>
                      <a:srgbClr val="0A0A0A"/>
                    </a:solidFill>
                  </a:tcPr>
                </a:tc>
              </a:tr>
              <a:tr h="347472">
                <a:tc>
                  <a:txBody>
                    <a:bodyPr/>
                    <a:lstStyle/>
                    <a:p>
                      <a:pPr algn="l"/>
                      <a:r>
                        <a:rPr sz="900" b="0">
                          <a:solidFill>
                            <a:srgbClr val="CCCCCC"/>
                          </a:solidFill>
                          <a:latin typeface="Helvetica Neue"/>
                        </a:rPr>
                        <a:t>Price</a:t>
                      </a:r>
                    </a:p>
                  </a:txBody>
                  <a:tcPr marL="73152" marR="45720" marT="18288" marB="18288" anchor="ctr">
                    <a:solidFill>
                      <a:srgbClr val="0D0D0D"/>
                    </a:solidFill>
                  </a:tcPr>
                </a:tc>
                <a:tc>
                  <a:txBody>
                    <a:bodyPr/>
                    <a:lstStyle/>
                    <a:p>
                      <a:pPr algn="ctr"/>
                      <a:r>
                        <a:rPr sz="900" b="1">
                          <a:solidFill>
                            <a:srgbClr val="22C55E"/>
                          </a:solidFill>
                          <a:latin typeface="Helvetica Neue"/>
                        </a:rPr>
                        <a:t>749 kr (25% off)</a:t>
                      </a:r>
                    </a:p>
                  </a:txBody>
                  <a:tcPr marL="73152" marR="45720" marT="18288" marB="18288" anchor="ctr">
                    <a:solidFill>
                      <a:srgbClr val="0D0D0D"/>
                    </a:solidFill>
                  </a:tcPr>
                </a:tc>
                <a:tc>
                  <a:txBody>
                    <a:bodyPr/>
                    <a:lstStyle/>
                    <a:p>
                      <a:pPr algn="ctr"/>
                      <a:r>
                        <a:rPr sz="900" b="1">
                          <a:solidFill>
                            <a:srgbClr val="EF4444"/>
                          </a:solidFill>
                          <a:latin typeface="Helvetica Neue"/>
                        </a:rPr>
                        <a:t>1,199 to 1,599 kr</a:t>
                      </a:r>
                    </a:p>
                  </a:txBody>
                  <a:tcPr marL="73152" marR="45720" marT="18288" marB="18288" anchor="ctr">
                    <a:solidFill>
                      <a:srgbClr val="0D0D0D"/>
                    </a:solidFill>
                  </a:tcPr>
                </a:tc>
                <a:tc>
                  <a:txBody>
                    <a:bodyPr/>
                    <a:lstStyle/>
                    <a:p>
                      <a:pPr algn="ctr"/>
                      <a:r>
                        <a:rPr sz="900" b="0">
                          <a:solidFill>
                            <a:srgbClr val="F59E0B"/>
                          </a:solidFill>
                          <a:latin typeface="Helvetica Neue"/>
                        </a:rPr>
                        <a:t>749 kr (identical)</a:t>
                      </a:r>
                    </a:p>
                  </a:txBody>
                  <a:tcPr marL="73152" marR="45720" marT="18288" marB="18288" anchor="ctr">
                    <a:solidFill>
                      <a:srgbClr val="0D0D0D"/>
                    </a:solidFill>
                  </a:tcPr>
                </a:tc>
                <a:tc>
                  <a:txBody>
                    <a:bodyPr/>
                    <a:lstStyle/>
                    <a:p>
                      <a:pPr algn="ctr"/>
                      <a:r>
                        <a:rPr sz="900" b="1">
                          <a:solidFill>
                            <a:srgbClr val="22C55E"/>
                          </a:solidFill>
                          <a:latin typeface="Helvetica Neue"/>
                        </a:rPr>
                        <a:t>299 kr</a:t>
                      </a:r>
                    </a:p>
                  </a:txBody>
                  <a:tcPr marL="73152" marR="45720" marT="18288" marB="18288" anchor="ctr">
                    <a:solidFill>
                      <a:srgbClr val="0D0D0D"/>
                    </a:solidFill>
                  </a:tcPr>
                </a:tc>
              </a:tr>
              <a:tr h="347472">
                <a:tc>
                  <a:txBody>
                    <a:bodyPr/>
                    <a:lstStyle/>
                    <a:p>
                      <a:pPr algn="l"/>
                      <a:r>
                        <a:rPr sz="900" b="0">
                          <a:solidFill>
                            <a:srgbClr val="CCCCCC"/>
                          </a:solidFill>
                          <a:latin typeface="Helvetica Neue"/>
                        </a:rPr>
                        <a:t>Ongoing cost</a:t>
                      </a:r>
                    </a:p>
                  </a:txBody>
                  <a:tcPr marL="73152" marR="45720" marT="18288" marB="18288" anchor="ctr">
                    <a:solidFill>
                      <a:srgbClr val="080808"/>
                    </a:solidFill>
                  </a:tcPr>
                </a:tc>
                <a:tc>
                  <a:txBody>
                    <a:bodyPr/>
                    <a:lstStyle/>
                    <a:p>
                      <a:pPr algn="ctr"/>
                      <a:r>
                        <a:rPr sz="900" b="1">
                          <a:solidFill>
                            <a:srgbClr val="22C55E"/>
                          </a:solidFill>
                          <a:latin typeface="Helvetica Neue"/>
                        </a:rPr>
                        <a:t>SIM incl., 0 kr/mo</a:t>
                      </a:r>
                    </a:p>
                  </a:txBody>
                  <a:tcPr marL="73152" marR="45720" marT="18288" marB="18288" anchor="ctr">
                    <a:solidFill>
                      <a:srgbClr val="080808"/>
                    </a:solidFill>
                  </a:tcPr>
                </a:tc>
                <a:tc>
                  <a:txBody>
                    <a:bodyPr/>
                    <a:lstStyle/>
                    <a:p>
                      <a:pPr algn="ctr"/>
                      <a:r>
                        <a:rPr sz="900" b="1">
                          <a:solidFill>
                            <a:srgbClr val="EF4444"/>
                          </a:solidFill>
                          <a:latin typeface="Helvetica Neue"/>
                        </a:rPr>
                        <a:t>99-109 kr/month app</a:t>
                      </a:r>
                    </a:p>
                  </a:txBody>
                  <a:tcPr marL="73152" marR="45720" marT="18288" marB="18288" anchor="ctr">
                    <a:solidFill>
                      <a:srgbClr val="080808"/>
                    </a:solidFill>
                  </a:tcPr>
                </a:tc>
                <a:tc>
                  <a:txBody>
                    <a:bodyPr/>
                    <a:lstStyle/>
                    <a:p>
                      <a:pPr algn="ctr"/>
                      <a:r>
                        <a:rPr sz="900" b="1">
                          <a:solidFill>
                            <a:srgbClr val="22C55E"/>
                          </a:solidFill>
                          <a:latin typeface="Helvetica Neue"/>
                        </a:rPr>
                        <a:t>SIM incl., 0 kr/mo</a:t>
                      </a:r>
                    </a:p>
                  </a:txBody>
                  <a:tcPr marL="73152" marR="45720" marT="18288" marB="18288" anchor="ctr">
                    <a:solidFill>
                      <a:srgbClr val="080808"/>
                    </a:solidFill>
                  </a:tcPr>
                </a:tc>
                <a:tc>
                  <a:txBody>
                    <a:bodyPr/>
                    <a:lstStyle/>
                    <a:p>
                      <a:pPr algn="ctr"/>
                      <a:r>
                        <a:rPr sz="900" b="1">
                          <a:solidFill>
                            <a:srgbClr val="22C55E"/>
                          </a:solidFill>
                          <a:latin typeface="Helvetica Neue"/>
                        </a:rPr>
                        <a:t>Pay as you go</a:t>
                      </a:r>
                    </a:p>
                  </a:txBody>
                  <a:tcPr marL="73152" marR="45720" marT="18288" marB="18288" anchor="ctr">
                    <a:solidFill>
                      <a:srgbClr val="080808"/>
                    </a:solidFill>
                  </a:tcPr>
                </a:tc>
              </a:tr>
              <a:tr h="347472">
                <a:tc>
                  <a:txBody>
                    <a:bodyPr/>
                    <a:lstStyle/>
                    <a:p>
                      <a:pPr algn="l"/>
                      <a:r>
                        <a:rPr sz="900" b="0">
                          <a:solidFill>
                            <a:srgbClr val="CCCCCC"/>
                          </a:solidFill>
                          <a:latin typeface="Helvetica Neue"/>
                        </a:rPr>
                        <a:t>Reviews at the offer</a:t>
                      </a:r>
                    </a:p>
                  </a:txBody>
                  <a:tcPr marL="73152" marR="45720" marT="18288" marB="18288" anchor="ctr">
                    <a:solidFill>
                      <a:srgbClr val="0D0D0D"/>
                    </a:solidFill>
                  </a:tcPr>
                </a:tc>
                <a:tc>
                  <a:txBody>
                    <a:bodyPr/>
                    <a:lstStyle/>
                    <a:p>
                      <a:pPr algn="ctr"/>
                      <a:r>
                        <a:rPr sz="900" b="1">
                          <a:solidFill>
                            <a:srgbClr val="EF4444"/>
                          </a:solidFill>
                          <a:latin typeface="Helvetica Neue"/>
                        </a:rPr>
                        <a:t>Loox, no count shown</a:t>
                      </a:r>
                    </a:p>
                  </a:txBody>
                  <a:tcPr marL="73152" marR="45720" marT="18288" marB="18288" anchor="ctr">
                    <a:solidFill>
                      <a:srgbClr val="0D0D0D"/>
                    </a:solidFill>
                  </a:tcPr>
                </a:tc>
                <a:tc>
                  <a:txBody>
                    <a:bodyPr/>
                    <a:lstStyle/>
                    <a:p>
                      <a:pPr algn="ctr"/>
                      <a:r>
                        <a:rPr sz="900" b="1">
                          <a:solidFill>
                            <a:srgbClr val="22C55E"/>
                          </a:solidFill>
                          <a:latin typeface="Helvetica Neue"/>
                        </a:rPr>
                        <a:t>4.67-4.86 stars</a:t>
                      </a:r>
                    </a:p>
                  </a:txBody>
                  <a:tcPr marL="73152" marR="45720" marT="18288" marB="18288" anchor="ctr">
                    <a:solidFill>
                      <a:srgbClr val="0D0D0D"/>
                    </a:solidFill>
                  </a:tcPr>
                </a:tc>
                <a:tc>
                  <a:txBody>
                    <a:bodyPr/>
                    <a:lstStyle/>
                    <a:p>
                      <a:pPr algn="ctr"/>
                      <a:r>
                        <a:rPr sz="900" b="1">
                          <a:solidFill>
                            <a:srgbClr val="22C55E"/>
                          </a:solidFill>
                          <a:latin typeface="Helvetica Neue"/>
                        </a:rPr>
                        <a:t>4.8/5, "2,200+ parents"</a:t>
                      </a:r>
                    </a:p>
                  </a:txBody>
                  <a:tcPr marL="73152" marR="45720" marT="18288" marB="18288" anchor="ctr">
                    <a:solidFill>
                      <a:srgbClr val="0D0D0D"/>
                    </a:solidFill>
                  </a:tcPr>
                </a:tc>
                <a:tc>
                  <a:txBody>
                    <a:bodyPr/>
                    <a:lstStyle/>
                    <a:p>
                      <a:pPr algn="ctr"/>
                      <a:r>
                        <a:rPr sz="900" b="1">
                          <a:solidFill>
                            <a:srgbClr val="22C55E"/>
                          </a:solidFill>
                          <a:latin typeface="Helvetica Neue"/>
                        </a:rPr>
                        <a:t>"2,368+ bedømmelser"</a:t>
                      </a:r>
                    </a:p>
                  </a:txBody>
                  <a:tcPr marL="73152" marR="45720" marT="18288" marB="18288" anchor="ctr">
                    <a:solidFill>
                      <a:srgbClr val="0D0D0D"/>
                    </a:solidFill>
                  </a:tcPr>
                </a:tc>
              </a:tr>
              <a:tr h="347472">
                <a:tc>
                  <a:txBody>
                    <a:bodyPr/>
                    <a:lstStyle/>
                    <a:p>
                      <a:pPr algn="l"/>
                      <a:r>
                        <a:rPr sz="900" b="0">
                          <a:solidFill>
                            <a:srgbClr val="CCCCCC"/>
                          </a:solidFill>
                          <a:latin typeface="Helvetica Neue"/>
                        </a:rPr>
                        <a:t>Delivery promise</a:t>
                      </a:r>
                    </a:p>
                  </a:txBody>
                  <a:tcPr marL="73152" marR="45720" marT="18288" marB="18288" anchor="ctr">
                    <a:solidFill>
                      <a:srgbClr val="080808"/>
                    </a:solidFill>
                  </a:tcPr>
                </a:tc>
                <a:tc>
                  <a:txBody>
                    <a:bodyPr/>
                    <a:lstStyle/>
                    <a:p>
                      <a:pPr algn="ctr"/>
                      <a:r>
                        <a:rPr sz="900" b="0">
                          <a:solidFill>
                            <a:srgbClr val="F59E0B"/>
                          </a:solidFill>
                          <a:latin typeface="Helvetica Neue"/>
                        </a:rPr>
                        <a:t>1-3 hverdage</a:t>
                      </a:r>
                    </a:p>
                  </a:txBody>
                  <a:tcPr marL="73152" marR="45720" marT="18288" marB="18288" anchor="ctr">
                    <a:solidFill>
                      <a:srgbClr val="080808"/>
                    </a:solidFill>
                  </a:tcPr>
                </a:tc>
                <a:tc>
                  <a:txBody>
                    <a:bodyPr/>
                    <a:lstStyle/>
                    <a:p>
                      <a:pPr algn="ctr"/>
                      <a:r>
                        <a:rPr sz="900" b="0">
                          <a:solidFill>
                            <a:srgbClr val="CCCCCC"/>
                          </a:solidFill>
                          <a:latin typeface="Helvetica Neue"/>
                        </a:rPr>
                        <a:t>Not verified</a:t>
                      </a:r>
                    </a:p>
                  </a:txBody>
                  <a:tcPr marL="73152" marR="45720" marT="18288" marB="18288" anchor="ctr">
                    <a:solidFill>
                      <a:srgbClr val="080808"/>
                    </a:solidFill>
                  </a:tcPr>
                </a:tc>
                <a:tc>
                  <a:txBody>
                    <a:bodyPr/>
                    <a:lstStyle/>
                    <a:p>
                      <a:pPr algn="ctr"/>
                      <a:r>
                        <a:rPr sz="900" b="1">
                          <a:solidFill>
                            <a:srgbClr val="22C55E"/>
                          </a:solidFill>
                          <a:latin typeface="Helvetica Neue"/>
                        </a:rPr>
                        <a:t>1-2 hverdage</a:t>
                      </a:r>
                    </a:p>
                  </a:txBody>
                  <a:tcPr marL="73152" marR="45720" marT="18288" marB="18288" anchor="ctr">
                    <a:solidFill>
                      <a:srgbClr val="080808"/>
                    </a:solidFill>
                  </a:tcPr>
                </a:tc>
                <a:tc>
                  <a:txBody>
                    <a:bodyPr/>
                    <a:lstStyle/>
                    <a:p>
                      <a:pPr algn="ctr"/>
                      <a:r>
                        <a:rPr sz="900" b="1">
                          <a:solidFill>
                            <a:srgbClr val="EF4444"/>
                          </a:solidFill>
                          <a:latin typeface="Helvetica Neue"/>
                        </a:rPr>
                        <a:t>5-8 hverdage</a:t>
                      </a:r>
                    </a:p>
                  </a:txBody>
                  <a:tcPr marL="73152" marR="45720" marT="18288" marB="18288" anchor="ctr">
                    <a:solidFill>
                      <a:srgbClr val="080808"/>
                    </a:solidFill>
                  </a:tcPr>
                </a:tc>
              </a:tr>
              <a:tr h="347472">
                <a:tc>
                  <a:txBody>
                    <a:bodyPr/>
                    <a:lstStyle/>
                    <a:p>
                      <a:pPr algn="l"/>
                      <a:r>
                        <a:rPr sz="900" b="0">
                          <a:solidFill>
                            <a:srgbClr val="CCCCCC"/>
                          </a:solidFill>
                          <a:latin typeface="Helvetica Neue"/>
                        </a:rPr>
                        <a:t>BNPL</a:t>
                      </a:r>
                    </a:p>
                  </a:txBody>
                  <a:tcPr marL="73152" marR="45720" marT="18288" marB="18288" anchor="ctr">
                    <a:solidFill>
                      <a:srgbClr val="0D0D0D"/>
                    </a:solidFill>
                  </a:tcPr>
                </a:tc>
                <a:tc>
                  <a:txBody>
                    <a:bodyPr/>
                    <a:lstStyle/>
                    <a:p>
                      <a:pPr algn="ctr"/>
                      <a:r>
                        <a:rPr sz="900" b="1">
                          <a:solidFill>
                            <a:srgbClr val="22C55E"/>
                          </a:solidFill>
                          <a:latin typeface="Helvetica Neue"/>
                        </a:rPr>
                        <a:t>ViaBill + Klarna</a:t>
                      </a:r>
                    </a:p>
                  </a:txBody>
                  <a:tcPr marL="73152" marR="45720" marT="18288" marB="18288" anchor="ctr">
                    <a:solidFill>
                      <a:srgbClr val="0D0D0D"/>
                    </a:solidFill>
                  </a:tcPr>
                </a:tc>
                <a:tc>
                  <a:txBody>
                    <a:bodyPr/>
                    <a:lstStyle/>
                    <a:p>
                      <a:pPr algn="ctr"/>
                      <a:r>
                        <a:rPr sz="900" b="0">
                          <a:solidFill>
                            <a:srgbClr val="CCCCCC"/>
                          </a:solidFill>
                          <a:latin typeface="Helvetica Neue"/>
                        </a:rPr>
                        <a:t>Not verified</a:t>
                      </a:r>
                    </a:p>
                  </a:txBody>
                  <a:tcPr marL="73152" marR="45720" marT="18288" marB="18288" anchor="ctr">
                    <a:solidFill>
                      <a:srgbClr val="0D0D0D"/>
                    </a:solidFill>
                  </a:tcPr>
                </a:tc>
                <a:tc>
                  <a:txBody>
                    <a:bodyPr/>
                    <a:lstStyle/>
                    <a:p>
                      <a:pPr algn="ctr"/>
                      <a:r>
                        <a:rPr sz="900" b="0">
                          <a:solidFill>
                            <a:srgbClr val="F59E0B"/>
                          </a:solidFill>
                          <a:latin typeface="Helvetica Neue"/>
                        </a:rPr>
                        <a:t>Anyday only</a:t>
                      </a:r>
                    </a:p>
                  </a:txBody>
                  <a:tcPr marL="73152" marR="45720" marT="18288" marB="18288" anchor="ctr">
                    <a:solidFill>
                      <a:srgbClr val="0D0D0D"/>
                    </a:solidFill>
                  </a:tcPr>
                </a:tc>
                <a:tc>
                  <a:txBody>
                    <a:bodyPr/>
                    <a:lstStyle/>
                    <a:p>
                      <a:pPr algn="ctr"/>
                      <a:r>
                        <a:rPr sz="900" b="1">
                          <a:solidFill>
                            <a:srgbClr val="EF4444"/>
                          </a:solidFill>
                          <a:latin typeface="Helvetica Neue"/>
                        </a:rPr>
                        <a:t>None</a:t>
                      </a:r>
                    </a:p>
                  </a:txBody>
                  <a:tcPr marL="73152" marR="45720" marT="18288" marB="18288" anchor="ctr">
                    <a:solidFill>
                      <a:srgbClr val="0D0D0D"/>
                    </a:solidFill>
                  </a:tcPr>
                </a:tc>
              </a:tr>
              <a:tr h="347472">
                <a:tc>
                  <a:txBody>
                    <a:bodyPr/>
                    <a:lstStyle/>
                    <a:p>
                      <a:pPr algn="l"/>
                      <a:r>
                        <a:rPr sz="900" b="0">
                          <a:solidFill>
                            <a:srgbClr val="CCCCCC"/>
                          </a:solidFill>
                          <a:latin typeface="Helvetica Neue"/>
                        </a:rPr>
                        <a:t>Video on PDP</a:t>
                      </a:r>
                    </a:p>
                  </a:txBody>
                  <a:tcPr marL="73152" marR="45720" marT="18288" marB="18288" anchor="ctr">
                    <a:solidFill>
                      <a:srgbClr val="080808"/>
                    </a:solidFill>
                  </a:tcPr>
                </a:tc>
                <a:tc>
                  <a:txBody>
                    <a:bodyPr/>
                    <a:lstStyle/>
                    <a:p>
                      <a:pPr algn="ctr"/>
                      <a:r>
                        <a:rPr sz="900" b="1">
                          <a:solidFill>
                            <a:srgbClr val="EF4444"/>
                          </a:solidFill>
                          <a:latin typeface="Helvetica Neue"/>
                        </a:rPr>
                        <a:t>None</a:t>
                      </a:r>
                    </a:p>
                  </a:txBody>
                  <a:tcPr marL="73152" marR="45720" marT="18288" marB="18288" anchor="ctr">
                    <a:solidFill>
                      <a:srgbClr val="080808"/>
                    </a:solidFill>
                  </a:tcPr>
                </a:tc>
                <a:tc>
                  <a:txBody>
                    <a:bodyPr/>
                    <a:lstStyle/>
                    <a:p>
                      <a:pPr algn="ctr"/>
                      <a:r>
                        <a:rPr sz="900" b="0">
                          <a:solidFill>
                            <a:srgbClr val="CCCCCC"/>
                          </a:solidFill>
                          <a:latin typeface="Helvetica Neue"/>
                        </a:rPr>
                        <a:t>Not verified</a:t>
                      </a:r>
                    </a:p>
                  </a:txBody>
                  <a:tcPr marL="73152" marR="45720" marT="18288" marB="18288" anchor="ctr">
                    <a:solidFill>
                      <a:srgbClr val="080808"/>
                    </a:solidFill>
                  </a:tcPr>
                </a:tc>
                <a:tc>
                  <a:txBody>
                    <a:bodyPr/>
                    <a:lstStyle/>
                    <a:p>
                      <a:pPr algn="ctr"/>
                      <a:r>
                        <a:rPr sz="900" b="1">
                          <a:solidFill>
                            <a:srgbClr val="EF4444"/>
                          </a:solidFill>
                          <a:latin typeface="Helvetica Neue"/>
                        </a:rPr>
                        <a:t>None</a:t>
                      </a:r>
                    </a:p>
                  </a:txBody>
                  <a:tcPr marL="73152" marR="45720" marT="18288" marB="18288" anchor="ctr">
                    <a:solidFill>
                      <a:srgbClr val="080808"/>
                    </a:solidFill>
                  </a:tcPr>
                </a:tc>
                <a:tc>
                  <a:txBody>
                    <a:bodyPr/>
                    <a:lstStyle/>
                    <a:p>
                      <a:pPr algn="ctr"/>
                      <a:r>
                        <a:rPr sz="900" b="1">
                          <a:solidFill>
                            <a:srgbClr val="EF4444"/>
                          </a:solidFill>
                          <a:latin typeface="Helvetica Neue"/>
                        </a:rPr>
                        <a:t>None</a:t>
                      </a:r>
                    </a:p>
                  </a:txBody>
                  <a:tcPr marL="73152" marR="45720" marT="18288" marB="18288" anchor="ctr">
                    <a:solidFill>
                      <a:srgbClr val="080808"/>
                    </a:solidFill>
                  </a:tcPr>
                </a:tc>
              </a:tr>
              <a:tr h="347472">
                <a:tc>
                  <a:txBody>
                    <a:bodyPr/>
                    <a:lstStyle/>
                    <a:p>
                      <a:pPr algn="l"/>
                      <a:r>
                        <a:rPr sz="900" b="0">
                          <a:solidFill>
                            <a:srgbClr val="CCCCCC"/>
                          </a:solidFill>
                          <a:latin typeface="Helvetica Neue"/>
                        </a:rPr>
                        <a:t>Insurance upsell</a:t>
                      </a:r>
                    </a:p>
                  </a:txBody>
                  <a:tcPr marL="73152" marR="45720" marT="18288" marB="18288" anchor="ctr">
                    <a:solidFill>
                      <a:srgbClr val="0D0D0D"/>
                    </a:solidFill>
                  </a:tcPr>
                </a:tc>
                <a:tc>
                  <a:txBody>
                    <a:bodyPr/>
                    <a:lstStyle/>
                    <a:p>
                      <a:pPr algn="ctr"/>
                      <a:r>
                        <a:rPr sz="900" b="0">
                          <a:solidFill>
                            <a:srgbClr val="F59E0B"/>
                          </a:solidFill>
                          <a:latin typeface="Helvetica Neue"/>
                        </a:rPr>
                        <a:t>Separate 299 kr product</a:t>
                      </a:r>
                    </a:p>
                  </a:txBody>
                  <a:tcPr marL="73152" marR="45720" marT="18288" marB="18288" anchor="ctr">
                    <a:solidFill>
                      <a:srgbClr val="0D0D0D"/>
                    </a:solidFill>
                  </a:tcPr>
                </a:tc>
                <a:tc>
                  <a:txBody>
                    <a:bodyPr/>
                    <a:lstStyle/>
                    <a:p>
                      <a:pPr algn="ctr"/>
                      <a:r>
                        <a:rPr sz="900" b="0">
                          <a:solidFill>
                            <a:srgbClr val="CCCCCC"/>
                          </a:solidFill>
                          <a:latin typeface="Helvetica Neue"/>
                        </a:rPr>
                        <a:t>Not verified</a:t>
                      </a:r>
                    </a:p>
                  </a:txBody>
                  <a:tcPr marL="73152" marR="45720" marT="18288" marB="18288" anchor="ctr">
                    <a:solidFill>
                      <a:srgbClr val="0D0D0D"/>
                    </a:solidFill>
                  </a:tcPr>
                </a:tc>
                <a:tc>
                  <a:txBody>
                    <a:bodyPr/>
                    <a:lstStyle/>
                    <a:p>
                      <a:pPr algn="ctr"/>
                      <a:r>
                        <a:rPr sz="900" b="1">
                          <a:solidFill>
                            <a:srgbClr val="EF4444"/>
                          </a:solidFill>
                          <a:latin typeface="Helvetica Neue"/>
                        </a:rPr>
                        <a:t>None</a:t>
                      </a:r>
                    </a:p>
                  </a:txBody>
                  <a:tcPr marL="73152" marR="45720" marT="18288" marB="18288" anchor="ctr">
                    <a:solidFill>
                      <a:srgbClr val="0D0D0D"/>
                    </a:solidFill>
                  </a:tcPr>
                </a:tc>
                <a:tc>
                  <a:txBody>
                    <a:bodyPr/>
                    <a:lstStyle/>
                    <a:p>
                      <a:pPr algn="ctr"/>
                      <a:r>
                        <a:rPr sz="900" b="1">
                          <a:solidFill>
                            <a:srgbClr val="EF4444"/>
                          </a:solidFill>
                          <a:latin typeface="Helvetica Neue"/>
                        </a:rPr>
                        <a:t>None</a:t>
                      </a:r>
                    </a:p>
                  </a:txBody>
                  <a:tcPr marL="73152" marR="45720" marT="18288" marB="18288" anchor="ctr">
                    <a:solidFill>
                      <a:srgbClr val="0D0D0D"/>
                    </a:solidFill>
                  </a:tcPr>
                </a:tc>
              </a:tr>
            </a:tbl>
          </a:graphicData>
        </a:graphic>
      </p:graphicFrame>
      <p:sp>
        <p:nvSpPr>
          <p:cNvPr id="11" name="Rounded Rectangle 10"/>
          <p:cNvSpPr/>
          <p:nvPr/>
        </p:nvSpPr>
        <p:spPr>
          <a:xfrm>
            <a:off x="640080" y="5257800"/>
            <a:ext cx="10881360"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394960"/>
            <a:ext cx="10424160"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twin problem: </a:t>
            </a:r>
            <a:r>
              <a:rPr sz="1100" b="0" i="0">
                <a:solidFill>
                  <a:srgbClr val="CCCCCC"/>
                </a:solidFill>
                <a:latin typeface="Helvetica Neue"/>
              </a:rPr>
              <a:t>a parent googling this watch finds kidsbuddy.dk showing "4.8/5 fra 2,200+ forældre" and 1-2 day delivery for the same 749 kr. Tech-shoppen's counters (Klarna + ViaBill, the screen guarantee, "+10.000 tilfredse kunder") exist but are not deployed at the buy box.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STEAL THESE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Five patterns worth adopting</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Each one observed live on a named competitor (or missing across all of them), mapped to a tech-shoppen gap on the View to ATC step.</a:t>
            </a:r>
          </a:p>
        </p:txBody>
      </p:sp>
      <p:sp>
        <p:nvSpPr>
          <p:cNvPr id="10" name="Rounded Rectangle 9"/>
          <p:cNvSpPr/>
          <p:nvPr/>
        </p:nvSpPr>
        <p:spPr>
          <a:xfrm>
            <a:off x="632307" y="2057400"/>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475" y="2185416"/>
            <a:ext cx="3154680" cy="228600"/>
          </a:xfrm>
          <a:prstGeom prst="rect">
            <a:avLst/>
          </a:prstGeom>
          <a:noFill/>
        </p:spPr>
        <p:txBody>
          <a:bodyPr wrap="square" lIns="0" rIns="0" tIns="0" bIns="0" anchor="t">
            <a:spAutoFit/>
          </a:bodyPr>
          <a:lstStyle/>
          <a:p>
            <a:pPr algn="l"/>
            <a:r>
              <a:rPr sz="900" b="1" i="0">
                <a:solidFill>
                  <a:srgbClr val="F7D007"/>
                </a:solidFill>
                <a:latin typeface="Menlo"/>
              </a:rPr>
              <a:t>// 01</a:t>
            </a:r>
          </a:p>
        </p:txBody>
      </p:sp>
      <p:sp>
        <p:nvSpPr>
          <p:cNvPr id="12" name="TextBox 11"/>
          <p:cNvSpPr txBox="1"/>
          <p:nvPr/>
        </p:nvSpPr>
        <p:spPr>
          <a:xfrm>
            <a:off x="833475" y="2423160"/>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Hard review count at the offer</a:t>
            </a:r>
          </a:p>
        </p:txBody>
      </p:sp>
      <p:sp>
        <p:nvSpPr>
          <p:cNvPr id="13" name="TextBox 12"/>
          <p:cNvSpPr txBox="1"/>
          <p:nvPr/>
        </p:nvSpPr>
        <p:spPr>
          <a:xfrm>
            <a:off x="833475" y="2752344"/>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kidsbuddy.dk leads with "4.8/5 fra 2,200+ forældre" next to the price. Pin stars + count to the buy box.</a:t>
            </a:r>
          </a:p>
        </p:txBody>
      </p:sp>
      <p:sp>
        <p:nvSpPr>
          <p:cNvPr id="14" name="Rounded Rectangle 13"/>
          <p:cNvSpPr/>
          <p:nvPr/>
        </p:nvSpPr>
        <p:spPr>
          <a:xfrm>
            <a:off x="4335627" y="2057400"/>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6795" y="2185416"/>
            <a:ext cx="3154680" cy="228600"/>
          </a:xfrm>
          <a:prstGeom prst="rect">
            <a:avLst/>
          </a:prstGeom>
          <a:noFill/>
        </p:spPr>
        <p:txBody>
          <a:bodyPr wrap="square" lIns="0" rIns="0" tIns="0" bIns="0" anchor="t">
            <a:spAutoFit/>
          </a:bodyPr>
          <a:lstStyle/>
          <a:p>
            <a:pPr algn="l"/>
            <a:r>
              <a:rPr sz="900" b="1" i="0">
                <a:solidFill>
                  <a:srgbClr val="F7D007"/>
                </a:solidFill>
                <a:latin typeface="Menlo"/>
              </a:rPr>
              <a:t>// 02</a:t>
            </a:r>
          </a:p>
        </p:txBody>
      </p:sp>
      <p:sp>
        <p:nvSpPr>
          <p:cNvPr id="16" name="TextBox 15"/>
          <p:cNvSpPr txBox="1"/>
          <p:nvPr/>
        </p:nvSpPr>
        <p:spPr>
          <a:xfrm>
            <a:off x="4536795" y="2423160"/>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Anti-subscription comparison</a:t>
            </a:r>
          </a:p>
        </p:txBody>
      </p:sp>
      <p:sp>
        <p:nvSpPr>
          <p:cNvPr id="17" name="TextBox 16"/>
          <p:cNvSpPr txBox="1"/>
          <p:nvPr/>
        </p:nvSpPr>
        <p:spPr>
          <a:xfrm>
            <a:off x="4536795" y="2752344"/>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Xplora costs 1,599 kr plus ~1,188 kr/year. A "749 kr once, ingen abonnement" block reframes tech-shoppen as the smart buy.</a:t>
            </a:r>
          </a:p>
        </p:txBody>
      </p:sp>
      <p:sp>
        <p:nvSpPr>
          <p:cNvPr id="18" name="Rounded Rectangle 17"/>
          <p:cNvSpPr/>
          <p:nvPr/>
        </p:nvSpPr>
        <p:spPr>
          <a:xfrm>
            <a:off x="8038947" y="2057400"/>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0115" y="2185416"/>
            <a:ext cx="3154680" cy="228600"/>
          </a:xfrm>
          <a:prstGeom prst="rect">
            <a:avLst/>
          </a:prstGeom>
          <a:noFill/>
        </p:spPr>
        <p:txBody>
          <a:bodyPr wrap="square" lIns="0" rIns="0" tIns="0" bIns="0" anchor="t">
            <a:spAutoFit/>
          </a:bodyPr>
          <a:lstStyle/>
          <a:p>
            <a:pPr algn="l"/>
            <a:r>
              <a:rPr sz="900" b="1" i="0">
                <a:solidFill>
                  <a:srgbClr val="F7D007"/>
                </a:solidFill>
                <a:latin typeface="Menlo"/>
              </a:rPr>
              <a:t>// 03</a:t>
            </a:r>
          </a:p>
        </p:txBody>
      </p:sp>
      <p:sp>
        <p:nvSpPr>
          <p:cNvPr id="20" name="TextBox 19"/>
          <p:cNvSpPr txBox="1"/>
          <p:nvPr/>
        </p:nvSpPr>
        <p:spPr>
          <a:xfrm>
            <a:off x="8240115" y="2423160"/>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Sharper delivery promise</a:t>
            </a:r>
          </a:p>
        </p:txBody>
      </p:sp>
      <p:sp>
        <p:nvSpPr>
          <p:cNvPr id="21" name="TextBox 20"/>
          <p:cNvSpPr txBox="1"/>
          <p:nvPr/>
        </p:nvSpPr>
        <p:spPr>
          <a:xfrm>
            <a:off x="8240115" y="2752344"/>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kidsbuddy.dk promises 1-2 hverdage. Test "Bestil før kl. 14, afsendt i dag" at the ATC.</a:t>
            </a:r>
          </a:p>
        </p:txBody>
      </p:sp>
      <p:sp>
        <p:nvSpPr>
          <p:cNvPr id="22" name="Rounded Rectangle 21"/>
          <p:cNvSpPr/>
          <p:nvPr/>
        </p:nvSpPr>
        <p:spPr>
          <a:xfrm>
            <a:off x="632307" y="3547872"/>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475" y="3675888"/>
            <a:ext cx="3154680" cy="228600"/>
          </a:xfrm>
          <a:prstGeom prst="rect">
            <a:avLst/>
          </a:prstGeom>
          <a:noFill/>
        </p:spPr>
        <p:txBody>
          <a:bodyPr wrap="square" lIns="0" rIns="0" tIns="0" bIns="0" anchor="t">
            <a:spAutoFit/>
          </a:bodyPr>
          <a:lstStyle/>
          <a:p>
            <a:pPr algn="l"/>
            <a:r>
              <a:rPr sz="900" b="1" i="0">
                <a:solidFill>
                  <a:srgbClr val="F7D007"/>
                </a:solidFill>
                <a:latin typeface="Menlo"/>
              </a:rPr>
              <a:t>// 04</a:t>
            </a:r>
          </a:p>
        </p:txBody>
      </p:sp>
      <p:sp>
        <p:nvSpPr>
          <p:cNvPr id="24" name="TextBox 23"/>
          <p:cNvSpPr txBox="1"/>
          <p:nvPr/>
        </p:nvSpPr>
        <p:spPr>
          <a:xfrm>
            <a:off x="833475" y="3913632"/>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Insurance as a buy-box toggle</a:t>
            </a:r>
          </a:p>
        </p:txBody>
      </p:sp>
      <p:sp>
        <p:nvSpPr>
          <p:cNvPr id="25" name="TextBox 24"/>
          <p:cNvSpPr txBox="1"/>
          <p:nvPr/>
        </p:nvSpPr>
        <p:spPr>
          <a:xfrm>
            <a:off x="833475" y="4242816"/>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No competitor offers device insurance. Tech-shoppen owns a 299 kr guarantee hidden as a separate product. Uncontested AOV.</a:t>
            </a:r>
          </a:p>
        </p:txBody>
      </p:sp>
      <p:sp>
        <p:nvSpPr>
          <p:cNvPr id="26" name="Rounded Rectangle 25"/>
          <p:cNvSpPr/>
          <p:nvPr/>
        </p:nvSpPr>
        <p:spPr>
          <a:xfrm>
            <a:off x="4335627" y="3547872"/>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6795" y="3675888"/>
            <a:ext cx="3154680" cy="228600"/>
          </a:xfrm>
          <a:prstGeom prst="rect">
            <a:avLst/>
          </a:prstGeom>
          <a:noFill/>
        </p:spPr>
        <p:txBody>
          <a:bodyPr wrap="square" lIns="0" rIns="0" tIns="0" bIns="0" anchor="t">
            <a:spAutoFit/>
          </a:bodyPr>
          <a:lstStyle/>
          <a:p>
            <a:pPr algn="l"/>
            <a:r>
              <a:rPr sz="900" b="1" i="0">
                <a:solidFill>
                  <a:srgbClr val="F7D007"/>
                </a:solidFill>
                <a:latin typeface="Menlo"/>
              </a:rPr>
              <a:t>// 05</a:t>
            </a:r>
          </a:p>
        </p:txBody>
      </p:sp>
      <p:sp>
        <p:nvSpPr>
          <p:cNvPr id="28" name="TextBox 27"/>
          <p:cNvSpPr txBox="1"/>
          <p:nvPr/>
        </p:nvSpPr>
        <p:spPr>
          <a:xfrm>
            <a:off x="4536795" y="3913632"/>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PDP demo video</a:t>
            </a:r>
          </a:p>
        </p:txBody>
      </p:sp>
      <p:sp>
        <p:nvSpPr>
          <p:cNvPr id="29" name="TextBox 28"/>
          <p:cNvSpPr txBox="1"/>
          <p:nvPr/>
        </p:nvSpPr>
        <p:spPr>
          <a:xfrm>
            <a:off x="4536795" y="4242816"/>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None of the three competitors show video. A 20-30s GPS + video-call clip answers the #1 objection in a way no badge can.</a:t>
            </a:r>
          </a:p>
        </p:txBody>
      </p:sp>
      <p:sp>
        <p:nvSpPr>
          <p:cNvPr id="30" name="Rounded Rectangle 29"/>
          <p:cNvSpPr/>
          <p:nvPr/>
        </p:nvSpPr>
        <p:spPr>
          <a:xfrm>
            <a:off x="8038947" y="3547872"/>
            <a:ext cx="3520440" cy="13258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3675888"/>
            <a:ext cx="3154680" cy="228600"/>
          </a:xfrm>
          <a:prstGeom prst="rect">
            <a:avLst/>
          </a:prstGeom>
          <a:noFill/>
        </p:spPr>
        <p:txBody>
          <a:bodyPr wrap="square" lIns="0" rIns="0" tIns="0" bIns="0" anchor="t">
            <a:spAutoFit/>
          </a:bodyPr>
          <a:lstStyle/>
          <a:p>
            <a:pPr algn="l"/>
            <a:r>
              <a:rPr sz="900" b="1" i="0">
                <a:solidFill>
                  <a:srgbClr val="F7D007"/>
                </a:solidFill>
                <a:latin typeface="Menlo"/>
              </a:rPr>
              <a:t>// 06</a:t>
            </a:r>
          </a:p>
        </p:txBody>
      </p:sp>
      <p:sp>
        <p:nvSpPr>
          <p:cNvPr id="32" name="TextBox 31"/>
          <p:cNvSpPr txBox="1"/>
          <p:nvPr/>
        </p:nvSpPr>
        <p:spPr>
          <a:xfrm>
            <a:off x="8240115" y="3913632"/>
            <a:ext cx="3118104" cy="320040"/>
          </a:xfrm>
          <a:prstGeom prst="rect">
            <a:avLst/>
          </a:prstGeom>
          <a:noFill/>
        </p:spPr>
        <p:txBody>
          <a:bodyPr wrap="square" lIns="0" rIns="0" tIns="0" bIns="0" anchor="t">
            <a:spAutoFit/>
          </a:bodyPr>
          <a:lstStyle/>
          <a:p>
            <a:pPr algn="l"/>
            <a:r>
              <a:rPr sz="1150" b="1" i="0">
                <a:solidFill>
                  <a:srgbClr val="FFFFFF"/>
                </a:solidFill>
                <a:latin typeface="Helvetica Neue"/>
              </a:rPr>
              <a:t>Own the twin fight</a:t>
            </a:r>
          </a:p>
        </p:txBody>
      </p:sp>
      <p:sp>
        <p:nvSpPr>
          <p:cNvPr id="33" name="TextBox 32"/>
          <p:cNvSpPr txBox="1"/>
          <p:nvPr/>
        </p:nvSpPr>
        <p:spPr>
          <a:xfrm>
            <a:off x="8240115" y="4242816"/>
            <a:ext cx="3118104" cy="548640"/>
          </a:xfrm>
          <a:prstGeom prst="rect">
            <a:avLst/>
          </a:prstGeom>
          <a:noFill/>
        </p:spPr>
        <p:txBody>
          <a:bodyPr wrap="square" lIns="0" rIns="0" tIns="0" bIns="0" anchor="t">
            <a:spAutoFit/>
          </a:bodyPr>
          <a:lstStyle/>
          <a:p>
            <a:pPr algn="l"/>
            <a:r>
              <a:rPr sz="850" b="0" i="0">
                <a:solidFill>
                  <a:srgbClr val="999999"/>
                </a:solidFill>
                <a:latin typeface="Helvetica Neue"/>
              </a:rPr>
              <a:t>The identical watch sells at the same price one search away. Differentiate on Klarna/ViaBill, the guarantee, and e-mærket at the decision point.</a:t>
            </a:r>
          </a:p>
        </p:txBody>
      </p:sp>
      <p:sp>
        <p:nvSpPr>
          <p:cNvPr id="34" name="Rounded Rectangle 33"/>
          <p:cNvSpPr/>
          <p:nvPr/>
        </p:nvSpPr>
        <p:spPr>
          <a:xfrm>
            <a:off x="914400" y="5257800"/>
            <a:ext cx="10362895"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3000" y="5394960"/>
            <a:ext cx="9905695" cy="5029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Retail channel note: </a:t>
            </a:r>
            <a:r>
              <a:rPr sz="1100" b="0" i="0">
                <a:solidFill>
                  <a:srgbClr val="CCCCCC"/>
                </a:solidFill>
                <a:latin typeface="Helvetica Neue"/>
              </a:rPr>
              <a:t>Power and Elgiganten stock Xplora (verified via PriceRunner) but not this watch class at this price. The premium retail shelf anchors the category price high, which is exactly the comparison the PDP should be making.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05</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SEQUENCED FOR IMPACT</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90-day roadmap</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Fix the data first, then the two funnel leaks, then the moat.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PRIORITIZED PLAN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90-day roadmap</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Ordered by impact over effort. Fix the data first (you cannot steer blind), then the two funnel leaks, then the moat.</a:t>
            </a:r>
          </a:p>
        </p:txBody>
      </p:sp>
      <p:sp>
        <p:nvSpPr>
          <p:cNvPr id="10" name="Rounded Rectangle 9"/>
          <p:cNvSpPr/>
          <p:nvPr/>
        </p:nvSpPr>
        <p:spPr>
          <a:xfrm>
            <a:off x="518007" y="2194560"/>
            <a:ext cx="3566160" cy="3200400"/>
          </a:xfrm>
          <a:prstGeom prst="roundRect">
            <a:avLst>
              <a:gd name="adj" fmla="val 5000"/>
            </a:avLst>
          </a:prstGeom>
          <a:solidFill>
            <a:srgbClr val="101010"/>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607" y="2395728"/>
            <a:ext cx="3108960" cy="228600"/>
          </a:xfrm>
          <a:prstGeom prst="rect">
            <a:avLst/>
          </a:prstGeom>
          <a:noFill/>
        </p:spPr>
        <p:txBody>
          <a:bodyPr wrap="square" lIns="0" rIns="0" tIns="0" bIns="0" anchor="t">
            <a:spAutoFit/>
          </a:bodyPr>
          <a:lstStyle/>
          <a:p>
            <a:pPr algn="l"/>
            <a:r>
              <a:rPr sz="900" b="1" i="0" spc="150">
                <a:solidFill>
                  <a:srgbClr val="999999"/>
                </a:solidFill>
                <a:latin typeface="Menlo"/>
              </a:rPr>
              <a:t>PHASE 1 · WEEKS 1-3</a:t>
            </a:r>
          </a:p>
        </p:txBody>
      </p:sp>
      <p:sp>
        <p:nvSpPr>
          <p:cNvPr id="12" name="TextBox 11"/>
          <p:cNvSpPr txBox="1"/>
          <p:nvPr/>
        </p:nvSpPr>
        <p:spPr>
          <a:xfrm>
            <a:off x="746607" y="2670048"/>
            <a:ext cx="3108960" cy="320040"/>
          </a:xfrm>
          <a:prstGeom prst="rect">
            <a:avLst/>
          </a:prstGeom>
          <a:noFill/>
        </p:spPr>
        <p:txBody>
          <a:bodyPr wrap="square" lIns="0" rIns="0" tIns="0" bIns="0" anchor="t">
            <a:spAutoFit/>
          </a:bodyPr>
          <a:lstStyle/>
          <a:p>
            <a:pPr algn="l"/>
            <a:r>
              <a:rPr sz="1500" b="1" i="0">
                <a:solidFill>
                  <a:srgbClr val="FFFFFF"/>
                </a:solidFill>
                <a:latin typeface="Helvetica Neue"/>
              </a:rPr>
              <a:t>Data &amp; free wins</a:t>
            </a:r>
          </a:p>
        </p:txBody>
      </p:sp>
      <p:sp>
        <p:nvSpPr>
          <p:cNvPr id="13" name="Rounded Rectangle 12"/>
          <p:cNvSpPr/>
          <p:nvPr/>
        </p:nvSpPr>
        <p:spPr>
          <a:xfrm>
            <a:off x="746607" y="3063240"/>
            <a:ext cx="2377440" cy="274320"/>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6607" y="3063240"/>
            <a:ext cx="2377440" cy="274320"/>
          </a:xfrm>
          <a:prstGeom prst="rect">
            <a:avLst/>
          </a:prstGeom>
          <a:noFill/>
        </p:spPr>
        <p:txBody>
          <a:bodyPr wrap="square" lIns="0" rIns="0" tIns="0" bIns="0" anchor="ctr">
            <a:spAutoFit/>
          </a:bodyPr>
          <a:lstStyle/>
          <a:p>
            <a:pPr algn="ctr"/>
            <a:r>
              <a:rPr sz="800" b="1" i="0" spc="100">
                <a:solidFill>
                  <a:srgbClr val="F7D007"/>
                </a:solidFill>
                <a:latin typeface="Helvetica Neue"/>
              </a:rPr>
              <a:t>ATTRIBUTION + TRUST</a:t>
            </a:r>
          </a:p>
        </p:txBody>
      </p:sp>
      <p:sp>
        <p:nvSpPr>
          <p:cNvPr id="15" name="TextBox 14"/>
          <p:cNvSpPr txBox="1"/>
          <p:nvPr/>
        </p:nvSpPr>
        <p:spPr>
          <a:xfrm>
            <a:off x="746607" y="3520440"/>
            <a:ext cx="3108960" cy="1737360"/>
          </a:xfrm>
          <a:prstGeom prst="rect">
            <a:avLst/>
          </a:prstGeom>
          <a:noFill/>
        </p:spPr>
        <p:txBody>
          <a:bodyPr wrap="square" lIns="0" rIns="0" tIns="0" bIns="0" anchor="t">
            <a:spAutoFit/>
          </a:bodyPr>
          <a:lstStyle/>
          <a:p>
            <a:pPr algn="l">
              <a:lnSpc>
                <a:spcPct val="125000"/>
              </a:lnSpc>
            </a:pPr>
            <a:r>
              <a:rPr sz="900" b="1" i="0">
                <a:solidFill>
                  <a:srgbClr val="EF4444"/>
                </a:solidFill>
                <a:latin typeface="Helvetica Neue"/>
              </a:rPr>
              <a:t>→  </a:t>
            </a:r>
            <a:r>
              <a:rPr sz="900" b="0" i="0">
                <a:solidFill>
                  <a:srgbClr val="CCCCCC"/>
                </a:solidFill>
                <a:latin typeface="Helvetica Neue"/>
              </a:rPr>
              <a:t>Fix "(not set)": Consent Mode v2 check, UTM enforcement, Meta CAPI</a:t>
            </a:r>
          </a:p>
          <a:p>
            <a:pPr algn="l">
              <a:lnSpc>
                <a:spcPct val="125000"/>
              </a:lnSpc>
            </a:pPr>
            <a:r>
              <a:rPr sz="900" b="1" i="0">
                <a:solidFill>
                  <a:srgbClr val="EF4444"/>
                </a:solidFill>
                <a:latin typeface="Helvetica Neue"/>
              </a:rPr>
              <a:t>→  </a:t>
            </a:r>
            <a:r>
              <a:rPr sz="900" b="0" i="0">
                <a:solidFill>
                  <a:srgbClr val="CCCCCC"/>
                </a:solidFill>
                <a:latin typeface="Helvetica Neue"/>
              </a:rPr>
              <a:t>Install Microsoft Clarity (free) ahead of testing</a:t>
            </a:r>
          </a:p>
          <a:p>
            <a:pPr algn="l">
              <a:lnSpc>
                <a:spcPct val="125000"/>
              </a:lnSpc>
            </a:pPr>
            <a:r>
              <a:rPr sz="900" b="1" i="0">
                <a:solidFill>
                  <a:srgbClr val="EF4444"/>
                </a:solidFill>
                <a:latin typeface="Helvetica Neue"/>
              </a:rPr>
              <a:t>→  </a:t>
            </a:r>
            <a:r>
              <a:rPr sz="900" b="0" i="0">
                <a:solidFill>
                  <a:srgbClr val="CCCCCC"/>
                </a:solidFill>
                <a:latin typeface="Helvetica Neue"/>
              </a:rPr>
              <a:t>Surface review stars + count at the KidsBuddy buy box</a:t>
            </a:r>
          </a:p>
          <a:p>
            <a:pPr algn="l">
              <a:lnSpc>
                <a:spcPct val="125000"/>
              </a:lnSpc>
            </a:pPr>
            <a:r>
              <a:rPr sz="900" b="1" i="0">
                <a:solidFill>
                  <a:srgbClr val="EF4444"/>
                </a:solidFill>
                <a:latin typeface="Helvetica Neue"/>
              </a:rPr>
              <a:t>→  </a:t>
            </a:r>
            <a:r>
              <a:rPr sz="900" b="0" i="0">
                <a:solidFill>
                  <a:srgbClr val="CCCCCC"/>
                </a:solidFill>
                <a:latin typeface="Helvetica Neue"/>
              </a:rPr>
              <a:t>Attach the 299 kr screen guarantee as a buy-box add-on</a:t>
            </a:r>
          </a:p>
          <a:p>
            <a:pPr algn="l">
              <a:lnSpc>
                <a:spcPct val="125000"/>
              </a:lnSpc>
            </a:pPr>
            <a:r>
              <a:rPr sz="900" b="1" i="0">
                <a:solidFill>
                  <a:srgbClr val="EF4444"/>
                </a:solidFill>
                <a:latin typeface="Helvetica Neue"/>
              </a:rPr>
              <a:t>→  </a:t>
            </a:r>
            <a:r>
              <a:rPr sz="900" b="0" i="0">
                <a:solidFill>
                  <a:srgbClr val="CCCCCC"/>
                </a:solidFill>
                <a:latin typeface="Helvetica Neue"/>
              </a:rPr>
              <a:t>Sharpen delivery line: "Bestil før kl. 14, afsendt i dag"</a:t>
            </a:r>
          </a:p>
        </p:txBody>
      </p:sp>
      <p:sp>
        <p:nvSpPr>
          <p:cNvPr id="16" name="Rounded Rectangle 15"/>
          <p:cNvSpPr/>
          <p:nvPr/>
        </p:nvSpPr>
        <p:spPr>
          <a:xfrm>
            <a:off x="4312767" y="2194560"/>
            <a:ext cx="3566160" cy="3200400"/>
          </a:xfrm>
          <a:prstGeom prst="roundRect">
            <a:avLst>
              <a:gd name="adj" fmla="val 5000"/>
            </a:avLst>
          </a:prstGeom>
          <a:solidFill>
            <a:srgbClr val="101010"/>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1367" y="2395728"/>
            <a:ext cx="3108960" cy="228600"/>
          </a:xfrm>
          <a:prstGeom prst="rect">
            <a:avLst/>
          </a:prstGeom>
          <a:noFill/>
        </p:spPr>
        <p:txBody>
          <a:bodyPr wrap="square" lIns="0" rIns="0" tIns="0" bIns="0" anchor="t">
            <a:spAutoFit/>
          </a:bodyPr>
          <a:lstStyle/>
          <a:p>
            <a:pPr algn="l"/>
            <a:r>
              <a:rPr sz="900" b="1" i="0" spc="150">
                <a:solidFill>
                  <a:srgbClr val="999999"/>
                </a:solidFill>
                <a:latin typeface="Menlo"/>
              </a:rPr>
              <a:t>PHASE 2 · WEEKS 4-7</a:t>
            </a:r>
          </a:p>
        </p:txBody>
      </p:sp>
      <p:sp>
        <p:nvSpPr>
          <p:cNvPr id="18" name="TextBox 17"/>
          <p:cNvSpPr txBox="1"/>
          <p:nvPr/>
        </p:nvSpPr>
        <p:spPr>
          <a:xfrm>
            <a:off x="4541367" y="2670048"/>
            <a:ext cx="3108960" cy="320040"/>
          </a:xfrm>
          <a:prstGeom prst="rect">
            <a:avLst/>
          </a:prstGeom>
          <a:noFill/>
        </p:spPr>
        <p:txBody>
          <a:bodyPr wrap="square" lIns="0" rIns="0" tIns="0" bIns="0" anchor="t">
            <a:spAutoFit/>
          </a:bodyPr>
          <a:lstStyle/>
          <a:p>
            <a:pPr algn="l"/>
            <a:r>
              <a:rPr sz="1500" b="1" i="0">
                <a:solidFill>
                  <a:srgbClr val="FFFFFF"/>
                </a:solidFill>
                <a:latin typeface="Helvetica Neue"/>
              </a:rPr>
              <a:t>Answer the doubt</a:t>
            </a:r>
          </a:p>
        </p:txBody>
      </p:sp>
      <p:sp>
        <p:nvSpPr>
          <p:cNvPr id="19" name="Rounded Rectangle 18"/>
          <p:cNvSpPr/>
          <p:nvPr/>
        </p:nvSpPr>
        <p:spPr>
          <a:xfrm>
            <a:off x="4541367" y="3063240"/>
            <a:ext cx="2377440" cy="274320"/>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1367" y="3063240"/>
            <a:ext cx="2377440" cy="274320"/>
          </a:xfrm>
          <a:prstGeom prst="rect">
            <a:avLst/>
          </a:prstGeom>
          <a:noFill/>
        </p:spPr>
        <p:txBody>
          <a:bodyPr wrap="square" lIns="0" rIns="0" tIns="0" bIns="0" anchor="ctr">
            <a:spAutoFit/>
          </a:bodyPr>
          <a:lstStyle/>
          <a:p>
            <a:pPr algn="ctr"/>
            <a:r>
              <a:rPr sz="800" b="1" i="0" spc="100">
                <a:solidFill>
                  <a:srgbClr val="F7D007"/>
                </a:solidFill>
                <a:latin typeface="Helvetica Neue"/>
              </a:rPr>
              <a:t>VIEW TO ATC</a:t>
            </a:r>
          </a:p>
        </p:txBody>
      </p:sp>
      <p:sp>
        <p:nvSpPr>
          <p:cNvPr id="21" name="TextBox 20"/>
          <p:cNvSpPr txBox="1"/>
          <p:nvPr/>
        </p:nvSpPr>
        <p:spPr>
          <a:xfrm>
            <a:off x="4541367" y="3520440"/>
            <a:ext cx="3108960" cy="1737360"/>
          </a:xfrm>
          <a:prstGeom prst="rect">
            <a:avLst/>
          </a:prstGeom>
          <a:noFill/>
        </p:spPr>
        <p:txBody>
          <a:bodyPr wrap="square" lIns="0" rIns="0" tIns="0" bIns="0" anchor="t">
            <a:spAutoFit/>
          </a:bodyPr>
          <a:lstStyle/>
          <a:p>
            <a:pPr algn="l">
              <a:lnSpc>
                <a:spcPct val="125000"/>
              </a:lnSpc>
            </a:pPr>
            <a:r>
              <a:rPr sz="900" b="1" i="0">
                <a:solidFill>
                  <a:srgbClr val="F59E0B"/>
                </a:solidFill>
                <a:latin typeface="Helvetica Neue"/>
              </a:rPr>
              <a:t>→  </a:t>
            </a:r>
            <a:r>
              <a:rPr sz="900" b="0" i="0">
                <a:solidFill>
                  <a:srgbClr val="CCCCCC"/>
                </a:solidFill>
                <a:latin typeface="Helvetica Neue"/>
              </a:rPr>
              <a:t>KidsBuddy PDP: real app screenshots + honest GPS expectations</a:t>
            </a:r>
          </a:p>
          <a:p>
            <a:pPr algn="l">
              <a:lnSpc>
                <a:spcPct val="125000"/>
              </a:lnSpc>
            </a:pPr>
            <a:r>
              <a:rPr sz="900" b="1" i="0">
                <a:solidFill>
                  <a:srgbClr val="F59E0B"/>
                </a:solidFill>
                <a:latin typeface="Helvetica Neue"/>
              </a:rPr>
              <a:t>→  </a:t>
            </a:r>
            <a:r>
              <a:rPr sz="900" b="0" i="0">
                <a:solidFill>
                  <a:srgbClr val="CCCCCC"/>
                </a:solidFill>
                <a:latin typeface="Helvetica Neue"/>
              </a:rPr>
              <a:t>20-30s demo video (GPS tracking + video call)</a:t>
            </a:r>
          </a:p>
          <a:p>
            <a:pPr algn="l">
              <a:lnSpc>
                <a:spcPct val="125000"/>
              </a:lnSpc>
            </a:pPr>
            <a:r>
              <a:rPr sz="900" b="1" i="0">
                <a:solidFill>
                  <a:srgbClr val="F59E0B"/>
                </a:solidFill>
                <a:latin typeface="Helvetica Neue"/>
              </a:rPr>
              <a:t>→  </a:t>
            </a:r>
            <a:r>
              <a:rPr sz="900" b="0" i="0">
                <a:solidFill>
                  <a:srgbClr val="CCCCCC"/>
                </a:solidFill>
                <a:latin typeface="Helvetica Neue"/>
              </a:rPr>
              <a:t>"749 kr once, ingen abonnement" comparison vs Xplora</a:t>
            </a:r>
          </a:p>
          <a:p>
            <a:pPr algn="l">
              <a:lnSpc>
                <a:spcPct val="125000"/>
              </a:lnSpc>
            </a:pPr>
            <a:r>
              <a:rPr sz="900" b="1" i="0">
                <a:solidFill>
                  <a:srgbClr val="F59E0B"/>
                </a:solidFill>
                <a:latin typeface="Helvetica Neue"/>
              </a:rPr>
              <a:t>→  </a:t>
            </a:r>
            <a:r>
              <a:rPr sz="900" b="0" i="0">
                <a:solidFill>
                  <a:srgbClr val="CCCCCC"/>
                </a:solidFill>
                <a:latin typeface="Helvetica Neue"/>
              </a:rPr>
              <a:t>Mobile checkout pass: MobilePay first, express pay above the form</a:t>
            </a:r>
          </a:p>
          <a:p>
            <a:pPr algn="l">
              <a:lnSpc>
                <a:spcPct val="125000"/>
              </a:lnSpc>
            </a:pPr>
            <a:r>
              <a:rPr sz="900" b="1" i="0">
                <a:solidFill>
                  <a:srgbClr val="F59E0B"/>
                </a:solidFill>
                <a:latin typeface="Helvetica Neue"/>
              </a:rPr>
              <a:t>→  </a:t>
            </a:r>
            <a:r>
              <a:rPr sz="900" b="0" i="0">
                <a:solidFill>
                  <a:srgbClr val="CCCCCC"/>
                </a:solidFill>
                <a:latin typeface="Helvetica Neue"/>
              </a:rPr>
              <a:t>Long-tail PDP template fix (Glimmt, Beamly, Stjernehimmel)</a:t>
            </a:r>
          </a:p>
        </p:txBody>
      </p:sp>
      <p:sp>
        <p:nvSpPr>
          <p:cNvPr id="22" name="Rounded Rectangle 21"/>
          <p:cNvSpPr/>
          <p:nvPr/>
        </p:nvSpPr>
        <p:spPr>
          <a:xfrm>
            <a:off x="8107527" y="2194560"/>
            <a:ext cx="3566160" cy="3200400"/>
          </a:xfrm>
          <a:prstGeom prst="roundRect">
            <a:avLst>
              <a:gd name="adj" fmla="val 5000"/>
            </a:avLst>
          </a:prstGeom>
          <a:solidFill>
            <a:srgbClr val="101010"/>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6127" y="2395728"/>
            <a:ext cx="3108960" cy="228600"/>
          </a:xfrm>
          <a:prstGeom prst="rect">
            <a:avLst/>
          </a:prstGeom>
          <a:noFill/>
        </p:spPr>
        <p:txBody>
          <a:bodyPr wrap="square" lIns="0" rIns="0" tIns="0" bIns="0" anchor="t">
            <a:spAutoFit/>
          </a:bodyPr>
          <a:lstStyle/>
          <a:p>
            <a:pPr algn="l"/>
            <a:r>
              <a:rPr sz="900" b="1" i="0" spc="150">
                <a:solidFill>
                  <a:srgbClr val="999999"/>
                </a:solidFill>
                <a:latin typeface="Menlo"/>
              </a:rPr>
              <a:t>PHASE 3 · WEEKS 8-12</a:t>
            </a:r>
          </a:p>
        </p:txBody>
      </p:sp>
      <p:sp>
        <p:nvSpPr>
          <p:cNvPr id="24" name="TextBox 23"/>
          <p:cNvSpPr txBox="1"/>
          <p:nvPr/>
        </p:nvSpPr>
        <p:spPr>
          <a:xfrm>
            <a:off x="8336127" y="2670048"/>
            <a:ext cx="3108960" cy="320040"/>
          </a:xfrm>
          <a:prstGeom prst="rect">
            <a:avLst/>
          </a:prstGeom>
          <a:noFill/>
        </p:spPr>
        <p:txBody>
          <a:bodyPr wrap="square" lIns="0" rIns="0" tIns="0" bIns="0" anchor="t">
            <a:spAutoFit/>
          </a:bodyPr>
          <a:lstStyle/>
          <a:p>
            <a:pPr algn="l"/>
            <a:r>
              <a:rPr sz="1500" b="1" i="0">
                <a:solidFill>
                  <a:srgbClr val="FFFFFF"/>
                </a:solidFill>
                <a:latin typeface="Helvetica Neue"/>
              </a:rPr>
              <a:t>Retention &amp; the moat</a:t>
            </a:r>
          </a:p>
        </p:txBody>
      </p:sp>
      <p:sp>
        <p:nvSpPr>
          <p:cNvPr id="25" name="Rounded Rectangle 24"/>
          <p:cNvSpPr/>
          <p:nvPr/>
        </p:nvSpPr>
        <p:spPr>
          <a:xfrm>
            <a:off x="8336127" y="3063240"/>
            <a:ext cx="2377440" cy="274320"/>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6127" y="3063240"/>
            <a:ext cx="2377440" cy="274320"/>
          </a:xfrm>
          <a:prstGeom prst="rect">
            <a:avLst/>
          </a:prstGeom>
          <a:noFill/>
        </p:spPr>
        <p:txBody>
          <a:bodyPr wrap="square" lIns="0" rIns="0" tIns="0" bIns="0" anchor="ctr">
            <a:spAutoFit/>
          </a:bodyPr>
          <a:lstStyle/>
          <a:p>
            <a:pPr algn="ctr"/>
            <a:r>
              <a:rPr sz="800" b="1" i="0" spc="100">
                <a:solidFill>
                  <a:srgbClr val="F7D007"/>
                </a:solidFill>
                <a:latin typeface="Helvetica Neue"/>
              </a:rPr>
              <a:t>COMPOUNDING</a:t>
            </a:r>
          </a:p>
        </p:txBody>
      </p:sp>
      <p:sp>
        <p:nvSpPr>
          <p:cNvPr id="27" name="TextBox 26"/>
          <p:cNvSpPr txBox="1"/>
          <p:nvPr/>
        </p:nvSpPr>
        <p:spPr>
          <a:xfrm>
            <a:off x="8336127" y="3520440"/>
            <a:ext cx="3108960" cy="1737360"/>
          </a:xfrm>
          <a:prstGeom prst="rect">
            <a:avLst/>
          </a:prstGeom>
          <a:noFill/>
        </p:spPr>
        <p:txBody>
          <a:bodyPr wrap="square" lIns="0" rIns="0" tIns="0" bIns="0" anchor="t">
            <a:spAutoFit/>
          </a:bodyPr>
          <a:lstStyle/>
          <a:p>
            <a:pPr algn="l">
              <a:lnSpc>
                <a:spcPct val="125000"/>
              </a:lnSpc>
            </a:pPr>
            <a:r>
              <a:rPr sz="900" b="1" i="0">
                <a:solidFill>
                  <a:srgbClr val="22C55E"/>
                </a:solidFill>
                <a:latin typeface="Helvetica Neue"/>
              </a:rPr>
              <a:t>→  </a:t>
            </a:r>
            <a:r>
              <a:rPr sz="900" b="0" i="0">
                <a:solidFill>
                  <a:srgbClr val="CCCCCC"/>
                </a:solidFill>
                <a:latin typeface="Helvetica Neue"/>
              </a:rPr>
              <a:t>Klaviyo flows: post-purchase, browse abandon, guarantee offer</a:t>
            </a:r>
          </a:p>
          <a:p>
            <a:pPr algn="l">
              <a:lnSpc>
                <a:spcPct val="125000"/>
              </a:lnSpc>
            </a:pPr>
            <a:r>
              <a:rPr sz="900" b="1" i="0">
                <a:solidFill>
                  <a:srgbClr val="22C55E"/>
                </a:solidFill>
                <a:latin typeface="Helvetica Neue"/>
              </a:rPr>
              <a:t>→  </a:t>
            </a:r>
            <a:r>
              <a:rPr sz="900" b="0" i="0">
                <a:solidFill>
                  <a:srgbClr val="CCCCCC"/>
                </a:solidFill>
                <a:latin typeface="Helvetica Neue"/>
              </a:rPr>
              <a:t>Reklamation policy: refund before gift card, always</a:t>
            </a:r>
          </a:p>
          <a:p>
            <a:pPr algn="l">
              <a:lnSpc>
                <a:spcPct val="125000"/>
              </a:lnSpc>
            </a:pPr>
            <a:r>
              <a:rPr sz="900" b="1" i="0">
                <a:solidFill>
                  <a:srgbClr val="22C55E"/>
                </a:solidFill>
                <a:latin typeface="Helvetica Neue"/>
              </a:rPr>
              <a:t>→  </a:t>
            </a:r>
            <a:r>
              <a:rPr sz="900" b="0" i="0">
                <a:solidFill>
                  <a:srgbClr val="CCCCCC"/>
                </a:solidFill>
                <a:latin typeface="Helvetica Neue"/>
              </a:rPr>
              <a:t>e-mærket badge + Danish service block near ATC</a:t>
            </a:r>
          </a:p>
          <a:p>
            <a:pPr algn="l">
              <a:lnSpc>
                <a:spcPct val="125000"/>
              </a:lnSpc>
            </a:pPr>
            <a:r>
              <a:rPr sz="900" b="1" i="0">
                <a:solidFill>
                  <a:srgbClr val="22C55E"/>
                </a:solidFill>
                <a:latin typeface="Helvetica Neue"/>
              </a:rPr>
              <a:t>→  </a:t>
            </a:r>
            <a:r>
              <a:rPr sz="900" b="0" i="0">
                <a:solidFill>
                  <a:srgbClr val="CCCCCC"/>
                </a:solidFill>
                <a:latin typeface="Helvetica Neue"/>
              </a:rPr>
              <a:t>PDP speed pass: image stack + app audit, verify in CrUX</a:t>
            </a:r>
          </a:p>
          <a:p>
            <a:pPr algn="l">
              <a:lnSpc>
                <a:spcPct val="125000"/>
              </a:lnSpc>
            </a:pPr>
            <a:r>
              <a:rPr sz="900" b="1" i="0">
                <a:solidFill>
                  <a:srgbClr val="22C55E"/>
                </a:solidFill>
                <a:latin typeface="Helvetica Neue"/>
              </a:rPr>
              <a:t>→  </a:t>
            </a:r>
            <a:r>
              <a:rPr sz="900" b="0" i="0">
                <a:solidFill>
                  <a:srgbClr val="CCCCCC"/>
                </a:solidFill>
                <a:latin typeface="Helvetica Neue"/>
              </a:rPr>
              <a:t>Collection page: category filters + review stars on cards</a:t>
            </a:r>
          </a:p>
        </p:txBody>
      </p:sp>
      <p:sp>
        <p:nvSpPr>
          <p:cNvPr id="28" name="Rounded Rectangle 27"/>
          <p:cNvSpPr/>
          <p:nvPr/>
        </p:nvSpPr>
        <p:spPr>
          <a:xfrm>
            <a:off x="1097280" y="5623560"/>
            <a:ext cx="9997135" cy="64008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5760720"/>
            <a:ext cx="9539935" cy="36576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Conservative target: </a:t>
            </a:r>
            <a:r>
              <a:rPr sz="1100" b="0" i="0">
                <a:solidFill>
                  <a:srgbClr val="CCCCCC"/>
                </a:solidFill>
                <a:latin typeface="Helvetica Neue"/>
              </a:rPr>
              <a:t>the two funnel fixes alone (View to ATC 7.2% to 9.0%, mobile checkout 45.3% to 55%) are worth Est. 250,000 to 400,000 DKK per quarter at the current 632 DKK AOV.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EXECUTION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Just ship vs A/B test</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Some fixes are obviously correct with no downside. Others change the buying experience enough to deserve a measured test against the 3.04% baseline.</a:t>
            </a:r>
          </a:p>
        </p:txBody>
      </p:sp>
      <p:sp>
        <p:nvSpPr>
          <p:cNvPr id="10" name="Rounded Rectangle 9"/>
          <p:cNvSpPr/>
          <p:nvPr/>
        </p:nvSpPr>
        <p:spPr>
          <a:xfrm>
            <a:off x="655167" y="2011680"/>
            <a:ext cx="5257800" cy="3566160"/>
          </a:xfrm>
          <a:prstGeom prst="roundRect">
            <a:avLst>
              <a:gd name="adj" fmla="val 3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199" y="2212848"/>
            <a:ext cx="4800600" cy="274320"/>
          </a:xfrm>
          <a:prstGeom prst="rect">
            <a:avLst/>
          </a:prstGeom>
          <a:noFill/>
        </p:spPr>
        <p:txBody>
          <a:bodyPr wrap="square" lIns="0" rIns="0" tIns="0" bIns="0" anchor="t">
            <a:spAutoFit/>
          </a:bodyPr>
          <a:lstStyle/>
          <a:p>
            <a:pPr algn="l"/>
            <a:r>
              <a:rPr sz="1100" b="1" i="0" spc="150">
                <a:solidFill>
                  <a:srgbClr val="F7D007"/>
                </a:solidFill>
                <a:latin typeface="Helvetica Neue"/>
              </a:rPr>
              <a:t>JUST SHIP  ·  no downside</a:t>
            </a:r>
          </a:p>
        </p:txBody>
      </p:sp>
      <p:sp>
        <p:nvSpPr>
          <p:cNvPr id="12" name="TextBox 11"/>
          <p:cNvSpPr txBox="1"/>
          <p:nvPr/>
        </p:nvSpPr>
        <p:spPr>
          <a:xfrm>
            <a:off x="911199" y="2560320"/>
            <a:ext cx="4754880" cy="2834640"/>
          </a:xfrm>
          <a:prstGeom prst="rect">
            <a:avLst/>
          </a:prstGeom>
          <a:noFill/>
        </p:spPr>
        <p:txBody>
          <a:bodyPr wrap="square" lIns="0" rIns="0" tIns="0" bIns="0" anchor="t">
            <a:spAutoFit/>
          </a:bodyPr>
          <a:lstStyle/>
          <a:p>
            <a:pPr algn="l">
              <a:lnSpc>
                <a:spcPct val="135000"/>
              </a:lnSpc>
            </a:pPr>
            <a:r>
              <a:rPr sz="1050" b="1" i="0">
                <a:solidFill>
                  <a:srgbClr val="F7D007"/>
                </a:solidFill>
                <a:latin typeface="Helvetica Neue"/>
              </a:rPr>
              <a:t>•  </a:t>
            </a:r>
            <a:r>
              <a:rPr sz="1050" b="0" i="0">
                <a:solidFill>
                  <a:srgbClr val="CCCCCC"/>
                </a:solidFill>
                <a:latin typeface="Helvetica Neue"/>
              </a:rPr>
              <a:t>Consent / UTM / CAPI attribution repair</a:t>
            </a:r>
          </a:p>
          <a:p>
            <a:pPr algn="l">
              <a:lnSpc>
                <a:spcPct val="135000"/>
              </a:lnSpc>
            </a:pPr>
            <a:r>
              <a:rPr sz="1050" b="1" i="0">
                <a:solidFill>
                  <a:srgbClr val="F7D007"/>
                </a:solidFill>
                <a:latin typeface="Helvetica Neue"/>
              </a:rPr>
              <a:t>•  </a:t>
            </a:r>
            <a:r>
              <a:rPr sz="1050" b="0" i="0">
                <a:solidFill>
                  <a:srgbClr val="CCCCCC"/>
                </a:solidFill>
                <a:latin typeface="Helvetica Neue"/>
              </a:rPr>
              <a:t>Install Clarity, baseline recordings</a:t>
            </a:r>
          </a:p>
          <a:p>
            <a:pPr algn="l">
              <a:lnSpc>
                <a:spcPct val="135000"/>
              </a:lnSpc>
            </a:pPr>
            <a:r>
              <a:rPr sz="1050" b="1" i="0">
                <a:solidFill>
                  <a:srgbClr val="F7D007"/>
                </a:solidFill>
                <a:latin typeface="Helvetica Neue"/>
              </a:rPr>
              <a:t>•  </a:t>
            </a:r>
            <a:r>
              <a:rPr sz="1050" b="0" i="0">
                <a:solidFill>
                  <a:srgbClr val="CCCCCC"/>
                </a:solidFill>
                <a:latin typeface="Helvetica Neue"/>
              </a:rPr>
              <a:t>Review stars + count at buy box</a:t>
            </a:r>
          </a:p>
          <a:p>
            <a:pPr algn="l">
              <a:lnSpc>
                <a:spcPct val="135000"/>
              </a:lnSpc>
            </a:pPr>
            <a:r>
              <a:rPr sz="1050" b="1" i="0">
                <a:solidFill>
                  <a:srgbClr val="F7D007"/>
                </a:solidFill>
                <a:latin typeface="Helvetica Neue"/>
              </a:rPr>
              <a:t>•  </a:t>
            </a:r>
            <a:r>
              <a:rPr sz="1050" b="0" i="0">
                <a:solidFill>
                  <a:srgbClr val="CCCCCC"/>
                </a:solidFill>
                <a:latin typeface="Helvetica Neue"/>
              </a:rPr>
              <a:t>Refund before gift card at reklamation</a:t>
            </a:r>
          </a:p>
          <a:p>
            <a:pPr algn="l">
              <a:lnSpc>
                <a:spcPct val="135000"/>
              </a:lnSpc>
            </a:pPr>
            <a:r>
              <a:rPr sz="1050" b="1" i="0">
                <a:solidFill>
                  <a:srgbClr val="F7D007"/>
                </a:solidFill>
                <a:latin typeface="Helvetica Neue"/>
              </a:rPr>
              <a:t>•  </a:t>
            </a:r>
            <a:r>
              <a:rPr sz="1050" b="0" i="0">
                <a:solidFill>
                  <a:srgbClr val="CCCCCC"/>
                </a:solidFill>
                <a:latin typeface="Helvetica Neue"/>
              </a:rPr>
              <a:t>PDP image/app weight pass</a:t>
            </a:r>
          </a:p>
        </p:txBody>
      </p:sp>
      <p:sp>
        <p:nvSpPr>
          <p:cNvPr id="13" name="Rounded Rectangle 12"/>
          <p:cNvSpPr/>
          <p:nvPr/>
        </p:nvSpPr>
        <p:spPr>
          <a:xfrm>
            <a:off x="6278727" y="2011680"/>
            <a:ext cx="5257800" cy="3566160"/>
          </a:xfrm>
          <a:prstGeom prst="roundRect">
            <a:avLst>
              <a:gd name="adj" fmla="val 3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4759" y="2212848"/>
            <a:ext cx="4800600" cy="274320"/>
          </a:xfrm>
          <a:prstGeom prst="rect">
            <a:avLst/>
          </a:prstGeom>
          <a:noFill/>
        </p:spPr>
        <p:txBody>
          <a:bodyPr wrap="square" lIns="0" rIns="0" tIns="0" bIns="0" anchor="t">
            <a:spAutoFit/>
          </a:bodyPr>
          <a:lstStyle/>
          <a:p>
            <a:pPr algn="l"/>
            <a:r>
              <a:rPr sz="1100" b="1" i="0" spc="150">
                <a:solidFill>
                  <a:srgbClr val="F7D007"/>
                </a:solidFill>
                <a:latin typeface="Helvetica Neue"/>
              </a:rPr>
              <a:t>A/B TEST  ·  measure it</a:t>
            </a:r>
          </a:p>
        </p:txBody>
      </p:sp>
      <p:sp>
        <p:nvSpPr>
          <p:cNvPr id="15" name="TextBox 14"/>
          <p:cNvSpPr txBox="1"/>
          <p:nvPr/>
        </p:nvSpPr>
        <p:spPr>
          <a:xfrm>
            <a:off x="6534759" y="2560320"/>
            <a:ext cx="4754880" cy="2834640"/>
          </a:xfrm>
          <a:prstGeom prst="rect">
            <a:avLst/>
          </a:prstGeom>
          <a:noFill/>
        </p:spPr>
        <p:txBody>
          <a:bodyPr wrap="square" lIns="0" rIns="0" tIns="0" bIns="0" anchor="t">
            <a:spAutoFit/>
          </a:bodyPr>
          <a:lstStyle/>
          <a:p>
            <a:pPr algn="l">
              <a:lnSpc>
                <a:spcPct val="135000"/>
              </a:lnSpc>
            </a:pPr>
            <a:r>
              <a:rPr sz="1050" b="1" i="0">
                <a:solidFill>
                  <a:srgbClr val="F7D007"/>
                </a:solidFill>
                <a:latin typeface="Helvetica Neue"/>
              </a:rPr>
              <a:t>1.  </a:t>
            </a:r>
            <a:r>
              <a:rPr sz="1050" b="0" i="0">
                <a:solidFill>
                  <a:srgbClr val="CCCCCC"/>
                </a:solidFill>
                <a:latin typeface="Helvetica Neue"/>
              </a:rPr>
              <a:t>Screen guarantee as buy-box add-on (AOV)</a:t>
            </a:r>
          </a:p>
          <a:p>
            <a:pPr algn="l">
              <a:lnSpc>
                <a:spcPct val="135000"/>
              </a:lnSpc>
            </a:pPr>
            <a:r>
              <a:rPr sz="1050" b="1" i="0">
                <a:solidFill>
                  <a:srgbClr val="F7D007"/>
                </a:solidFill>
                <a:latin typeface="Helvetica Neue"/>
              </a:rPr>
              <a:t>2.  </a:t>
            </a:r>
            <a:r>
              <a:rPr sz="1050" b="0" i="0">
                <a:solidFill>
                  <a:srgbClr val="CCCCCC"/>
                </a:solidFill>
                <a:latin typeface="Helvetica Neue"/>
              </a:rPr>
              <a:t>GPS expectations + app screens block (View to ATC)</a:t>
            </a:r>
          </a:p>
          <a:p>
            <a:pPr algn="l">
              <a:lnSpc>
                <a:spcPct val="135000"/>
              </a:lnSpc>
            </a:pPr>
            <a:r>
              <a:rPr sz="1050" b="1" i="0">
                <a:solidFill>
                  <a:srgbClr val="F7D007"/>
                </a:solidFill>
                <a:latin typeface="Helvetica Neue"/>
              </a:rPr>
              <a:t>3.  </a:t>
            </a:r>
            <a:r>
              <a:rPr sz="1050" b="0" i="0">
                <a:solidFill>
                  <a:srgbClr val="CCCCCC"/>
                </a:solidFill>
                <a:latin typeface="Helvetica Neue"/>
              </a:rPr>
              <a:t>Anti-subscription comparison vs Xplora (View to ATC)</a:t>
            </a:r>
          </a:p>
          <a:p>
            <a:pPr algn="l">
              <a:lnSpc>
                <a:spcPct val="135000"/>
              </a:lnSpc>
            </a:pPr>
            <a:r>
              <a:rPr sz="1050" b="1" i="0">
                <a:solidFill>
                  <a:srgbClr val="F7D007"/>
                </a:solidFill>
                <a:latin typeface="Helvetica Neue"/>
              </a:rPr>
              <a:t>4.  </a:t>
            </a:r>
            <a:r>
              <a:rPr sz="1050" b="0" i="0">
                <a:solidFill>
                  <a:srgbClr val="CCCCCC"/>
                </a:solidFill>
                <a:latin typeface="Helvetica Neue"/>
              </a:rPr>
              <a:t>Demo video in PDP gallery (View to ATC)</a:t>
            </a:r>
          </a:p>
          <a:p>
            <a:pPr algn="l">
              <a:lnSpc>
                <a:spcPct val="135000"/>
              </a:lnSpc>
            </a:pPr>
            <a:r>
              <a:rPr sz="1050" b="1" i="0">
                <a:solidFill>
                  <a:srgbClr val="F7D007"/>
                </a:solidFill>
                <a:latin typeface="Helvetica Neue"/>
              </a:rPr>
              <a:t>5.  </a:t>
            </a:r>
            <a:r>
              <a:rPr sz="1050" b="0" i="0">
                <a:solidFill>
                  <a:srgbClr val="CCCCCC"/>
                </a:solidFill>
                <a:latin typeface="Helvetica Neue"/>
              </a:rPr>
              <a:t>Mobile checkout: express pay first (checkout CVR)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SUMMARY SCORECARD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tech-shoppen.dk at a glance</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Where the store stands today against the dimensions that decide conversion for kids gadgets, with the evidence behind each.</a:t>
            </a:r>
          </a:p>
        </p:txBody>
      </p:sp>
      <p:graphicFrame>
        <p:nvGraphicFramePr>
          <p:cNvPr id="10" name="Table 9"/>
          <p:cNvGraphicFramePr>
            <a:graphicFrameLocks noGrp="1"/>
          </p:cNvGraphicFramePr>
          <p:nvPr/>
        </p:nvGraphicFramePr>
        <p:xfrm>
          <a:off x="822960" y="2103120"/>
          <a:ext cx="10515600" cy="3621024"/>
        </p:xfrm>
        <a:graphic>
          <a:graphicData uri="http://schemas.openxmlformats.org/drawingml/2006/table">
            <a:tbl>
              <a:tblPr>
                <a:tableStyleId>{5C22544A-7EE6-4342-B048-85BDC9FD1C3A}</a:tableStyleId>
              </a:tblPr>
              <a:tblGrid>
                <a:gridCol w="2377440"/>
                <a:gridCol w="1371600"/>
                <a:gridCol w="5212080"/>
                <a:gridCol w="1554480"/>
              </a:tblGrid>
              <a:tr h="329184">
                <a:tc>
                  <a:txBody>
                    <a:bodyPr/>
                    <a:lstStyle/>
                    <a:p>
                      <a:pPr algn="l"/>
                      <a:r>
                        <a:rPr sz="850" b="1">
                          <a:solidFill>
                            <a:srgbClr val="999999"/>
                          </a:solidFill>
                          <a:latin typeface="Helvetica Neue"/>
                        </a:rPr>
                        <a:t>Dimension</a:t>
                      </a:r>
                    </a:p>
                  </a:txBody>
                  <a:tcPr marL="73152" marR="45720" marT="18288" marB="18288" anchor="ctr">
                    <a:solidFill>
                      <a:srgbClr val="0A0A0A"/>
                    </a:solidFill>
                  </a:tcPr>
                </a:tc>
                <a:tc>
                  <a:txBody>
                    <a:bodyPr/>
                    <a:lstStyle/>
                    <a:p>
                      <a:pPr algn="ctr"/>
                      <a:r>
                        <a:rPr sz="850" b="1">
                          <a:solidFill>
                            <a:srgbClr val="999999"/>
                          </a:solidFill>
                          <a:latin typeface="Helvetica Neue"/>
                        </a:rPr>
                        <a:t>Today</a:t>
                      </a:r>
                    </a:p>
                  </a:txBody>
                  <a:tcPr marL="73152" marR="45720" marT="18288" marB="18288" anchor="ctr">
                    <a:solidFill>
                      <a:srgbClr val="0A0A0A"/>
                    </a:solidFill>
                  </a:tcPr>
                </a:tc>
                <a:tc>
                  <a:txBody>
                    <a:bodyPr/>
                    <a:lstStyle/>
                    <a:p>
                      <a:pPr algn="ctr"/>
                      <a:r>
                        <a:rPr sz="850" b="1">
                          <a:solidFill>
                            <a:srgbClr val="999999"/>
                          </a:solidFill>
                          <a:latin typeface="Helvetica Neue"/>
                        </a:rPr>
                        <a:t>Evidence</a:t>
                      </a:r>
                    </a:p>
                  </a:txBody>
                  <a:tcPr marL="73152" marR="45720" marT="18288" marB="18288" anchor="ctr">
                    <a:solidFill>
                      <a:srgbClr val="0A0A0A"/>
                    </a:solidFill>
                  </a:tcPr>
                </a:tc>
                <a:tc>
                  <a:txBody>
                    <a:bodyPr/>
                    <a:lstStyle/>
                    <a:p>
                      <a:pPr algn="ctr"/>
                      <a:r>
                        <a:rPr sz="850" b="1">
                          <a:solidFill>
                            <a:srgbClr val="999999"/>
                          </a:solidFill>
                          <a:latin typeface="Helvetica Neue"/>
                        </a:rPr>
                        <a:t>Priority</a:t>
                      </a:r>
                    </a:p>
                  </a:txBody>
                  <a:tcPr marL="73152" marR="45720" marT="18288" marB="18288" anchor="ctr">
                    <a:solidFill>
                      <a:srgbClr val="0A0A0A"/>
                    </a:solidFill>
                  </a:tcPr>
                </a:tc>
              </a:tr>
              <a:tr h="329184">
                <a:tc>
                  <a:txBody>
                    <a:bodyPr/>
                    <a:lstStyle/>
                    <a:p>
                      <a:pPr algn="l"/>
                      <a:r>
                        <a:rPr sz="900" b="0">
                          <a:solidFill>
                            <a:srgbClr val="CCCCCC"/>
                          </a:solidFill>
                          <a:latin typeface="Helvetica Neue"/>
                        </a:rPr>
                        <a:t>Attribution &amp; data trust</a:t>
                      </a:r>
                    </a:p>
                  </a:txBody>
                  <a:tcPr marL="73152" marR="45720" marT="18288" marB="18288" anchor="ctr">
                    <a:solidFill>
                      <a:srgbClr val="0D0D0D"/>
                    </a:solidFill>
                  </a:tcPr>
                </a:tc>
                <a:tc>
                  <a:txBody>
                    <a:bodyPr/>
                    <a:lstStyle/>
                    <a:p>
                      <a:pPr algn="ctr"/>
                      <a:r>
                        <a:rPr sz="900" b="1">
                          <a:solidFill>
                            <a:srgbClr val="EF4444"/>
                          </a:solidFill>
                          <a:latin typeface="Helvetica Neue"/>
                        </a:rPr>
                        <a:t>Broken</a:t>
                      </a:r>
                    </a:p>
                  </a:txBody>
                  <a:tcPr marL="73152" marR="45720" marT="18288" marB="18288" anchor="ctr">
                    <a:solidFill>
                      <a:srgbClr val="0D0D0D"/>
                    </a:solidFill>
                  </a:tcPr>
                </a:tc>
                <a:tc>
                  <a:txBody>
                    <a:bodyPr/>
                    <a:lstStyle/>
                    <a:p>
                      <a:pPr algn="ctr"/>
                      <a:r>
                        <a:rPr sz="900" b="0">
                          <a:solidFill>
                            <a:srgbClr val="CCCCCC"/>
                          </a:solidFill>
                          <a:latin typeface="Helvetica Neue"/>
                        </a:rPr>
                        <a:t>498 of 1,496 orders in "(not set)"; 1,863 sessions with no landing page</a:t>
                      </a:r>
                    </a:p>
                  </a:txBody>
                  <a:tcPr marL="73152" marR="45720" marT="18288" marB="18288" anchor="ctr">
                    <a:solidFill>
                      <a:srgbClr val="0D0D0D"/>
                    </a:solidFill>
                  </a:tcPr>
                </a:tc>
                <a:tc>
                  <a:txBody>
                    <a:bodyPr/>
                    <a:lstStyle/>
                    <a:p>
                      <a:pPr algn="ctr"/>
                      <a:r>
                        <a:rPr sz="900" b="1">
                          <a:solidFill>
                            <a:srgbClr val="EF4444"/>
                          </a:solidFill>
                          <a:latin typeface="Helvetica Neue"/>
                        </a:rPr>
                        <a:t>P1</a:t>
                      </a:r>
                    </a:p>
                  </a:txBody>
                  <a:tcPr marL="73152" marR="45720" marT="18288" marB="18288" anchor="ctr">
                    <a:solidFill>
                      <a:srgbClr val="0D0D0D"/>
                    </a:solidFill>
                  </a:tcPr>
                </a:tc>
              </a:tr>
              <a:tr h="329184">
                <a:tc>
                  <a:txBody>
                    <a:bodyPr/>
                    <a:lstStyle/>
                    <a:p>
                      <a:pPr algn="l"/>
                      <a:r>
                        <a:rPr sz="900" b="0">
                          <a:solidFill>
                            <a:srgbClr val="CCCCCC"/>
                          </a:solidFill>
                          <a:latin typeface="Helvetica Neue"/>
                        </a:rPr>
                        <a:t>View to Add-to-Cart</a:t>
                      </a:r>
                    </a:p>
                  </a:txBody>
                  <a:tcPr marL="73152" marR="45720" marT="18288" marB="18288" anchor="ctr">
                    <a:solidFill>
                      <a:srgbClr val="080808"/>
                    </a:solidFill>
                  </a:tcPr>
                </a:tc>
                <a:tc>
                  <a:txBody>
                    <a:bodyPr/>
                    <a:lstStyle/>
                    <a:p>
                      <a:pPr algn="ctr"/>
                      <a:r>
                        <a:rPr sz="900" b="1">
                          <a:solidFill>
                            <a:srgbClr val="EF4444"/>
                          </a:solidFill>
                          <a:latin typeface="Helvetica Neue"/>
                        </a:rPr>
                        <a:t>Critical</a:t>
                      </a:r>
                    </a:p>
                  </a:txBody>
                  <a:tcPr marL="73152" marR="45720" marT="18288" marB="18288" anchor="ctr">
                    <a:solidFill>
                      <a:srgbClr val="080808"/>
                    </a:solidFill>
                  </a:tcPr>
                </a:tc>
                <a:tc>
                  <a:txBody>
                    <a:bodyPr/>
                    <a:lstStyle/>
                    <a:p>
                      <a:pPr algn="ctr"/>
                      <a:r>
                        <a:rPr sz="900" b="0">
                          <a:solidFill>
                            <a:srgbClr val="CCCCCC"/>
                          </a:solidFill>
                          <a:latin typeface="Helvetica Neue"/>
                        </a:rPr>
                        <a:t>92.8% of product viewers never add (GA4 sequential funnel)</a:t>
                      </a:r>
                    </a:p>
                  </a:txBody>
                  <a:tcPr marL="73152" marR="45720" marT="18288" marB="18288" anchor="ctr">
                    <a:solidFill>
                      <a:srgbClr val="080808"/>
                    </a:solidFill>
                  </a:tcPr>
                </a:tc>
                <a:tc>
                  <a:txBody>
                    <a:bodyPr/>
                    <a:lstStyle/>
                    <a:p>
                      <a:pPr algn="ctr"/>
                      <a:r>
                        <a:rPr sz="900" b="1">
                          <a:solidFill>
                            <a:srgbClr val="EF4444"/>
                          </a:solidFill>
                          <a:latin typeface="Helvetica Neue"/>
                        </a:rPr>
                        <a:t>P1</a:t>
                      </a:r>
                    </a:p>
                  </a:txBody>
                  <a:tcPr marL="73152" marR="45720" marT="18288" marB="18288" anchor="ctr">
                    <a:solidFill>
                      <a:srgbClr val="080808"/>
                    </a:solidFill>
                  </a:tcPr>
                </a:tc>
              </a:tr>
              <a:tr h="329184">
                <a:tc>
                  <a:txBody>
                    <a:bodyPr/>
                    <a:lstStyle/>
                    <a:p>
                      <a:pPr algn="l"/>
                      <a:r>
                        <a:rPr sz="900" b="0">
                          <a:solidFill>
                            <a:srgbClr val="CCCCCC"/>
                          </a:solidFill>
                          <a:latin typeface="Helvetica Neue"/>
                        </a:rPr>
                        <a:t>Proof at the buy box</a:t>
                      </a:r>
                    </a:p>
                  </a:txBody>
                  <a:tcPr marL="73152" marR="45720" marT="18288" marB="18288" anchor="ctr">
                    <a:solidFill>
                      <a:srgbClr val="0D0D0D"/>
                    </a:solidFill>
                  </a:tcPr>
                </a:tc>
                <a:tc>
                  <a:txBody>
                    <a:bodyPr/>
                    <a:lstStyle/>
                    <a:p>
                      <a:pPr algn="ctr"/>
                      <a:r>
                        <a:rPr sz="900" b="1">
                          <a:solidFill>
                            <a:srgbClr val="EF4444"/>
                          </a:solidFill>
                          <a:latin typeface="Helvetica Neue"/>
                        </a:rPr>
                        <a:t>Missing</a:t>
                      </a:r>
                    </a:p>
                  </a:txBody>
                  <a:tcPr marL="73152" marR="45720" marT="18288" marB="18288" anchor="ctr">
                    <a:solidFill>
                      <a:srgbClr val="0D0D0D"/>
                    </a:solidFill>
                  </a:tcPr>
                </a:tc>
                <a:tc>
                  <a:txBody>
                    <a:bodyPr/>
                    <a:lstStyle/>
                    <a:p>
                      <a:pPr algn="ctr"/>
                      <a:r>
                        <a:rPr sz="900" b="0">
                          <a:solidFill>
                            <a:srgbClr val="CCCCCC"/>
                          </a:solidFill>
                          <a:latin typeface="Helvetica Neue"/>
                        </a:rPr>
                        <a:t>No review count near ATC while the twin shows "2,200+ parents"</a:t>
                      </a:r>
                    </a:p>
                  </a:txBody>
                  <a:tcPr marL="73152" marR="45720" marT="18288" marB="18288" anchor="ctr">
                    <a:solidFill>
                      <a:srgbClr val="0D0D0D"/>
                    </a:solidFill>
                  </a:tcPr>
                </a:tc>
                <a:tc>
                  <a:txBody>
                    <a:bodyPr/>
                    <a:lstStyle/>
                    <a:p>
                      <a:pPr algn="ctr"/>
                      <a:r>
                        <a:rPr sz="900" b="1">
                          <a:solidFill>
                            <a:srgbClr val="EF4444"/>
                          </a:solidFill>
                          <a:latin typeface="Helvetica Neue"/>
                        </a:rPr>
                        <a:t>P1</a:t>
                      </a:r>
                    </a:p>
                  </a:txBody>
                  <a:tcPr marL="73152" marR="45720" marT="18288" marB="18288" anchor="ctr">
                    <a:solidFill>
                      <a:srgbClr val="0D0D0D"/>
                    </a:solidFill>
                  </a:tcPr>
                </a:tc>
              </a:tr>
              <a:tr h="329184">
                <a:tc>
                  <a:txBody>
                    <a:bodyPr/>
                    <a:lstStyle/>
                    <a:p>
                      <a:pPr algn="l"/>
                      <a:r>
                        <a:rPr sz="900" b="0">
                          <a:solidFill>
                            <a:srgbClr val="CCCCCC"/>
                          </a:solidFill>
                          <a:latin typeface="Helvetica Neue"/>
                        </a:rPr>
                        <a:t>Mobile checkout</a:t>
                      </a:r>
                    </a:p>
                  </a:txBody>
                  <a:tcPr marL="73152" marR="45720" marT="18288" marB="18288" anchor="ctr">
                    <a:solidFill>
                      <a:srgbClr val="080808"/>
                    </a:solidFill>
                  </a:tcPr>
                </a:tc>
                <a:tc>
                  <a:txBody>
                    <a:bodyPr/>
                    <a:lstStyle/>
                    <a:p>
                      <a:pPr algn="ctr"/>
                      <a:r>
                        <a:rPr sz="900" b="0">
                          <a:solidFill>
                            <a:srgbClr val="F59E0B"/>
                          </a:solidFill>
                          <a:latin typeface="Helvetica Neue"/>
                        </a:rPr>
                        <a:t>Leaky</a:t>
                      </a:r>
                    </a:p>
                  </a:txBody>
                  <a:tcPr marL="73152" marR="45720" marT="18288" marB="18288" anchor="ctr">
                    <a:solidFill>
                      <a:srgbClr val="080808"/>
                    </a:solidFill>
                  </a:tcPr>
                </a:tc>
                <a:tc>
                  <a:txBody>
                    <a:bodyPr/>
                    <a:lstStyle/>
                    <a:p>
                      <a:pPr algn="ctr"/>
                      <a:r>
                        <a:rPr sz="900" b="0">
                          <a:solidFill>
                            <a:srgbClr val="CCCCCC"/>
                          </a:solidFill>
                          <a:latin typeface="Helvetica Neue"/>
                        </a:rPr>
                        <a:t>45.3% completion vs 64.9% desktop, on 89% mobile traffic</a:t>
                      </a:r>
                    </a:p>
                  </a:txBody>
                  <a:tcPr marL="73152" marR="45720" marT="18288" marB="18288" anchor="ctr">
                    <a:solidFill>
                      <a:srgbClr val="080808"/>
                    </a:solidFill>
                  </a:tcPr>
                </a:tc>
                <a:tc>
                  <a:txBody>
                    <a:bodyPr/>
                    <a:lstStyle/>
                    <a:p>
                      <a:pPr algn="ctr"/>
                      <a:r>
                        <a:rPr sz="900" b="0">
                          <a:solidFill>
                            <a:srgbClr val="F59E0B"/>
                          </a:solidFill>
                          <a:latin typeface="Helvetica Neue"/>
                        </a:rPr>
                        <a:t>P2</a:t>
                      </a:r>
                    </a:p>
                  </a:txBody>
                  <a:tcPr marL="73152" marR="45720" marT="18288" marB="18288" anchor="ctr">
                    <a:solidFill>
                      <a:srgbClr val="080808"/>
                    </a:solidFill>
                  </a:tcPr>
                </a:tc>
              </a:tr>
              <a:tr h="329184">
                <a:tc>
                  <a:txBody>
                    <a:bodyPr/>
                    <a:lstStyle/>
                    <a:p>
                      <a:pPr algn="l"/>
                      <a:r>
                        <a:rPr sz="900" b="0">
                          <a:solidFill>
                            <a:srgbClr val="CCCCCC"/>
                          </a:solidFill>
                          <a:latin typeface="Helvetica Neue"/>
                        </a:rPr>
                        <a:t>KidsBuddy objection handling</a:t>
                      </a:r>
                    </a:p>
                  </a:txBody>
                  <a:tcPr marL="73152" marR="45720" marT="18288" marB="18288" anchor="ctr">
                    <a:solidFill>
                      <a:srgbClr val="0D0D0D"/>
                    </a:solidFill>
                  </a:tcPr>
                </a:tc>
                <a:tc>
                  <a:txBody>
                    <a:bodyPr/>
                    <a:lstStyle/>
                    <a:p>
                      <a:pPr algn="ctr"/>
                      <a:r>
                        <a:rPr sz="900" b="0">
                          <a:solidFill>
                            <a:srgbClr val="F59E0B"/>
                          </a:solidFill>
                          <a:latin typeface="Helvetica Neue"/>
                        </a:rPr>
                        <a:t>Absent</a:t>
                      </a:r>
                    </a:p>
                  </a:txBody>
                  <a:tcPr marL="73152" marR="45720" marT="18288" marB="18288" anchor="ctr">
                    <a:solidFill>
                      <a:srgbClr val="0D0D0D"/>
                    </a:solidFill>
                  </a:tcPr>
                </a:tc>
                <a:tc>
                  <a:txBody>
                    <a:bodyPr/>
                    <a:lstStyle/>
                    <a:p>
                      <a:pPr algn="ctr"/>
                      <a:r>
                        <a:rPr sz="900" b="0">
                          <a:solidFill>
                            <a:srgbClr val="CCCCCC"/>
                          </a:solidFill>
                          <a:latin typeface="Helvetica Neue"/>
                        </a:rPr>
                        <a:t>GPS doubts in 7 and app complaints in 5 of 39 recent reviews</a:t>
                      </a:r>
                    </a:p>
                  </a:txBody>
                  <a:tcPr marL="73152" marR="45720" marT="18288" marB="18288" anchor="ctr">
                    <a:solidFill>
                      <a:srgbClr val="0D0D0D"/>
                    </a:solidFill>
                  </a:tcPr>
                </a:tc>
                <a:tc>
                  <a:txBody>
                    <a:bodyPr/>
                    <a:lstStyle/>
                    <a:p>
                      <a:pPr algn="ctr"/>
                      <a:r>
                        <a:rPr sz="900" b="0">
                          <a:solidFill>
                            <a:srgbClr val="F59E0B"/>
                          </a:solidFill>
                          <a:latin typeface="Helvetica Neue"/>
                        </a:rPr>
                        <a:t>P2</a:t>
                      </a:r>
                    </a:p>
                  </a:txBody>
                  <a:tcPr marL="73152" marR="45720" marT="18288" marB="18288" anchor="ctr">
                    <a:solidFill>
                      <a:srgbClr val="0D0D0D"/>
                    </a:solidFill>
                  </a:tcPr>
                </a:tc>
              </a:tr>
              <a:tr h="329184">
                <a:tc>
                  <a:txBody>
                    <a:bodyPr/>
                    <a:lstStyle/>
                    <a:p>
                      <a:pPr algn="l"/>
                      <a:r>
                        <a:rPr sz="900" b="0">
                          <a:solidFill>
                            <a:srgbClr val="CCCCCC"/>
                          </a:solidFill>
                          <a:latin typeface="Helvetica Neue"/>
                        </a:rPr>
                        <a:t>AOV mechanics</a:t>
                      </a:r>
                    </a:p>
                  </a:txBody>
                  <a:tcPr marL="73152" marR="45720" marT="18288" marB="18288" anchor="ctr">
                    <a:solidFill>
                      <a:srgbClr val="080808"/>
                    </a:solidFill>
                  </a:tcPr>
                </a:tc>
                <a:tc>
                  <a:txBody>
                    <a:bodyPr/>
                    <a:lstStyle/>
                    <a:p>
                      <a:pPr algn="ctr"/>
                      <a:r>
                        <a:rPr sz="900" b="0">
                          <a:solidFill>
                            <a:srgbClr val="F59E0B"/>
                          </a:solidFill>
                          <a:latin typeface="Helvetica Neue"/>
                        </a:rPr>
                        <a:t>Half built</a:t>
                      </a:r>
                    </a:p>
                  </a:txBody>
                  <a:tcPr marL="73152" marR="45720" marT="18288" marB="18288" anchor="ctr">
                    <a:solidFill>
                      <a:srgbClr val="080808"/>
                    </a:solidFill>
                  </a:tcPr>
                </a:tc>
                <a:tc>
                  <a:txBody>
                    <a:bodyPr/>
                    <a:lstStyle/>
                    <a:p>
                      <a:pPr algn="ctr"/>
                      <a:r>
                        <a:rPr sz="900" b="0">
                          <a:solidFill>
                            <a:srgbClr val="CCCCCC"/>
                          </a:solidFill>
                          <a:latin typeface="Helvetica Neue"/>
                        </a:rPr>
                        <a:t>299 kr guarantee sold separately; no explicit bundle choice</a:t>
                      </a:r>
                    </a:p>
                  </a:txBody>
                  <a:tcPr marL="73152" marR="45720" marT="18288" marB="18288" anchor="ctr">
                    <a:solidFill>
                      <a:srgbClr val="080808"/>
                    </a:solidFill>
                  </a:tcPr>
                </a:tc>
                <a:tc>
                  <a:txBody>
                    <a:bodyPr/>
                    <a:lstStyle/>
                    <a:p>
                      <a:pPr algn="ctr"/>
                      <a:r>
                        <a:rPr sz="900" b="0">
                          <a:solidFill>
                            <a:srgbClr val="F59E0B"/>
                          </a:solidFill>
                          <a:latin typeface="Helvetica Neue"/>
                        </a:rPr>
                        <a:t>P2</a:t>
                      </a:r>
                    </a:p>
                  </a:txBody>
                  <a:tcPr marL="73152" marR="45720" marT="18288" marB="18288" anchor="ctr">
                    <a:solidFill>
                      <a:srgbClr val="080808"/>
                    </a:solidFill>
                  </a:tcPr>
                </a:tc>
              </a:tr>
              <a:tr h="329184">
                <a:tc>
                  <a:txBody>
                    <a:bodyPr/>
                    <a:lstStyle/>
                    <a:p>
                      <a:pPr algn="l"/>
                      <a:r>
                        <a:rPr sz="900" b="0">
                          <a:solidFill>
                            <a:srgbClr val="CCCCCC"/>
                          </a:solidFill>
                          <a:latin typeface="Helvetica Neue"/>
                        </a:rPr>
                        <a:t>Paid efficiency</a:t>
                      </a:r>
                    </a:p>
                  </a:txBody>
                  <a:tcPr marL="73152" marR="45720" marT="18288" marB="18288" anchor="ctr">
                    <a:solidFill>
                      <a:srgbClr val="0D0D0D"/>
                    </a:solidFill>
                  </a:tcPr>
                </a:tc>
                <a:tc>
                  <a:txBody>
                    <a:bodyPr/>
                    <a:lstStyle/>
                    <a:p>
                      <a:pPr algn="ctr"/>
                      <a:r>
                        <a:rPr sz="900" b="0">
                          <a:solidFill>
                            <a:srgbClr val="F59E0B"/>
                          </a:solidFill>
                          <a:latin typeface="Helvetica Neue"/>
                        </a:rPr>
                        <a:t>Uneven</a:t>
                      </a:r>
                    </a:p>
                  </a:txBody>
                  <a:tcPr marL="73152" marR="45720" marT="18288" marB="18288" anchor="ctr">
                    <a:solidFill>
                      <a:srgbClr val="0D0D0D"/>
                    </a:solidFill>
                  </a:tcPr>
                </a:tc>
                <a:tc>
                  <a:txBody>
                    <a:bodyPr/>
                    <a:lstStyle/>
                    <a:p>
                      <a:pPr algn="ctr"/>
                      <a:r>
                        <a:rPr sz="900" b="0">
                          <a:solidFill>
                            <a:srgbClr val="CCCCCC"/>
                          </a:solidFill>
                          <a:latin typeface="Helvetica Neue"/>
                        </a:rPr>
                        <a:t>Partner-ads 28.6 DKK/session vs MakeInfluence 2.5 DKK/session</a:t>
                      </a:r>
                    </a:p>
                  </a:txBody>
                  <a:tcPr marL="73152" marR="45720" marT="18288" marB="18288" anchor="ctr">
                    <a:solidFill>
                      <a:srgbClr val="0D0D0D"/>
                    </a:solidFill>
                  </a:tcPr>
                </a:tc>
                <a:tc>
                  <a:txBody>
                    <a:bodyPr/>
                    <a:lstStyle/>
                    <a:p>
                      <a:pPr algn="ctr"/>
                      <a:r>
                        <a:rPr sz="900" b="0">
                          <a:solidFill>
                            <a:srgbClr val="F59E0B"/>
                          </a:solidFill>
                          <a:latin typeface="Helvetica Neue"/>
                        </a:rPr>
                        <a:t>P2</a:t>
                      </a:r>
                    </a:p>
                  </a:txBody>
                  <a:tcPr marL="73152" marR="45720" marT="18288" marB="18288" anchor="ctr">
                    <a:solidFill>
                      <a:srgbClr val="0D0D0D"/>
                    </a:solidFill>
                  </a:tcPr>
                </a:tc>
              </a:tr>
              <a:tr h="329184">
                <a:tc>
                  <a:txBody>
                    <a:bodyPr/>
                    <a:lstStyle/>
                    <a:p>
                      <a:pPr algn="l"/>
                      <a:r>
                        <a:rPr sz="900" b="0">
                          <a:solidFill>
                            <a:srgbClr val="CCCCCC"/>
                          </a:solidFill>
                          <a:latin typeface="Helvetica Neue"/>
                        </a:rPr>
                        <a:t>Retention / email</a:t>
                      </a:r>
                    </a:p>
                  </a:txBody>
                  <a:tcPr marL="73152" marR="45720" marT="18288" marB="18288" anchor="ctr">
                    <a:solidFill>
                      <a:srgbClr val="080808"/>
                    </a:solidFill>
                  </a:tcPr>
                </a:tc>
                <a:tc>
                  <a:txBody>
                    <a:bodyPr/>
                    <a:lstStyle/>
                    <a:p>
                      <a:pPr algn="ctr"/>
                      <a:r>
                        <a:rPr sz="900" b="0">
                          <a:solidFill>
                            <a:srgbClr val="F59E0B"/>
                          </a:solidFill>
                          <a:latin typeface="Helvetica Neue"/>
                        </a:rPr>
                        <a:t>Underused</a:t>
                      </a:r>
                    </a:p>
                  </a:txBody>
                  <a:tcPr marL="73152" marR="45720" marT="18288" marB="18288" anchor="ctr">
                    <a:solidFill>
                      <a:srgbClr val="080808"/>
                    </a:solidFill>
                  </a:tcPr>
                </a:tc>
                <a:tc>
                  <a:txBody>
                    <a:bodyPr/>
                    <a:lstStyle/>
                    <a:p>
                      <a:pPr algn="ctr"/>
                      <a:r>
                        <a:rPr sz="900" b="0">
                          <a:solidFill>
                            <a:srgbClr val="CCCCCC"/>
                          </a:solidFill>
                          <a:latin typeface="Helvetica Neue"/>
                        </a:rPr>
                        <a:t>Returning CVR 7.02% vs 2.37%; Klaviyo = 2.6% of sessions</a:t>
                      </a:r>
                    </a:p>
                  </a:txBody>
                  <a:tcPr marL="73152" marR="45720" marT="18288" marB="18288" anchor="ctr">
                    <a:solidFill>
                      <a:srgbClr val="080808"/>
                    </a:solidFill>
                  </a:tcPr>
                </a:tc>
                <a:tc>
                  <a:txBody>
                    <a:bodyPr/>
                    <a:lstStyle/>
                    <a:p>
                      <a:pPr algn="ctr"/>
                      <a:r>
                        <a:rPr sz="900" b="0">
                          <a:solidFill>
                            <a:srgbClr val="F59E0B"/>
                          </a:solidFill>
                          <a:latin typeface="Helvetica Neue"/>
                        </a:rPr>
                        <a:t>P3</a:t>
                      </a:r>
                    </a:p>
                  </a:txBody>
                  <a:tcPr marL="73152" marR="45720" marT="18288" marB="18288" anchor="ctr">
                    <a:solidFill>
                      <a:srgbClr val="080808"/>
                    </a:solidFill>
                  </a:tcPr>
                </a:tc>
              </a:tr>
              <a:tr h="329184">
                <a:tc>
                  <a:txBody>
                    <a:bodyPr/>
                    <a:lstStyle/>
                    <a:p>
                      <a:pPr algn="l"/>
                      <a:r>
                        <a:rPr sz="900" b="0">
                          <a:solidFill>
                            <a:srgbClr val="CCCCCC"/>
                          </a:solidFill>
                          <a:latin typeface="Helvetica Neue"/>
                        </a:rPr>
                        <a:t>Delivery &amp; logistics</a:t>
                      </a:r>
                    </a:p>
                  </a:txBody>
                  <a:tcPr marL="73152" marR="45720" marT="18288" marB="18288" anchor="ctr">
                    <a:solidFill>
                      <a:srgbClr val="0D0D0D"/>
                    </a:solidFill>
                  </a:tcPr>
                </a:tc>
                <a:tc>
                  <a:txBody>
                    <a:bodyPr/>
                    <a:lstStyle/>
                    <a:p>
                      <a:pPr algn="ctr"/>
                      <a:r>
                        <a:rPr sz="900" b="1">
                          <a:solidFill>
                            <a:srgbClr val="22C55E"/>
                          </a:solidFill>
                          <a:latin typeface="Helvetica Neue"/>
                        </a:rPr>
                        <a:t>Strength</a:t>
                      </a:r>
                    </a:p>
                  </a:txBody>
                  <a:tcPr marL="73152" marR="45720" marT="18288" marB="18288" anchor="ctr">
                    <a:solidFill>
                      <a:srgbClr val="0D0D0D"/>
                    </a:solidFill>
                  </a:tcPr>
                </a:tc>
                <a:tc>
                  <a:txBody>
                    <a:bodyPr/>
                    <a:lstStyle/>
                    <a:p>
                      <a:pPr algn="ctr"/>
                      <a:r>
                        <a:rPr sz="900" b="0">
                          <a:solidFill>
                            <a:srgbClr val="CCCCCC"/>
                          </a:solidFill>
                          <a:latin typeface="Helvetica Neue"/>
                        </a:rPr>
                        <a:t>Praised in 9+ reviews, even inside 1-star reviews</a:t>
                      </a:r>
                    </a:p>
                  </a:txBody>
                  <a:tcPr marL="73152" marR="45720" marT="18288" marB="18288" anchor="ctr">
                    <a:solidFill>
                      <a:srgbClr val="0D0D0D"/>
                    </a:solidFill>
                  </a:tcPr>
                </a:tc>
                <a:tc>
                  <a:txBody>
                    <a:bodyPr/>
                    <a:lstStyle/>
                    <a:p>
                      <a:pPr algn="ctr"/>
                      <a:r>
                        <a:rPr sz="900" b="1">
                          <a:solidFill>
                            <a:srgbClr val="22C55E"/>
                          </a:solidFill>
                          <a:latin typeface="Helvetica Neue"/>
                        </a:rPr>
                        <a:t>keep</a:t>
                      </a:r>
                    </a:p>
                  </a:txBody>
                  <a:tcPr marL="73152" marR="45720" marT="18288" marB="18288" anchor="ctr">
                    <a:solidFill>
                      <a:srgbClr val="0D0D0D"/>
                    </a:solidFill>
                  </a:tcPr>
                </a:tc>
              </a:tr>
              <a:tr h="329184">
                <a:tc>
                  <a:txBody>
                    <a:bodyPr/>
                    <a:lstStyle/>
                    <a:p>
                      <a:pPr algn="l"/>
                      <a:r>
                        <a:rPr sz="900" b="0">
                          <a:solidFill>
                            <a:srgbClr val="CCCCCC"/>
                          </a:solidFill>
                          <a:latin typeface="Helvetica Neue"/>
                        </a:rPr>
                        <a:t>Blended conversion</a:t>
                      </a:r>
                    </a:p>
                  </a:txBody>
                  <a:tcPr marL="73152" marR="45720" marT="18288" marB="18288" anchor="ctr">
                    <a:solidFill>
                      <a:srgbClr val="080808"/>
                    </a:solidFill>
                  </a:tcPr>
                </a:tc>
                <a:tc>
                  <a:txBody>
                    <a:bodyPr/>
                    <a:lstStyle/>
                    <a:p>
                      <a:pPr algn="ctr"/>
                      <a:r>
                        <a:rPr sz="900" b="1">
                          <a:solidFill>
                            <a:srgbClr val="22C55E"/>
                          </a:solidFill>
                          <a:latin typeface="Helvetica Neue"/>
                        </a:rPr>
                        <a:t>Healthy</a:t>
                      </a:r>
                    </a:p>
                  </a:txBody>
                  <a:tcPr marL="73152" marR="45720" marT="18288" marB="18288" anchor="ctr">
                    <a:solidFill>
                      <a:srgbClr val="080808"/>
                    </a:solidFill>
                  </a:tcPr>
                </a:tc>
                <a:tc>
                  <a:txBody>
                    <a:bodyPr/>
                    <a:lstStyle/>
                    <a:p>
                      <a:pPr algn="ctr"/>
                      <a:r>
                        <a:rPr sz="900" b="0">
                          <a:solidFill>
                            <a:srgbClr val="CCCCCC"/>
                          </a:solidFill>
                          <a:latin typeface="Helvetica Neue"/>
                        </a:rPr>
                        <a:t>3.04% overall, KidsBuddy 2.93% as cold landing</a:t>
                      </a:r>
                    </a:p>
                  </a:txBody>
                  <a:tcPr marL="73152" marR="45720" marT="18288" marB="18288" anchor="ctr">
                    <a:solidFill>
                      <a:srgbClr val="080808"/>
                    </a:solidFill>
                  </a:tcPr>
                </a:tc>
                <a:tc>
                  <a:txBody>
                    <a:bodyPr/>
                    <a:lstStyle/>
                    <a:p>
                      <a:pPr algn="ctr"/>
                      <a:r>
                        <a:rPr sz="900" b="1">
                          <a:solidFill>
                            <a:srgbClr val="22C55E"/>
                          </a:solidFill>
                          <a:latin typeface="Helvetica Neue"/>
                        </a:rPr>
                        <a:t>keep</a:t>
                      </a:r>
                    </a:p>
                  </a:txBody>
                  <a:tcPr marL="73152" marR="45720" marT="18288" marB="18288" anchor="ctr">
                    <a:solidFill>
                      <a:srgbClr val="080808"/>
                    </a:solidFill>
                  </a:tcPr>
                </a:tc>
              </a:tr>
            </a:tbl>
          </a:graphicData>
        </a:graphic>
      </p:graphicFrame>
      <p:sp>
        <p:nvSpPr>
          <p:cNvPr id="11" name="Rounded Rectangle 10"/>
          <p:cNvSpPr/>
          <p:nvPr/>
        </p:nvSpPr>
        <p:spPr>
          <a:xfrm>
            <a:off x="822960" y="5806440"/>
            <a:ext cx="10515600"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5943600"/>
            <a:ext cx="10058400" cy="320040"/>
          </a:xfrm>
          <a:prstGeom prst="rect">
            <a:avLst/>
          </a:prstGeom>
          <a:noFill/>
        </p:spPr>
        <p:txBody>
          <a:bodyPr wrap="square" lIns="0" rIns="0" tIns="0" bIns="0" anchor="ctr">
            <a:spAutoFit/>
          </a:bodyPr>
          <a:lstStyle/>
          <a:p>
            <a:pPr algn="l">
              <a:lnSpc>
                <a:spcPct val="140000"/>
              </a:lnSpc>
            </a:pPr>
            <a:r>
              <a:rPr sz="1200" b="1" i="0">
                <a:solidFill>
                  <a:srgbClr val="FFFFFF"/>
                </a:solidFill>
                <a:latin typeface="Helvetica Neue"/>
              </a:rPr>
              <a:t>Biggest single lever:  </a:t>
            </a:r>
            <a:r>
              <a:rPr sz="1200" b="1" i="0">
                <a:solidFill>
                  <a:srgbClr val="F7D007"/>
                </a:solidFill>
                <a:latin typeface="Helvetica Neue"/>
              </a:rPr>
              <a:t>Answer the GPS doubt at the buy box, then unbreak the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30</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06</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READY TO RUN</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A/B test plans</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The three highest-priority tests, written to the pre-test brief standard: observation, hypothesis, variant spec, metrics and frozen baselines.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31</a:t>
            </a:r>
          </a:p>
        </p:txBody>
      </p:sp>
      <p:sp>
        <p:nvSpPr>
          <p:cNvPr id="7" name="Rectangle 6"/>
          <p:cNvSpPr/>
          <p:nvPr/>
        </p:nvSpPr>
        <p:spPr>
          <a:xfrm>
            <a:off x="0" y="0"/>
            <a:ext cx="4480560"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Observation</a:t>
            </a:r>
          </a:p>
        </p:txBody>
      </p:sp>
      <p:sp>
        <p:nvSpPr>
          <p:cNvPr id="9" name="Rectangle 8"/>
          <p:cNvSpPr/>
          <p:nvPr/>
        </p:nvSpPr>
        <p:spPr>
          <a:xfrm>
            <a:off x="502920" y="9326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02412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Only 7.2% of product viewers add to cart. The KidsBuddy buy box shows no review stars or count, while kidsbuddy.dk shows "4.8/5 fra 2,200+ forældre" at the same 749 kr. The #1 objection (GPS, 7 mentions; app, 5) is answered nowhere.</a:t>
            </a:r>
          </a:p>
        </p:txBody>
      </p:sp>
      <p:sp>
        <p:nvSpPr>
          <p:cNvPr id="11" name="TextBox 10"/>
          <p:cNvSpPr txBox="1"/>
          <p:nvPr/>
        </p:nvSpPr>
        <p:spPr>
          <a:xfrm>
            <a:off x="502920" y="192024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Hypothesis</a:t>
            </a:r>
          </a:p>
        </p:txBody>
      </p:sp>
      <p:sp>
        <p:nvSpPr>
          <p:cNvPr id="12" name="Rectangle 11"/>
          <p:cNvSpPr/>
          <p:nvPr/>
        </p:nvSpPr>
        <p:spPr>
          <a:xfrm>
            <a:off x="502920" y="221284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30428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If we pin the Loox rating + count under the title and add an honest GPS + app expectations block, then add-to-cart rate will rise, because the two doubts that stop a 749 kr parent purchase get answered at the decision point.</a:t>
            </a:r>
          </a:p>
        </p:txBody>
      </p:sp>
      <p:sp>
        <p:nvSpPr>
          <p:cNvPr id="14" name="TextBox 13"/>
          <p:cNvSpPr txBox="1"/>
          <p:nvPr/>
        </p:nvSpPr>
        <p:spPr>
          <a:xfrm>
            <a:off x="502920" y="320040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What we are testing</a:t>
            </a:r>
          </a:p>
        </p:txBody>
      </p:sp>
      <p:sp>
        <p:nvSpPr>
          <p:cNvPr id="15" name="Rectangle 14"/>
          <p:cNvSpPr/>
          <p:nvPr/>
        </p:nvSpPr>
        <p:spPr>
          <a:xfrm>
            <a:off x="502920" y="349300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584448"/>
            <a:ext cx="3566160" cy="91440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  </a:t>
            </a:r>
            <a:r>
              <a:rPr sz="950" b="0" i="0">
                <a:solidFill>
                  <a:srgbClr val="CCCCCC"/>
                </a:solidFill>
                <a:latin typeface="Helvetica Neue"/>
              </a:rPr>
              <a:t>Loox stars + count pinned under the product title</a:t>
            </a:r>
          </a:p>
          <a:p>
            <a:pPr algn="l">
              <a:lnSpc>
                <a:spcPct val="125000"/>
              </a:lnSpc>
            </a:pPr>
            <a:r>
              <a:rPr sz="950" b="1" i="0">
                <a:solidFill>
                  <a:srgbClr val="F7D007"/>
                </a:solidFill>
                <a:latin typeface="Helvetica Neue"/>
              </a:rPr>
              <a:t>•  </a:t>
            </a:r>
            <a:r>
              <a:rPr sz="950" b="0" i="0">
                <a:solidFill>
                  <a:srgbClr val="CCCCCC"/>
                </a:solidFill>
                <a:latin typeface="Helvetica Neue"/>
              </a:rPr>
              <a:t>"Sådan virker GPS'en" block: real SeTracker2 screens</a:t>
            </a:r>
          </a:p>
          <a:p>
            <a:pPr algn="l">
              <a:lnSpc>
                <a:spcPct val="125000"/>
              </a:lnSpc>
            </a:pPr>
            <a:r>
              <a:rPr sz="950" b="1" i="0">
                <a:solidFill>
                  <a:srgbClr val="F7D007"/>
                </a:solidFill>
                <a:latin typeface="Helvetica Neue"/>
              </a:rPr>
              <a:t>•  </a:t>
            </a:r>
            <a:r>
              <a:rPr sz="950" b="0" i="0">
                <a:solidFill>
                  <a:srgbClr val="CCCCCC"/>
                </a:solidFill>
                <a:latin typeface="Helvetica Neue"/>
              </a:rPr>
              <a:t>e-mærket + "749 kr once, ingen abonnement" near the ATC</a:t>
            </a:r>
          </a:p>
        </p:txBody>
      </p:sp>
      <p:sp>
        <p:nvSpPr>
          <p:cNvPr id="17" name="TextBox 16"/>
          <p:cNvSpPr txBox="1"/>
          <p:nvPr/>
        </p:nvSpPr>
        <p:spPr>
          <a:xfrm>
            <a:off x="502920" y="45262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Key metrics</a:t>
            </a:r>
          </a:p>
        </p:txBody>
      </p:sp>
      <p:sp>
        <p:nvSpPr>
          <p:cNvPr id="18" name="Rectangle 17"/>
          <p:cNvSpPr/>
          <p:nvPr/>
        </p:nvSpPr>
        <p:spPr>
          <a:xfrm>
            <a:off x="502920" y="48188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10328"/>
            <a:ext cx="3566160" cy="77724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1.  </a:t>
            </a:r>
            <a:r>
              <a:rPr sz="950" b="1" i="0">
                <a:solidFill>
                  <a:srgbClr val="F7D007"/>
                </a:solidFill>
                <a:latin typeface="Helvetica Neue"/>
              </a:rPr>
              <a:t>Add-to-cart rate (PDP)</a:t>
            </a:r>
          </a:p>
          <a:p>
            <a:pPr algn="l">
              <a:lnSpc>
                <a:spcPct val="125000"/>
              </a:lnSpc>
            </a:pPr>
            <a:r>
              <a:rPr sz="950" b="1" i="0">
                <a:solidFill>
                  <a:srgbClr val="999999"/>
                </a:solidFill>
                <a:latin typeface="Helvetica Neue"/>
              </a:rPr>
              <a:t>2.  </a:t>
            </a:r>
            <a:r>
              <a:rPr sz="950" b="0" i="0">
                <a:solidFill>
                  <a:srgbClr val="CCCCCC"/>
                </a:solidFill>
                <a:latin typeface="Helvetica Neue"/>
              </a:rPr>
              <a:t>PDP conversion rate</a:t>
            </a:r>
          </a:p>
          <a:p>
            <a:pPr algn="l">
              <a:lnSpc>
                <a:spcPct val="125000"/>
              </a:lnSpc>
            </a:pPr>
            <a:r>
              <a:rPr sz="950" b="1" i="0">
                <a:solidFill>
                  <a:srgbClr val="999999"/>
                </a:solidFill>
                <a:latin typeface="Helvetica Neue"/>
              </a:rPr>
              <a:t>3.  </a:t>
            </a:r>
            <a:r>
              <a:rPr sz="950" b="0" i="0">
                <a:solidFill>
                  <a:srgbClr val="CCCCCC"/>
                </a:solidFill>
                <a:latin typeface="Helvetica Neue"/>
              </a:rPr>
              <a:t>Return / reklamation rate (guardrail)</a:t>
            </a:r>
          </a:p>
        </p:txBody>
      </p:sp>
      <p:sp>
        <p:nvSpPr>
          <p:cNvPr id="20" name="Rounded Rectangle 19"/>
          <p:cNvSpPr/>
          <p:nvPr/>
        </p:nvSpPr>
        <p:spPr>
          <a:xfrm>
            <a:off x="502920" y="5623560"/>
            <a:ext cx="3566160" cy="868680"/>
          </a:xfrm>
          <a:prstGeom prst="roundRect">
            <a:avLst>
              <a:gd name="adj" fmla="val 5000"/>
            </a:avLst>
          </a:prstGeom>
          <a:solidFill>
            <a:srgbClr val="101010"/>
          </a:solid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Duration</a:t>
            </a:r>
          </a:p>
        </p:txBody>
      </p:sp>
      <p:sp>
        <p:nvSpPr>
          <p:cNvPr id="22" name="TextBox 21"/>
          <p:cNvSpPr txBox="1"/>
          <p:nvPr/>
        </p:nvSpPr>
        <p:spPr>
          <a:xfrm>
            <a:off x="68580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3 to 4 weeks</a:t>
            </a:r>
          </a:p>
        </p:txBody>
      </p:sp>
      <p:sp>
        <p:nvSpPr>
          <p:cNvPr id="23" name="TextBox 22"/>
          <p:cNvSpPr txBox="1"/>
          <p:nvPr/>
        </p:nvSpPr>
        <p:spPr>
          <a:xfrm>
            <a:off x="242316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Device</a:t>
            </a:r>
          </a:p>
        </p:txBody>
      </p:sp>
      <p:sp>
        <p:nvSpPr>
          <p:cNvPr id="24" name="TextBox 23"/>
          <p:cNvSpPr txBox="1"/>
          <p:nvPr/>
        </p:nvSpPr>
        <p:spPr>
          <a:xfrm>
            <a:off x="242316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All devices</a:t>
            </a:r>
          </a:p>
        </p:txBody>
      </p:sp>
      <p:sp>
        <p:nvSpPr>
          <p:cNvPr id="25" name="TextBox 24"/>
          <p:cNvSpPr txBox="1"/>
          <p:nvPr/>
        </p:nvSpPr>
        <p:spPr>
          <a:xfrm>
            <a:off x="68580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Baseline</a:t>
            </a:r>
          </a:p>
        </p:txBody>
      </p:sp>
      <p:sp>
        <p:nvSpPr>
          <p:cNvPr id="26" name="TextBox 25"/>
          <p:cNvSpPr txBox="1"/>
          <p:nvPr/>
        </p:nvSpPr>
        <p:spPr>
          <a:xfrm>
            <a:off x="68580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2.93% CVR · 24,331 sessions/q</a:t>
            </a:r>
          </a:p>
        </p:txBody>
      </p:sp>
      <p:sp>
        <p:nvSpPr>
          <p:cNvPr id="27" name="TextBox 26"/>
          <p:cNvSpPr txBox="1"/>
          <p:nvPr/>
        </p:nvSpPr>
        <p:spPr>
          <a:xfrm>
            <a:off x="242316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URL</a:t>
            </a:r>
          </a:p>
        </p:txBody>
      </p:sp>
      <p:sp>
        <p:nvSpPr>
          <p:cNvPr id="28" name="TextBox 27"/>
          <p:cNvSpPr txBox="1"/>
          <p:nvPr/>
        </p:nvSpPr>
        <p:spPr>
          <a:xfrm>
            <a:off x="242316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/products/kidsbuddy</a:t>
            </a:r>
          </a:p>
        </p:txBody>
      </p:sp>
      <p:sp>
        <p:nvSpPr>
          <p:cNvPr id="29" name="TextBox 28"/>
          <p:cNvSpPr txBox="1"/>
          <p:nvPr/>
        </p:nvSpPr>
        <p:spPr>
          <a:xfrm>
            <a:off x="4754880" y="502920"/>
            <a:ext cx="7132320" cy="548640"/>
          </a:xfrm>
          <a:prstGeom prst="rect">
            <a:avLst/>
          </a:prstGeom>
          <a:noFill/>
        </p:spPr>
        <p:txBody>
          <a:bodyPr wrap="square" lIns="0" rIns="0" tIns="0" bIns="0" anchor="t">
            <a:spAutoFit/>
          </a:bodyPr>
          <a:lstStyle/>
          <a:p>
            <a:pPr algn="l"/>
            <a:r>
              <a:rPr sz="2000" b="1" i="0">
                <a:solidFill>
                  <a:srgbClr val="FFFFFF"/>
                </a:solidFill>
                <a:latin typeface="Helvetica Neue"/>
              </a:rPr>
              <a:t>T01 · PDP · Proof at the buy box</a:t>
            </a:r>
          </a:p>
        </p:txBody>
      </p:sp>
      <p:sp>
        <p:nvSpPr>
          <p:cNvPr id="30" name="Rounded Rectangle 29"/>
          <p:cNvSpPr/>
          <p:nvPr/>
        </p:nvSpPr>
        <p:spPr>
          <a:xfrm>
            <a:off x="4754880" y="1143000"/>
            <a:ext cx="6949440" cy="457200"/>
          </a:xfrm>
          <a:prstGeom prst="roundRect">
            <a:avLst>
              <a:gd name="adj" fmla="val 15000"/>
            </a:avLst>
          </a:prstGeom>
          <a:solidFill>
            <a:srgbClr val="00000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1143000"/>
            <a:ext cx="4572000" cy="457200"/>
          </a:xfrm>
          <a:prstGeom prst="rect">
            <a:avLst/>
          </a:prstGeom>
          <a:noFill/>
        </p:spPr>
        <p:txBody>
          <a:bodyPr wrap="square" lIns="0" rIns="0" tIns="0" bIns="0" anchor="ctr">
            <a:spAutoFit/>
          </a:bodyPr>
          <a:lstStyle/>
          <a:p>
            <a:pPr algn="l"/>
            <a:r>
              <a:rPr sz="1000" b="1" i="0">
                <a:solidFill>
                  <a:srgbClr val="FFFFFF"/>
                </a:solidFill>
                <a:latin typeface="Helvetica Neue"/>
              </a:rPr>
              <a:t>Test ID: </a:t>
            </a:r>
            <a:r>
              <a:rPr sz="1000" b="0" i="0">
                <a:solidFill>
                  <a:srgbClr val="CCCCCC"/>
                </a:solidFill>
                <a:latin typeface="Helvetica Neue"/>
              </a:rPr>
              <a:t>TS-T01    </a:t>
            </a:r>
            <a:r>
              <a:rPr sz="1000" b="1" i="0">
                <a:solidFill>
                  <a:srgbClr val="FFFFFF"/>
                </a:solidFill>
                <a:latin typeface="Helvetica Neue"/>
              </a:rPr>
              <a:t>Status: </a:t>
            </a:r>
            <a:r>
              <a:rPr sz="1000" b="0" i="0">
                <a:solidFill>
                  <a:srgbClr val="CCCCCC"/>
                </a:solidFill>
                <a:latin typeface="Helvetica Neue"/>
              </a:rPr>
              <a:t>In planning</a:t>
            </a:r>
          </a:p>
        </p:txBody>
      </p:sp>
      <p:sp>
        <p:nvSpPr>
          <p:cNvPr id="32" name="Rounded Rectangle 31"/>
          <p:cNvSpPr/>
          <p:nvPr/>
        </p:nvSpPr>
        <p:spPr>
          <a:xfrm>
            <a:off x="10607040" y="1207008"/>
            <a:ext cx="1005840" cy="32918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0" y="1207008"/>
            <a:ext cx="1005840" cy="329184"/>
          </a:xfrm>
          <a:prstGeom prst="rect">
            <a:avLst/>
          </a:prstGeom>
          <a:noFill/>
        </p:spPr>
        <p:txBody>
          <a:bodyPr wrap="square" lIns="0" rIns="0" tIns="0" bIns="0" anchor="ctr">
            <a:spAutoFit/>
          </a:bodyPr>
          <a:lstStyle/>
          <a:p>
            <a:pPr algn="ctr"/>
            <a:r>
              <a:rPr sz="900" b="1" i="0" spc="100">
                <a:solidFill>
                  <a:srgbClr val="000000"/>
                </a:solidFill>
                <a:latin typeface="Helvetica Neue"/>
              </a:rPr>
              <a:t>A/B TEST</a:t>
            </a:r>
          </a:p>
        </p:txBody>
      </p:sp>
      <p:pic>
        <p:nvPicPr>
          <p:cNvPr id="34" name="Picture 33" descr="pdp-kidsbuddy-mobile-fold.png"/>
          <p:cNvPicPr>
            <a:picLocks noChangeAspect="1"/>
          </p:cNvPicPr>
          <p:nvPr/>
        </p:nvPicPr>
        <p:blipFill>
          <a:blip r:embed="rId3"/>
          <a:stretch>
            <a:fillRect/>
          </a:stretch>
        </p:blipFill>
        <p:spPr>
          <a:xfrm>
            <a:off x="5120640" y="1920240"/>
            <a:ext cx="1647870" cy="3566160"/>
          </a:xfrm>
          <a:prstGeom prst="rect">
            <a:avLst/>
          </a:prstGeom>
        </p:spPr>
      </p:pic>
      <p:sp>
        <p:nvSpPr>
          <p:cNvPr id="35" name="Rounded Rectangle 34"/>
          <p:cNvSpPr/>
          <p:nvPr/>
        </p:nvSpPr>
        <p:spPr>
          <a:xfrm>
            <a:off x="506577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46320" y="5596128"/>
            <a:ext cx="2196510" cy="274320"/>
          </a:xfrm>
          <a:prstGeom prst="rect">
            <a:avLst/>
          </a:prstGeom>
          <a:noFill/>
        </p:spPr>
        <p:txBody>
          <a:bodyPr wrap="square" lIns="0" rIns="0" tIns="0" bIns="0" anchor="t">
            <a:spAutoFit/>
          </a:bodyPr>
          <a:lstStyle/>
          <a:p>
            <a:pPr algn="ctr"/>
            <a:r>
              <a:rPr sz="1100" b="1" i="0" spc="300">
                <a:solidFill>
                  <a:srgbClr val="FFFFFF"/>
                </a:solidFill>
                <a:latin typeface="Helvetica Neue"/>
              </a:rPr>
              <a:t>CONTROL · LIVE PDP</a:t>
            </a:r>
          </a:p>
        </p:txBody>
      </p:sp>
      <p:sp>
        <p:nvSpPr>
          <p:cNvPr id="37" name="TextBox 36"/>
          <p:cNvSpPr txBox="1"/>
          <p:nvPr/>
        </p:nvSpPr>
        <p:spPr>
          <a:xfrm>
            <a:off x="484632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Live buy box: price, ViaBill, sticky ATC. No stars, no count.</a:t>
            </a:r>
          </a:p>
        </p:txBody>
      </p:sp>
      <p:pic>
        <p:nvPicPr>
          <p:cNvPr id="38" name="Picture 37" descr="t01-pdp-proof-mobile.png"/>
          <p:cNvPicPr>
            <a:picLocks noChangeAspect="1"/>
          </p:cNvPicPr>
          <p:nvPr/>
        </p:nvPicPr>
        <p:blipFill>
          <a:blip r:embed="rId4"/>
          <a:stretch>
            <a:fillRect/>
          </a:stretch>
        </p:blipFill>
        <p:spPr>
          <a:xfrm>
            <a:off x="7591470" y="1920240"/>
            <a:ext cx="1647870" cy="3566160"/>
          </a:xfrm>
          <a:prstGeom prst="rect">
            <a:avLst/>
          </a:prstGeom>
        </p:spPr>
      </p:pic>
      <p:sp>
        <p:nvSpPr>
          <p:cNvPr id="39" name="Rounded Rectangle 38"/>
          <p:cNvSpPr/>
          <p:nvPr/>
        </p:nvSpPr>
        <p:spPr>
          <a:xfrm>
            <a:off x="753660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7150" y="5596128"/>
            <a:ext cx="2196510" cy="274320"/>
          </a:xfrm>
          <a:prstGeom prst="rect">
            <a:avLst/>
          </a:prstGeom>
          <a:noFill/>
        </p:spPr>
        <p:txBody>
          <a:bodyPr wrap="square" lIns="0" rIns="0" tIns="0" bIns="0" anchor="t">
            <a:spAutoFit/>
          </a:bodyPr>
          <a:lstStyle/>
          <a:p>
            <a:pPr algn="ctr"/>
            <a:r>
              <a:rPr sz="1100" b="1" i="0" spc="300">
                <a:solidFill>
                  <a:srgbClr val="F7D007"/>
                </a:solidFill>
                <a:latin typeface="Helvetica Neue"/>
              </a:rPr>
              <a:t>VARIANT · BUILT DESIGN</a:t>
            </a:r>
          </a:p>
        </p:txBody>
      </p:sp>
      <p:sp>
        <p:nvSpPr>
          <p:cNvPr id="41" name="TextBox 40"/>
          <p:cNvSpPr txBox="1"/>
          <p:nvPr/>
        </p:nvSpPr>
        <p:spPr>
          <a:xfrm>
            <a:off x="731715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HTML mockup on the live theme. Change spec in the left rail.</a:t>
            </a:r>
          </a:p>
        </p:txBody>
      </p:sp>
      <p:sp>
        <p:nvSpPr>
          <p:cNvPr id="42" name="Rounded Rectangle 41"/>
          <p:cNvSpPr/>
          <p:nvPr/>
        </p:nvSpPr>
        <p:spPr>
          <a:xfrm>
            <a:off x="9696540" y="1920240"/>
            <a:ext cx="2129395" cy="35661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9420" y="2103120"/>
            <a:ext cx="1763635" cy="274320"/>
          </a:xfrm>
          <a:prstGeom prst="rect">
            <a:avLst/>
          </a:prstGeom>
          <a:noFill/>
        </p:spPr>
        <p:txBody>
          <a:bodyPr wrap="square" lIns="0" rIns="0" tIns="0" bIns="0" anchor="t">
            <a:spAutoFit/>
          </a:bodyPr>
          <a:lstStyle/>
          <a:p>
            <a:pPr algn="l"/>
            <a:r>
              <a:rPr sz="1000" b="1" i="0" spc="200">
                <a:solidFill>
                  <a:srgbClr val="F7D007"/>
                </a:solidFill>
                <a:latin typeface="Helvetica Neue"/>
              </a:rPr>
              <a:t>CHANGES</a:t>
            </a:r>
          </a:p>
        </p:txBody>
      </p:sp>
      <p:sp>
        <p:nvSpPr>
          <p:cNvPr id="44" name="TextBox 43"/>
          <p:cNvSpPr txBox="1"/>
          <p:nvPr/>
        </p:nvSpPr>
        <p:spPr>
          <a:xfrm>
            <a:off x="9879420" y="2468880"/>
            <a:ext cx="1763635" cy="2743200"/>
          </a:xfrm>
          <a:prstGeom prst="rect">
            <a:avLst/>
          </a:prstGeom>
          <a:noFill/>
        </p:spPr>
        <p:txBody>
          <a:bodyPr wrap="square" lIns="0" rIns="0" tIns="0" bIns="0" anchor="t">
            <a:spAutoFit/>
          </a:bodyPr>
          <a:lstStyle/>
          <a:p>
            <a:pPr algn="l">
              <a:lnSpc>
                <a:spcPct val="140000"/>
              </a:lnSpc>
            </a:pPr>
            <a:r>
              <a:rPr sz="950" b="1" i="0">
                <a:solidFill>
                  <a:srgbClr val="F7D007"/>
                </a:solidFill>
                <a:latin typeface="Helvetica Neue"/>
              </a:rPr>
              <a:t>1.  </a:t>
            </a:r>
            <a:r>
              <a:rPr sz="950" b="0" i="0">
                <a:solidFill>
                  <a:srgbClr val="CCCCCC"/>
                </a:solidFill>
                <a:latin typeface="Helvetica Neue"/>
              </a:rPr>
              <a:t>Loox stars + review count pinned under the title</a:t>
            </a:r>
          </a:p>
          <a:p>
            <a:pPr algn="l">
              <a:lnSpc>
                <a:spcPct val="140000"/>
              </a:lnSpc>
            </a:pPr>
            <a:r>
              <a:rPr sz="950" b="1" i="0">
                <a:solidFill>
                  <a:srgbClr val="F7D007"/>
                </a:solidFill>
                <a:latin typeface="Helvetica Neue"/>
              </a:rPr>
              <a:t>2.  </a:t>
            </a:r>
            <a:r>
              <a:rPr sz="950" b="0" i="0">
                <a:solidFill>
                  <a:srgbClr val="CCCCCC"/>
                </a:solidFill>
                <a:latin typeface="Helvetica Neue"/>
              </a:rPr>
              <a:t>GPS + app expectations block with real app screens</a:t>
            </a:r>
          </a:p>
          <a:p>
            <a:pPr algn="l">
              <a:lnSpc>
                <a:spcPct val="140000"/>
              </a:lnSpc>
            </a:pPr>
            <a:r>
              <a:rPr sz="950" b="1" i="0">
                <a:solidFill>
                  <a:srgbClr val="F7D007"/>
                </a:solidFill>
                <a:latin typeface="Helvetica Neue"/>
              </a:rPr>
              <a:t>3.  </a:t>
            </a:r>
            <a:r>
              <a:rPr sz="950" b="0" i="0">
                <a:solidFill>
                  <a:srgbClr val="CCCCCC"/>
                </a:solidFill>
                <a:latin typeface="Helvetica Neue"/>
              </a:rPr>
              <a:t>e-mærket + "ingen abonnement" line near the ATC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32</a:t>
            </a:r>
          </a:p>
        </p:txBody>
      </p:sp>
      <p:sp>
        <p:nvSpPr>
          <p:cNvPr id="7" name="Rectangle 6"/>
          <p:cNvSpPr/>
          <p:nvPr/>
        </p:nvSpPr>
        <p:spPr>
          <a:xfrm>
            <a:off x="0" y="0"/>
            <a:ext cx="4480560"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Observation</a:t>
            </a:r>
          </a:p>
        </p:txBody>
      </p:sp>
      <p:sp>
        <p:nvSpPr>
          <p:cNvPr id="9" name="Rectangle 8"/>
          <p:cNvSpPr/>
          <p:nvPr/>
        </p:nvSpPr>
        <p:spPr>
          <a:xfrm>
            <a:off x="502920" y="9326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02412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The "SuperDeal" bundle is pre-selected: clicking the plain TILFØJ TIL KURV added 3 items totalling 999 kr when the shopper expected one at 749 kr. Only 51.6% of add-to-carts reach checkout. 1-star reviews cluster on refund friction.</a:t>
            </a:r>
          </a:p>
        </p:txBody>
      </p:sp>
      <p:sp>
        <p:nvSpPr>
          <p:cNvPr id="11" name="TextBox 10"/>
          <p:cNvSpPr txBox="1"/>
          <p:nvPr/>
        </p:nvSpPr>
        <p:spPr>
          <a:xfrm>
            <a:off x="502920" y="192024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Hypothesis</a:t>
            </a:r>
          </a:p>
        </p:txBody>
      </p:sp>
      <p:sp>
        <p:nvSpPr>
          <p:cNvPr id="12" name="Rectangle 11"/>
          <p:cNvSpPr/>
          <p:nvPr/>
        </p:nvSpPr>
        <p:spPr>
          <a:xfrm>
            <a:off x="502920" y="221284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30428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If the bundle becomes an explicit opt-in (single item pre-selected, SuperDeal as a visible choice), then cart to checkout rate will rise, because the drawer total matches the price the shopper committed to at the ATC click.</a:t>
            </a:r>
          </a:p>
        </p:txBody>
      </p:sp>
      <p:sp>
        <p:nvSpPr>
          <p:cNvPr id="14" name="TextBox 13"/>
          <p:cNvSpPr txBox="1"/>
          <p:nvPr/>
        </p:nvSpPr>
        <p:spPr>
          <a:xfrm>
            <a:off x="502920" y="320040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What we are testing</a:t>
            </a:r>
          </a:p>
        </p:txBody>
      </p:sp>
      <p:sp>
        <p:nvSpPr>
          <p:cNvPr id="15" name="Rectangle 14"/>
          <p:cNvSpPr/>
          <p:nvPr/>
        </p:nvSpPr>
        <p:spPr>
          <a:xfrm>
            <a:off x="502920" y="349300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584448"/>
            <a:ext cx="3566160" cy="91440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  </a:t>
            </a:r>
            <a:r>
              <a:rPr sz="950" b="0" i="0">
                <a:solidFill>
                  <a:srgbClr val="CCCCCC"/>
                </a:solidFill>
                <a:latin typeface="Helvetica Neue"/>
              </a:rPr>
              <a:t>Flip the existing radio default: "1x Kidsbuddy · 749 kr" pre-selected</a:t>
            </a:r>
          </a:p>
          <a:p>
            <a:pPr algn="l">
              <a:lnSpc>
                <a:spcPct val="125000"/>
              </a:lnSpc>
            </a:pPr>
            <a:r>
              <a:rPr sz="950" b="1" i="0">
                <a:solidFill>
                  <a:srgbClr val="F7D007"/>
                </a:solidFill>
                <a:latin typeface="Helvetica Neue"/>
              </a:rPr>
              <a:t>•  </a:t>
            </a:r>
            <a:r>
              <a:rPr sz="950" b="0" i="0">
                <a:solidFill>
                  <a:srgbClr val="CCCCCC"/>
                </a:solidFill>
                <a:latin typeface="Helvetica Neue"/>
              </a:rPr>
              <a:t>SuperDeal stays as the visible upgrade choice</a:t>
            </a:r>
          </a:p>
          <a:p>
            <a:pPr algn="l">
              <a:lnSpc>
                <a:spcPct val="125000"/>
              </a:lnSpc>
            </a:pPr>
            <a:r>
              <a:rPr sz="950" b="1" i="0">
                <a:solidFill>
                  <a:srgbClr val="F7D007"/>
                </a:solidFill>
                <a:latin typeface="Helvetica Neue"/>
              </a:rPr>
              <a:t>•  </a:t>
            </a:r>
            <a:r>
              <a:rPr sz="950" b="0" i="0">
                <a:solidFill>
                  <a:srgbClr val="CCCCCC"/>
                </a:solidFill>
                <a:latin typeface="Helvetica Neue"/>
              </a:rPr>
              <a:t>Guarantee (299 kr) also available as a single add-on</a:t>
            </a:r>
          </a:p>
        </p:txBody>
      </p:sp>
      <p:sp>
        <p:nvSpPr>
          <p:cNvPr id="17" name="TextBox 16"/>
          <p:cNvSpPr txBox="1"/>
          <p:nvPr/>
        </p:nvSpPr>
        <p:spPr>
          <a:xfrm>
            <a:off x="502920" y="45262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Key metrics</a:t>
            </a:r>
          </a:p>
        </p:txBody>
      </p:sp>
      <p:sp>
        <p:nvSpPr>
          <p:cNvPr id="18" name="Rectangle 17"/>
          <p:cNvSpPr/>
          <p:nvPr/>
        </p:nvSpPr>
        <p:spPr>
          <a:xfrm>
            <a:off x="502920" y="48188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10328"/>
            <a:ext cx="3566160" cy="77724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1.  </a:t>
            </a:r>
            <a:r>
              <a:rPr sz="950" b="1" i="0">
                <a:solidFill>
                  <a:srgbClr val="F7D007"/>
                </a:solidFill>
                <a:latin typeface="Helvetica Neue"/>
              </a:rPr>
              <a:t>Cart to checkout rate</a:t>
            </a:r>
          </a:p>
          <a:p>
            <a:pPr algn="l">
              <a:lnSpc>
                <a:spcPct val="125000"/>
              </a:lnSpc>
            </a:pPr>
            <a:r>
              <a:rPr sz="950" b="1" i="0">
                <a:solidFill>
                  <a:srgbClr val="999999"/>
                </a:solidFill>
                <a:latin typeface="Helvetica Neue"/>
              </a:rPr>
              <a:t>2.  </a:t>
            </a:r>
            <a:r>
              <a:rPr sz="950" b="0" i="0">
                <a:solidFill>
                  <a:srgbClr val="CCCCCC"/>
                </a:solidFill>
                <a:latin typeface="Helvetica Neue"/>
              </a:rPr>
              <a:t>Revenue per visitor</a:t>
            </a:r>
          </a:p>
          <a:p>
            <a:pPr algn="l">
              <a:lnSpc>
                <a:spcPct val="125000"/>
              </a:lnSpc>
            </a:pPr>
            <a:r>
              <a:rPr sz="950" b="1" i="0">
                <a:solidFill>
                  <a:srgbClr val="999999"/>
                </a:solidFill>
                <a:latin typeface="Helvetica Neue"/>
              </a:rPr>
              <a:t>3.  </a:t>
            </a:r>
            <a:r>
              <a:rPr sz="950" b="0" i="0">
                <a:solidFill>
                  <a:srgbClr val="CCCCCC"/>
                </a:solidFill>
                <a:latin typeface="Helvetica Neue"/>
              </a:rPr>
              <a:t>AOV + bundle attach rate (guardrails)</a:t>
            </a:r>
          </a:p>
        </p:txBody>
      </p:sp>
      <p:sp>
        <p:nvSpPr>
          <p:cNvPr id="20" name="Rounded Rectangle 19"/>
          <p:cNvSpPr/>
          <p:nvPr/>
        </p:nvSpPr>
        <p:spPr>
          <a:xfrm>
            <a:off x="502920" y="5623560"/>
            <a:ext cx="3566160" cy="868680"/>
          </a:xfrm>
          <a:prstGeom prst="roundRect">
            <a:avLst>
              <a:gd name="adj" fmla="val 5000"/>
            </a:avLst>
          </a:prstGeom>
          <a:solidFill>
            <a:srgbClr val="101010"/>
          </a:solid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Duration</a:t>
            </a:r>
          </a:p>
        </p:txBody>
      </p:sp>
      <p:sp>
        <p:nvSpPr>
          <p:cNvPr id="22" name="TextBox 21"/>
          <p:cNvSpPr txBox="1"/>
          <p:nvPr/>
        </p:nvSpPr>
        <p:spPr>
          <a:xfrm>
            <a:off x="68580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3 to 4 weeks</a:t>
            </a:r>
          </a:p>
        </p:txBody>
      </p:sp>
      <p:sp>
        <p:nvSpPr>
          <p:cNvPr id="23" name="TextBox 22"/>
          <p:cNvSpPr txBox="1"/>
          <p:nvPr/>
        </p:nvSpPr>
        <p:spPr>
          <a:xfrm>
            <a:off x="242316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Device</a:t>
            </a:r>
          </a:p>
        </p:txBody>
      </p:sp>
      <p:sp>
        <p:nvSpPr>
          <p:cNvPr id="24" name="TextBox 23"/>
          <p:cNvSpPr txBox="1"/>
          <p:nvPr/>
        </p:nvSpPr>
        <p:spPr>
          <a:xfrm>
            <a:off x="242316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All devices</a:t>
            </a:r>
          </a:p>
        </p:txBody>
      </p:sp>
      <p:sp>
        <p:nvSpPr>
          <p:cNvPr id="25" name="TextBox 24"/>
          <p:cNvSpPr txBox="1"/>
          <p:nvPr/>
        </p:nvSpPr>
        <p:spPr>
          <a:xfrm>
            <a:off x="68580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Baseline</a:t>
            </a:r>
          </a:p>
        </p:txBody>
      </p:sp>
      <p:sp>
        <p:nvSpPr>
          <p:cNvPr id="26" name="TextBox 25"/>
          <p:cNvSpPr txBox="1"/>
          <p:nvPr/>
        </p:nvSpPr>
        <p:spPr>
          <a:xfrm>
            <a:off x="68580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51.6% cart to checkout · 632 DKK AOV</a:t>
            </a:r>
          </a:p>
        </p:txBody>
      </p:sp>
      <p:sp>
        <p:nvSpPr>
          <p:cNvPr id="27" name="TextBox 26"/>
          <p:cNvSpPr txBox="1"/>
          <p:nvPr/>
        </p:nvSpPr>
        <p:spPr>
          <a:xfrm>
            <a:off x="242316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URL</a:t>
            </a:r>
          </a:p>
        </p:txBody>
      </p:sp>
      <p:sp>
        <p:nvSpPr>
          <p:cNvPr id="28" name="TextBox 27"/>
          <p:cNvSpPr txBox="1"/>
          <p:nvPr/>
        </p:nvSpPr>
        <p:spPr>
          <a:xfrm>
            <a:off x="242316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KidsBuddy buy box + cart drawer</a:t>
            </a:r>
          </a:p>
        </p:txBody>
      </p:sp>
      <p:sp>
        <p:nvSpPr>
          <p:cNvPr id="29" name="TextBox 28"/>
          <p:cNvSpPr txBox="1"/>
          <p:nvPr/>
        </p:nvSpPr>
        <p:spPr>
          <a:xfrm>
            <a:off x="4754880" y="502920"/>
            <a:ext cx="7132320" cy="548640"/>
          </a:xfrm>
          <a:prstGeom prst="rect">
            <a:avLst/>
          </a:prstGeom>
          <a:noFill/>
        </p:spPr>
        <p:txBody>
          <a:bodyPr wrap="square" lIns="0" rIns="0" tIns="0" bIns="0" anchor="t">
            <a:spAutoFit/>
          </a:bodyPr>
          <a:lstStyle/>
          <a:p>
            <a:pPr algn="l"/>
            <a:r>
              <a:rPr sz="2000" b="1" i="0">
                <a:solidFill>
                  <a:srgbClr val="FFFFFF"/>
                </a:solidFill>
                <a:latin typeface="Helvetica Neue"/>
              </a:rPr>
              <a:t>T02 · Buy box · SuperDeal as a choice, not a surprise</a:t>
            </a:r>
          </a:p>
        </p:txBody>
      </p:sp>
      <p:sp>
        <p:nvSpPr>
          <p:cNvPr id="30" name="Rounded Rectangle 29"/>
          <p:cNvSpPr/>
          <p:nvPr/>
        </p:nvSpPr>
        <p:spPr>
          <a:xfrm>
            <a:off x="4754880" y="1143000"/>
            <a:ext cx="6949440" cy="457200"/>
          </a:xfrm>
          <a:prstGeom prst="roundRect">
            <a:avLst>
              <a:gd name="adj" fmla="val 15000"/>
            </a:avLst>
          </a:prstGeom>
          <a:solidFill>
            <a:srgbClr val="00000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1143000"/>
            <a:ext cx="4572000" cy="457200"/>
          </a:xfrm>
          <a:prstGeom prst="rect">
            <a:avLst/>
          </a:prstGeom>
          <a:noFill/>
        </p:spPr>
        <p:txBody>
          <a:bodyPr wrap="square" lIns="0" rIns="0" tIns="0" bIns="0" anchor="ctr">
            <a:spAutoFit/>
          </a:bodyPr>
          <a:lstStyle/>
          <a:p>
            <a:pPr algn="l"/>
            <a:r>
              <a:rPr sz="1000" b="1" i="0">
                <a:solidFill>
                  <a:srgbClr val="FFFFFF"/>
                </a:solidFill>
                <a:latin typeface="Helvetica Neue"/>
              </a:rPr>
              <a:t>Test ID: </a:t>
            </a:r>
            <a:r>
              <a:rPr sz="1000" b="0" i="0">
                <a:solidFill>
                  <a:srgbClr val="CCCCCC"/>
                </a:solidFill>
                <a:latin typeface="Helvetica Neue"/>
              </a:rPr>
              <a:t>TS-T02    </a:t>
            </a:r>
            <a:r>
              <a:rPr sz="1000" b="1" i="0">
                <a:solidFill>
                  <a:srgbClr val="FFFFFF"/>
                </a:solidFill>
                <a:latin typeface="Helvetica Neue"/>
              </a:rPr>
              <a:t>Status: </a:t>
            </a:r>
            <a:r>
              <a:rPr sz="1000" b="0" i="0">
                <a:solidFill>
                  <a:srgbClr val="CCCCCC"/>
                </a:solidFill>
                <a:latin typeface="Helvetica Neue"/>
              </a:rPr>
              <a:t>In planning</a:t>
            </a:r>
          </a:p>
        </p:txBody>
      </p:sp>
      <p:sp>
        <p:nvSpPr>
          <p:cNvPr id="32" name="Rounded Rectangle 31"/>
          <p:cNvSpPr/>
          <p:nvPr/>
        </p:nvSpPr>
        <p:spPr>
          <a:xfrm>
            <a:off x="10607040" y="1207008"/>
            <a:ext cx="1005840" cy="32918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0" y="1207008"/>
            <a:ext cx="1005840" cy="329184"/>
          </a:xfrm>
          <a:prstGeom prst="rect">
            <a:avLst/>
          </a:prstGeom>
          <a:noFill/>
        </p:spPr>
        <p:txBody>
          <a:bodyPr wrap="square" lIns="0" rIns="0" tIns="0" bIns="0" anchor="ctr">
            <a:spAutoFit/>
          </a:bodyPr>
          <a:lstStyle/>
          <a:p>
            <a:pPr algn="ctr"/>
            <a:r>
              <a:rPr sz="900" b="1" i="0" spc="100">
                <a:solidFill>
                  <a:srgbClr val="000000"/>
                </a:solidFill>
                <a:latin typeface="Helvetica Neue"/>
              </a:rPr>
              <a:t>A/B TEST</a:t>
            </a:r>
          </a:p>
        </p:txBody>
      </p:sp>
      <p:pic>
        <p:nvPicPr>
          <p:cNvPr id="34" name="Picture 33" descr="pdp-kidsbuddy-superdeal-mobile.png"/>
          <p:cNvPicPr>
            <a:picLocks noChangeAspect="1"/>
          </p:cNvPicPr>
          <p:nvPr/>
        </p:nvPicPr>
        <p:blipFill>
          <a:blip r:embed="rId3"/>
          <a:stretch>
            <a:fillRect/>
          </a:stretch>
        </p:blipFill>
        <p:spPr>
          <a:xfrm>
            <a:off x="5120640" y="1920240"/>
            <a:ext cx="1647870" cy="3566160"/>
          </a:xfrm>
          <a:prstGeom prst="rect">
            <a:avLst/>
          </a:prstGeom>
        </p:spPr>
      </p:pic>
      <p:sp>
        <p:nvSpPr>
          <p:cNvPr id="35" name="Rounded Rectangle 34"/>
          <p:cNvSpPr/>
          <p:nvPr/>
        </p:nvSpPr>
        <p:spPr>
          <a:xfrm>
            <a:off x="506577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46320" y="5596128"/>
            <a:ext cx="2196510" cy="274320"/>
          </a:xfrm>
          <a:prstGeom prst="rect">
            <a:avLst/>
          </a:prstGeom>
          <a:noFill/>
        </p:spPr>
        <p:txBody>
          <a:bodyPr wrap="square" lIns="0" rIns="0" tIns="0" bIns="0" anchor="t">
            <a:spAutoFit/>
          </a:bodyPr>
          <a:lstStyle/>
          <a:p>
            <a:pPr algn="ctr"/>
            <a:r>
              <a:rPr sz="1100" b="1" i="0" spc="300">
                <a:solidFill>
                  <a:srgbClr val="FFFFFF"/>
                </a:solidFill>
                <a:latin typeface="Helvetica Neue"/>
              </a:rPr>
              <a:t>CONTROL · LIVE BUY BOX</a:t>
            </a:r>
          </a:p>
        </p:txBody>
      </p:sp>
      <p:sp>
        <p:nvSpPr>
          <p:cNvPr id="37" name="TextBox 36"/>
          <p:cNvSpPr txBox="1"/>
          <p:nvPr/>
        </p:nvSpPr>
        <p:spPr>
          <a:xfrm>
            <a:off x="484632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The radio already exists: SuperDeal (999 kr, 3 items) is pre-selected; "1x Kidsbuddy · 749 kr" sits below.</a:t>
            </a:r>
          </a:p>
        </p:txBody>
      </p:sp>
      <p:pic>
        <p:nvPicPr>
          <p:cNvPr id="38" name="Picture 37" descr="t02-superdeal-flip-mobile.png"/>
          <p:cNvPicPr>
            <a:picLocks noChangeAspect="1"/>
          </p:cNvPicPr>
          <p:nvPr/>
        </p:nvPicPr>
        <p:blipFill>
          <a:blip r:embed="rId4"/>
          <a:stretch>
            <a:fillRect/>
          </a:stretch>
        </p:blipFill>
        <p:spPr>
          <a:xfrm>
            <a:off x="7591470" y="1920240"/>
            <a:ext cx="1647870" cy="3566160"/>
          </a:xfrm>
          <a:prstGeom prst="rect">
            <a:avLst/>
          </a:prstGeom>
        </p:spPr>
      </p:pic>
      <p:sp>
        <p:nvSpPr>
          <p:cNvPr id="39" name="Rounded Rectangle 38"/>
          <p:cNvSpPr/>
          <p:nvPr/>
        </p:nvSpPr>
        <p:spPr>
          <a:xfrm>
            <a:off x="753660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7150" y="5596128"/>
            <a:ext cx="2196510" cy="274320"/>
          </a:xfrm>
          <a:prstGeom prst="rect">
            <a:avLst/>
          </a:prstGeom>
          <a:noFill/>
        </p:spPr>
        <p:txBody>
          <a:bodyPr wrap="square" lIns="0" rIns="0" tIns="0" bIns="0" anchor="t">
            <a:spAutoFit/>
          </a:bodyPr>
          <a:lstStyle/>
          <a:p>
            <a:pPr algn="ctr"/>
            <a:r>
              <a:rPr sz="1100" b="1" i="0" spc="300">
                <a:solidFill>
                  <a:srgbClr val="F7D007"/>
                </a:solidFill>
                <a:latin typeface="Helvetica Neue"/>
              </a:rPr>
              <a:t>VARIANT · BUILT DESIGN</a:t>
            </a:r>
          </a:p>
        </p:txBody>
      </p:sp>
      <p:sp>
        <p:nvSpPr>
          <p:cNvPr id="41" name="TextBox 40"/>
          <p:cNvSpPr txBox="1"/>
          <p:nvPr/>
        </p:nvSpPr>
        <p:spPr>
          <a:xfrm>
            <a:off x="731715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HTML mockup on the live theme. Change spec in the left rail.</a:t>
            </a:r>
          </a:p>
        </p:txBody>
      </p:sp>
      <p:sp>
        <p:nvSpPr>
          <p:cNvPr id="42" name="Rounded Rectangle 41"/>
          <p:cNvSpPr/>
          <p:nvPr/>
        </p:nvSpPr>
        <p:spPr>
          <a:xfrm>
            <a:off x="9696540" y="1920240"/>
            <a:ext cx="2129395" cy="35661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9420" y="2103120"/>
            <a:ext cx="1763635" cy="274320"/>
          </a:xfrm>
          <a:prstGeom prst="rect">
            <a:avLst/>
          </a:prstGeom>
          <a:noFill/>
        </p:spPr>
        <p:txBody>
          <a:bodyPr wrap="square" lIns="0" rIns="0" tIns="0" bIns="0" anchor="t">
            <a:spAutoFit/>
          </a:bodyPr>
          <a:lstStyle/>
          <a:p>
            <a:pPr algn="l"/>
            <a:r>
              <a:rPr sz="1000" b="1" i="0" spc="200">
                <a:solidFill>
                  <a:srgbClr val="F7D007"/>
                </a:solidFill>
                <a:latin typeface="Helvetica Neue"/>
              </a:rPr>
              <a:t>CHANGES</a:t>
            </a:r>
          </a:p>
        </p:txBody>
      </p:sp>
      <p:sp>
        <p:nvSpPr>
          <p:cNvPr id="44" name="TextBox 43"/>
          <p:cNvSpPr txBox="1"/>
          <p:nvPr/>
        </p:nvSpPr>
        <p:spPr>
          <a:xfrm>
            <a:off x="9879420" y="2468880"/>
            <a:ext cx="1763635" cy="2743200"/>
          </a:xfrm>
          <a:prstGeom prst="rect">
            <a:avLst/>
          </a:prstGeom>
          <a:noFill/>
        </p:spPr>
        <p:txBody>
          <a:bodyPr wrap="square" lIns="0" rIns="0" tIns="0" bIns="0" anchor="t">
            <a:spAutoFit/>
          </a:bodyPr>
          <a:lstStyle/>
          <a:p>
            <a:pPr algn="l">
              <a:lnSpc>
                <a:spcPct val="140000"/>
              </a:lnSpc>
            </a:pPr>
            <a:r>
              <a:rPr sz="950" b="1" i="0">
                <a:solidFill>
                  <a:srgbClr val="F7D007"/>
                </a:solidFill>
                <a:latin typeface="Helvetica Neue"/>
              </a:rPr>
              <a:t>1.  </a:t>
            </a:r>
            <a:r>
              <a:rPr sz="950" b="0" i="0">
                <a:solidFill>
                  <a:srgbClr val="CCCCCC"/>
                </a:solidFill>
                <a:latin typeface="Helvetica Neue"/>
              </a:rPr>
              <a:t>Flip the default: "1x Kidsbuddy · 749 kr" pre-selected</a:t>
            </a:r>
          </a:p>
          <a:p>
            <a:pPr algn="l">
              <a:lnSpc>
                <a:spcPct val="140000"/>
              </a:lnSpc>
            </a:pPr>
            <a:r>
              <a:rPr sz="950" b="1" i="0">
                <a:solidFill>
                  <a:srgbClr val="F7D007"/>
                </a:solidFill>
                <a:latin typeface="Helvetica Neue"/>
              </a:rPr>
              <a:t>2.  </a:t>
            </a:r>
            <a:r>
              <a:rPr sz="950" b="0" i="0">
                <a:solidFill>
                  <a:srgbClr val="CCCCCC"/>
                </a:solidFill>
                <a:latin typeface="Helvetica Neue"/>
              </a:rPr>
              <a:t>SuperDeal stays first as the visible upgrade with its "spar 198 kr" saving</a:t>
            </a:r>
          </a:p>
          <a:p>
            <a:pPr algn="l">
              <a:lnSpc>
                <a:spcPct val="140000"/>
              </a:lnSpc>
            </a:pPr>
            <a:r>
              <a:rPr sz="950" b="1" i="0">
                <a:solidFill>
                  <a:srgbClr val="F7D007"/>
                </a:solidFill>
                <a:latin typeface="Helvetica Neue"/>
              </a:rPr>
              <a:t>3.  </a:t>
            </a:r>
            <a:r>
              <a:rPr sz="950" b="0" i="0">
                <a:solidFill>
                  <a:srgbClr val="CCCCCC"/>
                </a:solidFill>
                <a:latin typeface="Helvetica Neue"/>
              </a:rPr>
              <a:t>Guarantee also available as a single checkbox add-on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33</a:t>
            </a:r>
          </a:p>
        </p:txBody>
      </p:sp>
      <p:sp>
        <p:nvSpPr>
          <p:cNvPr id="7" name="Rectangle 6"/>
          <p:cNvSpPr/>
          <p:nvPr/>
        </p:nvSpPr>
        <p:spPr>
          <a:xfrm>
            <a:off x="0" y="0"/>
            <a:ext cx="4480560"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Observation</a:t>
            </a:r>
          </a:p>
        </p:txBody>
      </p:sp>
      <p:sp>
        <p:nvSpPr>
          <p:cNvPr id="9" name="Rectangle 8"/>
          <p:cNvSpPr/>
          <p:nvPr/>
        </p:nvSpPr>
        <p:spPr>
          <a:xfrm>
            <a:off x="502920" y="9326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02412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Mobile checkout completion is 45.3% vs 64.9% on desktop, on a store where 89% of sessions are mobile. The drawer gates its checkout button behind a manual terms checkbox and offers no one-tap express payment before the form.</a:t>
            </a:r>
          </a:p>
        </p:txBody>
      </p:sp>
      <p:sp>
        <p:nvSpPr>
          <p:cNvPr id="11" name="TextBox 10"/>
          <p:cNvSpPr txBox="1"/>
          <p:nvPr/>
        </p:nvSpPr>
        <p:spPr>
          <a:xfrm>
            <a:off x="502920" y="192024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Hypothesis</a:t>
            </a:r>
          </a:p>
        </p:txBody>
      </p:sp>
      <p:sp>
        <p:nvSpPr>
          <p:cNvPr id="12" name="Rectangle 11"/>
          <p:cNvSpPr/>
          <p:nvPr/>
        </p:nvSpPr>
        <p:spPr>
          <a:xfrm>
            <a:off x="502920" y="221284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304288"/>
            <a:ext cx="3566160" cy="914400"/>
          </a:xfrm>
          <a:prstGeom prst="rect">
            <a:avLst/>
          </a:prstGeom>
          <a:noFill/>
        </p:spPr>
        <p:txBody>
          <a:bodyPr wrap="square" lIns="0" rIns="0" tIns="0" bIns="0" anchor="t">
            <a:spAutoFit/>
          </a:bodyPr>
          <a:lstStyle/>
          <a:p>
            <a:pPr algn="l">
              <a:lnSpc>
                <a:spcPct val="130000"/>
              </a:lnSpc>
            </a:pPr>
            <a:r>
              <a:rPr sz="1000" b="0" i="0">
                <a:solidFill>
                  <a:srgbClr val="CCCCCC"/>
                </a:solidFill>
                <a:latin typeface="Helvetica Neue"/>
              </a:rPr>
              <a:t>If we remove the drawer-level terms checkbox and surface express payment (MobilePay first) before the form, then mobile checkout completion will rise toward desktop's rate, because the two highest-friction taps on a phone disappear.</a:t>
            </a:r>
          </a:p>
        </p:txBody>
      </p:sp>
      <p:sp>
        <p:nvSpPr>
          <p:cNvPr id="14" name="TextBox 13"/>
          <p:cNvSpPr txBox="1"/>
          <p:nvPr/>
        </p:nvSpPr>
        <p:spPr>
          <a:xfrm>
            <a:off x="502920" y="320040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What we are testing</a:t>
            </a:r>
          </a:p>
        </p:txBody>
      </p:sp>
      <p:sp>
        <p:nvSpPr>
          <p:cNvPr id="15" name="Rectangle 14"/>
          <p:cNvSpPr/>
          <p:nvPr/>
        </p:nvSpPr>
        <p:spPr>
          <a:xfrm>
            <a:off x="502920" y="349300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584448"/>
            <a:ext cx="3566160" cy="91440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  </a:t>
            </a:r>
            <a:r>
              <a:rPr sz="950" b="0" i="0">
                <a:solidFill>
                  <a:srgbClr val="CCCCCC"/>
                </a:solidFill>
                <a:latin typeface="Helvetica Neue"/>
              </a:rPr>
              <a:t>Remove the terms checkbox from the drawer</a:t>
            </a:r>
          </a:p>
          <a:p>
            <a:pPr algn="l">
              <a:lnSpc>
                <a:spcPct val="125000"/>
              </a:lnSpc>
            </a:pPr>
            <a:r>
              <a:rPr sz="950" b="1" i="0">
                <a:solidFill>
                  <a:srgbClr val="F7D007"/>
                </a:solidFill>
                <a:latin typeface="Helvetica Neue"/>
              </a:rPr>
              <a:t>•  </a:t>
            </a:r>
            <a:r>
              <a:rPr sz="950" b="0" i="0">
                <a:solidFill>
                  <a:srgbClr val="CCCCCC"/>
                </a:solidFill>
                <a:latin typeface="Helvetica Neue"/>
              </a:rPr>
              <a:t>Express pay row (MobilePay / Shop Pay) above the CTA</a:t>
            </a:r>
          </a:p>
          <a:p>
            <a:pPr algn="l">
              <a:lnSpc>
                <a:spcPct val="125000"/>
              </a:lnSpc>
            </a:pPr>
            <a:r>
              <a:rPr sz="950" b="1" i="0">
                <a:solidFill>
                  <a:srgbClr val="F7D007"/>
                </a:solidFill>
                <a:latin typeface="Helvetica Neue"/>
              </a:rPr>
              <a:t>•  </a:t>
            </a:r>
            <a:r>
              <a:rPr sz="950" b="0" i="0">
                <a:solidFill>
                  <a:srgbClr val="CCCCCC"/>
                </a:solidFill>
                <a:latin typeface="Helvetica Neue"/>
              </a:rPr>
              <a:t>Real review count replaces the 5-star claim</a:t>
            </a:r>
          </a:p>
        </p:txBody>
      </p:sp>
      <p:sp>
        <p:nvSpPr>
          <p:cNvPr id="17" name="TextBox 16"/>
          <p:cNvSpPr txBox="1"/>
          <p:nvPr/>
        </p:nvSpPr>
        <p:spPr>
          <a:xfrm>
            <a:off x="502920" y="4526280"/>
            <a:ext cx="3566160" cy="274320"/>
          </a:xfrm>
          <a:prstGeom prst="rect">
            <a:avLst/>
          </a:prstGeom>
          <a:noFill/>
        </p:spPr>
        <p:txBody>
          <a:bodyPr wrap="square" lIns="0" rIns="0" tIns="0" bIns="0" anchor="t">
            <a:spAutoFit/>
          </a:bodyPr>
          <a:lstStyle/>
          <a:p>
            <a:pPr algn="l"/>
            <a:r>
              <a:rPr sz="1300" b="1" i="0">
                <a:solidFill>
                  <a:srgbClr val="FFFFFF"/>
                </a:solidFill>
                <a:latin typeface="Helvetica Neue"/>
              </a:rPr>
              <a:t>Key metrics</a:t>
            </a:r>
          </a:p>
        </p:txBody>
      </p:sp>
      <p:sp>
        <p:nvSpPr>
          <p:cNvPr id="18" name="Rectangle 17"/>
          <p:cNvSpPr/>
          <p:nvPr/>
        </p:nvSpPr>
        <p:spPr>
          <a:xfrm>
            <a:off x="502920" y="4818888"/>
            <a:ext cx="3566160" cy="19050"/>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10328"/>
            <a:ext cx="3566160" cy="777240"/>
          </a:xfrm>
          <a:prstGeom prst="rect">
            <a:avLst/>
          </a:prstGeom>
          <a:noFill/>
        </p:spPr>
        <p:txBody>
          <a:bodyPr wrap="square" lIns="0" rIns="0" tIns="0" bIns="0" anchor="t">
            <a:spAutoFit/>
          </a:bodyPr>
          <a:lstStyle/>
          <a:p>
            <a:pPr algn="l">
              <a:lnSpc>
                <a:spcPct val="125000"/>
              </a:lnSpc>
            </a:pPr>
            <a:r>
              <a:rPr sz="950" b="1" i="0">
                <a:solidFill>
                  <a:srgbClr val="F7D007"/>
                </a:solidFill>
                <a:latin typeface="Helvetica Neue"/>
              </a:rPr>
              <a:t>1.  </a:t>
            </a:r>
            <a:r>
              <a:rPr sz="950" b="1" i="0">
                <a:solidFill>
                  <a:srgbClr val="F7D007"/>
                </a:solidFill>
                <a:latin typeface="Helvetica Neue"/>
              </a:rPr>
              <a:t>Checkout completion rate (mobile)</a:t>
            </a:r>
          </a:p>
          <a:p>
            <a:pPr algn="l">
              <a:lnSpc>
                <a:spcPct val="125000"/>
              </a:lnSpc>
            </a:pPr>
            <a:r>
              <a:rPr sz="950" b="1" i="0">
                <a:solidFill>
                  <a:srgbClr val="999999"/>
                </a:solidFill>
                <a:latin typeface="Helvetica Neue"/>
              </a:rPr>
              <a:t>2.  </a:t>
            </a:r>
            <a:r>
              <a:rPr sz="950" b="0" i="0">
                <a:solidFill>
                  <a:srgbClr val="CCCCCC"/>
                </a:solidFill>
                <a:latin typeface="Helvetica Neue"/>
              </a:rPr>
              <a:t>Overall conversion rate</a:t>
            </a:r>
          </a:p>
          <a:p>
            <a:pPr algn="l">
              <a:lnSpc>
                <a:spcPct val="125000"/>
              </a:lnSpc>
            </a:pPr>
            <a:r>
              <a:rPr sz="950" b="1" i="0">
                <a:solidFill>
                  <a:srgbClr val="999999"/>
                </a:solidFill>
                <a:latin typeface="Helvetica Neue"/>
              </a:rPr>
              <a:t>3.  </a:t>
            </a:r>
            <a:r>
              <a:rPr sz="950" b="0" i="0">
                <a:solidFill>
                  <a:srgbClr val="CCCCCC"/>
                </a:solidFill>
                <a:latin typeface="Helvetica Neue"/>
              </a:rPr>
              <a:t>Payment method mix (diagnostic)</a:t>
            </a:r>
          </a:p>
        </p:txBody>
      </p:sp>
      <p:sp>
        <p:nvSpPr>
          <p:cNvPr id="20" name="Rounded Rectangle 19"/>
          <p:cNvSpPr/>
          <p:nvPr/>
        </p:nvSpPr>
        <p:spPr>
          <a:xfrm>
            <a:off x="502920" y="5623560"/>
            <a:ext cx="3566160" cy="868680"/>
          </a:xfrm>
          <a:prstGeom prst="roundRect">
            <a:avLst>
              <a:gd name="adj" fmla="val 5000"/>
            </a:avLst>
          </a:prstGeom>
          <a:solidFill>
            <a:srgbClr val="101010"/>
          </a:solid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Duration</a:t>
            </a:r>
          </a:p>
        </p:txBody>
      </p:sp>
      <p:sp>
        <p:nvSpPr>
          <p:cNvPr id="22" name="TextBox 21"/>
          <p:cNvSpPr txBox="1"/>
          <p:nvPr/>
        </p:nvSpPr>
        <p:spPr>
          <a:xfrm>
            <a:off x="68580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3 to 4 weeks</a:t>
            </a:r>
          </a:p>
        </p:txBody>
      </p:sp>
      <p:sp>
        <p:nvSpPr>
          <p:cNvPr id="23" name="TextBox 22"/>
          <p:cNvSpPr txBox="1"/>
          <p:nvPr/>
        </p:nvSpPr>
        <p:spPr>
          <a:xfrm>
            <a:off x="2423160" y="5733288"/>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Device</a:t>
            </a:r>
          </a:p>
        </p:txBody>
      </p:sp>
      <p:sp>
        <p:nvSpPr>
          <p:cNvPr id="24" name="TextBox 23"/>
          <p:cNvSpPr txBox="1"/>
          <p:nvPr/>
        </p:nvSpPr>
        <p:spPr>
          <a:xfrm>
            <a:off x="2423160" y="5897880"/>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Mobile focus (89%)</a:t>
            </a:r>
          </a:p>
        </p:txBody>
      </p:sp>
      <p:sp>
        <p:nvSpPr>
          <p:cNvPr id="25" name="TextBox 24"/>
          <p:cNvSpPr txBox="1"/>
          <p:nvPr/>
        </p:nvSpPr>
        <p:spPr>
          <a:xfrm>
            <a:off x="68580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Baseline</a:t>
            </a:r>
          </a:p>
        </p:txBody>
      </p:sp>
      <p:sp>
        <p:nvSpPr>
          <p:cNvPr id="26" name="TextBox 25"/>
          <p:cNvSpPr txBox="1"/>
          <p:nvPr/>
        </p:nvSpPr>
        <p:spPr>
          <a:xfrm>
            <a:off x="68580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45.3% completion · Est. +170K DKK/q at 55%</a:t>
            </a:r>
          </a:p>
        </p:txBody>
      </p:sp>
      <p:sp>
        <p:nvSpPr>
          <p:cNvPr id="27" name="TextBox 26"/>
          <p:cNvSpPr txBox="1"/>
          <p:nvPr/>
        </p:nvSpPr>
        <p:spPr>
          <a:xfrm>
            <a:off x="2423160" y="6117336"/>
            <a:ext cx="1645920" cy="182880"/>
          </a:xfrm>
          <a:prstGeom prst="rect">
            <a:avLst/>
          </a:prstGeom>
          <a:noFill/>
        </p:spPr>
        <p:txBody>
          <a:bodyPr wrap="square" lIns="0" rIns="0" tIns="0" bIns="0" anchor="t">
            <a:spAutoFit/>
          </a:bodyPr>
          <a:lstStyle/>
          <a:p>
            <a:pPr algn="l"/>
            <a:r>
              <a:rPr sz="900" b="1" i="0">
                <a:solidFill>
                  <a:srgbClr val="F7D007"/>
                </a:solidFill>
                <a:latin typeface="Helvetica Neue"/>
              </a:rPr>
              <a:t>URL</a:t>
            </a:r>
          </a:p>
        </p:txBody>
      </p:sp>
      <p:sp>
        <p:nvSpPr>
          <p:cNvPr id="28" name="TextBox 27"/>
          <p:cNvSpPr txBox="1"/>
          <p:nvPr/>
        </p:nvSpPr>
        <p:spPr>
          <a:xfrm>
            <a:off x="2423160" y="6281928"/>
            <a:ext cx="1691640" cy="219456"/>
          </a:xfrm>
          <a:prstGeom prst="rect">
            <a:avLst/>
          </a:prstGeom>
          <a:noFill/>
        </p:spPr>
        <p:txBody>
          <a:bodyPr wrap="square" lIns="0" rIns="0" tIns="0" bIns="0" anchor="t">
            <a:spAutoFit/>
          </a:bodyPr>
          <a:lstStyle/>
          <a:p>
            <a:pPr algn="l"/>
            <a:r>
              <a:rPr sz="800" b="0" i="0">
                <a:solidFill>
                  <a:srgbClr val="FFFFFF"/>
                </a:solidFill>
                <a:latin typeface="Helvetica Neue"/>
              </a:rPr>
              <a:t>Cart drawer + checkout</a:t>
            </a:r>
          </a:p>
        </p:txBody>
      </p:sp>
      <p:sp>
        <p:nvSpPr>
          <p:cNvPr id="29" name="TextBox 28"/>
          <p:cNvSpPr txBox="1"/>
          <p:nvPr/>
        </p:nvSpPr>
        <p:spPr>
          <a:xfrm>
            <a:off x="4754880" y="502920"/>
            <a:ext cx="7132320" cy="548640"/>
          </a:xfrm>
          <a:prstGeom prst="rect">
            <a:avLst/>
          </a:prstGeom>
          <a:noFill/>
        </p:spPr>
        <p:txBody>
          <a:bodyPr wrap="square" lIns="0" rIns="0" tIns="0" bIns="0" anchor="t">
            <a:spAutoFit/>
          </a:bodyPr>
          <a:lstStyle/>
          <a:p>
            <a:pPr algn="l"/>
            <a:r>
              <a:rPr sz="2000" b="1" i="0">
                <a:solidFill>
                  <a:srgbClr val="FFFFFF"/>
                </a:solidFill>
                <a:latin typeface="Helvetica Neue"/>
              </a:rPr>
              <a:t>T03 · Checkout · Two fewer taps on mobile</a:t>
            </a:r>
          </a:p>
        </p:txBody>
      </p:sp>
      <p:sp>
        <p:nvSpPr>
          <p:cNvPr id="30" name="Rounded Rectangle 29"/>
          <p:cNvSpPr/>
          <p:nvPr/>
        </p:nvSpPr>
        <p:spPr>
          <a:xfrm>
            <a:off x="4754880" y="1143000"/>
            <a:ext cx="6949440" cy="457200"/>
          </a:xfrm>
          <a:prstGeom prst="roundRect">
            <a:avLst>
              <a:gd name="adj" fmla="val 15000"/>
            </a:avLst>
          </a:prstGeom>
          <a:solidFill>
            <a:srgbClr val="00000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1143000"/>
            <a:ext cx="4572000" cy="457200"/>
          </a:xfrm>
          <a:prstGeom prst="rect">
            <a:avLst/>
          </a:prstGeom>
          <a:noFill/>
        </p:spPr>
        <p:txBody>
          <a:bodyPr wrap="square" lIns="0" rIns="0" tIns="0" bIns="0" anchor="ctr">
            <a:spAutoFit/>
          </a:bodyPr>
          <a:lstStyle/>
          <a:p>
            <a:pPr algn="l"/>
            <a:r>
              <a:rPr sz="1000" b="1" i="0">
                <a:solidFill>
                  <a:srgbClr val="FFFFFF"/>
                </a:solidFill>
                <a:latin typeface="Helvetica Neue"/>
              </a:rPr>
              <a:t>Test ID: </a:t>
            </a:r>
            <a:r>
              <a:rPr sz="1000" b="0" i="0">
                <a:solidFill>
                  <a:srgbClr val="CCCCCC"/>
                </a:solidFill>
                <a:latin typeface="Helvetica Neue"/>
              </a:rPr>
              <a:t>TS-T03    </a:t>
            </a:r>
            <a:r>
              <a:rPr sz="1000" b="1" i="0">
                <a:solidFill>
                  <a:srgbClr val="FFFFFF"/>
                </a:solidFill>
                <a:latin typeface="Helvetica Neue"/>
              </a:rPr>
              <a:t>Status: </a:t>
            </a:r>
            <a:r>
              <a:rPr sz="1000" b="0" i="0">
                <a:solidFill>
                  <a:srgbClr val="CCCCCC"/>
                </a:solidFill>
                <a:latin typeface="Helvetica Neue"/>
              </a:rPr>
              <a:t>In planning</a:t>
            </a:r>
          </a:p>
        </p:txBody>
      </p:sp>
      <p:sp>
        <p:nvSpPr>
          <p:cNvPr id="32" name="Rounded Rectangle 31"/>
          <p:cNvSpPr/>
          <p:nvPr/>
        </p:nvSpPr>
        <p:spPr>
          <a:xfrm>
            <a:off x="10607040" y="1207008"/>
            <a:ext cx="1005840" cy="32918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0" y="1207008"/>
            <a:ext cx="1005840" cy="329184"/>
          </a:xfrm>
          <a:prstGeom prst="rect">
            <a:avLst/>
          </a:prstGeom>
          <a:noFill/>
        </p:spPr>
        <p:txBody>
          <a:bodyPr wrap="square" lIns="0" rIns="0" tIns="0" bIns="0" anchor="ctr">
            <a:spAutoFit/>
          </a:bodyPr>
          <a:lstStyle/>
          <a:p>
            <a:pPr algn="ctr"/>
            <a:r>
              <a:rPr sz="900" b="1" i="0" spc="100">
                <a:solidFill>
                  <a:srgbClr val="000000"/>
                </a:solidFill>
                <a:latin typeface="Helvetica Neue"/>
              </a:rPr>
              <a:t>A/B TEST</a:t>
            </a:r>
          </a:p>
        </p:txBody>
      </p:sp>
      <p:pic>
        <p:nvPicPr>
          <p:cNvPr id="34" name="Picture 33" descr="cart-mobile.png"/>
          <p:cNvPicPr>
            <a:picLocks noChangeAspect="1"/>
          </p:cNvPicPr>
          <p:nvPr/>
        </p:nvPicPr>
        <p:blipFill>
          <a:blip r:embed="rId3"/>
          <a:stretch>
            <a:fillRect/>
          </a:stretch>
        </p:blipFill>
        <p:spPr>
          <a:xfrm>
            <a:off x="5120640" y="1920240"/>
            <a:ext cx="1647870" cy="3566160"/>
          </a:xfrm>
          <a:prstGeom prst="rect">
            <a:avLst/>
          </a:prstGeom>
        </p:spPr>
      </p:pic>
      <p:sp>
        <p:nvSpPr>
          <p:cNvPr id="35" name="Rounded Rectangle 34"/>
          <p:cNvSpPr/>
          <p:nvPr/>
        </p:nvSpPr>
        <p:spPr>
          <a:xfrm>
            <a:off x="506577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46320" y="5596128"/>
            <a:ext cx="2196510" cy="274320"/>
          </a:xfrm>
          <a:prstGeom prst="rect">
            <a:avLst/>
          </a:prstGeom>
          <a:noFill/>
        </p:spPr>
        <p:txBody>
          <a:bodyPr wrap="square" lIns="0" rIns="0" tIns="0" bIns="0" anchor="t">
            <a:spAutoFit/>
          </a:bodyPr>
          <a:lstStyle/>
          <a:p>
            <a:pPr algn="ctr"/>
            <a:r>
              <a:rPr sz="1100" b="1" i="0" spc="300">
                <a:solidFill>
                  <a:srgbClr val="FFFFFF"/>
                </a:solidFill>
                <a:latin typeface="Helvetica Neue"/>
              </a:rPr>
              <a:t>CONTROL · LIVE DRAWER</a:t>
            </a:r>
          </a:p>
        </p:txBody>
      </p:sp>
      <p:sp>
        <p:nvSpPr>
          <p:cNvPr id="37" name="TextBox 36"/>
          <p:cNvSpPr txBox="1"/>
          <p:nvPr/>
        </p:nvSpPr>
        <p:spPr>
          <a:xfrm>
            <a:off x="484632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A manual terms checkbox gates the checkout button.</a:t>
            </a:r>
          </a:p>
        </p:txBody>
      </p:sp>
      <p:pic>
        <p:nvPicPr>
          <p:cNvPr id="38" name="Picture 37" descr="t03-cart-drawer-mobile.png"/>
          <p:cNvPicPr>
            <a:picLocks noChangeAspect="1"/>
          </p:cNvPicPr>
          <p:nvPr/>
        </p:nvPicPr>
        <p:blipFill>
          <a:blip r:embed="rId4"/>
          <a:stretch>
            <a:fillRect/>
          </a:stretch>
        </p:blipFill>
        <p:spPr>
          <a:xfrm>
            <a:off x="7591470" y="1920240"/>
            <a:ext cx="1647870" cy="3566160"/>
          </a:xfrm>
          <a:prstGeom prst="rect">
            <a:avLst/>
          </a:prstGeom>
        </p:spPr>
      </p:pic>
      <p:sp>
        <p:nvSpPr>
          <p:cNvPr id="39" name="Rounded Rectangle 38"/>
          <p:cNvSpPr/>
          <p:nvPr/>
        </p:nvSpPr>
        <p:spPr>
          <a:xfrm>
            <a:off x="7536606" y="1865376"/>
            <a:ext cx="1757598" cy="3675888"/>
          </a:xfrm>
          <a:prstGeom prst="roundRect">
            <a:avLst>
              <a:gd name="adj" fmla="val 8000"/>
            </a:avLst>
          </a:prstGeom>
          <a:noFill/>
          <a:ln w="7620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7150" y="5596128"/>
            <a:ext cx="2196510" cy="274320"/>
          </a:xfrm>
          <a:prstGeom prst="rect">
            <a:avLst/>
          </a:prstGeom>
          <a:noFill/>
        </p:spPr>
        <p:txBody>
          <a:bodyPr wrap="square" lIns="0" rIns="0" tIns="0" bIns="0" anchor="t">
            <a:spAutoFit/>
          </a:bodyPr>
          <a:lstStyle/>
          <a:p>
            <a:pPr algn="ctr"/>
            <a:r>
              <a:rPr sz="1100" b="1" i="0" spc="300">
                <a:solidFill>
                  <a:srgbClr val="F7D007"/>
                </a:solidFill>
                <a:latin typeface="Helvetica Neue"/>
              </a:rPr>
              <a:t>VARIANT · BUILT DESIGN</a:t>
            </a:r>
          </a:p>
        </p:txBody>
      </p:sp>
      <p:sp>
        <p:nvSpPr>
          <p:cNvPr id="41" name="TextBox 40"/>
          <p:cNvSpPr txBox="1"/>
          <p:nvPr/>
        </p:nvSpPr>
        <p:spPr>
          <a:xfrm>
            <a:off x="7317150" y="5870448"/>
            <a:ext cx="2196510" cy="457200"/>
          </a:xfrm>
          <a:prstGeom prst="rect">
            <a:avLst/>
          </a:prstGeom>
          <a:noFill/>
        </p:spPr>
        <p:txBody>
          <a:bodyPr wrap="square" lIns="0" rIns="0" tIns="0" bIns="0" anchor="t">
            <a:spAutoFit/>
          </a:bodyPr>
          <a:lstStyle/>
          <a:p>
            <a:pPr algn="ctr"/>
            <a:r>
              <a:rPr sz="800" b="0" i="0">
                <a:solidFill>
                  <a:srgbClr val="999999"/>
                </a:solidFill>
                <a:latin typeface="Helvetica Neue"/>
              </a:rPr>
              <a:t>HTML mockup on the live theme. Change spec in the left rail.</a:t>
            </a:r>
          </a:p>
        </p:txBody>
      </p:sp>
      <p:sp>
        <p:nvSpPr>
          <p:cNvPr id="42" name="Rounded Rectangle 41"/>
          <p:cNvSpPr/>
          <p:nvPr/>
        </p:nvSpPr>
        <p:spPr>
          <a:xfrm>
            <a:off x="9696540" y="1920240"/>
            <a:ext cx="2129395" cy="35661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9420" y="2103120"/>
            <a:ext cx="1763635" cy="274320"/>
          </a:xfrm>
          <a:prstGeom prst="rect">
            <a:avLst/>
          </a:prstGeom>
          <a:noFill/>
        </p:spPr>
        <p:txBody>
          <a:bodyPr wrap="square" lIns="0" rIns="0" tIns="0" bIns="0" anchor="t">
            <a:spAutoFit/>
          </a:bodyPr>
          <a:lstStyle/>
          <a:p>
            <a:pPr algn="l"/>
            <a:r>
              <a:rPr sz="1000" b="1" i="0" spc="200">
                <a:solidFill>
                  <a:srgbClr val="F7D007"/>
                </a:solidFill>
                <a:latin typeface="Helvetica Neue"/>
              </a:rPr>
              <a:t>CHANGES</a:t>
            </a:r>
          </a:p>
        </p:txBody>
      </p:sp>
      <p:sp>
        <p:nvSpPr>
          <p:cNvPr id="44" name="TextBox 43"/>
          <p:cNvSpPr txBox="1"/>
          <p:nvPr/>
        </p:nvSpPr>
        <p:spPr>
          <a:xfrm>
            <a:off x="9879420" y="2468880"/>
            <a:ext cx="1763635" cy="2743200"/>
          </a:xfrm>
          <a:prstGeom prst="rect">
            <a:avLst/>
          </a:prstGeom>
          <a:noFill/>
        </p:spPr>
        <p:txBody>
          <a:bodyPr wrap="square" lIns="0" rIns="0" tIns="0" bIns="0" anchor="t">
            <a:spAutoFit/>
          </a:bodyPr>
          <a:lstStyle/>
          <a:p>
            <a:pPr algn="l">
              <a:lnSpc>
                <a:spcPct val="140000"/>
              </a:lnSpc>
            </a:pPr>
            <a:r>
              <a:rPr sz="950" b="1" i="0">
                <a:solidFill>
                  <a:srgbClr val="F7D007"/>
                </a:solidFill>
                <a:latin typeface="Helvetica Neue"/>
              </a:rPr>
              <a:t>1.  </a:t>
            </a:r>
            <a:r>
              <a:rPr sz="950" b="0" i="0">
                <a:solidFill>
                  <a:srgbClr val="CCCCCC"/>
                </a:solidFill>
                <a:latin typeface="Helvetica Neue"/>
              </a:rPr>
              <a:t>Terms checkbox removed (acceptance stays in checkout)</a:t>
            </a:r>
          </a:p>
          <a:p>
            <a:pPr algn="l">
              <a:lnSpc>
                <a:spcPct val="140000"/>
              </a:lnSpc>
            </a:pPr>
            <a:r>
              <a:rPr sz="950" b="1" i="0">
                <a:solidFill>
                  <a:srgbClr val="F7D007"/>
                </a:solidFill>
                <a:latin typeface="Helvetica Neue"/>
              </a:rPr>
              <a:t>2.  </a:t>
            </a:r>
            <a:r>
              <a:rPr sz="950" b="0" i="0">
                <a:solidFill>
                  <a:srgbClr val="CCCCCC"/>
                </a:solidFill>
                <a:latin typeface="Helvetica Neue"/>
              </a:rPr>
              <a:t>MobilePay / Shop Pay express row above the CTA</a:t>
            </a:r>
          </a:p>
          <a:p>
            <a:pPr algn="l">
              <a:lnSpc>
                <a:spcPct val="140000"/>
              </a:lnSpc>
            </a:pPr>
            <a:r>
              <a:rPr sz="950" b="1" i="0">
                <a:solidFill>
                  <a:srgbClr val="F7D007"/>
                </a:solidFill>
                <a:latin typeface="Helvetica Neue"/>
              </a:rPr>
              <a:t>3.  </a:t>
            </a:r>
            <a:r>
              <a:rPr sz="950" b="0" i="0">
                <a:solidFill>
                  <a:srgbClr val="CCCCCC"/>
                </a:solidFill>
                <a:latin typeface="Helvetica Neue"/>
              </a:rPr>
              <a:t>Real review count replaces the 5-star claim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34</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07</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WHO RUNS THIS</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How EcomHouse works</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A zero-row CRO service: research, design, build, QA, deploy, test, analysis end to end. The method, and what it has delivered.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THE ECOMHOUSE METHOD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Six steps, end to end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You approve. We execute. Every step is owned by us, including build, QA, and rollout. Client only approves the brief and rollout.</a:t>
            </a:r>
          </a:p>
        </p:txBody>
      </p:sp>
      <p:sp>
        <p:nvSpPr>
          <p:cNvPr id="10" name="Rounded Rectangle 9"/>
          <p:cNvSpPr/>
          <p:nvPr/>
        </p:nvSpPr>
        <p:spPr>
          <a:xfrm>
            <a:off x="44942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01</a:t>
            </a:r>
          </a:p>
        </p:txBody>
      </p:sp>
      <p:sp>
        <p:nvSpPr>
          <p:cNvPr id="12" name="TextBox 11"/>
          <p:cNvSpPr txBox="1"/>
          <p:nvPr/>
        </p:nvSpPr>
        <p:spPr>
          <a:xfrm>
            <a:off x="63230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Research</a:t>
            </a:r>
          </a:p>
        </p:txBody>
      </p:sp>
      <p:sp>
        <p:nvSpPr>
          <p:cNvPr id="13" name="TextBox 12"/>
          <p:cNvSpPr txBox="1"/>
          <p:nvPr/>
        </p:nvSpPr>
        <p:spPr>
          <a:xfrm>
            <a:off x="63230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GA4, Shopify, heatmaps, recordings, reviews, support.</a:t>
            </a:r>
          </a:p>
        </p:txBody>
      </p:sp>
      <p:sp>
        <p:nvSpPr>
          <p:cNvPr id="14" name="TextBox 13"/>
          <p:cNvSpPr txBox="1"/>
          <p:nvPr/>
        </p:nvSpPr>
        <p:spPr>
          <a:xfrm>
            <a:off x="2232507"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15" name="Rounded Rectangle 14"/>
          <p:cNvSpPr/>
          <p:nvPr/>
        </p:nvSpPr>
        <p:spPr>
          <a:xfrm>
            <a:off x="2351379"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4259"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02</a:t>
            </a:r>
          </a:p>
        </p:txBody>
      </p:sp>
      <p:sp>
        <p:nvSpPr>
          <p:cNvPr id="17" name="TextBox 16"/>
          <p:cNvSpPr txBox="1"/>
          <p:nvPr/>
        </p:nvSpPr>
        <p:spPr>
          <a:xfrm>
            <a:off x="2534259"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Ideate</a:t>
            </a:r>
          </a:p>
        </p:txBody>
      </p:sp>
      <p:sp>
        <p:nvSpPr>
          <p:cNvPr id="18" name="TextBox 17"/>
          <p:cNvSpPr txBox="1"/>
          <p:nvPr/>
        </p:nvSpPr>
        <p:spPr>
          <a:xfrm>
            <a:off x="2534259"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Hypothesis, variant concepts, copy, Figma prototype.</a:t>
            </a:r>
          </a:p>
        </p:txBody>
      </p:sp>
      <p:sp>
        <p:nvSpPr>
          <p:cNvPr id="19" name="TextBox 18"/>
          <p:cNvSpPr txBox="1"/>
          <p:nvPr/>
        </p:nvSpPr>
        <p:spPr>
          <a:xfrm>
            <a:off x="4134459"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0" name="Rounded Rectangle 19"/>
          <p:cNvSpPr/>
          <p:nvPr/>
        </p:nvSpPr>
        <p:spPr>
          <a:xfrm>
            <a:off x="4253331"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6211"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03</a:t>
            </a:r>
          </a:p>
        </p:txBody>
      </p:sp>
      <p:sp>
        <p:nvSpPr>
          <p:cNvPr id="22" name="TextBox 21"/>
          <p:cNvSpPr txBox="1"/>
          <p:nvPr/>
        </p:nvSpPr>
        <p:spPr>
          <a:xfrm>
            <a:off x="4436211"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Pre-test brief</a:t>
            </a:r>
          </a:p>
        </p:txBody>
      </p:sp>
      <p:sp>
        <p:nvSpPr>
          <p:cNvPr id="23" name="TextBox 22"/>
          <p:cNvSpPr txBox="1"/>
          <p:nvPr/>
        </p:nvSpPr>
        <p:spPr>
          <a:xfrm>
            <a:off x="4436211"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brief with metric, confidence, sample size.</a:t>
            </a:r>
          </a:p>
        </p:txBody>
      </p:sp>
      <p:sp>
        <p:nvSpPr>
          <p:cNvPr id="24" name="TextBox 23"/>
          <p:cNvSpPr txBox="1"/>
          <p:nvPr/>
        </p:nvSpPr>
        <p:spPr>
          <a:xfrm>
            <a:off x="6036411"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5" name="Rounded Rectangle 24"/>
          <p:cNvSpPr/>
          <p:nvPr/>
        </p:nvSpPr>
        <p:spPr>
          <a:xfrm>
            <a:off x="6155283"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38163"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04</a:t>
            </a:r>
          </a:p>
        </p:txBody>
      </p:sp>
      <p:sp>
        <p:nvSpPr>
          <p:cNvPr id="27" name="TextBox 26"/>
          <p:cNvSpPr txBox="1"/>
          <p:nvPr/>
        </p:nvSpPr>
        <p:spPr>
          <a:xfrm>
            <a:off x="6338163"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Build + QA</a:t>
            </a:r>
          </a:p>
        </p:txBody>
      </p:sp>
      <p:sp>
        <p:nvSpPr>
          <p:cNvPr id="28" name="TextBox 27"/>
          <p:cNvSpPr txBox="1"/>
          <p:nvPr/>
        </p:nvSpPr>
        <p:spPr>
          <a:xfrm>
            <a:off x="6338163"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Shopify or test tool variant, tracked, QA'd across devices.</a:t>
            </a:r>
          </a:p>
        </p:txBody>
      </p:sp>
      <p:sp>
        <p:nvSpPr>
          <p:cNvPr id="29" name="TextBox 28"/>
          <p:cNvSpPr txBox="1"/>
          <p:nvPr/>
        </p:nvSpPr>
        <p:spPr>
          <a:xfrm>
            <a:off x="7938363"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0" name="Rounded Rectangle 29"/>
          <p:cNvSpPr/>
          <p:nvPr/>
        </p:nvSpPr>
        <p:spPr>
          <a:xfrm>
            <a:off x="8057235"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05</a:t>
            </a:r>
          </a:p>
        </p:txBody>
      </p:sp>
      <p:sp>
        <p:nvSpPr>
          <p:cNvPr id="32" name="TextBox 31"/>
          <p:cNvSpPr txBox="1"/>
          <p:nvPr/>
        </p:nvSpPr>
        <p:spPr>
          <a:xfrm>
            <a:off x="8240115"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Run + monitor</a:t>
            </a:r>
          </a:p>
        </p:txBody>
      </p:sp>
      <p:sp>
        <p:nvSpPr>
          <p:cNvPr id="33" name="TextBox 32"/>
          <p:cNvSpPr txBox="1"/>
          <p:nvPr/>
        </p:nvSpPr>
        <p:spPr>
          <a:xfrm>
            <a:off x="8240115"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Live test with guardrail watch, weekly progress updates.</a:t>
            </a:r>
          </a:p>
        </p:txBody>
      </p:sp>
      <p:sp>
        <p:nvSpPr>
          <p:cNvPr id="34" name="TextBox 33"/>
          <p:cNvSpPr txBox="1"/>
          <p:nvPr/>
        </p:nvSpPr>
        <p:spPr>
          <a:xfrm>
            <a:off x="9840315"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5" name="Rounded Rectangle 34"/>
          <p:cNvSpPr/>
          <p:nvPr/>
        </p:nvSpPr>
        <p:spPr>
          <a:xfrm>
            <a:off x="995918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206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06</a:t>
            </a:r>
          </a:p>
        </p:txBody>
      </p:sp>
      <p:sp>
        <p:nvSpPr>
          <p:cNvPr id="37" name="TextBox 36"/>
          <p:cNvSpPr txBox="1"/>
          <p:nvPr/>
        </p:nvSpPr>
        <p:spPr>
          <a:xfrm>
            <a:off x="1014206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Analyze + roll out</a:t>
            </a:r>
          </a:p>
        </p:txBody>
      </p:sp>
      <p:sp>
        <p:nvSpPr>
          <p:cNvPr id="38" name="TextBox 37"/>
          <p:cNvSpPr txBox="1"/>
          <p:nvPr/>
        </p:nvSpPr>
        <p:spPr>
          <a:xfrm>
            <a:off x="1014206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verdict, fee invoiced on rollout to 100 % of traffic.</a:t>
            </a:r>
          </a:p>
        </p:txBody>
      </p:sp>
      <p:sp>
        <p:nvSpPr>
          <p:cNvPr id="39" name="Rounded Rectangle 38"/>
          <p:cNvSpPr/>
          <p:nvPr/>
        </p:nvSpPr>
        <p:spPr>
          <a:xfrm>
            <a:off x="914400" y="5029200"/>
            <a:ext cx="10360152"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166360"/>
            <a:ext cx="9902952"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Zero-row service: </a:t>
            </a:r>
            <a:r>
              <a:rPr sz="1100" b="0" i="0">
                <a:solidFill>
                  <a:srgbClr val="CCCCCC"/>
                </a:solidFill>
                <a:latin typeface="Helvetica Neue"/>
              </a:rPr>
              <a:t>the client is not expected to do production work. We handle everything from research through analysis. The client approves the pre-test brief and the rollout decision in writing.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BRIEF + PROTOCOL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How every test launches and concludes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No test starts without a written, approved brief. Tests only conclude when all approved conditions are met.</a:t>
            </a:r>
          </a:p>
        </p:txBody>
      </p:sp>
      <p:sp>
        <p:nvSpPr>
          <p:cNvPr id="10" name="Rounded Rectangle 9"/>
          <p:cNvSpPr/>
          <p:nvPr/>
        </p:nvSpPr>
        <p:spPr>
          <a:xfrm>
            <a:off x="640080" y="2286000"/>
            <a:ext cx="6858000" cy="420624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14600"/>
            <a:ext cx="6309360" cy="274320"/>
          </a:xfrm>
          <a:prstGeom prst="rect">
            <a:avLst/>
          </a:prstGeom>
          <a:noFill/>
        </p:spPr>
        <p:txBody>
          <a:bodyPr wrap="square" lIns="0" rIns="0" tIns="0" bIns="0" anchor="t">
            <a:spAutoFit/>
          </a:bodyPr>
          <a:lstStyle/>
          <a:p>
            <a:pPr algn="l"/>
            <a:r>
              <a:rPr sz="900" b="1" i="0" spc="200">
                <a:solidFill>
                  <a:srgbClr val="F7D007"/>
                </a:solidFill>
                <a:latin typeface="Helvetica Neue"/>
              </a:rPr>
              <a:t>PRE-TEST BRIEF</a:t>
            </a:r>
          </a:p>
        </p:txBody>
      </p:sp>
      <p:sp>
        <p:nvSpPr>
          <p:cNvPr id="12" name="TextBox 11"/>
          <p:cNvSpPr txBox="1"/>
          <p:nvPr/>
        </p:nvSpPr>
        <p:spPr>
          <a:xfrm>
            <a:off x="914400" y="2788920"/>
            <a:ext cx="6309360" cy="365760"/>
          </a:xfrm>
          <a:prstGeom prst="rect">
            <a:avLst/>
          </a:prstGeom>
          <a:noFill/>
        </p:spPr>
        <p:txBody>
          <a:bodyPr wrap="square" lIns="0" rIns="0" tIns="0" bIns="0" anchor="t">
            <a:spAutoFit/>
          </a:bodyPr>
          <a:lstStyle/>
          <a:p>
            <a:pPr algn="l"/>
            <a:r>
              <a:rPr sz="1500" b="1" i="0">
                <a:solidFill>
                  <a:srgbClr val="FFFFFF"/>
                </a:solidFill>
                <a:latin typeface="Helvetica Neue"/>
              </a:rPr>
              <a:t>Every test launches with a written, approved brief</a:t>
            </a:r>
          </a:p>
        </p:txBody>
      </p:sp>
      <p:sp>
        <p:nvSpPr>
          <p:cNvPr id="13" name="TextBox 12"/>
          <p:cNvSpPr txBox="1"/>
          <p:nvPr/>
        </p:nvSpPr>
        <p:spPr>
          <a:xfrm>
            <a:off x="91440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1   Test setup</a:t>
            </a:r>
          </a:p>
        </p:txBody>
      </p:sp>
      <p:sp>
        <p:nvSpPr>
          <p:cNvPr id="14" name="TextBox 13"/>
          <p:cNvSpPr txBox="1"/>
          <p:nvPr/>
        </p:nvSpPr>
        <p:spPr>
          <a:xfrm>
            <a:off x="91440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5" name="TextBox 14"/>
          <p:cNvSpPr txBox="1"/>
          <p:nvPr/>
        </p:nvSpPr>
        <p:spPr>
          <a:xfrm>
            <a:off x="114300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Hypothesis and Control vs Variant difference</a:t>
            </a:r>
          </a:p>
        </p:txBody>
      </p:sp>
      <p:sp>
        <p:nvSpPr>
          <p:cNvPr id="16" name="TextBox 15"/>
          <p:cNvSpPr txBox="1"/>
          <p:nvPr/>
        </p:nvSpPr>
        <p:spPr>
          <a:xfrm>
            <a:off x="91440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7" name="TextBox 16"/>
          <p:cNvSpPr txBox="1"/>
          <p:nvPr/>
        </p:nvSpPr>
        <p:spPr>
          <a:xfrm>
            <a:off x="114300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Audience and traffic filters</a:t>
            </a:r>
          </a:p>
        </p:txBody>
      </p:sp>
      <p:sp>
        <p:nvSpPr>
          <p:cNvPr id="18" name="TextBox 17"/>
          <p:cNvSpPr txBox="1"/>
          <p:nvPr/>
        </p:nvSpPr>
        <p:spPr>
          <a:xfrm>
            <a:off x="91440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9" name="TextBox 18"/>
          <p:cNvSpPr txBox="1"/>
          <p:nvPr/>
        </p:nvSpPr>
        <p:spPr>
          <a:xfrm>
            <a:off x="114300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Funnel stage and stage multiplier</a:t>
            </a:r>
          </a:p>
        </p:txBody>
      </p:sp>
      <p:sp>
        <p:nvSpPr>
          <p:cNvPr id="20" name="TextBox 19"/>
          <p:cNvSpPr txBox="1"/>
          <p:nvPr/>
        </p:nvSpPr>
        <p:spPr>
          <a:xfrm>
            <a:off x="91440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1" name="TextBox 20"/>
          <p:cNvSpPr txBox="1"/>
          <p:nvPr/>
        </p:nvSpPr>
        <p:spPr>
          <a:xfrm>
            <a:off x="114300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URL targeting</a:t>
            </a:r>
          </a:p>
        </p:txBody>
      </p:sp>
      <p:sp>
        <p:nvSpPr>
          <p:cNvPr id="22" name="TextBox 21"/>
          <p:cNvSpPr txBox="1"/>
          <p:nvPr/>
        </p:nvSpPr>
        <p:spPr>
          <a:xfrm>
            <a:off x="91440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3" name="TextBox 22"/>
          <p:cNvSpPr txBox="1"/>
          <p:nvPr/>
        </p:nvSpPr>
        <p:spPr>
          <a:xfrm>
            <a:off x="114300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Frozen baselines from trailing 30 days</a:t>
            </a:r>
          </a:p>
        </p:txBody>
      </p:sp>
      <p:sp>
        <p:nvSpPr>
          <p:cNvPr id="24" name="TextBox 23"/>
          <p:cNvSpPr txBox="1"/>
          <p:nvPr/>
        </p:nvSpPr>
        <p:spPr>
          <a:xfrm>
            <a:off x="420624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2   Statistical parameters</a:t>
            </a:r>
          </a:p>
        </p:txBody>
      </p:sp>
      <p:sp>
        <p:nvSpPr>
          <p:cNvPr id="25" name="TextBox 24"/>
          <p:cNvSpPr txBox="1"/>
          <p:nvPr/>
        </p:nvSpPr>
        <p:spPr>
          <a:xfrm>
            <a:off x="420624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6" name="TextBox 25"/>
          <p:cNvSpPr txBox="1"/>
          <p:nvPr/>
        </p:nvSpPr>
        <p:spPr>
          <a:xfrm>
            <a:off x="443484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Primary metric (RPV or funnel metric)</a:t>
            </a:r>
          </a:p>
        </p:txBody>
      </p:sp>
      <p:sp>
        <p:nvSpPr>
          <p:cNvPr id="27" name="TextBox 26"/>
          <p:cNvSpPr txBox="1"/>
          <p:nvPr/>
        </p:nvSpPr>
        <p:spPr>
          <a:xfrm>
            <a:off x="420624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8" name="TextBox 27"/>
          <p:cNvSpPr txBox="1"/>
          <p:nvPr/>
        </p:nvSpPr>
        <p:spPr>
          <a:xfrm>
            <a:off x="443484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Statistical confidence (80 % default)</a:t>
            </a:r>
          </a:p>
        </p:txBody>
      </p:sp>
      <p:sp>
        <p:nvSpPr>
          <p:cNvPr id="29" name="TextBox 28"/>
          <p:cNvSpPr txBox="1"/>
          <p:nvPr/>
        </p:nvSpPr>
        <p:spPr>
          <a:xfrm>
            <a:off x="420624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0" name="TextBox 29"/>
          <p:cNvSpPr txBox="1"/>
          <p:nvPr/>
        </p:nvSpPr>
        <p:spPr>
          <a:xfrm>
            <a:off x="443484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Minimum visitor and order count</a:t>
            </a:r>
          </a:p>
        </p:txBody>
      </p:sp>
      <p:sp>
        <p:nvSpPr>
          <p:cNvPr id="31" name="TextBox 30"/>
          <p:cNvSpPr txBox="1"/>
          <p:nvPr/>
        </p:nvSpPr>
        <p:spPr>
          <a:xfrm>
            <a:off x="420624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2" name="TextBox 31"/>
          <p:cNvSpPr txBox="1"/>
          <p:nvPr/>
        </p:nvSpPr>
        <p:spPr>
          <a:xfrm>
            <a:off x="443484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Worked fee range at +5 / +10 / +15 %</a:t>
            </a:r>
          </a:p>
        </p:txBody>
      </p:sp>
      <p:sp>
        <p:nvSpPr>
          <p:cNvPr id="33" name="TextBox 32"/>
          <p:cNvSpPr txBox="1"/>
          <p:nvPr/>
        </p:nvSpPr>
        <p:spPr>
          <a:xfrm>
            <a:off x="420624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4" name="TextBox 33"/>
          <p:cNvSpPr txBox="1"/>
          <p:nvPr/>
        </p:nvSpPr>
        <p:spPr>
          <a:xfrm>
            <a:off x="443484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Data sources named explicitly</a:t>
            </a:r>
          </a:p>
        </p:txBody>
      </p:sp>
      <p:sp>
        <p:nvSpPr>
          <p:cNvPr id="35" name="Rounded Rectangle 34"/>
          <p:cNvSpPr/>
          <p:nvPr/>
        </p:nvSpPr>
        <p:spPr>
          <a:xfrm>
            <a:off x="7680960" y="2286000"/>
            <a:ext cx="3886200" cy="4206240"/>
          </a:xfrm>
          <a:prstGeom prst="roundRect">
            <a:avLst>
              <a:gd name="adj" fmla="val 4000"/>
            </a:avLst>
          </a:prstGeom>
          <a:solidFill>
            <a:srgbClr val="101010"/>
          </a:solidFill>
          <a:ln w="15240">
            <a:solidFill>
              <a:srgbClr val="6AA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0" y="2514600"/>
            <a:ext cx="3337560" cy="274320"/>
          </a:xfrm>
          <a:prstGeom prst="rect">
            <a:avLst/>
          </a:prstGeom>
          <a:noFill/>
        </p:spPr>
        <p:txBody>
          <a:bodyPr wrap="square" lIns="0" rIns="0" tIns="0" bIns="0" anchor="t">
            <a:spAutoFit/>
          </a:bodyPr>
          <a:lstStyle/>
          <a:p>
            <a:pPr algn="l"/>
            <a:r>
              <a:rPr sz="900" b="1" i="0" spc="200">
                <a:solidFill>
                  <a:srgbClr val="6AA9FF"/>
                </a:solidFill>
                <a:latin typeface="Helvetica Neue"/>
              </a:rPr>
              <a:t>TESTING PROTOCOL</a:t>
            </a:r>
          </a:p>
        </p:txBody>
      </p:sp>
      <p:sp>
        <p:nvSpPr>
          <p:cNvPr id="37" name="TextBox 36"/>
          <p:cNvSpPr txBox="1"/>
          <p:nvPr/>
        </p:nvSpPr>
        <p:spPr>
          <a:xfrm>
            <a:off x="7955280" y="2788920"/>
            <a:ext cx="3337560" cy="365760"/>
          </a:xfrm>
          <a:prstGeom prst="rect">
            <a:avLst/>
          </a:prstGeom>
          <a:noFill/>
        </p:spPr>
        <p:txBody>
          <a:bodyPr wrap="square" lIns="0" rIns="0" tIns="0" bIns="0" anchor="t">
            <a:spAutoFit/>
          </a:bodyPr>
          <a:lstStyle/>
          <a:p>
            <a:pPr algn="l"/>
            <a:r>
              <a:rPr sz="1400" b="1" i="0">
                <a:solidFill>
                  <a:srgbClr val="FFFFFF"/>
                </a:solidFill>
                <a:latin typeface="Helvetica Neue"/>
              </a:rPr>
              <a:t>Guardrails on tooling, rigor, conclusion</a:t>
            </a:r>
          </a:p>
        </p:txBody>
      </p:sp>
      <p:sp>
        <p:nvSpPr>
          <p:cNvPr id="38" name="TextBox 37"/>
          <p:cNvSpPr txBox="1"/>
          <p:nvPr/>
        </p:nvSpPr>
        <p:spPr>
          <a:xfrm>
            <a:off x="795528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DEFAULT TOOL</a:t>
            </a:r>
          </a:p>
        </p:txBody>
      </p:sp>
      <p:sp>
        <p:nvSpPr>
          <p:cNvPr id="39" name="TextBox 38"/>
          <p:cNvSpPr txBox="1"/>
          <p:nvPr/>
        </p:nvSpPr>
        <p:spPr>
          <a:xfrm>
            <a:off x="795528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IntelliGEMS</a:t>
            </a:r>
          </a:p>
        </p:txBody>
      </p:sp>
      <p:sp>
        <p:nvSpPr>
          <p:cNvPr id="40" name="TextBox 39"/>
          <p:cNvSpPr txBox="1"/>
          <p:nvPr/>
        </p:nvSpPr>
        <p:spPr>
          <a:xfrm>
            <a:off x="795528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Or Convert, GrowthBook, Shopify-native with written approval.</a:t>
            </a:r>
          </a:p>
        </p:txBody>
      </p:sp>
      <p:sp>
        <p:nvSpPr>
          <p:cNvPr id="41" name="TextBox 40"/>
          <p:cNvSpPr txBox="1"/>
          <p:nvPr/>
        </p:nvSpPr>
        <p:spPr>
          <a:xfrm>
            <a:off x="976122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CONFIDENCE</a:t>
            </a:r>
          </a:p>
        </p:txBody>
      </p:sp>
      <p:sp>
        <p:nvSpPr>
          <p:cNvPr id="42" name="TextBox 41"/>
          <p:cNvSpPr txBox="1"/>
          <p:nvPr/>
        </p:nvSpPr>
        <p:spPr>
          <a:xfrm>
            <a:off x="976122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80 % min</a:t>
            </a:r>
          </a:p>
        </p:txBody>
      </p:sp>
      <p:sp>
        <p:nvSpPr>
          <p:cNvPr id="43" name="TextBox 42"/>
          <p:cNvSpPr txBox="1"/>
          <p:nvPr/>
        </p:nvSpPr>
        <p:spPr>
          <a:xfrm>
            <a:off x="976122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Higher per test if you require it.</a:t>
            </a:r>
          </a:p>
        </p:txBody>
      </p:sp>
      <p:sp>
        <p:nvSpPr>
          <p:cNvPr id="44" name="TextBox 43"/>
          <p:cNvSpPr txBox="1"/>
          <p:nvPr/>
        </p:nvSpPr>
        <p:spPr>
          <a:xfrm>
            <a:off x="795528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CONCLUSION</a:t>
            </a:r>
          </a:p>
        </p:txBody>
      </p:sp>
      <p:sp>
        <p:nvSpPr>
          <p:cNvPr id="45" name="TextBox 44"/>
          <p:cNvSpPr txBox="1"/>
          <p:nvPr/>
        </p:nvSpPr>
        <p:spPr>
          <a:xfrm>
            <a:off x="795528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All conditions met</a:t>
            </a:r>
          </a:p>
        </p:txBody>
      </p:sp>
      <p:sp>
        <p:nvSpPr>
          <p:cNvPr id="46" name="TextBox 45"/>
          <p:cNvSpPr txBox="1"/>
          <p:nvPr/>
        </p:nvSpPr>
        <p:spPr>
          <a:xfrm>
            <a:off x="795528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Min visitors, orders, and confidence reached.</a:t>
            </a:r>
          </a:p>
        </p:txBody>
      </p:sp>
      <p:sp>
        <p:nvSpPr>
          <p:cNvPr id="47" name="TextBox 46"/>
          <p:cNvSpPr txBox="1"/>
          <p:nvPr/>
        </p:nvSpPr>
        <p:spPr>
          <a:xfrm>
            <a:off x="976122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REPORTING</a:t>
            </a:r>
          </a:p>
        </p:txBody>
      </p:sp>
      <p:sp>
        <p:nvSpPr>
          <p:cNvPr id="48" name="TextBox 47"/>
          <p:cNvSpPr txBox="1"/>
          <p:nvPr/>
        </p:nvSpPr>
        <p:spPr>
          <a:xfrm>
            <a:off x="976122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Weekly Loom</a:t>
            </a:r>
          </a:p>
        </p:txBody>
      </p:sp>
      <p:sp>
        <p:nvSpPr>
          <p:cNvPr id="49" name="TextBox 48"/>
          <p:cNvSpPr txBox="1"/>
          <p:nvPr/>
        </p:nvSpPr>
        <p:spPr>
          <a:xfrm>
            <a:off x="976122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Plus a running test log you can access anytime.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COMPENSATION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We win when you win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Performance-based fee on every winning test rolled out to 100 % of traffic. One-time charge per test. No attribution window. No recurring tail.</a:t>
            </a:r>
          </a:p>
        </p:txBody>
      </p:sp>
      <p:sp>
        <p:nvSpPr>
          <p:cNvPr id="10" name="Rounded Rectangle 9"/>
          <p:cNvSpPr/>
          <p:nvPr/>
        </p:nvSpPr>
        <p:spPr>
          <a:xfrm>
            <a:off x="929487" y="2331720"/>
            <a:ext cx="5029200" cy="3200400"/>
          </a:xfrm>
          <a:prstGeom prst="roundRect">
            <a:avLst>
              <a:gd name="adj" fmla="val 4000"/>
            </a:avLst>
          </a:prstGeom>
          <a:solidFill>
            <a:srgbClr val="141002"/>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PERFORMANCE FEE</a:t>
            </a:r>
          </a:p>
        </p:txBody>
      </p:sp>
      <p:sp>
        <p:nvSpPr>
          <p:cNvPr id="12" name="TextBox 11"/>
          <p:cNvSpPr txBox="1"/>
          <p:nvPr/>
        </p:nvSpPr>
        <p:spPr>
          <a:xfrm>
            <a:off x="124952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 of estimated monthly revenue uplift</a:t>
            </a:r>
          </a:p>
        </p:txBody>
      </p:sp>
      <p:sp>
        <p:nvSpPr>
          <p:cNvPr id="13" name="TextBox 12"/>
          <p:cNvSpPr txBox="1"/>
          <p:nvPr/>
        </p:nvSpPr>
        <p:spPr>
          <a:xfrm>
            <a:off x="124952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Y %</a:t>
            </a:r>
          </a:p>
        </p:txBody>
      </p:sp>
      <p:sp>
        <p:nvSpPr>
          <p:cNvPr id="14" name="TextBox 13"/>
          <p:cNvSpPr txBox="1"/>
          <p:nvPr/>
        </p:nvSpPr>
        <p:spPr>
          <a:xfrm>
            <a:off x="124952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Charged once per winning test on rollout. Calculated from the test's measured uplift and the client's own data, with the agreed stage multiplier applied.</a:t>
            </a:r>
          </a:p>
        </p:txBody>
      </p:sp>
      <p:sp>
        <p:nvSpPr>
          <p:cNvPr id="15" name="TextBox 14"/>
          <p:cNvSpPr txBox="1"/>
          <p:nvPr/>
        </p:nvSpPr>
        <p:spPr>
          <a:xfrm>
            <a:off x="124952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143240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One time fee per winning test</a:t>
            </a:r>
          </a:p>
        </p:txBody>
      </p:sp>
      <p:sp>
        <p:nvSpPr>
          <p:cNvPr id="17" name="TextBox 16"/>
          <p:cNvSpPr txBox="1"/>
          <p:nvPr/>
        </p:nvSpPr>
        <p:spPr>
          <a:xfrm>
            <a:off x="124952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143240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No recurring tail, no attribution window</a:t>
            </a:r>
          </a:p>
        </p:txBody>
      </p:sp>
      <p:sp>
        <p:nvSpPr>
          <p:cNvPr id="19" name="TextBox 18"/>
          <p:cNvSpPr txBox="1"/>
          <p:nvPr/>
        </p:nvSpPr>
        <p:spPr>
          <a:xfrm>
            <a:off x="124952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143240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Loser and inconclusive tests are free</a:t>
            </a:r>
          </a:p>
        </p:txBody>
      </p:sp>
      <p:sp>
        <p:nvSpPr>
          <p:cNvPr id="21" name="Rounded Rectangle 20"/>
          <p:cNvSpPr/>
          <p:nvPr/>
        </p:nvSpPr>
        <p:spPr>
          <a:xfrm>
            <a:off x="6233007" y="2331720"/>
            <a:ext cx="5029200" cy="32004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OPTIONAL RETAINER</a:t>
            </a:r>
          </a:p>
        </p:txBody>
      </p:sp>
      <p:sp>
        <p:nvSpPr>
          <p:cNvPr id="23" name="TextBox 22"/>
          <p:cNvSpPr txBox="1"/>
          <p:nvPr/>
        </p:nvSpPr>
        <p:spPr>
          <a:xfrm>
            <a:off x="655304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Fixed monthly fee</a:t>
            </a:r>
          </a:p>
        </p:txBody>
      </p:sp>
      <p:sp>
        <p:nvSpPr>
          <p:cNvPr id="24" name="TextBox 23"/>
          <p:cNvSpPr txBox="1"/>
          <p:nvPr/>
        </p:nvSpPr>
        <p:spPr>
          <a:xfrm>
            <a:off x="655304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X kr / month</a:t>
            </a:r>
          </a:p>
        </p:txBody>
      </p:sp>
      <p:sp>
        <p:nvSpPr>
          <p:cNvPr id="25" name="TextBox 24"/>
          <p:cNvSpPr txBox="1"/>
          <p:nvPr/>
        </p:nvSpPr>
        <p:spPr>
          <a:xfrm>
            <a:off x="655304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Optional. Predictable monthly cost on top of (or instead of) the performance fee. Some clients prefer this for budgeting.</a:t>
            </a:r>
          </a:p>
        </p:txBody>
      </p:sp>
      <p:sp>
        <p:nvSpPr>
          <p:cNvPr id="26" name="TextBox 25"/>
          <p:cNvSpPr txBox="1"/>
          <p:nvPr/>
        </p:nvSpPr>
        <p:spPr>
          <a:xfrm>
            <a:off x="655304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7" name="TextBox 26"/>
          <p:cNvSpPr txBox="1"/>
          <p:nvPr/>
        </p:nvSpPr>
        <p:spPr>
          <a:xfrm>
            <a:off x="673592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Billed on the 1st, in advance</a:t>
            </a:r>
          </a:p>
        </p:txBody>
      </p:sp>
      <p:sp>
        <p:nvSpPr>
          <p:cNvPr id="28" name="TextBox 27"/>
          <p:cNvSpPr txBox="1"/>
          <p:nvPr/>
        </p:nvSpPr>
        <p:spPr>
          <a:xfrm>
            <a:off x="655304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9" name="TextBox 28"/>
          <p:cNvSpPr txBox="1"/>
          <p:nvPr/>
        </p:nvSpPr>
        <p:spPr>
          <a:xfrm>
            <a:off x="673592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Void if not agreed</a:t>
            </a:r>
          </a:p>
        </p:txBody>
      </p:sp>
      <p:sp>
        <p:nvSpPr>
          <p:cNvPr id="30" name="TextBox 29"/>
          <p:cNvSpPr txBox="1"/>
          <p:nvPr/>
        </p:nvSpPr>
        <p:spPr>
          <a:xfrm>
            <a:off x="655304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1" name="TextBox 30"/>
          <p:cNvSpPr txBox="1"/>
          <p:nvPr/>
        </p:nvSpPr>
        <p:spPr>
          <a:xfrm>
            <a:off x="673592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Stackable with the performance fee</a:t>
            </a:r>
          </a:p>
        </p:txBody>
      </p:sp>
      <p:sp>
        <p:nvSpPr>
          <p:cNvPr id="32" name="Rounded Rectangle 31"/>
          <p:cNvSpPr/>
          <p:nvPr/>
        </p:nvSpPr>
        <p:spPr>
          <a:xfrm>
            <a:off x="822960" y="5760720"/>
            <a:ext cx="10543032"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897880"/>
            <a:ext cx="10085832"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Billing: </a:t>
            </a:r>
            <a:r>
              <a:rPr sz="1100" b="0" i="0">
                <a:solidFill>
                  <a:srgbClr val="CCCCCC"/>
                </a:solidFill>
                <a:latin typeface="Helvetica Neue"/>
              </a:rPr>
              <a:t>one invoice on the 1st covering the retainer (if any) plus the performance fee for every winning test rolled out last month. 8 day payment terms. Third-party costs (test tools, apps) paid by the client.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SCHEDULE A · STAGE MULTIPLIERS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Tests further from purchase carry more projection risk</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The stage multiplier discounts the performance fee for upper-funnel tests where impact is estimated rather than measured.</a:t>
            </a:r>
          </a:p>
        </p:txBody>
      </p:sp>
      <p:sp>
        <p:nvSpPr>
          <p:cNvPr id="10" name="Rounded Rectangle 9"/>
          <p:cNvSpPr/>
          <p:nvPr/>
        </p:nvSpPr>
        <p:spPr>
          <a:xfrm>
            <a:off x="914400" y="2194560"/>
            <a:ext cx="914400" cy="658368"/>
          </a:xfrm>
          <a:prstGeom prst="roundRect">
            <a:avLst>
              <a:gd name="adj" fmla="val 10000"/>
            </a:avLst>
          </a:prstGeom>
          <a:solidFill>
            <a:srgbClr val="1A1602"/>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94560"/>
            <a:ext cx="914400" cy="658368"/>
          </a:xfrm>
          <a:prstGeom prst="rect">
            <a:avLst/>
          </a:prstGeom>
          <a:noFill/>
        </p:spPr>
        <p:txBody>
          <a:bodyPr wrap="square" lIns="0" rIns="0" tIns="0" bIns="0" anchor="ctr">
            <a:spAutoFit/>
          </a:bodyPr>
          <a:lstStyle/>
          <a:p>
            <a:pPr algn="ctr"/>
            <a:r>
              <a:rPr sz="1800" b="1" i="0">
                <a:solidFill>
                  <a:srgbClr val="22C55E"/>
                </a:solidFill>
                <a:latin typeface="Menlo"/>
              </a:rPr>
              <a:t>100 %</a:t>
            </a:r>
          </a:p>
        </p:txBody>
      </p:sp>
      <p:sp>
        <p:nvSpPr>
          <p:cNvPr id="12" name="TextBox 11"/>
          <p:cNvSpPr txBox="1"/>
          <p:nvPr/>
        </p:nvSpPr>
        <p:spPr>
          <a:xfrm>
            <a:off x="2011680" y="2267712"/>
            <a:ext cx="5669280" cy="274320"/>
          </a:xfrm>
          <a:prstGeom prst="rect">
            <a:avLst/>
          </a:prstGeom>
          <a:noFill/>
        </p:spPr>
        <p:txBody>
          <a:bodyPr wrap="square" lIns="0" rIns="0" tIns="0" bIns="0" anchor="t">
            <a:spAutoFit/>
          </a:bodyPr>
          <a:lstStyle/>
          <a:p>
            <a:pPr algn="l"/>
            <a:r>
              <a:rPr sz="1100" b="1" i="0">
                <a:solidFill>
                  <a:srgbClr val="FFFFFF"/>
                </a:solidFill>
                <a:latin typeface="Helvetica Neue"/>
              </a:rPr>
              <a:t>RPV · AOV · Purchase CVR · Checkout CVR</a:t>
            </a:r>
          </a:p>
        </p:txBody>
      </p:sp>
      <p:sp>
        <p:nvSpPr>
          <p:cNvPr id="13" name="TextBox 12"/>
          <p:cNvSpPr txBox="1"/>
          <p:nvPr/>
        </p:nvSpPr>
        <p:spPr>
          <a:xfrm>
            <a:off x="2011680" y="2542032"/>
            <a:ext cx="5669280" cy="274320"/>
          </a:xfrm>
          <a:prstGeom prst="rect">
            <a:avLst/>
          </a:prstGeom>
          <a:noFill/>
        </p:spPr>
        <p:txBody>
          <a:bodyPr wrap="square" lIns="0" rIns="0" tIns="0" bIns="0" anchor="t">
            <a:spAutoFit/>
          </a:bodyPr>
          <a:lstStyle/>
          <a:p>
            <a:pPr algn="l"/>
            <a:r>
              <a:rPr sz="950" b="0" i="0">
                <a:solidFill>
                  <a:srgbClr val="999999"/>
                </a:solidFill>
                <a:latin typeface="Helvetica Neue"/>
              </a:rPr>
              <a:t>Revenue measured directly by the testing software.</a:t>
            </a:r>
          </a:p>
        </p:txBody>
      </p:sp>
      <p:sp>
        <p:nvSpPr>
          <p:cNvPr id="14" name="Rectangle 13"/>
          <p:cNvSpPr/>
          <p:nvPr/>
        </p:nvSpPr>
        <p:spPr>
          <a:xfrm>
            <a:off x="7955279" y="2395728"/>
            <a:ext cx="3017520" cy="25603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2395728"/>
            <a:ext cx="3017520" cy="2560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2980944"/>
            <a:ext cx="914400" cy="658368"/>
          </a:xfrm>
          <a:prstGeom prst="roundRect">
            <a:avLst>
              <a:gd name="adj" fmla="val 10000"/>
            </a:avLst>
          </a:prstGeom>
          <a:solidFill>
            <a:srgbClr val="1A1602"/>
          </a:solid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980944"/>
            <a:ext cx="914400" cy="658368"/>
          </a:xfrm>
          <a:prstGeom prst="rect">
            <a:avLst/>
          </a:prstGeom>
          <a:noFill/>
        </p:spPr>
        <p:txBody>
          <a:bodyPr wrap="square" lIns="0" rIns="0" tIns="0" bIns="0" anchor="ctr">
            <a:spAutoFit/>
          </a:bodyPr>
          <a:lstStyle/>
          <a:p>
            <a:pPr algn="ctr"/>
            <a:r>
              <a:rPr sz="1800" b="1" i="0">
                <a:solidFill>
                  <a:srgbClr val="F7D007"/>
                </a:solidFill>
                <a:latin typeface="Menlo"/>
              </a:rPr>
              <a:t>75 %</a:t>
            </a:r>
          </a:p>
        </p:txBody>
      </p:sp>
      <p:sp>
        <p:nvSpPr>
          <p:cNvPr id="18" name="TextBox 17"/>
          <p:cNvSpPr txBox="1"/>
          <p:nvPr/>
        </p:nvSpPr>
        <p:spPr>
          <a:xfrm>
            <a:off x="2011680" y="3054096"/>
            <a:ext cx="5669280" cy="274320"/>
          </a:xfrm>
          <a:prstGeom prst="rect">
            <a:avLst/>
          </a:prstGeom>
          <a:noFill/>
        </p:spPr>
        <p:txBody>
          <a:bodyPr wrap="square" lIns="0" rIns="0" tIns="0" bIns="0" anchor="t">
            <a:spAutoFit/>
          </a:bodyPr>
          <a:lstStyle/>
          <a:p>
            <a:pPr algn="l"/>
            <a:r>
              <a:rPr sz="1100" b="1" i="0">
                <a:solidFill>
                  <a:srgbClr val="FFFFFF"/>
                </a:solidFill>
                <a:latin typeface="Helvetica Neue"/>
              </a:rPr>
              <a:t>Cart to checkout · PDP add to cart</a:t>
            </a:r>
          </a:p>
        </p:txBody>
      </p:sp>
      <p:sp>
        <p:nvSpPr>
          <p:cNvPr id="19" name="TextBox 18"/>
          <p:cNvSpPr txBox="1"/>
          <p:nvPr/>
        </p:nvSpPr>
        <p:spPr>
          <a:xfrm>
            <a:off x="2011680" y="3328416"/>
            <a:ext cx="5669280" cy="274320"/>
          </a:xfrm>
          <a:prstGeom prst="rect">
            <a:avLst/>
          </a:prstGeom>
          <a:noFill/>
        </p:spPr>
        <p:txBody>
          <a:bodyPr wrap="square" lIns="0" rIns="0" tIns="0" bIns="0" anchor="t">
            <a:spAutoFit/>
          </a:bodyPr>
          <a:lstStyle/>
          <a:p>
            <a:pPr algn="l"/>
            <a:r>
              <a:rPr sz="950" b="0" i="0">
                <a:solidFill>
                  <a:srgbClr val="999999"/>
                </a:solidFill>
                <a:latin typeface="Helvetica Neue"/>
              </a:rPr>
              <a:t>One step from purchase. Light projection of downstream behavior.</a:t>
            </a:r>
          </a:p>
        </p:txBody>
      </p:sp>
      <p:sp>
        <p:nvSpPr>
          <p:cNvPr id="20" name="Rectangle 19"/>
          <p:cNvSpPr/>
          <p:nvPr/>
        </p:nvSpPr>
        <p:spPr>
          <a:xfrm>
            <a:off x="7955279" y="3182112"/>
            <a:ext cx="3017520" cy="25603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3182112"/>
            <a:ext cx="2263139" cy="256032"/>
          </a:xfrm>
          <a:prstGeom prst="rect">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3767328"/>
            <a:ext cx="914400" cy="658368"/>
          </a:xfrm>
          <a:prstGeom prst="roundRect">
            <a:avLst>
              <a:gd name="adj" fmla="val 10000"/>
            </a:avLst>
          </a:prstGeom>
          <a:solidFill>
            <a:srgbClr val="1A1602"/>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67328"/>
            <a:ext cx="914400" cy="658368"/>
          </a:xfrm>
          <a:prstGeom prst="rect">
            <a:avLst/>
          </a:prstGeom>
          <a:noFill/>
        </p:spPr>
        <p:txBody>
          <a:bodyPr wrap="square" lIns="0" rIns="0" tIns="0" bIns="0" anchor="ctr">
            <a:spAutoFit/>
          </a:bodyPr>
          <a:lstStyle/>
          <a:p>
            <a:pPr algn="ctr"/>
            <a:r>
              <a:rPr sz="1800" b="1" i="0">
                <a:solidFill>
                  <a:srgbClr val="F59E0B"/>
                </a:solidFill>
                <a:latin typeface="Menlo"/>
              </a:rPr>
              <a:t>50 %</a:t>
            </a:r>
          </a:p>
        </p:txBody>
      </p:sp>
      <p:sp>
        <p:nvSpPr>
          <p:cNvPr id="24" name="TextBox 23"/>
          <p:cNvSpPr txBox="1"/>
          <p:nvPr/>
        </p:nvSpPr>
        <p:spPr>
          <a:xfrm>
            <a:off x="2011680" y="3840480"/>
            <a:ext cx="5669280" cy="274320"/>
          </a:xfrm>
          <a:prstGeom prst="rect">
            <a:avLst/>
          </a:prstGeom>
          <a:noFill/>
        </p:spPr>
        <p:txBody>
          <a:bodyPr wrap="square" lIns="0" rIns="0" tIns="0" bIns="0" anchor="t">
            <a:spAutoFit/>
          </a:bodyPr>
          <a:lstStyle/>
          <a:p>
            <a:pPr algn="l"/>
            <a:r>
              <a:rPr sz="1100" b="1" i="0">
                <a:solidFill>
                  <a:srgbClr val="FFFFFF"/>
                </a:solidFill>
                <a:latin typeface="Helvetica Neue"/>
              </a:rPr>
              <a:t>Collection to PDP · PDP engagement</a:t>
            </a:r>
          </a:p>
        </p:txBody>
      </p:sp>
      <p:sp>
        <p:nvSpPr>
          <p:cNvPr id="25" name="TextBox 24"/>
          <p:cNvSpPr txBox="1"/>
          <p:nvPr/>
        </p:nvSpPr>
        <p:spPr>
          <a:xfrm>
            <a:off x="2011680" y="4114800"/>
            <a:ext cx="5669280" cy="274320"/>
          </a:xfrm>
          <a:prstGeom prst="rect">
            <a:avLst/>
          </a:prstGeom>
          <a:noFill/>
        </p:spPr>
        <p:txBody>
          <a:bodyPr wrap="square" lIns="0" rIns="0" tIns="0" bIns="0" anchor="t">
            <a:spAutoFit/>
          </a:bodyPr>
          <a:lstStyle/>
          <a:p>
            <a:pPr algn="l"/>
            <a:r>
              <a:rPr sz="950" b="0" i="0">
                <a:solidFill>
                  <a:srgbClr val="999999"/>
                </a:solidFill>
                <a:latin typeface="Helvetica Neue"/>
              </a:rPr>
              <a:t>Two steps from purchase. Multiple downstream rates to project.</a:t>
            </a:r>
          </a:p>
        </p:txBody>
      </p:sp>
      <p:sp>
        <p:nvSpPr>
          <p:cNvPr id="26" name="Rectangle 25"/>
          <p:cNvSpPr/>
          <p:nvPr/>
        </p:nvSpPr>
        <p:spPr>
          <a:xfrm>
            <a:off x="7955279" y="3968496"/>
            <a:ext cx="3017520" cy="25603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79" y="3968496"/>
            <a:ext cx="1508760" cy="2560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4400" y="4553712"/>
            <a:ext cx="914400" cy="658368"/>
          </a:xfrm>
          <a:prstGeom prst="roundRect">
            <a:avLst>
              <a:gd name="adj" fmla="val 10000"/>
            </a:avLst>
          </a:prstGeom>
          <a:solidFill>
            <a:srgbClr val="1A1602"/>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553712"/>
            <a:ext cx="914400" cy="658368"/>
          </a:xfrm>
          <a:prstGeom prst="rect">
            <a:avLst/>
          </a:prstGeom>
          <a:noFill/>
        </p:spPr>
        <p:txBody>
          <a:bodyPr wrap="square" lIns="0" rIns="0" tIns="0" bIns="0" anchor="ctr">
            <a:spAutoFit/>
          </a:bodyPr>
          <a:lstStyle/>
          <a:p>
            <a:pPr algn="ctr"/>
            <a:r>
              <a:rPr sz="1800" b="1" i="0">
                <a:solidFill>
                  <a:srgbClr val="EF4444"/>
                </a:solidFill>
                <a:latin typeface="Menlo"/>
              </a:rPr>
              <a:t>25 %</a:t>
            </a:r>
          </a:p>
        </p:txBody>
      </p:sp>
      <p:sp>
        <p:nvSpPr>
          <p:cNvPr id="30" name="TextBox 29"/>
          <p:cNvSpPr txBox="1"/>
          <p:nvPr/>
        </p:nvSpPr>
        <p:spPr>
          <a:xfrm>
            <a:off x="2011680" y="4626864"/>
            <a:ext cx="5669280" cy="274320"/>
          </a:xfrm>
          <a:prstGeom prst="rect">
            <a:avLst/>
          </a:prstGeom>
          <a:noFill/>
        </p:spPr>
        <p:txBody>
          <a:bodyPr wrap="square" lIns="0" rIns="0" tIns="0" bIns="0" anchor="t">
            <a:spAutoFit/>
          </a:bodyPr>
          <a:lstStyle/>
          <a:p>
            <a:pPr algn="l"/>
            <a:r>
              <a:rPr sz="1100" b="1" i="0">
                <a:solidFill>
                  <a:srgbClr val="FFFFFF"/>
                </a:solidFill>
                <a:latin typeface="Helvetica Neue"/>
              </a:rPr>
              <a:t>Homepage to collection · Navigation · Search</a:t>
            </a:r>
          </a:p>
        </p:txBody>
      </p:sp>
      <p:sp>
        <p:nvSpPr>
          <p:cNvPr id="31" name="TextBox 30"/>
          <p:cNvSpPr txBox="1"/>
          <p:nvPr/>
        </p:nvSpPr>
        <p:spPr>
          <a:xfrm>
            <a:off x="2011680" y="4901184"/>
            <a:ext cx="5669280" cy="274320"/>
          </a:xfrm>
          <a:prstGeom prst="rect">
            <a:avLst/>
          </a:prstGeom>
          <a:noFill/>
        </p:spPr>
        <p:txBody>
          <a:bodyPr wrap="square" lIns="0" rIns="0" tIns="0" bIns="0" anchor="t">
            <a:spAutoFit/>
          </a:bodyPr>
          <a:lstStyle/>
          <a:p>
            <a:pPr algn="l"/>
            <a:r>
              <a:rPr sz="950" b="0" i="0">
                <a:solidFill>
                  <a:srgbClr val="999999"/>
                </a:solidFill>
                <a:latin typeface="Helvetica Neue"/>
              </a:rPr>
              <a:t>Three or more steps from purchase. Heaviest projection assumptions.</a:t>
            </a:r>
          </a:p>
        </p:txBody>
      </p:sp>
      <p:sp>
        <p:nvSpPr>
          <p:cNvPr id="32" name="Rectangle 31"/>
          <p:cNvSpPr/>
          <p:nvPr/>
        </p:nvSpPr>
        <p:spPr>
          <a:xfrm>
            <a:off x="7955279" y="4754880"/>
            <a:ext cx="3017520" cy="25603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55279" y="4754880"/>
            <a:ext cx="754380" cy="25603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14400" y="5532120"/>
            <a:ext cx="10332720"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3000" y="5669280"/>
            <a:ext cx="9875520" cy="5029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Only your own data goes into the estimate. </a:t>
            </a:r>
            <a:r>
              <a:rPr sz="1100" b="0" i="0">
                <a:solidFill>
                  <a:srgbClr val="CCCCCC"/>
                </a:solidFill>
                <a:latin typeface="Helvetica Neue"/>
              </a:rPr>
              <a:t>No industry benchmarks. Visitors, baseline CVRs and AOV are pulled from the trailing 30 days of GA4 and Shopify, frozen pre-test, and approved by you.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TRACK RECORD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Three winning EcomHouse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Real results from EcomHouse client engagements. Each test rolled out to 100 % of traffic after meeting the pre-approved confidence threshold. IntelliGEMS test tool.</a:t>
            </a:r>
          </a:p>
        </p:txBody>
      </p:sp>
      <p:sp>
        <p:nvSpPr>
          <p:cNvPr id="10" name="Rounded Rectangle 9"/>
          <p:cNvSpPr/>
          <p:nvPr/>
        </p:nvSpPr>
        <p:spPr>
          <a:xfrm>
            <a:off x="335129"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9"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Comforth · DK</a:t>
            </a:r>
          </a:p>
        </p:txBody>
      </p:sp>
      <p:sp>
        <p:nvSpPr>
          <p:cNvPr id="12" name="TextBox 11"/>
          <p:cNvSpPr txBox="1"/>
          <p:nvPr/>
        </p:nvSpPr>
        <p:spPr>
          <a:xfrm>
            <a:off x="609449"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Product tags on collection cards</a:t>
            </a:r>
          </a:p>
        </p:txBody>
      </p:sp>
      <p:sp>
        <p:nvSpPr>
          <p:cNvPr id="13" name="TextBox 12"/>
          <p:cNvSpPr txBox="1"/>
          <p:nvPr/>
        </p:nvSpPr>
        <p:spPr>
          <a:xfrm>
            <a:off x="609449"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PROFIT / VISITOR</a:t>
            </a:r>
          </a:p>
        </p:txBody>
      </p:sp>
      <p:sp>
        <p:nvSpPr>
          <p:cNvPr id="14" name="TextBox 13"/>
          <p:cNvSpPr txBox="1"/>
          <p:nvPr/>
        </p:nvSpPr>
        <p:spPr>
          <a:xfrm>
            <a:off x="609449"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+11,42%</a:t>
            </a:r>
          </a:p>
        </p:txBody>
      </p:sp>
      <p:sp>
        <p:nvSpPr>
          <p:cNvPr id="15" name="TextBox 14"/>
          <p:cNvSpPr txBox="1"/>
          <p:nvPr/>
        </p:nvSpPr>
        <p:spPr>
          <a:xfrm>
            <a:off x="609449"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-11 % to +39 %</a:t>
            </a:r>
          </a:p>
        </p:txBody>
      </p:sp>
      <p:sp>
        <p:nvSpPr>
          <p:cNvPr id="16" name="TextBox 15"/>
          <p:cNvSpPr txBox="1"/>
          <p:nvPr/>
        </p:nvSpPr>
        <p:spPr>
          <a:xfrm>
            <a:off x="609449"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+106.550 kr / mo</a:t>
            </a:r>
          </a:p>
        </p:txBody>
      </p:sp>
      <p:sp>
        <p:nvSpPr>
          <p:cNvPr id="17" name="Rectangle 16"/>
          <p:cNvSpPr/>
          <p:nvPr/>
        </p:nvSpPr>
        <p:spPr>
          <a:xfrm>
            <a:off x="609449"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449"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19" name="TextBox 18"/>
          <p:cNvSpPr txBox="1"/>
          <p:nvPr/>
        </p:nvSpPr>
        <p:spPr>
          <a:xfrm>
            <a:off x="1615289"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2,09% → 2,37%</a:t>
            </a:r>
          </a:p>
        </p:txBody>
      </p:sp>
      <p:sp>
        <p:nvSpPr>
          <p:cNvPr id="20" name="TextBox 19"/>
          <p:cNvSpPr txBox="1"/>
          <p:nvPr/>
        </p:nvSpPr>
        <p:spPr>
          <a:xfrm>
            <a:off x="609449"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+13,07%</a:t>
            </a:r>
          </a:p>
        </p:txBody>
      </p:sp>
      <p:sp>
        <p:nvSpPr>
          <p:cNvPr id="21" name="TextBox 20"/>
          <p:cNvSpPr txBox="1"/>
          <p:nvPr/>
        </p:nvSpPr>
        <p:spPr>
          <a:xfrm>
            <a:off x="609449"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22" name="TextBox 21"/>
          <p:cNvSpPr txBox="1"/>
          <p:nvPr/>
        </p:nvSpPr>
        <p:spPr>
          <a:xfrm>
            <a:off x="1615289"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26,88 → 29,87 kr</a:t>
            </a:r>
          </a:p>
        </p:txBody>
      </p:sp>
      <p:sp>
        <p:nvSpPr>
          <p:cNvPr id="23" name="TextBox 22"/>
          <p:cNvSpPr txBox="1"/>
          <p:nvPr/>
        </p:nvSpPr>
        <p:spPr>
          <a:xfrm>
            <a:off x="609449"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+11,13%</a:t>
            </a:r>
          </a:p>
        </p:txBody>
      </p:sp>
      <p:sp>
        <p:nvSpPr>
          <p:cNvPr id="24" name="TextBox 23"/>
          <p:cNvSpPr txBox="1"/>
          <p:nvPr/>
        </p:nvSpPr>
        <p:spPr>
          <a:xfrm>
            <a:off x="609449"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25" name="TextBox 24"/>
          <p:cNvSpPr txBox="1"/>
          <p:nvPr/>
        </p:nvSpPr>
        <p:spPr>
          <a:xfrm>
            <a:off x="1615289"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+169</a:t>
            </a:r>
          </a:p>
        </p:txBody>
      </p:sp>
      <p:sp>
        <p:nvSpPr>
          <p:cNvPr id="26" name="TextBox 25"/>
          <p:cNvSpPr txBox="1"/>
          <p:nvPr/>
        </p:nvSpPr>
        <p:spPr>
          <a:xfrm>
            <a:off x="609449"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Added trust + benefit tags to collection product cards. Lift compounded across all three metrics.</a:t>
            </a:r>
          </a:p>
        </p:txBody>
      </p:sp>
      <p:sp>
        <p:nvSpPr>
          <p:cNvPr id="27" name="Rounded Rectangle 26"/>
          <p:cNvSpPr/>
          <p:nvPr/>
        </p:nvSpPr>
        <p:spPr>
          <a:xfrm>
            <a:off x="4221328"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5648"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29" name="TextBox 28"/>
          <p:cNvSpPr txBox="1"/>
          <p:nvPr/>
        </p:nvSpPr>
        <p:spPr>
          <a:xfrm>
            <a:off x="4495648"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PDP volume discount tiers</a:t>
            </a:r>
          </a:p>
        </p:txBody>
      </p:sp>
      <p:sp>
        <p:nvSpPr>
          <p:cNvPr id="30" name="TextBox 29"/>
          <p:cNvSpPr txBox="1"/>
          <p:nvPr/>
        </p:nvSpPr>
        <p:spPr>
          <a:xfrm>
            <a:off x="4495648"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CONVERSION RATE</a:t>
            </a:r>
          </a:p>
        </p:txBody>
      </p:sp>
      <p:sp>
        <p:nvSpPr>
          <p:cNvPr id="31" name="TextBox 30"/>
          <p:cNvSpPr txBox="1"/>
          <p:nvPr/>
        </p:nvSpPr>
        <p:spPr>
          <a:xfrm>
            <a:off x="4495648"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+11,08%</a:t>
            </a:r>
          </a:p>
        </p:txBody>
      </p:sp>
      <p:sp>
        <p:nvSpPr>
          <p:cNvPr id="32" name="TextBox 31"/>
          <p:cNvSpPr txBox="1"/>
          <p:nvPr/>
        </p:nvSpPr>
        <p:spPr>
          <a:xfrm>
            <a:off x="4495648"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-3 % to +27 %</a:t>
            </a:r>
          </a:p>
        </p:txBody>
      </p:sp>
      <p:sp>
        <p:nvSpPr>
          <p:cNvPr id="33" name="TextBox 32"/>
          <p:cNvSpPr txBox="1"/>
          <p:nvPr/>
        </p:nvSpPr>
        <p:spPr>
          <a:xfrm>
            <a:off x="4495648"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+134.917 kr / mo (RPV)</a:t>
            </a:r>
          </a:p>
        </p:txBody>
      </p:sp>
      <p:sp>
        <p:nvSpPr>
          <p:cNvPr id="34" name="Rectangle 33"/>
          <p:cNvSpPr/>
          <p:nvPr/>
        </p:nvSpPr>
        <p:spPr>
          <a:xfrm>
            <a:off x="4495648"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5648"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36" name="TextBox 35"/>
          <p:cNvSpPr txBox="1"/>
          <p:nvPr/>
        </p:nvSpPr>
        <p:spPr>
          <a:xfrm>
            <a:off x="5501488"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20,36 → 23,84 kr</a:t>
            </a:r>
          </a:p>
        </p:txBody>
      </p:sp>
      <p:sp>
        <p:nvSpPr>
          <p:cNvPr id="37" name="TextBox 36"/>
          <p:cNvSpPr txBox="1"/>
          <p:nvPr/>
        </p:nvSpPr>
        <p:spPr>
          <a:xfrm>
            <a:off x="4495648"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+17,10%</a:t>
            </a:r>
          </a:p>
        </p:txBody>
      </p:sp>
      <p:sp>
        <p:nvSpPr>
          <p:cNvPr id="38" name="TextBox 37"/>
          <p:cNvSpPr txBox="1"/>
          <p:nvPr/>
        </p:nvSpPr>
        <p:spPr>
          <a:xfrm>
            <a:off x="4495648"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39" name="TextBox 38"/>
          <p:cNvSpPr txBox="1"/>
          <p:nvPr/>
        </p:nvSpPr>
        <p:spPr>
          <a:xfrm>
            <a:off x="5501488"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293,47 → 309,37 kr</a:t>
            </a:r>
          </a:p>
        </p:txBody>
      </p:sp>
      <p:sp>
        <p:nvSpPr>
          <p:cNvPr id="40" name="TextBox 39"/>
          <p:cNvSpPr txBox="1"/>
          <p:nvPr/>
        </p:nvSpPr>
        <p:spPr>
          <a:xfrm>
            <a:off x="4495648"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+5,42%</a:t>
            </a:r>
          </a:p>
        </p:txBody>
      </p:sp>
      <p:sp>
        <p:nvSpPr>
          <p:cNvPr id="41" name="TextBox 40"/>
          <p:cNvSpPr txBox="1"/>
          <p:nvPr/>
        </p:nvSpPr>
        <p:spPr>
          <a:xfrm>
            <a:off x="4495648"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42" name="TextBox 41"/>
          <p:cNvSpPr txBox="1"/>
          <p:nvPr/>
        </p:nvSpPr>
        <p:spPr>
          <a:xfrm>
            <a:off x="5501488"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+298</a:t>
            </a:r>
          </a:p>
        </p:txBody>
      </p:sp>
      <p:sp>
        <p:nvSpPr>
          <p:cNvPr id="43" name="TextBox 42"/>
          <p:cNvSpPr txBox="1"/>
          <p:nvPr/>
        </p:nvSpPr>
        <p:spPr>
          <a:xfrm>
            <a:off x="4495648"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Surfaced volume discount tiers directly on the PDP. CR was primary, RPV and AOV lifted simultaneously.</a:t>
            </a:r>
          </a:p>
        </p:txBody>
      </p:sp>
      <p:sp>
        <p:nvSpPr>
          <p:cNvPr id="44" name="Rounded Rectangle 43"/>
          <p:cNvSpPr/>
          <p:nvPr/>
        </p:nvSpPr>
        <p:spPr>
          <a:xfrm>
            <a:off x="8107527"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847"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46" name="TextBox 45"/>
          <p:cNvSpPr txBox="1"/>
          <p:nvPr/>
        </p:nvSpPr>
        <p:spPr>
          <a:xfrm>
            <a:off x="8381847"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Homepage hero optimization</a:t>
            </a:r>
          </a:p>
        </p:txBody>
      </p:sp>
      <p:sp>
        <p:nvSpPr>
          <p:cNvPr id="47" name="TextBox 46"/>
          <p:cNvSpPr txBox="1"/>
          <p:nvPr/>
        </p:nvSpPr>
        <p:spPr>
          <a:xfrm>
            <a:off x="8381847"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REVENUE / VISITOR</a:t>
            </a:r>
          </a:p>
        </p:txBody>
      </p:sp>
      <p:sp>
        <p:nvSpPr>
          <p:cNvPr id="48" name="TextBox 47"/>
          <p:cNvSpPr txBox="1"/>
          <p:nvPr/>
        </p:nvSpPr>
        <p:spPr>
          <a:xfrm>
            <a:off x="8381847"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+20,87%</a:t>
            </a:r>
          </a:p>
        </p:txBody>
      </p:sp>
      <p:sp>
        <p:nvSpPr>
          <p:cNvPr id="49" name="TextBox 48"/>
          <p:cNvSpPr txBox="1"/>
          <p:nvPr/>
        </p:nvSpPr>
        <p:spPr>
          <a:xfrm>
            <a:off x="8381847"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-12 % to +67 %</a:t>
            </a:r>
          </a:p>
        </p:txBody>
      </p:sp>
      <p:sp>
        <p:nvSpPr>
          <p:cNvPr id="50" name="TextBox 49"/>
          <p:cNvSpPr txBox="1"/>
          <p:nvPr/>
        </p:nvSpPr>
        <p:spPr>
          <a:xfrm>
            <a:off x="8381847"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+272.913 kr / mo</a:t>
            </a:r>
          </a:p>
        </p:txBody>
      </p:sp>
      <p:sp>
        <p:nvSpPr>
          <p:cNvPr id="51" name="Rectangle 50"/>
          <p:cNvSpPr/>
          <p:nvPr/>
        </p:nvSpPr>
        <p:spPr>
          <a:xfrm>
            <a:off x="8381847"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1847"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53" name="TextBox 52"/>
          <p:cNvSpPr txBox="1"/>
          <p:nvPr/>
        </p:nvSpPr>
        <p:spPr>
          <a:xfrm>
            <a:off x="9387687"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16,3% → 17,6%</a:t>
            </a:r>
          </a:p>
        </p:txBody>
      </p:sp>
      <p:sp>
        <p:nvSpPr>
          <p:cNvPr id="54" name="TextBox 53"/>
          <p:cNvSpPr txBox="1"/>
          <p:nvPr/>
        </p:nvSpPr>
        <p:spPr>
          <a:xfrm>
            <a:off x="8381847"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+7,72%</a:t>
            </a:r>
          </a:p>
        </p:txBody>
      </p:sp>
      <p:sp>
        <p:nvSpPr>
          <p:cNvPr id="55" name="TextBox 54"/>
          <p:cNvSpPr txBox="1"/>
          <p:nvPr/>
        </p:nvSpPr>
        <p:spPr>
          <a:xfrm>
            <a:off x="8381847"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56" name="TextBox 55"/>
          <p:cNvSpPr txBox="1"/>
          <p:nvPr/>
        </p:nvSpPr>
        <p:spPr>
          <a:xfrm>
            <a:off x="9387687"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401,87 → 450,94 kr</a:t>
            </a:r>
          </a:p>
        </p:txBody>
      </p:sp>
      <p:sp>
        <p:nvSpPr>
          <p:cNvPr id="57" name="TextBox 56"/>
          <p:cNvSpPr txBox="1"/>
          <p:nvPr/>
        </p:nvSpPr>
        <p:spPr>
          <a:xfrm>
            <a:off x="8381847"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+12,21%</a:t>
            </a:r>
          </a:p>
        </p:txBody>
      </p:sp>
      <p:sp>
        <p:nvSpPr>
          <p:cNvPr id="58" name="TextBox 57"/>
          <p:cNvSpPr txBox="1"/>
          <p:nvPr/>
        </p:nvSpPr>
        <p:spPr>
          <a:xfrm>
            <a:off x="8381847"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PDP view rate</a:t>
            </a:r>
          </a:p>
        </p:txBody>
      </p:sp>
      <p:sp>
        <p:nvSpPr>
          <p:cNvPr id="59" name="TextBox 58"/>
          <p:cNvSpPr txBox="1"/>
          <p:nvPr/>
        </p:nvSpPr>
        <p:spPr>
          <a:xfrm>
            <a:off x="9387687"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56,6% → 61,8%</a:t>
            </a:r>
          </a:p>
        </p:txBody>
      </p:sp>
      <p:sp>
        <p:nvSpPr>
          <p:cNvPr id="60" name="TextBox 59"/>
          <p:cNvSpPr txBox="1"/>
          <p:nvPr/>
        </p:nvSpPr>
        <p:spPr>
          <a:xfrm>
            <a:off x="8381847" y="5568696"/>
            <a:ext cx="3200399" cy="228600"/>
          </a:xfrm>
          <a:prstGeom prst="rect">
            <a:avLst/>
          </a:prstGeom>
          <a:noFill/>
        </p:spPr>
        <p:txBody>
          <a:bodyPr wrap="square" lIns="0" rIns="0" tIns="0" bIns="0" anchor="t">
            <a:spAutoFit/>
          </a:bodyPr>
          <a:lstStyle/>
          <a:p>
            <a:pPr algn="r"/>
            <a:r>
              <a:rPr sz="900" b="1" i="0">
                <a:solidFill>
                  <a:srgbClr val="F7D007"/>
                </a:solidFill>
                <a:latin typeface="Menlo"/>
              </a:rPr>
              <a:t>+9,21%</a:t>
            </a:r>
          </a:p>
        </p:txBody>
      </p:sp>
      <p:sp>
        <p:nvSpPr>
          <p:cNvPr id="61" name="TextBox 60"/>
          <p:cNvSpPr txBox="1"/>
          <p:nvPr/>
        </p:nvSpPr>
        <p:spPr>
          <a:xfrm>
            <a:off x="8381847"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Reworked homepage hero with lighter background. Lifted the full funnel: more PDP views, higher AOV, more revenue.</a:t>
            </a:r>
          </a:p>
        </p:txBody>
      </p:sp>
      <p:sp>
        <p:nvSpPr>
          <p:cNvPr id="62" name="TextBox 61"/>
          <p:cNvSpPr txBox="1"/>
          <p:nvPr/>
        </p:nvSpPr>
        <p:spPr>
          <a:xfrm>
            <a:off x="0" y="6446520"/>
            <a:ext cx="12191695" cy="164592"/>
          </a:xfrm>
          <a:prstGeom prst="rect">
            <a:avLst/>
          </a:prstGeom>
          <a:noFill/>
        </p:spPr>
        <p:txBody>
          <a:bodyPr wrap="square" lIns="0" rIns="0" tIns="0" bIns="0" anchor="t">
            <a:spAutoFit/>
          </a:bodyPr>
          <a:lstStyle/>
          <a:p>
            <a:pPr algn="ctr"/>
            <a:r>
              <a:rPr sz="800" b="0" i="1">
                <a:solidFill>
                  <a:srgbClr val="6B7C75"/>
                </a:solidFill>
                <a:latin typeface="Helvetica Neue"/>
              </a:rPr>
              <a:t>Source: IntelliGEMS test reports. Confidence intervals shown reflect range of likely true effect. References available on request.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01</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Comforth · Product tags on collection cards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Added benefit and trust tags directly to product cards on collection pages. Variant lifted all three commercial metrics with no degradation in any guardrail.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forth | Product Tags Control.png"/>
          <p:cNvPicPr>
            <a:picLocks noChangeAspect="1"/>
          </p:cNvPicPr>
          <p:nvPr/>
        </p:nvPicPr>
        <p:blipFill>
          <a:blip r:embed="rId3"/>
          <a:stretch>
            <a:fillRect/>
          </a:stretch>
        </p:blipFill>
        <p:spPr>
          <a:xfrm>
            <a:off x="882127" y="2377440"/>
            <a:ext cx="1527586"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forth | Product Tags Variant.png"/>
          <p:cNvPicPr>
            <a:picLocks noChangeAspect="1"/>
          </p:cNvPicPr>
          <p:nvPr/>
        </p:nvPicPr>
        <p:blipFill>
          <a:blip r:embed="rId4"/>
          <a:stretch>
            <a:fillRect/>
          </a:stretch>
        </p:blipFill>
        <p:spPr>
          <a:xfrm>
            <a:off x="2990541" y="2377440"/>
            <a:ext cx="151699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PROFIT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+11,42%</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-11 % to +39 %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+106.550 kr / month projected</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2,09 %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2,37 %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+13,07%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26,88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29,87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+11,13%</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15,07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16,80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+11,42%</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Est. orders / mo</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+169</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02</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PDP volume discount tiers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Surfaced volume discount tiers directly on the PDP. The variant lifted purchase rate, AOV, and downstream profit simultaneously.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PDP Volume discount  control.jpg"/>
          <p:cNvPicPr>
            <a:picLocks noChangeAspect="1"/>
          </p:cNvPicPr>
          <p:nvPr/>
        </p:nvPicPr>
        <p:blipFill>
          <a:blip r:embed="rId3"/>
          <a:stretch>
            <a:fillRect/>
          </a:stretch>
        </p:blipFill>
        <p:spPr>
          <a:xfrm>
            <a:off x="1185109" y="2377440"/>
            <a:ext cx="921621"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PDP Volume discount  variant.jpg"/>
          <p:cNvPicPr>
            <a:picLocks noChangeAspect="1"/>
          </p:cNvPicPr>
          <p:nvPr/>
        </p:nvPicPr>
        <p:blipFill>
          <a:blip r:embed="rId4"/>
          <a:stretch>
            <a:fillRect/>
          </a:stretch>
        </p:blipFill>
        <p:spPr>
          <a:xfrm>
            <a:off x="3329492" y="2377440"/>
            <a:ext cx="839096"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CONVERSION RATE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+11,08%</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-3 % to +27 %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+298 orders / month · +134.917 kr / mo (RPV)</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6,94 %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7,71 %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+11,08%</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20,36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23,84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+17,10%</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10,49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12,25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+16,68%</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293,47 kr</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309,37 kr</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+5,42%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03</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Homepage hero optimization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Reworked homepage hero with a lighter background and a sharper category-led layout. Lift compounded through PDP views, AOV, and revenue.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Homepage hero optimization control.jpg"/>
          <p:cNvPicPr>
            <a:picLocks noChangeAspect="1"/>
          </p:cNvPicPr>
          <p:nvPr/>
        </p:nvPicPr>
        <p:blipFill>
          <a:blip r:embed="rId3"/>
          <a:stretch>
            <a:fillRect/>
          </a:stretch>
        </p:blipFill>
        <p:spPr>
          <a:xfrm>
            <a:off x="932688" y="2377440"/>
            <a:ext cx="1426464"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Homepage hero optimization variant.jpg"/>
          <p:cNvPicPr>
            <a:picLocks noChangeAspect="1"/>
          </p:cNvPicPr>
          <p:nvPr/>
        </p:nvPicPr>
        <p:blipFill>
          <a:blip r:embed="rId4"/>
          <a:stretch>
            <a:fillRect/>
          </a:stretch>
        </p:blipFill>
        <p:spPr>
          <a:xfrm>
            <a:off x="3238596" y="2377440"/>
            <a:ext cx="102088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+20,87%</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-12 % to +67 %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+251 orders / month · +272.913 kr / mo</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65,50 kr</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79,17 kr</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+20,87%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34,78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42,35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+21,78%</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401,87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450,94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+12,21%</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PDP view rate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56,6 %</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61,8 %</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+9,21%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43</a:t>
            </a:r>
          </a:p>
        </p:txBody>
      </p:sp>
      <p:sp>
        <p:nvSpPr>
          <p:cNvPr id="7" name="TextBox 6"/>
          <p:cNvSpPr txBox="1"/>
          <p:nvPr/>
        </p:nvSpPr>
        <p:spPr>
          <a:xfrm>
            <a:off x="777240" y="2194560"/>
            <a:ext cx="5486400" cy="274320"/>
          </a:xfrm>
          <a:prstGeom prst="rect">
            <a:avLst/>
          </a:prstGeom>
          <a:noFill/>
        </p:spPr>
        <p:txBody>
          <a:bodyPr wrap="square" lIns="0" rIns="0" tIns="0" bIns="0" anchor="t">
            <a:spAutoFit/>
          </a:bodyPr>
          <a:lstStyle/>
          <a:p>
            <a:pPr algn="l"/>
            <a:r>
              <a:rPr sz="1200" b="1" i="0" spc="300">
                <a:solidFill>
                  <a:srgbClr val="F7D007"/>
                </a:solidFill>
                <a:latin typeface="Helvetica Neue"/>
              </a:rPr>
              <a:t>NEXT STEP</a:t>
            </a:r>
          </a:p>
        </p:txBody>
      </p:sp>
      <p:sp>
        <p:nvSpPr>
          <p:cNvPr id="8" name="TextBox 7"/>
          <p:cNvSpPr txBox="1"/>
          <p:nvPr/>
        </p:nvSpPr>
        <p:spPr>
          <a:xfrm>
            <a:off x="777240" y="2514600"/>
            <a:ext cx="10789920" cy="1645920"/>
          </a:xfrm>
          <a:prstGeom prst="rect">
            <a:avLst/>
          </a:prstGeom>
          <a:noFill/>
        </p:spPr>
        <p:txBody>
          <a:bodyPr wrap="square" lIns="0" rIns="0" tIns="0" bIns="0" anchor="t">
            <a:spAutoFit/>
          </a:bodyPr>
          <a:lstStyle/>
          <a:p>
            <a:pPr algn="l">
              <a:lnSpc>
                <a:spcPct val="100000"/>
              </a:lnSpc>
            </a:pPr>
            <a:r>
              <a:rPr sz="4400" b="1" i="0">
                <a:solidFill>
                  <a:srgbClr val="FFFFFF"/>
                </a:solidFill>
                <a:latin typeface="Helvetica Neue"/>
              </a:rPr>
              <a:t>Unbreak the data, </a:t>
            </a:r>
          </a:p>
          <a:p>
            <a:pPr algn="l">
              <a:lnSpc>
                <a:spcPct val="100000"/>
              </a:lnSpc>
            </a:pPr>
            <a:r>
              <a:rPr sz="4400" b="1" i="0">
                <a:solidFill>
                  <a:srgbClr val="F7D007"/>
                </a:solidFill>
                <a:latin typeface="Helvetica Neue"/>
              </a:rPr>
              <a:t>answer the doubt, </a:t>
            </a:r>
            <a:r>
              <a:rPr sz="4400" b="1" i="0">
                <a:solidFill>
                  <a:srgbClr val="FFFFFF"/>
                </a:solidFill>
                <a:latin typeface="Helvetica Neue"/>
              </a:rPr>
              <a:t>and win the add-to-cart.</a:t>
            </a:r>
          </a:p>
        </p:txBody>
      </p:sp>
      <p:sp>
        <p:nvSpPr>
          <p:cNvPr id="9" name="TextBox 8"/>
          <p:cNvSpPr txBox="1"/>
          <p:nvPr/>
        </p:nvSpPr>
        <p:spPr>
          <a:xfrm>
            <a:off x="777240" y="4343400"/>
            <a:ext cx="9875520" cy="640080"/>
          </a:xfrm>
          <a:prstGeom prst="rect">
            <a:avLst/>
          </a:prstGeom>
          <a:noFill/>
        </p:spPr>
        <p:txBody>
          <a:bodyPr wrap="square" lIns="0" rIns="0" tIns="0" bIns="0" anchor="t">
            <a:spAutoFit/>
          </a:bodyPr>
          <a:lstStyle/>
          <a:p>
            <a:pPr algn="l"/>
            <a:r>
              <a:rPr sz="1300" b="0" i="0">
                <a:solidFill>
                  <a:srgbClr val="999999"/>
                </a:solidFill>
                <a:latin typeface="Helvetica Neue"/>
              </a:rPr>
              <a:t>92.8% of product viewers leave before adding to cart, and a third of orders are invisible to the channels that bought them. Phase 1 (attribution repair, proof at the buy box, Clarity installed) carries no downside and can ship in three weeks.</a:t>
            </a:r>
          </a:p>
        </p:txBody>
      </p:sp>
      <p:sp>
        <p:nvSpPr>
          <p:cNvPr id="10" name="TextBox 9"/>
          <p:cNvSpPr txBox="1"/>
          <p:nvPr/>
        </p:nvSpPr>
        <p:spPr>
          <a:xfrm>
            <a:off x="777240" y="5029200"/>
            <a:ext cx="9601200" cy="365760"/>
          </a:xfrm>
          <a:prstGeom prst="rect">
            <a:avLst/>
          </a:prstGeom>
          <a:noFill/>
        </p:spPr>
        <p:txBody>
          <a:bodyPr wrap="square" lIns="0" rIns="0" tIns="0" bIns="0" anchor="t">
            <a:spAutoFit/>
          </a:bodyPr>
          <a:lstStyle/>
          <a:p>
            <a:pPr algn="l"/>
            <a:r>
              <a:rPr sz="1500" b="1" i="0">
                <a:solidFill>
                  <a:srgbClr val="F7D007"/>
                </a:solidFill>
                <a:latin typeface="Helvetica Neue"/>
              </a:rPr>
              <a:t>Conservative target: Est. 250,000 to 400,000 DKK per quarter from the two funnel fixes alone.</a:t>
            </a:r>
          </a:p>
        </p:txBody>
      </p:sp>
      <p:sp>
        <p:nvSpPr>
          <p:cNvPr id="11" name="TextBox 10"/>
          <p:cNvSpPr txBox="1"/>
          <p:nvPr/>
        </p:nvSpPr>
        <p:spPr>
          <a:xfrm>
            <a:off x="777240" y="5669280"/>
            <a:ext cx="5486400" cy="274320"/>
          </a:xfrm>
          <a:prstGeom prst="rect">
            <a:avLst/>
          </a:prstGeom>
          <a:noFill/>
        </p:spPr>
        <p:txBody>
          <a:bodyPr wrap="square" lIns="0" rIns="0" tIns="0" bIns="0" anchor="t">
            <a:spAutoFit/>
          </a:bodyPr>
          <a:lstStyle/>
          <a:p>
            <a:pPr algn="l"/>
            <a:r>
              <a:rPr sz="1000" b="0" i="0">
                <a:solidFill>
                  <a:srgbClr val="6B7C75"/>
                </a:solidFill>
                <a:latin typeface="Helvetica Neue"/>
              </a:rPr>
              <a:t>Prepared by EcomHouse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