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 Id="rId4"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 Id="rId4" Type="http://schemas.openxmlformats.org/officeDocument/2006/relationships/image" Target="../media/image1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00</a:t>
            </a:r>
          </a:p>
        </p:txBody>
      </p:sp>
      <p:sp>
        <p:nvSpPr>
          <p:cNvPr id="7" name="Oval 6"/>
          <p:cNvSpPr/>
          <p:nvPr/>
        </p:nvSpPr>
        <p:spPr>
          <a:xfrm>
            <a:off x="6400800" y="-2286000"/>
            <a:ext cx="7772400" cy="6400800"/>
          </a:xfrm>
          <a:prstGeom prst="ellipse">
            <a:avLst/>
          </a:prstGeom>
          <a:solidFill>
            <a:srgbClr val="3A3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ortgym-logo-white.png"/>
          <p:cNvPicPr>
            <a:picLocks noChangeAspect="1"/>
          </p:cNvPicPr>
          <p:nvPr/>
        </p:nvPicPr>
        <p:blipFill>
          <a:blip r:embed="rId3"/>
          <a:stretch>
            <a:fillRect/>
          </a:stretch>
        </p:blipFill>
        <p:spPr>
          <a:xfrm>
            <a:off x="777240" y="914400"/>
            <a:ext cx="2675106" cy="502920"/>
          </a:xfrm>
          <a:prstGeom prst="rect">
            <a:avLst/>
          </a:prstGeom>
        </p:spPr>
      </p:pic>
      <p:sp>
        <p:nvSpPr>
          <p:cNvPr id="9" name="TextBox 8"/>
          <p:cNvSpPr txBox="1"/>
          <p:nvPr/>
        </p:nvSpPr>
        <p:spPr>
          <a:xfrm>
            <a:off x="777240" y="1691640"/>
            <a:ext cx="10058400" cy="914400"/>
          </a:xfrm>
          <a:prstGeom prst="rect">
            <a:avLst/>
          </a:prstGeom>
          <a:noFill/>
        </p:spPr>
        <p:txBody>
          <a:bodyPr wrap="square" lIns="0" rIns="0" tIns="0" bIns="0" anchor="t">
            <a:spAutoFit/>
          </a:bodyPr>
          <a:lstStyle/>
          <a:p>
            <a:pPr algn="l"/>
            <a:r>
              <a:rPr sz="6400" b="1" i="0" spc="-300">
                <a:solidFill>
                  <a:srgbClr val="F7D007"/>
                </a:solidFill>
                <a:latin typeface="Helvetica Neue"/>
              </a:rPr>
              <a:t>sportgym.dk</a:t>
            </a:r>
          </a:p>
        </p:txBody>
      </p:sp>
      <p:sp>
        <p:nvSpPr>
          <p:cNvPr id="10" name="TextBox 9"/>
          <p:cNvSpPr txBox="1"/>
          <p:nvPr/>
        </p:nvSpPr>
        <p:spPr>
          <a:xfrm>
            <a:off x="777240" y="2651760"/>
            <a:ext cx="10058400" cy="1280160"/>
          </a:xfrm>
          <a:prstGeom prst="rect">
            <a:avLst/>
          </a:prstGeom>
          <a:noFill/>
        </p:spPr>
        <p:txBody>
          <a:bodyPr wrap="square" lIns="0" rIns="0" tIns="0" bIns="0" anchor="t">
            <a:spAutoFit/>
          </a:bodyPr>
          <a:lstStyle/>
          <a:p>
            <a:pPr algn="l"/>
            <a:r>
              <a:rPr sz="4600" b="1" i="0" spc="-200">
                <a:solidFill>
                  <a:srgbClr val="FFFFFF"/>
                </a:solidFill>
                <a:latin typeface="Helvetica Neue"/>
              </a:rPr>
              <a:t>5 changes that pay for themselves.</a:t>
            </a:r>
          </a:p>
        </p:txBody>
      </p:sp>
      <p:sp>
        <p:nvSpPr>
          <p:cNvPr id="11" name="Rounded Rectangle 10"/>
          <p:cNvSpPr/>
          <p:nvPr/>
        </p:nvSpPr>
        <p:spPr>
          <a:xfrm>
            <a:off x="777240" y="4069080"/>
            <a:ext cx="128016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69080"/>
            <a:ext cx="1280160" cy="310896"/>
          </a:xfrm>
          <a:prstGeom prst="rect">
            <a:avLst/>
          </a:prstGeom>
          <a:noFill/>
        </p:spPr>
        <p:txBody>
          <a:bodyPr wrap="square" lIns="0" rIns="0" tIns="0" bIns="0" anchor="ctr">
            <a:spAutoFit/>
          </a:bodyPr>
          <a:lstStyle/>
          <a:p>
            <a:pPr algn="ctr"/>
            <a:r>
              <a:rPr sz="1000" b="1" i="0" spc="100">
                <a:solidFill>
                  <a:srgbClr val="EFEEEE"/>
                </a:solidFill>
                <a:latin typeface="Helvetica Neue"/>
              </a:rPr>
              <a:t>CRO Audit</a:t>
            </a:r>
          </a:p>
        </p:txBody>
      </p:sp>
      <p:sp>
        <p:nvSpPr>
          <p:cNvPr id="13" name="Rounded Rectangle 12"/>
          <p:cNvSpPr/>
          <p:nvPr/>
        </p:nvSpPr>
        <p:spPr>
          <a:xfrm>
            <a:off x="777240" y="4069080"/>
            <a:ext cx="128016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94559" y="4069080"/>
            <a:ext cx="1783080"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94559" y="4069080"/>
            <a:ext cx="1783080" cy="310896"/>
          </a:xfrm>
          <a:prstGeom prst="rect">
            <a:avLst/>
          </a:prstGeom>
          <a:noFill/>
        </p:spPr>
        <p:txBody>
          <a:bodyPr wrap="square" lIns="0" rIns="0" tIns="0" bIns="0" anchor="ctr">
            <a:spAutoFit/>
          </a:bodyPr>
          <a:lstStyle/>
          <a:p>
            <a:pPr algn="ctr"/>
            <a:r>
              <a:rPr sz="1000" b="1" i="0" spc="100">
                <a:solidFill>
                  <a:srgbClr val="EFEEEE"/>
                </a:solidFill>
                <a:latin typeface="Helvetica Neue"/>
              </a:rPr>
              <a:t>A/B Test Roadmap</a:t>
            </a:r>
          </a:p>
        </p:txBody>
      </p:sp>
      <p:sp>
        <p:nvSpPr>
          <p:cNvPr id="16" name="Rounded Rectangle 15"/>
          <p:cNvSpPr/>
          <p:nvPr/>
        </p:nvSpPr>
        <p:spPr>
          <a:xfrm>
            <a:off x="2194559" y="4069080"/>
            <a:ext cx="1783080"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114799" y="4069080"/>
            <a:ext cx="1874519" cy="31089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9" y="4069080"/>
            <a:ext cx="1874519" cy="310896"/>
          </a:xfrm>
          <a:prstGeom prst="rect">
            <a:avLst/>
          </a:prstGeom>
          <a:noFill/>
        </p:spPr>
        <p:txBody>
          <a:bodyPr wrap="square" lIns="0" rIns="0" tIns="0" bIns="0" anchor="ctr">
            <a:spAutoFit/>
          </a:bodyPr>
          <a:lstStyle/>
          <a:p>
            <a:pPr algn="ctr"/>
            <a:r>
              <a:rPr sz="1000" b="1" i="0" spc="100">
                <a:solidFill>
                  <a:srgbClr val="EFEEEE"/>
                </a:solidFill>
                <a:latin typeface="Helvetica Neue"/>
              </a:rPr>
              <a:t>Performance-priced</a:t>
            </a:r>
          </a:p>
        </p:txBody>
      </p:sp>
      <p:sp>
        <p:nvSpPr>
          <p:cNvPr id="19" name="Rounded Rectangle 18"/>
          <p:cNvSpPr/>
          <p:nvPr/>
        </p:nvSpPr>
        <p:spPr>
          <a:xfrm>
            <a:off x="4114799" y="4069080"/>
            <a:ext cx="1874519" cy="310896"/>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37760"/>
            <a:ext cx="10058400" cy="274320"/>
          </a:xfrm>
          <a:prstGeom prst="rect">
            <a:avLst/>
          </a:prstGeom>
          <a:noFill/>
        </p:spPr>
        <p:txBody>
          <a:bodyPr wrap="square" lIns="0" rIns="0" tIns="0" bIns="0" anchor="t">
            <a:spAutoFit/>
          </a:bodyPr>
          <a:lstStyle/>
          <a:p>
            <a:pPr algn="l"/>
            <a:r>
              <a:rPr sz="1100" b="0" i="0">
                <a:solidFill>
                  <a:srgbClr val="999999"/>
                </a:solidFill>
                <a:latin typeface="Helvetica Neue"/>
              </a:rPr>
              <a:t>Last 30 days (Shopify) · 9.510 sessions · 252 orders · 1.002.672 kr gross sales · 1,77 % site CR.</a:t>
            </a:r>
          </a:p>
        </p:txBody>
      </p:sp>
      <p:sp>
        <p:nvSpPr>
          <p:cNvPr id="21" name="TextBox 20"/>
          <p:cNvSpPr txBox="1"/>
          <p:nvPr/>
        </p:nvSpPr>
        <p:spPr>
          <a:xfrm>
            <a:off x="777240" y="5257800"/>
            <a:ext cx="10058400" cy="274320"/>
          </a:xfrm>
          <a:prstGeom prst="rect">
            <a:avLst/>
          </a:prstGeom>
          <a:noFill/>
        </p:spPr>
        <p:txBody>
          <a:bodyPr wrap="square" lIns="0" rIns="0" tIns="0" bIns="0" anchor="t">
            <a:spAutoFit/>
          </a:bodyPr>
          <a:lstStyle/>
          <a:p>
            <a:pPr algn="l"/>
            <a:r>
              <a:rPr sz="1100" b="0" i="0">
                <a:solidFill>
                  <a:srgbClr val="999999"/>
                </a:solidFill>
                <a:latin typeface="Helvetica Neue"/>
              </a:rPr>
              <a:t>Prepared by EcomHouse for sportgym.dk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METHODOLOGY</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How this report works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Every opportunity is GA4-backed, sized in DKK per month, and tagged by effort. Absolute GA4 numbers are directional, not exact. Step-to-step ratios drive prioritization.</a:t>
            </a:r>
          </a:p>
        </p:txBody>
      </p:sp>
      <p:sp>
        <p:nvSpPr>
          <p:cNvPr id="10" name="Rounded Rectangle 9"/>
          <p:cNvSpPr/>
          <p:nvPr/>
        </p:nvSpPr>
        <p:spPr>
          <a:xfrm>
            <a:off x="632307" y="2606040"/>
            <a:ext cx="3520440" cy="27432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6627" y="2880360"/>
            <a:ext cx="2971800" cy="274320"/>
          </a:xfrm>
          <a:prstGeom prst="rect">
            <a:avLst/>
          </a:prstGeom>
          <a:noFill/>
        </p:spPr>
        <p:txBody>
          <a:bodyPr wrap="square" lIns="0" rIns="0" tIns="0" bIns="0" anchor="t">
            <a:spAutoFit/>
          </a:bodyPr>
          <a:lstStyle/>
          <a:p>
            <a:pPr algn="l"/>
            <a:r>
              <a:rPr sz="1000" b="1" i="0" spc="150">
                <a:solidFill>
                  <a:srgbClr val="F7D007"/>
                </a:solidFill>
                <a:latin typeface="Menlo"/>
              </a:rPr>
              <a:t>// 01</a:t>
            </a:r>
          </a:p>
        </p:txBody>
      </p:sp>
      <p:sp>
        <p:nvSpPr>
          <p:cNvPr id="12" name="TextBox 11"/>
          <p:cNvSpPr txBox="1"/>
          <p:nvPr/>
        </p:nvSpPr>
        <p:spPr>
          <a:xfrm>
            <a:off x="906627" y="3246120"/>
            <a:ext cx="2971800" cy="365760"/>
          </a:xfrm>
          <a:prstGeom prst="rect">
            <a:avLst/>
          </a:prstGeom>
          <a:noFill/>
        </p:spPr>
        <p:txBody>
          <a:bodyPr wrap="square" lIns="0" rIns="0" tIns="0" bIns="0" anchor="t">
            <a:spAutoFit/>
          </a:bodyPr>
          <a:lstStyle/>
          <a:p>
            <a:pPr algn="l"/>
            <a:r>
              <a:rPr sz="1500" b="1" i="0">
                <a:solidFill>
                  <a:srgbClr val="FFFFFF"/>
                </a:solidFill>
                <a:latin typeface="Helvetica Neue"/>
              </a:rPr>
              <a:t>Shopify analytics</a:t>
            </a:r>
          </a:p>
        </p:txBody>
      </p:sp>
      <p:sp>
        <p:nvSpPr>
          <p:cNvPr id="13" name="TextBox 12"/>
          <p:cNvSpPr txBox="1"/>
          <p:nvPr/>
        </p:nvSpPr>
        <p:spPr>
          <a:xfrm>
            <a:off x="906627" y="3703320"/>
            <a:ext cx="2971800" cy="1463040"/>
          </a:xfrm>
          <a:prstGeom prst="rect">
            <a:avLst/>
          </a:prstGeom>
          <a:noFill/>
        </p:spPr>
        <p:txBody>
          <a:bodyPr wrap="square" lIns="0" rIns="0" tIns="0" bIns="0" anchor="t">
            <a:spAutoFit/>
          </a:bodyPr>
          <a:lstStyle/>
          <a:p>
            <a:pPr algn="l"/>
            <a:r>
              <a:rPr sz="1100" b="0" i="0">
                <a:solidFill>
                  <a:srgbClr val="CCCCCC"/>
                </a:solidFill>
                <a:latin typeface="Helvetica Neue"/>
              </a:rPr>
              <a:t>Re-baselined on Shopify last 30 days (Apr 21 to May 21, 2026). GA4 was found to underreport sessions by ~85 % and orders by ~90 % (Web Pixels Manager + iOS 17). Shopify is the source of truth for absolute counts.</a:t>
            </a:r>
          </a:p>
        </p:txBody>
      </p:sp>
      <p:sp>
        <p:nvSpPr>
          <p:cNvPr id="14" name="Rounded Rectangle 13"/>
          <p:cNvSpPr/>
          <p:nvPr/>
        </p:nvSpPr>
        <p:spPr>
          <a:xfrm>
            <a:off x="4335627" y="2606040"/>
            <a:ext cx="3520440" cy="27432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9947" y="2880360"/>
            <a:ext cx="2971800" cy="274320"/>
          </a:xfrm>
          <a:prstGeom prst="rect">
            <a:avLst/>
          </a:prstGeom>
          <a:noFill/>
        </p:spPr>
        <p:txBody>
          <a:bodyPr wrap="square" lIns="0" rIns="0" tIns="0" bIns="0" anchor="t">
            <a:spAutoFit/>
          </a:bodyPr>
          <a:lstStyle/>
          <a:p>
            <a:pPr algn="l"/>
            <a:r>
              <a:rPr sz="1000" b="1" i="0" spc="150">
                <a:solidFill>
                  <a:srgbClr val="F7D007"/>
                </a:solidFill>
                <a:latin typeface="Menlo"/>
              </a:rPr>
              <a:t>// 02</a:t>
            </a:r>
          </a:p>
        </p:txBody>
      </p:sp>
      <p:sp>
        <p:nvSpPr>
          <p:cNvPr id="16" name="TextBox 15"/>
          <p:cNvSpPr txBox="1"/>
          <p:nvPr/>
        </p:nvSpPr>
        <p:spPr>
          <a:xfrm>
            <a:off x="4609947" y="3246120"/>
            <a:ext cx="2971800" cy="365760"/>
          </a:xfrm>
          <a:prstGeom prst="rect">
            <a:avLst/>
          </a:prstGeom>
          <a:noFill/>
        </p:spPr>
        <p:txBody>
          <a:bodyPr wrap="square" lIns="0" rIns="0" tIns="0" bIns="0" anchor="t">
            <a:spAutoFit/>
          </a:bodyPr>
          <a:lstStyle/>
          <a:p>
            <a:pPr algn="l"/>
            <a:r>
              <a:rPr sz="1500" b="1" i="0">
                <a:solidFill>
                  <a:srgbClr val="FFFFFF"/>
                </a:solidFill>
                <a:latin typeface="Helvetica Neue"/>
              </a:rPr>
              <a:t>DKK impact sizing</a:t>
            </a:r>
          </a:p>
        </p:txBody>
      </p:sp>
      <p:sp>
        <p:nvSpPr>
          <p:cNvPr id="17" name="TextBox 16"/>
          <p:cNvSpPr txBox="1"/>
          <p:nvPr/>
        </p:nvSpPr>
        <p:spPr>
          <a:xfrm>
            <a:off x="4609947" y="3703320"/>
            <a:ext cx="2971800" cy="1463040"/>
          </a:xfrm>
          <a:prstGeom prst="rect">
            <a:avLst/>
          </a:prstGeom>
          <a:noFill/>
        </p:spPr>
        <p:txBody>
          <a:bodyPr wrap="square" lIns="0" rIns="0" tIns="0" bIns="0" anchor="t">
            <a:spAutoFit/>
          </a:bodyPr>
          <a:lstStyle/>
          <a:p>
            <a:pPr algn="l"/>
            <a:r>
              <a:rPr sz="1100" b="0" i="0">
                <a:solidFill>
                  <a:srgbClr val="CCCCCC"/>
                </a:solidFill>
                <a:latin typeface="Helvetica Neue"/>
              </a:rPr>
              <a:t>Each opportunity is sized by estimated monthly DKK uplift. Math is conservative, uses Shopify baseline (9.510 sessions, 1.77 % CR, 3.813 kr AOV).</a:t>
            </a:r>
          </a:p>
        </p:txBody>
      </p:sp>
      <p:sp>
        <p:nvSpPr>
          <p:cNvPr id="18" name="Rounded Rectangle 17"/>
          <p:cNvSpPr/>
          <p:nvPr/>
        </p:nvSpPr>
        <p:spPr>
          <a:xfrm>
            <a:off x="8038947" y="2606040"/>
            <a:ext cx="3520440" cy="27432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3267" y="2880360"/>
            <a:ext cx="2971800" cy="274320"/>
          </a:xfrm>
          <a:prstGeom prst="rect">
            <a:avLst/>
          </a:prstGeom>
          <a:noFill/>
        </p:spPr>
        <p:txBody>
          <a:bodyPr wrap="square" lIns="0" rIns="0" tIns="0" bIns="0" anchor="t">
            <a:spAutoFit/>
          </a:bodyPr>
          <a:lstStyle/>
          <a:p>
            <a:pPr algn="l"/>
            <a:r>
              <a:rPr sz="1000" b="1" i="0" spc="150">
                <a:solidFill>
                  <a:srgbClr val="F7D007"/>
                </a:solidFill>
                <a:latin typeface="Menlo"/>
              </a:rPr>
              <a:t>// 03</a:t>
            </a:r>
          </a:p>
        </p:txBody>
      </p:sp>
      <p:sp>
        <p:nvSpPr>
          <p:cNvPr id="20" name="TextBox 19"/>
          <p:cNvSpPr txBox="1"/>
          <p:nvPr/>
        </p:nvSpPr>
        <p:spPr>
          <a:xfrm>
            <a:off x="8313267" y="3246120"/>
            <a:ext cx="2971800" cy="365760"/>
          </a:xfrm>
          <a:prstGeom prst="rect">
            <a:avLst/>
          </a:prstGeom>
          <a:noFill/>
        </p:spPr>
        <p:txBody>
          <a:bodyPr wrap="square" lIns="0" rIns="0" tIns="0" bIns="0" anchor="t">
            <a:spAutoFit/>
          </a:bodyPr>
          <a:lstStyle/>
          <a:p>
            <a:pPr algn="l"/>
            <a:r>
              <a:rPr sz="1500" b="1" i="0">
                <a:solidFill>
                  <a:srgbClr val="FFFFFF"/>
                </a:solidFill>
                <a:latin typeface="Helvetica Neue"/>
              </a:rPr>
              <a:t>Effort tags</a:t>
            </a:r>
          </a:p>
        </p:txBody>
      </p:sp>
      <p:sp>
        <p:nvSpPr>
          <p:cNvPr id="21" name="TextBox 20"/>
          <p:cNvSpPr txBox="1"/>
          <p:nvPr/>
        </p:nvSpPr>
        <p:spPr>
          <a:xfrm>
            <a:off x="8313267" y="3703320"/>
            <a:ext cx="2971800" cy="1463040"/>
          </a:xfrm>
          <a:prstGeom prst="rect">
            <a:avLst/>
          </a:prstGeom>
          <a:noFill/>
        </p:spPr>
        <p:txBody>
          <a:bodyPr wrap="square" lIns="0" rIns="0" tIns="0" bIns="0" anchor="t">
            <a:spAutoFit/>
          </a:bodyPr>
          <a:lstStyle/>
          <a:p>
            <a:pPr algn="l"/>
            <a:r>
              <a:rPr sz="1100" b="0" i="0">
                <a:solidFill>
                  <a:srgbClr val="CCCCCC"/>
                </a:solidFill>
                <a:latin typeface="Helvetica Neue"/>
              </a:rPr>
              <a:t>Every action carries a Low, Medium, or High effort tag so the work can be sequenced across three phases without forcing a replatform.</a:t>
            </a:r>
          </a:p>
        </p:txBody>
      </p:sp>
      <p:sp>
        <p:nvSpPr>
          <p:cNvPr id="22" name="Rounded Rectangle 21"/>
          <p:cNvSpPr/>
          <p:nvPr/>
        </p:nvSpPr>
        <p:spPr>
          <a:xfrm>
            <a:off x="822960" y="5669280"/>
            <a:ext cx="10543032" cy="73152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806440"/>
            <a:ext cx="10085832" cy="45720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90 day revenue impact: </a:t>
            </a:r>
            <a:r>
              <a:rPr sz="1100" b="0" i="0">
                <a:solidFill>
                  <a:srgbClr val="CCCCCC"/>
                </a:solidFill>
                <a:latin typeface="Helvetica Neue"/>
              </a:rPr>
              <a:t>at 50 % realization, this roadmap adds 127.000 to 235.000 kr per month on top of the current ~1.000.000 kr / month baseline. A 13 % to 23 % revenue increase within one quarter.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BASELINE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Where sportgym.dk stands today</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Shopify analytics · Last 30 days (Apr 21 to May 21, 2026). Re-baselined from Shopify after GA4 was found to underreport sessions by ~85 % and orders by ~90 %.</a:t>
            </a:r>
          </a:p>
        </p:txBody>
      </p:sp>
      <p:sp>
        <p:nvSpPr>
          <p:cNvPr id="10" name="Rounded Rectangle 9"/>
          <p:cNvSpPr/>
          <p:nvPr/>
        </p:nvSpPr>
        <p:spPr>
          <a:xfrm>
            <a:off x="609447" y="2377440"/>
            <a:ext cx="1691640" cy="13716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7" y="2743200"/>
            <a:ext cx="1691640" cy="548640"/>
          </a:xfrm>
          <a:prstGeom prst="rect">
            <a:avLst/>
          </a:prstGeom>
          <a:noFill/>
        </p:spPr>
        <p:txBody>
          <a:bodyPr wrap="square" lIns="0" rIns="0" tIns="0" bIns="0" anchor="t">
            <a:spAutoFit/>
          </a:bodyPr>
          <a:lstStyle/>
          <a:p>
            <a:pPr algn="ctr"/>
            <a:r>
              <a:rPr sz="2200" b="1" i="0">
                <a:solidFill>
                  <a:srgbClr val="F7D007"/>
                </a:solidFill>
                <a:latin typeface="Menlo"/>
              </a:rPr>
              <a:t>1.002.672 kr</a:t>
            </a:r>
          </a:p>
        </p:txBody>
      </p:sp>
      <p:sp>
        <p:nvSpPr>
          <p:cNvPr id="12" name="TextBox 11"/>
          <p:cNvSpPr txBox="1"/>
          <p:nvPr/>
        </p:nvSpPr>
        <p:spPr>
          <a:xfrm>
            <a:off x="746607" y="3337560"/>
            <a:ext cx="1417320" cy="320040"/>
          </a:xfrm>
          <a:prstGeom prst="rect">
            <a:avLst/>
          </a:prstGeom>
          <a:noFill/>
        </p:spPr>
        <p:txBody>
          <a:bodyPr wrap="square" lIns="0" rIns="0" tIns="0" bIns="0" anchor="t">
            <a:spAutoFit/>
          </a:bodyPr>
          <a:lstStyle/>
          <a:p>
            <a:pPr algn="ctr"/>
            <a:r>
              <a:rPr sz="800" b="1" i="0" spc="150">
                <a:solidFill>
                  <a:srgbClr val="999999"/>
                </a:solidFill>
                <a:latin typeface="Helvetica Neue"/>
              </a:rPr>
              <a:t>GROSS SALES · 30 DAYS</a:t>
            </a:r>
          </a:p>
        </p:txBody>
      </p:sp>
      <p:sp>
        <p:nvSpPr>
          <p:cNvPr id="13" name="Rounded Rectangle 12"/>
          <p:cNvSpPr/>
          <p:nvPr/>
        </p:nvSpPr>
        <p:spPr>
          <a:xfrm>
            <a:off x="2465679" y="2377440"/>
            <a:ext cx="1691640" cy="13716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5679" y="2743200"/>
            <a:ext cx="1691640" cy="548640"/>
          </a:xfrm>
          <a:prstGeom prst="rect">
            <a:avLst/>
          </a:prstGeom>
          <a:noFill/>
        </p:spPr>
        <p:txBody>
          <a:bodyPr wrap="square" lIns="0" rIns="0" tIns="0" bIns="0" anchor="t">
            <a:spAutoFit/>
          </a:bodyPr>
          <a:lstStyle/>
          <a:p>
            <a:pPr algn="ctr"/>
            <a:r>
              <a:rPr sz="2200" b="1" i="0">
                <a:solidFill>
                  <a:srgbClr val="FFFFFF"/>
                </a:solidFill>
                <a:latin typeface="Menlo"/>
              </a:rPr>
              <a:t>252</a:t>
            </a:r>
          </a:p>
        </p:txBody>
      </p:sp>
      <p:sp>
        <p:nvSpPr>
          <p:cNvPr id="15" name="TextBox 14"/>
          <p:cNvSpPr txBox="1"/>
          <p:nvPr/>
        </p:nvSpPr>
        <p:spPr>
          <a:xfrm>
            <a:off x="2602839" y="3337560"/>
            <a:ext cx="1417320" cy="320040"/>
          </a:xfrm>
          <a:prstGeom prst="rect">
            <a:avLst/>
          </a:prstGeom>
          <a:noFill/>
        </p:spPr>
        <p:txBody>
          <a:bodyPr wrap="square" lIns="0" rIns="0" tIns="0" bIns="0" anchor="t">
            <a:spAutoFit/>
          </a:bodyPr>
          <a:lstStyle/>
          <a:p>
            <a:pPr algn="ctr"/>
            <a:r>
              <a:rPr sz="800" b="1" i="0" spc="150">
                <a:solidFill>
                  <a:srgbClr val="999999"/>
                </a:solidFill>
                <a:latin typeface="Helvetica Neue"/>
              </a:rPr>
              <a:t>ORDERS · 30 DAYS</a:t>
            </a:r>
          </a:p>
        </p:txBody>
      </p:sp>
      <p:sp>
        <p:nvSpPr>
          <p:cNvPr id="16" name="Rounded Rectangle 15"/>
          <p:cNvSpPr/>
          <p:nvPr/>
        </p:nvSpPr>
        <p:spPr>
          <a:xfrm>
            <a:off x="4321911" y="2377440"/>
            <a:ext cx="1691640" cy="13716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1911" y="2743200"/>
            <a:ext cx="1691640" cy="548640"/>
          </a:xfrm>
          <a:prstGeom prst="rect">
            <a:avLst/>
          </a:prstGeom>
          <a:noFill/>
        </p:spPr>
        <p:txBody>
          <a:bodyPr wrap="square" lIns="0" rIns="0" tIns="0" bIns="0" anchor="t">
            <a:spAutoFit/>
          </a:bodyPr>
          <a:lstStyle/>
          <a:p>
            <a:pPr algn="ctr"/>
            <a:r>
              <a:rPr sz="2200" b="1" i="0">
                <a:solidFill>
                  <a:srgbClr val="FFFFFF"/>
                </a:solidFill>
                <a:latin typeface="Menlo"/>
              </a:rPr>
              <a:t>3.813 kr</a:t>
            </a:r>
          </a:p>
        </p:txBody>
      </p:sp>
      <p:sp>
        <p:nvSpPr>
          <p:cNvPr id="18" name="TextBox 17"/>
          <p:cNvSpPr txBox="1"/>
          <p:nvPr/>
        </p:nvSpPr>
        <p:spPr>
          <a:xfrm>
            <a:off x="4459071" y="3337560"/>
            <a:ext cx="1417320" cy="320040"/>
          </a:xfrm>
          <a:prstGeom prst="rect">
            <a:avLst/>
          </a:prstGeom>
          <a:noFill/>
        </p:spPr>
        <p:txBody>
          <a:bodyPr wrap="square" lIns="0" rIns="0" tIns="0" bIns="0" anchor="t">
            <a:spAutoFit/>
          </a:bodyPr>
          <a:lstStyle/>
          <a:p>
            <a:pPr algn="ctr"/>
            <a:r>
              <a:rPr sz="800" b="1" i="0" spc="150">
                <a:solidFill>
                  <a:srgbClr val="999999"/>
                </a:solidFill>
                <a:latin typeface="Helvetica Neue"/>
              </a:rPr>
              <a:t>AVG ORDER VALUE</a:t>
            </a:r>
          </a:p>
        </p:txBody>
      </p:sp>
      <p:sp>
        <p:nvSpPr>
          <p:cNvPr id="19" name="Rounded Rectangle 18"/>
          <p:cNvSpPr/>
          <p:nvPr/>
        </p:nvSpPr>
        <p:spPr>
          <a:xfrm>
            <a:off x="6178143" y="2377440"/>
            <a:ext cx="1691640" cy="13716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8143" y="2743200"/>
            <a:ext cx="1691640" cy="548640"/>
          </a:xfrm>
          <a:prstGeom prst="rect">
            <a:avLst/>
          </a:prstGeom>
          <a:noFill/>
        </p:spPr>
        <p:txBody>
          <a:bodyPr wrap="square" lIns="0" rIns="0" tIns="0" bIns="0" anchor="t">
            <a:spAutoFit/>
          </a:bodyPr>
          <a:lstStyle/>
          <a:p>
            <a:pPr algn="ctr"/>
            <a:r>
              <a:rPr sz="2200" b="1" i="0">
                <a:solidFill>
                  <a:srgbClr val="FFFFFF"/>
                </a:solidFill>
                <a:latin typeface="Menlo"/>
              </a:rPr>
              <a:t>1,77 %</a:t>
            </a:r>
          </a:p>
        </p:txBody>
      </p:sp>
      <p:sp>
        <p:nvSpPr>
          <p:cNvPr id="21" name="TextBox 20"/>
          <p:cNvSpPr txBox="1"/>
          <p:nvPr/>
        </p:nvSpPr>
        <p:spPr>
          <a:xfrm>
            <a:off x="6315303" y="3337560"/>
            <a:ext cx="1417320" cy="320040"/>
          </a:xfrm>
          <a:prstGeom prst="rect">
            <a:avLst/>
          </a:prstGeom>
          <a:noFill/>
        </p:spPr>
        <p:txBody>
          <a:bodyPr wrap="square" lIns="0" rIns="0" tIns="0" bIns="0" anchor="t">
            <a:spAutoFit/>
          </a:bodyPr>
          <a:lstStyle/>
          <a:p>
            <a:pPr algn="ctr"/>
            <a:r>
              <a:rPr sz="800" b="1" i="0" spc="150">
                <a:solidFill>
                  <a:srgbClr val="999999"/>
                </a:solidFill>
                <a:latin typeface="Helvetica Neue"/>
              </a:rPr>
              <a:t>SITE CONVERSION RATE</a:t>
            </a:r>
          </a:p>
        </p:txBody>
      </p:sp>
      <p:sp>
        <p:nvSpPr>
          <p:cNvPr id="22" name="Rounded Rectangle 21"/>
          <p:cNvSpPr/>
          <p:nvPr/>
        </p:nvSpPr>
        <p:spPr>
          <a:xfrm>
            <a:off x="8034375" y="2377440"/>
            <a:ext cx="1691640" cy="13716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34375" y="2743200"/>
            <a:ext cx="1691640" cy="548640"/>
          </a:xfrm>
          <a:prstGeom prst="rect">
            <a:avLst/>
          </a:prstGeom>
          <a:noFill/>
        </p:spPr>
        <p:txBody>
          <a:bodyPr wrap="square" lIns="0" rIns="0" tIns="0" bIns="0" anchor="t">
            <a:spAutoFit/>
          </a:bodyPr>
          <a:lstStyle/>
          <a:p>
            <a:pPr algn="ctr"/>
            <a:r>
              <a:rPr sz="2200" b="1" i="0">
                <a:solidFill>
                  <a:srgbClr val="EF4444"/>
                </a:solidFill>
                <a:latin typeface="Menlo"/>
              </a:rPr>
              <a:t>96 %</a:t>
            </a:r>
          </a:p>
        </p:txBody>
      </p:sp>
      <p:sp>
        <p:nvSpPr>
          <p:cNvPr id="24" name="TextBox 23"/>
          <p:cNvSpPr txBox="1"/>
          <p:nvPr/>
        </p:nvSpPr>
        <p:spPr>
          <a:xfrm>
            <a:off x="8171535" y="3337560"/>
            <a:ext cx="1417320" cy="320040"/>
          </a:xfrm>
          <a:prstGeom prst="rect">
            <a:avLst/>
          </a:prstGeom>
          <a:noFill/>
        </p:spPr>
        <p:txBody>
          <a:bodyPr wrap="square" lIns="0" rIns="0" tIns="0" bIns="0" anchor="t">
            <a:spAutoFit/>
          </a:bodyPr>
          <a:lstStyle/>
          <a:p>
            <a:pPr algn="ctr"/>
            <a:r>
              <a:rPr sz="800" b="1" i="0" spc="150">
                <a:solidFill>
                  <a:srgbClr val="999999"/>
                </a:solidFill>
                <a:latin typeface="Helvetica Neue"/>
              </a:rPr>
              <a:t>SESSIONS TO ATC DROP</a:t>
            </a:r>
          </a:p>
        </p:txBody>
      </p:sp>
      <p:sp>
        <p:nvSpPr>
          <p:cNvPr id="25" name="Rounded Rectangle 24"/>
          <p:cNvSpPr/>
          <p:nvPr/>
        </p:nvSpPr>
        <p:spPr>
          <a:xfrm>
            <a:off x="9890607" y="2377440"/>
            <a:ext cx="1691640" cy="1371600"/>
          </a:xfrm>
          <a:prstGeom prst="roundRect">
            <a:avLst>
              <a:gd name="adj" fmla="val 8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90607" y="2743200"/>
            <a:ext cx="1691640" cy="548640"/>
          </a:xfrm>
          <a:prstGeom prst="rect">
            <a:avLst/>
          </a:prstGeom>
          <a:noFill/>
        </p:spPr>
        <p:txBody>
          <a:bodyPr wrap="square" lIns="0" rIns="0" tIns="0" bIns="0" anchor="t">
            <a:spAutoFit/>
          </a:bodyPr>
          <a:lstStyle/>
          <a:p>
            <a:pPr algn="ctr"/>
            <a:r>
              <a:rPr sz="2200" b="1" i="0">
                <a:solidFill>
                  <a:srgbClr val="FFFFFF"/>
                </a:solidFill>
                <a:latin typeface="Menlo"/>
              </a:rPr>
              <a:t>9.510</a:t>
            </a:r>
          </a:p>
        </p:txBody>
      </p:sp>
      <p:sp>
        <p:nvSpPr>
          <p:cNvPr id="27" name="TextBox 26"/>
          <p:cNvSpPr txBox="1"/>
          <p:nvPr/>
        </p:nvSpPr>
        <p:spPr>
          <a:xfrm>
            <a:off x="10027767" y="3337560"/>
            <a:ext cx="1417320" cy="320040"/>
          </a:xfrm>
          <a:prstGeom prst="rect">
            <a:avLst/>
          </a:prstGeom>
          <a:noFill/>
        </p:spPr>
        <p:txBody>
          <a:bodyPr wrap="square" lIns="0" rIns="0" tIns="0" bIns="0" anchor="t">
            <a:spAutoFit/>
          </a:bodyPr>
          <a:lstStyle/>
          <a:p>
            <a:pPr algn="ctr"/>
            <a:r>
              <a:rPr sz="800" b="1" i="0" spc="150">
                <a:solidFill>
                  <a:srgbClr val="999999"/>
                </a:solidFill>
                <a:latin typeface="Helvetica Neue"/>
              </a:rPr>
              <a:t>SESSIONS · 30 DAYS</a:t>
            </a:r>
          </a:p>
        </p:txBody>
      </p:sp>
      <p:sp>
        <p:nvSpPr>
          <p:cNvPr id="28" name="TextBox 27"/>
          <p:cNvSpPr txBox="1"/>
          <p:nvPr/>
        </p:nvSpPr>
        <p:spPr>
          <a:xfrm>
            <a:off x="1371600" y="4160520"/>
            <a:ext cx="9418320" cy="274320"/>
          </a:xfrm>
          <a:prstGeom prst="rect">
            <a:avLst/>
          </a:prstGeom>
          <a:noFill/>
        </p:spPr>
        <p:txBody>
          <a:bodyPr wrap="square" lIns="0" rIns="0" tIns="0" bIns="0" anchor="t">
            <a:spAutoFit/>
          </a:bodyPr>
          <a:lstStyle/>
          <a:p>
            <a:pPr algn="ctr"/>
            <a:r>
              <a:rPr sz="1000" b="1" i="0" spc="200">
                <a:solidFill>
                  <a:srgbClr val="999999"/>
                </a:solidFill>
                <a:latin typeface="Helvetica Neue"/>
              </a:rPr>
              <a:t>MONTHLY UPLIFT OPPORTUNITY</a:t>
            </a:r>
          </a:p>
        </p:txBody>
      </p:sp>
      <p:sp>
        <p:nvSpPr>
          <p:cNvPr id="29" name="TextBox 28"/>
          <p:cNvSpPr txBox="1"/>
          <p:nvPr/>
        </p:nvSpPr>
        <p:spPr>
          <a:xfrm>
            <a:off x="1371600" y="4453128"/>
            <a:ext cx="9418320" cy="548640"/>
          </a:xfrm>
          <a:prstGeom prst="rect">
            <a:avLst/>
          </a:prstGeom>
          <a:noFill/>
        </p:spPr>
        <p:txBody>
          <a:bodyPr wrap="square" lIns="0" rIns="0" tIns="0" bIns="0" anchor="t">
            <a:spAutoFit/>
          </a:bodyPr>
          <a:lstStyle/>
          <a:p>
            <a:pPr algn="ctr"/>
            <a:r>
              <a:rPr sz="2800" b="1" i="0">
                <a:solidFill>
                  <a:srgbClr val="F7D007"/>
                </a:solidFill>
                <a:latin typeface="Menlo"/>
              </a:rPr>
              <a:t>253.000 to 469.000 kr / month  ·  +25 % to +47 %</a:t>
            </a:r>
          </a:p>
        </p:txBody>
      </p:sp>
      <p:sp>
        <p:nvSpPr>
          <p:cNvPr id="30" name="Rounded Rectangle 29"/>
          <p:cNvSpPr/>
          <p:nvPr/>
        </p:nvSpPr>
        <p:spPr>
          <a:xfrm>
            <a:off x="1371600" y="5440680"/>
            <a:ext cx="9418320" cy="7772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5577840"/>
            <a:ext cx="8961120" cy="5029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leak is on the PDP. </a:t>
            </a:r>
            <a:r>
              <a:rPr sz="1100" b="0" i="0">
                <a:solidFill>
                  <a:srgbClr val="CCCCCC"/>
                </a:solidFill>
                <a:latin typeface="Helvetica Neue"/>
              </a:rPr>
              <a:t>Over 30 days, 9.151 sessions hit the site and never added to cart (96 % drop). Three of the top five opportunities target that exact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03</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OVERVIEW</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3000" b="1" i="0" spc="-50">
                <a:solidFill>
                  <a:srgbClr val="FFFFFF"/>
                </a:solidFill>
                <a:latin typeface="Helvetica Neue"/>
              </a:rPr>
              <a:t>The opportunity landscape</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Nine opportunities grouped into three priority buckets. Fix the PDP buy box, social proof, and financing first.</a:t>
            </a:r>
          </a:p>
        </p:txBody>
      </p:sp>
      <p:sp>
        <p:nvSpPr>
          <p:cNvPr id="10" name="Rounded Rectangle 9"/>
          <p:cNvSpPr/>
          <p:nvPr/>
        </p:nvSpPr>
        <p:spPr>
          <a:xfrm>
            <a:off x="640080" y="2606040"/>
            <a:ext cx="6400800"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34640"/>
            <a:ext cx="5852160" cy="274320"/>
          </a:xfrm>
          <a:prstGeom prst="rect">
            <a:avLst/>
          </a:prstGeom>
          <a:noFill/>
        </p:spPr>
        <p:txBody>
          <a:bodyPr wrap="square" lIns="0" rIns="0" tIns="0" bIns="0" anchor="t">
            <a:spAutoFit/>
          </a:bodyPr>
          <a:lstStyle/>
          <a:p>
            <a:pPr algn="l"/>
            <a:r>
              <a:rPr sz="1000" b="1" i="0" spc="200">
                <a:solidFill>
                  <a:srgbClr val="F7D007"/>
                </a:solidFill>
                <a:latin typeface="Helvetica Neue"/>
              </a:rPr>
              <a:t>PHASE IMPACT</a:t>
            </a:r>
          </a:p>
        </p:txBody>
      </p:sp>
      <p:sp>
        <p:nvSpPr>
          <p:cNvPr id="12" name="TextBox 11"/>
          <p:cNvSpPr txBox="1"/>
          <p:nvPr/>
        </p:nvSpPr>
        <p:spPr>
          <a:xfrm>
            <a:off x="914400" y="3337560"/>
            <a:ext cx="2286000" cy="274320"/>
          </a:xfrm>
          <a:prstGeom prst="rect">
            <a:avLst/>
          </a:prstGeom>
          <a:noFill/>
        </p:spPr>
        <p:txBody>
          <a:bodyPr wrap="square" lIns="0" rIns="0" tIns="0" bIns="0" anchor="t">
            <a:spAutoFit/>
          </a:bodyPr>
          <a:lstStyle/>
          <a:p>
            <a:pPr algn="l"/>
            <a:r>
              <a:rPr sz="1000" b="1" i="0">
                <a:solidFill>
                  <a:srgbClr val="CCCCCC"/>
                </a:solidFill>
                <a:latin typeface="Helvetica Neue"/>
              </a:rPr>
              <a:t>Critical · Week 1 to 2</a:t>
            </a:r>
          </a:p>
        </p:txBody>
      </p:sp>
      <p:sp>
        <p:nvSpPr>
          <p:cNvPr id="13" name="Rounded Rectangle 12"/>
          <p:cNvSpPr/>
          <p:nvPr/>
        </p:nvSpPr>
        <p:spPr>
          <a:xfrm>
            <a:off x="914400" y="3657600"/>
            <a:ext cx="5852160" cy="365760"/>
          </a:xfrm>
          <a:prstGeom prst="roundRect">
            <a:avLst>
              <a:gd name="adj" fmla="val 2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3657600"/>
            <a:ext cx="5852160" cy="365760"/>
          </a:xfrm>
          <a:prstGeom prst="roundRect">
            <a:avLst>
              <a:gd name="adj" fmla="val 2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657600"/>
            <a:ext cx="5486400" cy="365760"/>
          </a:xfrm>
          <a:prstGeom prst="rect">
            <a:avLst/>
          </a:prstGeom>
          <a:noFill/>
        </p:spPr>
        <p:txBody>
          <a:bodyPr wrap="square" lIns="0" rIns="0" tIns="0" bIns="0" anchor="ctr">
            <a:spAutoFit/>
          </a:bodyPr>
          <a:lstStyle/>
          <a:p>
            <a:pPr algn="l"/>
            <a:r>
              <a:rPr sz="1100" b="1" i="0">
                <a:solidFill>
                  <a:srgbClr val="FFFFFF"/>
                </a:solidFill>
                <a:latin typeface="Menlo"/>
              </a:rPr>
              <a:t>100.000 to 180.000 kr / month</a:t>
            </a:r>
          </a:p>
        </p:txBody>
      </p:sp>
      <p:sp>
        <p:nvSpPr>
          <p:cNvPr id="16" name="TextBox 15"/>
          <p:cNvSpPr txBox="1"/>
          <p:nvPr/>
        </p:nvSpPr>
        <p:spPr>
          <a:xfrm>
            <a:off x="914400" y="4206240"/>
            <a:ext cx="2286000" cy="274320"/>
          </a:xfrm>
          <a:prstGeom prst="rect">
            <a:avLst/>
          </a:prstGeom>
          <a:noFill/>
        </p:spPr>
        <p:txBody>
          <a:bodyPr wrap="square" lIns="0" rIns="0" tIns="0" bIns="0" anchor="t">
            <a:spAutoFit/>
          </a:bodyPr>
          <a:lstStyle/>
          <a:p>
            <a:pPr algn="l"/>
            <a:r>
              <a:rPr sz="1000" b="1" i="0">
                <a:solidFill>
                  <a:srgbClr val="CCCCCC"/>
                </a:solidFill>
                <a:latin typeface="Helvetica Neue"/>
              </a:rPr>
              <a:t>High value · Week 3 to 6</a:t>
            </a:r>
          </a:p>
        </p:txBody>
      </p:sp>
      <p:sp>
        <p:nvSpPr>
          <p:cNvPr id="17" name="Rounded Rectangle 16"/>
          <p:cNvSpPr/>
          <p:nvPr/>
        </p:nvSpPr>
        <p:spPr>
          <a:xfrm>
            <a:off x="914400" y="4526280"/>
            <a:ext cx="5852160" cy="365760"/>
          </a:xfrm>
          <a:prstGeom prst="roundRect">
            <a:avLst>
              <a:gd name="adj" fmla="val 2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4526280"/>
            <a:ext cx="5852160" cy="365760"/>
          </a:xfrm>
          <a:prstGeom prst="roundRect">
            <a:avLst>
              <a:gd name="adj" fmla="val 2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526280"/>
            <a:ext cx="5486400" cy="365760"/>
          </a:xfrm>
          <a:prstGeom prst="rect">
            <a:avLst/>
          </a:prstGeom>
          <a:noFill/>
        </p:spPr>
        <p:txBody>
          <a:bodyPr wrap="square" lIns="0" rIns="0" tIns="0" bIns="0" anchor="ctr">
            <a:spAutoFit/>
          </a:bodyPr>
          <a:lstStyle/>
          <a:p>
            <a:pPr algn="l"/>
            <a:r>
              <a:rPr sz="1100" b="1" i="0">
                <a:solidFill>
                  <a:srgbClr val="FFFFFF"/>
                </a:solidFill>
                <a:latin typeface="Menlo"/>
              </a:rPr>
              <a:t>123.000 to 232.000 kr / month</a:t>
            </a:r>
          </a:p>
        </p:txBody>
      </p:sp>
      <p:sp>
        <p:nvSpPr>
          <p:cNvPr id="20" name="TextBox 19"/>
          <p:cNvSpPr txBox="1"/>
          <p:nvPr/>
        </p:nvSpPr>
        <p:spPr>
          <a:xfrm>
            <a:off x="914400" y="5074920"/>
            <a:ext cx="2286000" cy="274320"/>
          </a:xfrm>
          <a:prstGeom prst="rect">
            <a:avLst/>
          </a:prstGeom>
          <a:noFill/>
        </p:spPr>
        <p:txBody>
          <a:bodyPr wrap="square" lIns="0" rIns="0" tIns="0" bIns="0" anchor="t">
            <a:spAutoFit/>
          </a:bodyPr>
          <a:lstStyle/>
          <a:p>
            <a:pPr algn="l"/>
            <a:r>
              <a:rPr sz="1000" b="1" i="0">
                <a:solidFill>
                  <a:srgbClr val="CCCCCC"/>
                </a:solidFill>
                <a:latin typeface="Helvetica Neue"/>
              </a:rPr>
              <a:t>Optimize · Week 7 to 12</a:t>
            </a:r>
          </a:p>
        </p:txBody>
      </p:sp>
      <p:sp>
        <p:nvSpPr>
          <p:cNvPr id="21" name="Rounded Rectangle 20"/>
          <p:cNvSpPr/>
          <p:nvPr/>
        </p:nvSpPr>
        <p:spPr>
          <a:xfrm>
            <a:off x="914400" y="5394960"/>
            <a:ext cx="5852160" cy="365760"/>
          </a:xfrm>
          <a:prstGeom prst="roundRect">
            <a:avLst>
              <a:gd name="adj" fmla="val 2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5394960"/>
            <a:ext cx="1755648" cy="365760"/>
          </a:xfrm>
          <a:prstGeom prst="roundRect">
            <a:avLst>
              <a:gd name="adj" fmla="val 20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394960"/>
            <a:ext cx="5486400" cy="365760"/>
          </a:xfrm>
          <a:prstGeom prst="rect">
            <a:avLst/>
          </a:prstGeom>
          <a:noFill/>
        </p:spPr>
        <p:txBody>
          <a:bodyPr wrap="square" lIns="0" rIns="0" tIns="0" bIns="0" anchor="ctr">
            <a:spAutoFit/>
          </a:bodyPr>
          <a:lstStyle/>
          <a:p>
            <a:pPr algn="l"/>
            <a:r>
              <a:rPr sz="1100" b="1" i="0">
                <a:solidFill>
                  <a:srgbClr val="FFFFFF"/>
                </a:solidFill>
                <a:latin typeface="Menlo"/>
              </a:rPr>
              <a:t>30.000 to 57.000 kr / month</a:t>
            </a:r>
          </a:p>
        </p:txBody>
      </p:sp>
      <p:sp>
        <p:nvSpPr>
          <p:cNvPr id="24" name="Rounded Rectangle 23"/>
          <p:cNvSpPr/>
          <p:nvPr/>
        </p:nvSpPr>
        <p:spPr>
          <a:xfrm>
            <a:off x="7223760" y="2606040"/>
            <a:ext cx="4327855"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0" y="2834640"/>
            <a:ext cx="3779215" cy="274320"/>
          </a:xfrm>
          <a:prstGeom prst="rect">
            <a:avLst/>
          </a:prstGeom>
          <a:noFill/>
        </p:spPr>
        <p:txBody>
          <a:bodyPr wrap="square" lIns="0" rIns="0" tIns="0" bIns="0" anchor="t">
            <a:spAutoFit/>
          </a:bodyPr>
          <a:lstStyle/>
          <a:p>
            <a:pPr algn="l"/>
            <a:r>
              <a:rPr sz="1000" b="1" i="0" spc="200">
                <a:solidFill>
                  <a:srgbClr val="F7D007"/>
                </a:solidFill>
                <a:latin typeface="Helvetica Neue"/>
              </a:rPr>
              <a:t>TOP 5 LEVERS</a:t>
            </a:r>
          </a:p>
        </p:txBody>
      </p:sp>
      <p:sp>
        <p:nvSpPr>
          <p:cNvPr id="26" name="Oval 25"/>
          <p:cNvSpPr/>
          <p:nvPr/>
        </p:nvSpPr>
        <p:spPr>
          <a:xfrm>
            <a:off x="7498080" y="3291840"/>
            <a:ext cx="292608" cy="29260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0" y="3291840"/>
            <a:ext cx="292608" cy="292608"/>
          </a:xfrm>
          <a:prstGeom prst="rect">
            <a:avLst/>
          </a:prstGeom>
          <a:noFill/>
        </p:spPr>
        <p:txBody>
          <a:bodyPr wrap="square" lIns="0" rIns="0" tIns="0" bIns="0" anchor="ctr">
            <a:spAutoFit/>
          </a:bodyPr>
          <a:lstStyle/>
          <a:p>
            <a:pPr algn="ctr"/>
            <a:r>
              <a:rPr sz="1100" b="1" i="0">
                <a:solidFill>
                  <a:srgbClr val="F7D007"/>
                </a:solidFill>
                <a:latin typeface="Menlo"/>
              </a:rPr>
              <a:t>1</a:t>
            </a:r>
          </a:p>
        </p:txBody>
      </p:sp>
      <p:sp>
        <p:nvSpPr>
          <p:cNvPr id="28" name="TextBox 27"/>
          <p:cNvSpPr txBox="1"/>
          <p:nvPr/>
        </p:nvSpPr>
        <p:spPr>
          <a:xfrm>
            <a:off x="7909560" y="3246120"/>
            <a:ext cx="2453336" cy="365760"/>
          </a:xfrm>
          <a:prstGeom prst="rect">
            <a:avLst/>
          </a:prstGeom>
          <a:noFill/>
        </p:spPr>
        <p:txBody>
          <a:bodyPr wrap="square" lIns="0" rIns="0" tIns="0" bIns="0" anchor="ctr">
            <a:spAutoFit/>
          </a:bodyPr>
          <a:lstStyle/>
          <a:p>
            <a:pPr algn="l"/>
            <a:r>
              <a:rPr sz="1100" b="0" i="0">
                <a:solidFill>
                  <a:srgbClr val="CCCCCC"/>
                </a:solidFill>
                <a:latin typeface="Helvetica Neue"/>
              </a:rPr>
              <a:t>PDP buy box rebuild · SG-02</a:t>
            </a:r>
          </a:p>
        </p:txBody>
      </p:sp>
      <p:sp>
        <p:nvSpPr>
          <p:cNvPr id="29" name="TextBox 28"/>
          <p:cNvSpPr txBox="1"/>
          <p:nvPr/>
        </p:nvSpPr>
        <p:spPr>
          <a:xfrm>
            <a:off x="10271455" y="3246120"/>
            <a:ext cx="1097280" cy="365760"/>
          </a:xfrm>
          <a:prstGeom prst="rect">
            <a:avLst/>
          </a:prstGeom>
          <a:noFill/>
        </p:spPr>
        <p:txBody>
          <a:bodyPr wrap="square" lIns="0" rIns="0" tIns="0" bIns="0" anchor="ctr">
            <a:spAutoFit/>
          </a:bodyPr>
          <a:lstStyle/>
          <a:p>
            <a:pPr algn="r"/>
            <a:r>
              <a:rPr sz="1100" b="1" i="0">
                <a:solidFill>
                  <a:srgbClr val="F7D007"/>
                </a:solidFill>
                <a:latin typeface="Menlo"/>
              </a:rPr>
              <a:t>65K to 120K</a:t>
            </a:r>
          </a:p>
        </p:txBody>
      </p:sp>
      <p:sp>
        <p:nvSpPr>
          <p:cNvPr id="30" name="Oval 29"/>
          <p:cNvSpPr/>
          <p:nvPr/>
        </p:nvSpPr>
        <p:spPr>
          <a:xfrm>
            <a:off x="7498080" y="3794760"/>
            <a:ext cx="292608" cy="29260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0" y="3794760"/>
            <a:ext cx="292608" cy="292608"/>
          </a:xfrm>
          <a:prstGeom prst="rect">
            <a:avLst/>
          </a:prstGeom>
          <a:noFill/>
        </p:spPr>
        <p:txBody>
          <a:bodyPr wrap="square" lIns="0" rIns="0" tIns="0" bIns="0" anchor="ctr">
            <a:spAutoFit/>
          </a:bodyPr>
          <a:lstStyle/>
          <a:p>
            <a:pPr algn="ctr"/>
            <a:r>
              <a:rPr sz="1100" b="1" i="0">
                <a:solidFill>
                  <a:srgbClr val="F7D007"/>
                </a:solidFill>
                <a:latin typeface="Menlo"/>
              </a:rPr>
              <a:t>2</a:t>
            </a:r>
          </a:p>
        </p:txBody>
      </p:sp>
      <p:sp>
        <p:nvSpPr>
          <p:cNvPr id="32" name="TextBox 31"/>
          <p:cNvSpPr txBox="1"/>
          <p:nvPr/>
        </p:nvSpPr>
        <p:spPr>
          <a:xfrm>
            <a:off x="7909560" y="3749040"/>
            <a:ext cx="2453336" cy="365760"/>
          </a:xfrm>
          <a:prstGeom prst="rect">
            <a:avLst/>
          </a:prstGeom>
          <a:noFill/>
        </p:spPr>
        <p:txBody>
          <a:bodyPr wrap="square" lIns="0" rIns="0" tIns="0" bIns="0" anchor="ctr">
            <a:spAutoFit/>
          </a:bodyPr>
          <a:lstStyle/>
          <a:p>
            <a:pPr algn="l"/>
            <a:r>
              <a:rPr sz="1100" b="0" i="0">
                <a:solidFill>
                  <a:srgbClr val="CCCCCC"/>
                </a:solidFill>
                <a:latin typeface="Helvetica Neue"/>
              </a:rPr>
              <a:t>Hero rebuild · category led · SG-01</a:t>
            </a:r>
          </a:p>
        </p:txBody>
      </p:sp>
      <p:sp>
        <p:nvSpPr>
          <p:cNvPr id="33" name="TextBox 32"/>
          <p:cNvSpPr txBox="1"/>
          <p:nvPr/>
        </p:nvSpPr>
        <p:spPr>
          <a:xfrm>
            <a:off x="10271455" y="3749040"/>
            <a:ext cx="1097280" cy="365760"/>
          </a:xfrm>
          <a:prstGeom prst="rect">
            <a:avLst/>
          </a:prstGeom>
          <a:noFill/>
        </p:spPr>
        <p:txBody>
          <a:bodyPr wrap="square" lIns="0" rIns="0" tIns="0" bIns="0" anchor="ctr">
            <a:spAutoFit/>
          </a:bodyPr>
          <a:lstStyle/>
          <a:p>
            <a:pPr algn="r"/>
            <a:r>
              <a:rPr sz="1100" b="1" i="0">
                <a:solidFill>
                  <a:srgbClr val="F7D007"/>
                </a:solidFill>
                <a:latin typeface="Menlo"/>
              </a:rPr>
              <a:t>28K to 55K</a:t>
            </a:r>
          </a:p>
        </p:txBody>
      </p:sp>
      <p:sp>
        <p:nvSpPr>
          <p:cNvPr id="34" name="Oval 33"/>
          <p:cNvSpPr/>
          <p:nvPr/>
        </p:nvSpPr>
        <p:spPr>
          <a:xfrm>
            <a:off x="7498080" y="4297680"/>
            <a:ext cx="292608" cy="29260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0" y="4297680"/>
            <a:ext cx="292608" cy="292608"/>
          </a:xfrm>
          <a:prstGeom prst="rect">
            <a:avLst/>
          </a:prstGeom>
          <a:noFill/>
        </p:spPr>
        <p:txBody>
          <a:bodyPr wrap="square" lIns="0" rIns="0" tIns="0" bIns="0" anchor="ctr">
            <a:spAutoFit/>
          </a:bodyPr>
          <a:lstStyle/>
          <a:p>
            <a:pPr algn="ctr"/>
            <a:r>
              <a:rPr sz="1100" b="1" i="0">
                <a:solidFill>
                  <a:srgbClr val="F7D007"/>
                </a:solidFill>
                <a:latin typeface="Menlo"/>
              </a:rPr>
              <a:t>3</a:t>
            </a:r>
          </a:p>
        </p:txBody>
      </p:sp>
      <p:sp>
        <p:nvSpPr>
          <p:cNvPr id="36" name="TextBox 35"/>
          <p:cNvSpPr txBox="1"/>
          <p:nvPr/>
        </p:nvSpPr>
        <p:spPr>
          <a:xfrm>
            <a:off x="7909560" y="4251960"/>
            <a:ext cx="2453336" cy="365760"/>
          </a:xfrm>
          <a:prstGeom prst="rect">
            <a:avLst/>
          </a:prstGeom>
          <a:noFill/>
        </p:spPr>
        <p:txBody>
          <a:bodyPr wrap="square" lIns="0" rIns="0" tIns="0" bIns="0" anchor="ctr">
            <a:spAutoFit/>
          </a:bodyPr>
          <a:lstStyle/>
          <a:p>
            <a:pPr algn="l"/>
            <a:r>
              <a:rPr sz="1100" b="0" i="0">
                <a:solidFill>
                  <a:srgbClr val="CCCCCC"/>
                </a:solidFill>
                <a:latin typeface="Helvetica Neue"/>
              </a:rPr>
              <a:t>Accessories cross sell · SG-03</a:t>
            </a:r>
          </a:p>
        </p:txBody>
      </p:sp>
      <p:sp>
        <p:nvSpPr>
          <p:cNvPr id="37" name="TextBox 36"/>
          <p:cNvSpPr txBox="1"/>
          <p:nvPr/>
        </p:nvSpPr>
        <p:spPr>
          <a:xfrm>
            <a:off x="10271455" y="4251960"/>
            <a:ext cx="1097280" cy="365760"/>
          </a:xfrm>
          <a:prstGeom prst="rect">
            <a:avLst/>
          </a:prstGeom>
          <a:noFill/>
        </p:spPr>
        <p:txBody>
          <a:bodyPr wrap="square" lIns="0" rIns="0" tIns="0" bIns="0" anchor="ctr">
            <a:spAutoFit/>
          </a:bodyPr>
          <a:lstStyle/>
          <a:p>
            <a:pPr algn="r"/>
            <a:r>
              <a:rPr sz="1100" b="1" i="0">
                <a:solidFill>
                  <a:srgbClr val="F7D007"/>
                </a:solidFill>
                <a:latin typeface="Menlo"/>
              </a:rPr>
              <a:t>18K to 35K</a:t>
            </a:r>
          </a:p>
        </p:txBody>
      </p:sp>
      <p:sp>
        <p:nvSpPr>
          <p:cNvPr id="38" name="Oval 37"/>
          <p:cNvSpPr/>
          <p:nvPr/>
        </p:nvSpPr>
        <p:spPr>
          <a:xfrm>
            <a:off x="7498080" y="4800600"/>
            <a:ext cx="292608" cy="29260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8080" y="4800600"/>
            <a:ext cx="292608" cy="292608"/>
          </a:xfrm>
          <a:prstGeom prst="rect">
            <a:avLst/>
          </a:prstGeom>
          <a:noFill/>
        </p:spPr>
        <p:txBody>
          <a:bodyPr wrap="square" lIns="0" rIns="0" tIns="0" bIns="0" anchor="ctr">
            <a:spAutoFit/>
          </a:bodyPr>
          <a:lstStyle/>
          <a:p>
            <a:pPr algn="ctr"/>
            <a:r>
              <a:rPr sz="1100" b="1" i="0">
                <a:solidFill>
                  <a:srgbClr val="F7D007"/>
                </a:solidFill>
                <a:latin typeface="Menlo"/>
              </a:rPr>
              <a:t>4</a:t>
            </a:r>
          </a:p>
        </p:txBody>
      </p:sp>
      <p:sp>
        <p:nvSpPr>
          <p:cNvPr id="40" name="TextBox 39"/>
          <p:cNvSpPr txBox="1"/>
          <p:nvPr/>
        </p:nvSpPr>
        <p:spPr>
          <a:xfrm>
            <a:off x="7909560" y="4754880"/>
            <a:ext cx="2453336" cy="365760"/>
          </a:xfrm>
          <a:prstGeom prst="rect">
            <a:avLst/>
          </a:prstGeom>
          <a:noFill/>
        </p:spPr>
        <p:txBody>
          <a:bodyPr wrap="square" lIns="0" rIns="0" tIns="0" bIns="0" anchor="ctr">
            <a:spAutoFit/>
          </a:bodyPr>
          <a:lstStyle/>
          <a:p>
            <a:pPr algn="l"/>
            <a:r>
              <a:rPr sz="1100" b="0" i="0">
                <a:solidFill>
                  <a:srgbClr val="CCCCCC"/>
                </a:solidFill>
                <a:latin typeface="Helvetica Neue"/>
              </a:rPr>
              <a:t>Klarna or ViaBill on PDP</a:t>
            </a:r>
          </a:p>
        </p:txBody>
      </p:sp>
      <p:sp>
        <p:nvSpPr>
          <p:cNvPr id="41" name="TextBox 40"/>
          <p:cNvSpPr txBox="1"/>
          <p:nvPr/>
        </p:nvSpPr>
        <p:spPr>
          <a:xfrm>
            <a:off x="10271455" y="4754880"/>
            <a:ext cx="1097280" cy="365760"/>
          </a:xfrm>
          <a:prstGeom prst="rect">
            <a:avLst/>
          </a:prstGeom>
          <a:noFill/>
        </p:spPr>
        <p:txBody>
          <a:bodyPr wrap="square" lIns="0" rIns="0" tIns="0" bIns="0" anchor="ctr">
            <a:spAutoFit/>
          </a:bodyPr>
          <a:lstStyle/>
          <a:p>
            <a:pPr algn="r"/>
            <a:r>
              <a:rPr sz="1100" b="1" i="0">
                <a:solidFill>
                  <a:srgbClr val="F7D007"/>
                </a:solidFill>
                <a:latin typeface="Menlo"/>
              </a:rPr>
              <a:t>55K to 100K</a:t>
            </a:r>
          </a:p>
        </p:txBody>
      </p:sp>
      <p:sp>
        <p:nvSpPr>
          <p:cNvPr id="42" name="Oval 41"/>
          <p:cNvSpPr/>
          <p:nvPr/>
        </p:nvSpPr>
        <p:spPr>
          <a:xfrm>
            <a:off x="7498080" y="5303520"/>
            <a:ext cx="292608" cy="29260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0" y="5303520"/>
            <a:ext cx="292608" cy="292608"/>
          </a:xfrm>
          <a:prstGeom prst="rect">
            <a:avLst/>
          </a:prstGeom>
          <a:noFill/>
        </p:spPr>
        <p:txBody>
          <a:bodyPr wrap="square" lIns="0" rIns="0" tIns="0" bIns="0" anchor="ctr">
            <a:spAutoFit/>
          </a:bodyPr>
          <a:lstStyle/>
          <a:p>
            <a:pPr algn="ctr"/>
            <a:r>
              <a:rPr sz="1100" b="1" i="0">
                <a:solidFill>
                  <a:srgbClr val="F7D007"/>
                </a:solidFill>
                <a:latin typeface="Menlo"/>
              </a:rPr>
              <a:t>5</a:t>
            </a:r>
          </a:p>
        </p:txBody>
      </p:sp>
      <p:sp>
        <p:nvSpPr>
          <p:cNvPr id="44" name="TextBox 43"/>
          <p:cNvSpPr txBox="1"/>
          <p:nvPr/>
        </p:nvSpPr>
        <p:spPr>
          <a:xfrm>
            <a:off x="7909560" y="5257800"/>
            <a:ext cx="2453336" cy="365760"/>
          </a:xfrm>
          <a:prstGeom prst="rect">
            <a:avLst/>
          </a:prstGeom>
          <a:noFill/>
        </p:spPr>
        <p:txBody>
          <a:bodyPr wrap="square" lIns="0" rIns="0" tIns="0" bIns="0" anchor="ctr">
            <a:spAutoFit/>
          </a:bodyPr>
          <a:lstStyle/>
          <a:p>
            <a:pPr algn="l"/>
            <a:r>
              <a:rPr sz="1100" b="0" i="0">
                <a:solidFill>
                  <a:srgbClr val="CCCCCC"/>
                </a:solidFill>
                <a:latin typeface="Helvetica Neue"/>
              </a:rPr>
              <a:t>Trustpilot 4,5 social proof</a:t>
            </a:r>
          </a:p>
        </p:txBody>
      </p:sp>
      <p:sp>
        <p:nvSpPr>
          <p:cNvPr id="45" name="TextBox 44"/>
          <p:cNvSpPr txBox="1"/>
          <p:nvPr/>
        </p:nvSpPr>
        <p:spPr>
          <a:xfrm>
            <a:off x="10271455" y="5257800"/>
            <a:ext cx="1097280" cy="365760"/>
          </a:xfrm>
          <a:prstGeom prst="rect">
            <a:avLst/>
          </a:prstGeom>
          <a:noFill/>
        </p:spPr>
        <p:txBody>
          <a:bodyPr wrap="square" lIns="0" rIns="0" tIns="0" bIns="0" anchor="ctr">
            <a:spAutoFit/>
          </a:bodyPr>
          <a:lstStyle/>
          <a:p>
            <a:pPr algn="r"/>
            <a:r>
              <a:rPr sz="1100" b="1" i="0">
                <a:solidFill>
                  <a:srgbClr val="F7D007"/>
                </a:solidFill>
                <a:latin typeface="Menlo"/>
              </a:rPr>
              <a:t>45K to 80K</a:t>
            </a:r>
          </a:p>
        </p:txBody>
      </p:sp>
      <p:sp>
        <p:nvSpPr>
          <p:cNvPr id="46" name="Rounded Rectangle 45"/>
          <p:cNvSpPr/>
          <p:nvPr/>
        </p:nvSpPr>
        <p:spPr>
          <a:xfrm>
            <a:off x="640080" y="6126480"/>
            <a:ext cx="10911535" cy="41148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6263640"/>
            <a:ext cx="10454335" cy="13716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PDP-level wins </a:t>
            </a:r>
            <a:r>
              <a:rPr sz="1100" b="0" i="0">
                <a:solidFill>
                  <a:srgbClr val="CCCCCC"/>
                </a:solidFill>
                <a:latin typeface="Helvetica Neue"/>
              </a:rPr>
              <a:t>(buy box, financing, social proof) account for 165K to 300K kr per month, two thirds of the total opportunity. Every paid ad euro lands on a PDP today, so these fixes compound with the Facebook ad spend.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04</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00</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RESEARCH FOUNDATION</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What the data showed</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Funnel decomposition, device behavior, traffic acquisition, and landing page performance pulled from Shopify (last 30 days) and GA4 (where ratios still hold). Every opportunity in the next sections is anchored in the data on these slides.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FUNNEL DECOMPOSITION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Where visitors drop off</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Shopify funnel · last 30 days. The 96 % collapse from session to add-to-cart is the single largest leak. Ratios match what GA4 reported, only the absolute counts changed.</a:t>
            </a:r>
          </a:p>
        </p:txBody>
      </p:sp>
      <p:sp>
        <p:nvSpPr>
          <p:cNvPr id="10" name="TextBox 9"/>
          <p:cNvSpPr txBox="1"/>
          <p:nvPr/>
        </p:nvSpPr>
        <p:spPr>
          <a:xfrm>
            <a:off x="640080" y="2377440"/>
            <a:ext cx="1828800" cy="457200"/>
          </a:xfrm>
          <a:prstGeom prst="rect">
            <a:avLst/>
          </a:prstGeom>
          <a:noFill/>
        </p:spPr>
        <p:txBody>
          <a:bodyPr wrap="square" lIns="0" rIns="0" tIns="0" bIns="0" anchor="ctr">
            <a:spAutoFit/>
          </a:bodyPr>
          <a:lstStyle/>
          <a:p>
            <a:pPr algn="r"/>
            <a:r>
              <a:rPr sz="1100" b="0" i="0">
                <a:solidFill>
                  <a:srgbClr val="CCCCCC"/>
                </a:solidFill>
                <a:latin typeface="Helvetica Neue"/>
              </a:rPr>
              <a:t>1. Sessions</a:t>
            </a:r>
          </a:p>
        </p:txBody>
      </p:sp>
      <p:sp>
        <p:nvSpPr>
          <p:cNvPr id="11" name="Rounded Rectangle 10"/>
          <p:cNvSpPr/>
          <p:nvPr/>
        </p:nvSpPr>
        <p:spPr>
          <a:xfrm>
            <a:off x="2606040" y="2450592"/>
            <a:ext cx="7436815" cy="384048"/>
          </a:xfrm>
          <a:prstGeom prst="roundRect">
            <a:avLst>
              <a:gd name="adj" fmla="val 15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06040" y="2450592"/>
            <a:ext cx="7436815" cy="384048"/>
          </a:xfrm>
          <a:prstGeom prst="roundRect">
            <a:avLst>
              <a:gd name="adj" fmla="val 15000"/>
            </a:avLst>
          </a:prstGeom>
          <a:solidFill>
            <a:srgbClr val="B89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2450592"/>
            <a:ext cx="1097280" cy="384048"/>
          </a:xfrm>
          <a:prstGeom prst="rect">
            <a:avLst/>
          </a:prstGeom>
          <a:noFill/>
        </p:spPr>
        <p:txBody>
          <a:bodyPr wrap="square" lIns="0" rIns="0" tIns="0" bIns="0" anchor="ctr">
            <a:spAutoFit/>
          </a:bodyPr>
          <a:lstStyle/>
          <a:p>
            <a:pPr algn="l"/>
            <a:r>
              <a:rPr sz="1100" b="1" i="0">
                <a:solidFill>
                  <a:srgbClr val="000000"/>
                </a:solidFill>
                <a:latin typeface="Menlo"/>
              </a:rPr>
              <a:t>9.510</a:t>
            </a:r>
          </a:p>
        </p:txBody>
      </p:sp>
      <p:sp>
        <p:nvSpPr>
          <p:cNvPr id="14" name="TextBox 13"/>
          <p:cNvSpPr txBox="1"/>
          <p:nvPr/>
        </p:nvSpPr>
        <p:spPr>
          <a:xfrm>
            <a:off x="3886200" y="2450592"/>
            <a:ext cx="1828800" cy="384048"/>
          </a:xfrm>
          <a:prstGeom prst="rect">
            <a:avLst/>
          </a:prstGeom>
          <a:noFill/>
        </p:spPr>
        <p:txBody>
          <a:bodyPr wrap="square" lIns="0" rIns="0" tIns="0" bIns="0" anchor="ctr">
            <a:spAutoFit/>
          </a:bodyPr>
          <a:lstStyle/>
          <a:p>
            <a:pPr algn="l"/>
            <a:r>
              <a:rPr sz="900" b="0" i="0">
                <a:solidFill>
                  <a:srgbClr val="333333"/>
                </a:solidFill>
                <a:latin typeface="Menlo"/>
              </a:rPr>
              <a:t>100 %</a:t>
            </a:r>
          </a:p>
        </p:txBody>
      </p:sp>
      <p:sp>
        <p:nvSpPr>
          <p:cNvPr id="15" name="TextBox 14"/>
          <p:cNvSpPr txBox="1"/>
          <p:nvPr/>
        </p:nvSpPr>
        <p:spPr>
          <a:xfrm>
            <a:off x="10180015" y="2377440"/>
            <a:ext cx="1371600" cy="292608"/>
          </a:xfrm>
          <a:prstGeom prst="rect">
            <a:avLst/>
          </a:prstGeom>
          <a:noFill/>
        </p:spPr>
        <p:txBody>
          <a:bodyPr wrap="square" lIns="0" rIns="0" tIns="0" bIns="0" anchor="t">
            <a:spAutoFit/>
          </a:bodyPr>
          <a:lstStyle/>
          <a:p>
            <a:pPr algn="l"/>
            <a:r>
              <a:rPr sz="1100" b="1" i="0">
                <a:solidFill>
                  <a:srgbClr val="EF4444"/>
                </a:solidFill>
                <a:latin typeface="Menlo"/>
              </a:rPr>
              <a:t>·</a:t>
            </a:r>
          </a:p>
        </p:txBody>
      </p:sp>
      <p:sp>
        <p:nvSpPr>
          <p:cNvPr id="16" name="TextBox 15"/>
          <p:cNvSpPr txBox="1"/>
          <p:nvPr/>
        </p:nvSpPr>
        <p:spPr>
          <a:xfrm>
            <a:off x="10180015" y="2651760"/>
            <a:ext cx="1371600" cy="228600"/>
          </a:xfrm>
          <a:prstGeom prst="rect">
            <a:avLst/>
          </a:prstGeom>
          <a:noFill/>
        </p:spPr>
        <p:txBody>
          <a:bodyPr wrap="square" lIns="0" rIns="0" tIns="0" bIns="0" anchor="t">
            <a:spAutoFit/>
          </a:bodyPr>
          <a:lstStyle/>
          <a:p>
            <a:pPr algn="l"/>
            <a:r>
              <a:rPr sz="800" b="0" i="0" spc="150">
                <a:solidFill>
                  <a:srgbClr val="999999"/>
                </a:solidFill>
                <a:latin typeface="Helvetica Neue"/>
              </a:rPr>
              <a:t>entry</a:t>
            </a:r>
          </a:p>
        </p:txBody>
      </p:sp>
      <p:sp>
        <p:nvSpPr>
          <p:cNvPr id="17" name="TextBox 16"/>
          <p:cNvSpPr txBox="1"/>
          <p:nvPr/>
        </p:nvSpPr>
        <p:spPr>
          <a:xfrm>
            <a:off x="640080" y="2971800"/>
            <a:ext cx="1828800" cy="457200"/>
          </a:xfrm>
          <a:prstGeom prst="rect">
            <a:avLst/>
          </a:prstGeom>
          <a:noFill/>
        </p:spPr>
        <p:txBody>
          <a:bodyPr wrap="square" lIns="0" rIns="0" tIns="0" bIns="0" anchor="ctr">
            <a:spAutoFit/>
          </a:bodyPr>
          <a:lstStyle/>
          <a:p>
            <a:pPr algn="r"/>
            <a:r>
              <a:rPr sz="1100" b="0" i="0">
                <a:solidFill>
                  <a:srgbClr val="CCCCCC"/>
                </a:solidFill>
                <a:latin typeface="Helvetica Neue"/>
              </a:rPr>
              <a:t>2. Added to cart</a:t>
            </a:r>
          </a:p>
        </p:txBody>
      </p:sp>
      <p:sp>
        <p:nvSpPr>
          <p:cNvPr id="18" name="Rounded Rectangle 17"/>
          <p:cNvSpPr/>
          <p:nvPr/>
        </p:nvSpPr>
        <p:spPr>
          <a:xfrm>
            <a:off x="2606040" y="3044952"/>
            <a:ext cx="7436815" cy="384048"/>
          </a:xfrm>
          <a:prstGeom prst="roundRect">
            <a:avLst>
              <a:gd name="adj" fmla="val 15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606040" y="3044952"/>
            <a:ext cx="365760" cy="384048"/>
          </a:xfrm>
          <a:prstGeom prst="roundRect">
            <a:avLst>
              <a:gd name="adj" fmla="val 15000"/>
            </a:avLst>
          </a:prstGeom>
          <a:solidFill>
            <a:srgbClr val="B89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88920" y="3044952"/>
            <a:ext cx="1097280" cy="384048"/>
          </a:xfrm>
          <a:prstGeom prst="rect">
            <a:avLst/>
          </a:prstGeom>
          <a:noFill/>
        </p:spPr>
        <p:txBody>
          <a:bodyPr wrap="square" lIns="0" rIns="0" tIns="0" bIns="0" anchor="ctr">
            <a:spAutoFit/>
          </a:bodyPr>
          <a:lstStyle/>
          <a:p>
            <a:pPr algn="l"/>
            <a:r>
              <a:rPr sz="1100" b="1" i="0">
                <a:solidFill>
                  <a:srgbClr val="FFFFFF"/>
                </a:solidFill>
                <a:latin typeface="Menlo"/>
              </a:rPr>
              <a:t>359</a:t>
            </a:r>
          </a:p>
        </p:txBody>
      </p:sp>
      <p:sp>
        <p:nvSpPr>
          <p:cNvPr id="21" name="TextBox 20"/>
          <p:cNvSpPr txBox="1"/>
          <p:nvPr/>
        </p:nvSpPr>
        <p:spPr>
          <a:xfrm>
            <a:off x="3886200" y="3044952"/>
            <a:ext cx="1828800" cy="384048"/>
          </a:xfrm>
          <a:prstGeom prst="rect">
            <a:avLst/>
          </a:prstGeom>
          <a:noFill/>
        </p:spPr>
        <p:txBody>
          <a:bodyPr wrap="square" lIns="0" rIns="0" tIns="0" bIns="0" anchor="ctr">
            <a:spAutoFit/>
          </a:bodyPr>
          <a:lstStyle/>
          <a:p>
            <a:pPr algn="l"/>
            <a:r>
              <a:rPr sz="900" b="0" i="0">
                <a:solidFill>
                  <a:srgbClr val="999999"/>
                </a:solidFill>
                <a:latin typeface="Menlo"/>
              </a:rPr>
              <a:t>3,77 % of sessions</a:t>
            </a:r>
          </a:p>
        </p:txBody>
      </p:sp>
      <p:sp>
        <p:nvSpPr>
          <p:cNvPr id="22" name="TextBox 21"/>
          <p:cNvSpPr txBox="1"/>
          <p:nvPr/>
        </p:nvSpPr>
        <p:spPr>
          <a:xfrm>
            <a:off x="10180015" y="2971800"/>
            <a:ext cx="1371600" cy="292608"/>
          </a:xfrm>
          <a:prstGeom prst="rect">
            <a:avLst/>
          </a:prstGeom>
          <a:noFill/>
        </p:spPr>
        <p:txBody>
          <a:bodyPr wrap="square" lIns="0" rIns="0" tIns="0" bIns="0" anchor="t">
            <a:spAutoFit/>
          </a:bodyPr>
          <a:lstStyle/>
          <a:p>
            <a:pPr algn="l"/>
            <a:r>
              <a:rPr sz="1100" b="1" i="0">
                <a:solidFill>
                  <a:srgbClr val="EF4444"/>
                </a:solidFill>
                <a:latin typeface="Menlo"/>
              </a:rPr>
              <a:t>- 9.151</a:t>
            </a:r>
          </a:p>
        </p:txBody>
      </p:sp>
      <p:sp>
        <p:nvSpPr>
          <p:cNvPr id="23" name="TextBox 22"/>
          <p:cNvSpPr txBox="1"/>
          <p:nvPr/>
        </p:nvSpPr>
        <p:spPr>
          <a:xfrm>
            <a:off x="10180015" y="3246120"/>
            <a:ext cx="1371600" cy="228600"/>
          </a:xfrm>
          <a:prstGeom prst="rect">
            <a:avLst/>
          </a:prstGeom>
          <a:noFill/>
        </p:spPr>
        <p:txBody>
          <a:bodyPr wrap="square" lIns="0" rIns="0" tIns="0" bIns="0" anchor="t">
            <a:spAutoFit/>
          </a:bodyPr>
          <a:lstStyle/>
          <a:p>
            <a:pPr algn="l"/>
            <a:r>
              <a:rPr sz="800" b="0" i="0" spc="150">
                <a:solidFill>
                  <a:srgbClr val="999999"/>
                </a:solidFill>
                <a:latin typeface="Helvetica Neue"/>
              </a:rPr>
              <a:t>no ATC</a:t>
            </a:r>
          </a:p>
        </p:txBody>
      </p:sp>
      <p:sp>
        <p:nvSpPr>
          <p:cNvPr id="24" name="TextBox 23"/>
          <p:cNvSpPr txBox="1"/>
          <p:nvPr/>
        </p:nvSpPr>
        <p:spPr>
          <a:xfrm>
            <a:off x="640080" y="3566160"/>
            <a:ext cx="1828800" cy="457200"/>
          </a:xfrm>
          <a:prstGeom prst="rect">
            <a:avLst/>
          </a:prstGeom>
          <a:noFill/>
        </p:spPr>
        <p:txBody>
          <a:bodyPr wrap="square" lIns="0" rIns="0" tIns="0" bIns="0" anchor="ctr">
            <a:spAutoFit/>
          </a:bodyPr>
          <a:lstStyle/>
          <a:p>
            <a:pPr algn="r"/>
            <a:r>
              <a:rPr sz="1100" b="0" i="0">
                <a:solidFill>
                  <a:srgbClr val="CCCCCC"/>
                </a:solidFill>
                <a:latin typeface="Helvetica Neue"/>
              </a:rPr>
              <a:t>3. Reached checkout</a:t>
            </a:r>
          </a:p>
        </p:txBody>
      </p:sp>
      <p:sp>
        <p:nvSpPr>
          <p:cNvPr id="25" name="Rounded Rectangle 24"/>
          <p:cNvSpPr/>
          <p:nvPr/>
        </p:nvSpPr>
        <p:spPr>
          <a:xfrm>
            <a:off x="2606040" y="3639312"/>
            <a:ext cx="7436815" cy="384048"/>
          </a:xfrm>
          <a:prstGeom prst="roundRect">
            <a:avLst>
              <a:gd name="adj" fmla="val 15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606040" y="3639312"/>
            <a:ext cx="365760" cy="384048"/>
          </a:xfrm>
          <a:prstGeom prst="roundRect">
            <a:avLst>
              <a:gd name="adj" fmla="val 15000"/>
            </a:avLst>
          </a:prstGeom>
          <a:solidFill>
            <a:srgbClr val="B89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88920" y="3639312"/>
            <a:ext cx="1097280" cy="384048"/>
          </a:xfrm>
          <a:prstGeom prst="rect">
            <a:avLst/>
          </a:prstGeom>
          <a:noFill/>
        </p:spPr>
        <p:txBody>
          <a:bodyPr wrap="square" lIns="0" rIns="0" tIns="0" bIns="0" anchor="ctr">
            <a:spAutoFit/>
          </a:bodyPr>
          <a:lstStyle/>
          <a:p>
            <a:pPr algn="l"/>
            <a:r>
              <a:rPr sz="1100" b="1" i="0">
                <a:solidFill>
                  <a:srgbClr val="FFFFFF"/>
                </a:solidFill>
                <a:latin typeface="Menlo"/>
              </a:rPr>
              <a:t>246</a:t>
            </a:r>
          </a:p>
        </p:txBody>
      </p:sp>
      <p:sp>
        <p:nvSpPr>
          <p:cNvPr id="28" name="TextBox 27"/>
          <p:cNvSpPr txBox="1"/>
          <p:nvPr/>
        </p:nvSpPr>
        <p:spPr>
          <a:xfrm>
            <a:off x="3886200" y="3639312"/>
            <a:ext cx="1828800" cy="384048"/>
          </a:xfrm>
          <a:prstGeom prst="rect">
            <a:avLst/>
          </a:prstGeom>
          <a:noFill/>
        </p:spPr>
        <p:txBody>
          <a:bodyPr wrap="square" lIns="0" rIns="0" tIns="0" bIns="0" anchor="ctr">
            <a:spAutoFit/>
          </a:bodyPr>
          <a:lstStyle/>
          <a:p>
            <a:pPr algn="l"/>
            <a:r>
              <a:rPr sz="900" b="0" i="0">
                <a:solidFill>
                  <a:srgbClr val="999999"/>
                </a:solidFill>
                <a:latin typeface="Menlo"/>
              </a:rPr>
              <a:t>68,5 % of ATC</a:t>
            </a:r>
          </a:p>
        </p:txBody>
      </p:sp>
      <p:sp>
        <p:nvSpPr>
          <p:cNvPr id="29" name="TextBox 28"/>
          <p:cNvSpPr txBox="1"/>
          <p:nvPr/>
        </p:nvSpPr>
        <p:spPr>
          <a:xfrm>
            <a:off x="10180015" y="3566160"/>
            <a:ext cx="1371600" cy="292608"/>
          </a:xfrm>
          <a:prstGeom prst="rect">
            <a:avLst/>
          </a:prstGeom>
          <a:noFill/>
        </p:spPr>
        <p:txBody>
          <a:bodyPr wrap="square" lIns="0" rIns="0" tIns="0" bIns="0" anchor="t">
            <a:spAutoFit/>
          </a:bodyPr>
          <a:lstStyle/>
          <a:p>
            <a:pPr algn="l"/>
            <a:r>
              <a:rPr sz="1100" b="1" i="0">
                <a:solidFill>
                  <a:srgbClr val="EF4444"/>
                </a:solidFill>
                <a:latin typeface="Menlo"/>
              </a:rPr>
              <a:t>- 113</a:t>
            </a:r>
          </a:p>
        </p:txBody>
      </p:sp>
      <p:sp>
        <p:nvSpPr>
          <p:cNvPr id="30" name="TextBox 29"/>
          <p:cNvSpPr txBox="1"/>
          <p:nvPr/>
        </p:nvSpPr>
        <p:spPr>
          <a:xfrm>
            <a:off x="10180015" y="3840480"/>
            <a:ext cx="1371600" cy="228600"/>
          </a:xfrm>
          <a:prstGeom prst="rect">
            <a:avLst/>
          </a:prstGeom>
          <a:noFill/>
        </p:spPr>
        <p:txBody>
          <a:bodyPr wrap="square" lIns="0" rIns="0" tIns="0" bIns="0" anchor="t">
            <a:spAutoFit/>
          </a:bodyPr>
          <a:lstStyle/>
          <a:p>
            <a:pPr algn="l"/>
            <a:r>
              <a:rPr sz="800" b="0" i="0" spc="150">
                <a:solidFill>
                  <a:srgbClr val="999999"/>
                </a:solidFill>
                <a:latin typeface="Helvetica Neue"/>
              </a:rPr>
              <a:t>ATC abandon</a:t>
            </a:r>
          </a:p>
        </p:txBody>
      </p:sp>
      <p:sp>
        <p:nvSpPr>
          <p:cNvPr id="31" name="TextBox 30"/>
          <p:cNvSpPr txBox="1"/>
          <p:nvPr/>
        </p:nvSpPr>
        <p:spPr>
          <a:xfrm>
            <a:off x="640080" y="4160520"/>
            <a:ext cx="1828800" cy="457200"/>
          </a:xfrm>
          <a:prstGeom prst="rect">
            <a:avLst/>
          </a:prstGeom>
          <a:noFill/>
        </p:spPr>
        <p:txBody>
          <a:bodyPr wrap="square" lIns="0" rIns="0" tIns="0" bIns="0" anchor="ctr">
            <a:spAutoFit/>
          </a:bodyPr>
          <a:lstStyle/>
          <a:p>
            <a:pPr algn="r"/>
            <a:r>
              <a:rPr sz="1100" b="0" i="0">
                <a:solidFill>
                  <a:srgbClr val="CCCCCC"/>
                </a:solidFill>
                <a:latin typeface="Helvetica Neue"/>
              </a:rPr>
              <a:t>4. Completed checkout</a:t>
            </a:r>
          </a:p>
        </p:txBody>
      </p:sp>
      <p:sp>
        <p:nvSpPr>
          <p:cNvPr id="32" name="Rounded Rectangle 31"/>
          <p:cNvSpPr/>
          <p:nvPr/>
        </p:nvSpPr>
        <p:spPr>
          <a:xfrm>
            <a:off x="2606040" y="4233672"/>
            <a:ext cx="7436815" cy="384048"/>
          </a:xfrm>
          <a:prstGeom prst="roundRect">
            <a:avLst>
              <a:gd name="adj" fmla="val 15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606040" y="4233672"/>
            <a:ext cx="365760" cy="384048"/>
          </a:xfrm>
          <a:prstGeom prst="roundRect">
            <a:avLst>
              <a:gd name="adj" fmla="val 15000"/>
            </a:avLst>
          </a:prstGeom>
          <a:solidFill>
            <a:srgbClr val="B89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88920" y="4233672"/>
            <a:ext cx="1097280" cy="384048"/>
          </a:xfrm>
          <a:prstGeom prst="rect">
            <a:avLst/>
          </a:prstGeom>
          <a:noFill/>
        </p:spPr>
        <p:txBody>
          <a:bodyPr wrap="square" lIns="0" rIns="0" tIns="0" bIns="0" anchor="ctr">
            <a:spAutoFit/>
          </a:bodyPr>
          <a:lstStyle/>
          <a:p>
            <a:pPr algn="l"/>
            <a:r>
              <a:rPr sz="1100" b="1" i="0">
                <a:solidFill>
                  <a:srgbClr val="FFFFFF"/>
                </a:solidFill>
                <a:latin typeface="Menlo"/>
              </a:rPr>
              <a:t>169</a:t>
            </a:r>
          </a:p>
        </p:txBody>
      </p:sp>
      <p:sp>
        <p:nvSpPr>
          <p:cNvPr id="35" name="TextBox 34"/>
          <p:cNvSpPr txBox="1"/>
          <p:nvPr/>
        </p:nvSpPr>
        <p:spPr>
          <a:xfrm>
            <a:off x="3886200" y="4233672"/>
            <a:ext cx="1828800" cy="384048"/>
          </a:xfrm>
          <a:prstGeom prst="rect">
            <a:avLst/>
          </a:prstGeom>
          <a:noFill/>
        </p:spPr>
        <p:txBody>
          <a:bodyPr wrap="square" lIns="0" rIns="0" tIns="0" bIns="0" anchor="ctr">
            <a:spAutoFit/>
          </a:bodyPr>
          <a:lstStyle/>
          <a:p>
            <a:pPr algn="l"/>
            <a:r>
              <a:rPr sz="900" b="0" i="0">
                <a:solidFill>
                  <a:srgbClr val="999999"/>
                </a:solidFill>
                <a:latin typeface="Menlo"/>
              </a:rPr>
              <a:t>68,7 % of checkout</a:t>
            </a:r>
          </a:p>
        </p:txBody>
      </p:sp>
      <p:sp>
        <p:nvSpPr>
          <p:cNvPr id="36" name="TextBox 35"/>
          <p:cNvSpPr txBox="1"/>
          <p:nvPr/>
        </p:nvSpPr>
        <p:spPr>
          <a:xfrm>
            <a:off x="10180015" y="4160520"/>
            <a:ext cx="1371600" cy="292608"/>
          </a:xfrm>
          <a:prstGeom prst="rect">
            <a:avLst/>
          </a:prstGeom>
          <a:noFill/>
        </p:spPr>
        <p:txBody>
          <a:bodyPr wrap="square" lIns="0" rIns="0" tIns="0" bIns="0" anchor="t">
            <a:spAutoFit/>
          </a:bodyPr>
          <a:lstStyle/>
          <a:p>
            <a:pPr algn="l"/>
            <a:r>
              <a:rPr sz="1100" b="1" i="0">
                <a:solidFill>
                  <a:srgbClr val="EF4444"/>
                </a:solidFill>
                <a:latin typeface="Menlo"/>
              </a:rPr>
              <a:t>- 77</a:t>
            </a:r>
          </a:p>
        </p:txBody>
      </p:sp>
      <p:sp>
        <p:nvSpPr>
          <p:cNvPr id="37" name="TextBox 36"/>
          <p:cNvSpPr txBox="1"/>
          <p:nvPr/>
        </p:nvSpPr>
        <p:spPr>
          <a:xfrm>
            <a:off x="10180015" y="4434840"/>
            <a:ext cx="1371600" cy="228600"/>
          </a:xfrm>
          <a:prstGeom prst="rect">
            <a:avLst/>
          </a:prstGeom>
          <a:noFill/>
        </p:spPr>
        <p:txBody>
          <a:bodyPr wrap="square" lIns="0" rIns="0" tIns="0" bIns="0" anchor="t">
            <a:spAutoFit/>
          </a:bodyPr>
          <a:lstStyle/>
          <a:p>
            <a:pPr algn="l"/>
            <a:r>
              <a:rPr sz="800" b="0" i="0" spc="150">
                <a:solidFill>
                  <a:srgbClr val="999999"/>
                </a:solidFill>
                <a:latin typeface="Helvetica Neue"/>
              </a:rPr>
              <a:t>checkout drop</a:t>
            </a:r>
          </a:p>
        </p:txBody>
      </p:sp>
      <p:sp>
        <p:nvSpPr>
          <p:cNvPr id="38" name="TextBox 37"/>
          <p:cNvSpPr txBox="1"/>
          <p:nvPr/>
        </p:nvSpPr>
        <p:spPr>
          <a:xfrm>
            <a:off x="640080" y="4754880"/>
            <a:ext cx="1828800" cy="457200"/>
          </a:xfrm>
          <a:prstGeom prst="rect">
            <a:avLst/>
          </a:prstGeom>
          <a:noFill/>
        </p:spPr>
        <p:txBody>
          <a:bodyPr wrap="square" lIns="0" rIns="0" tIns="0" bIns="0" anchor="ctr">
            <a:spAutoFit/>
          </a:bodyPr>
          <a:lstStyle/>
          <a:p>
            <a:pPr algn="r"/>
            <a:r>
              <a:rPr sz="1100" b="0" i="0">
                <a:solidFill>
                  <a:srgbClr val="CCCCCC"/>
                </a:solidFill>
                <a:latin typeface="Helvetica Neue"/>
              </a:rPr>
              <a:t>5. All orders</a:t>
            </a:r>
          </a:p>
        </p:txBody>
      </p:sp>
      <p:sp>
        <p:nvSpPr>
          <p:cNvPr id="39" name="Rounded Rectangle 38"/>
          <p:cNvSpPr/>
          <p:nvPr/>
        </p:nvSpPr>
        <p:spPr>
          <a:xfrm>
            <a:off x="2606040" y="4828032"/>
            <a:ext cx="7436815" cy="384048"/>
          </a:xfrm>
          <a:prstGeom prst="roundRect">
            <a:avLst>
              <a:gd name="adj" fmla="val 15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606040" y="4828032"/>
            <a:ext cx="365760" cy="384048"/>
          </a:xfrm>
          <a:prstGeom prst="roundRect">
            <a:avLst>
              <a:gd name="adj" fmla="val 15000"/>
            </a:avLst>
          </a:prstGeom>
          <a:solidFill>
            <a:srgbClr val="B89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88920" y="4828032"/>
            <a:ext cx="1097280" cy="384048"/>
          </a:xfrm>
          <a:prstGeom prst="rect">
            <a:avLst/>
          </a:prstGeom>
          <a:noFill/>
        </p:spPr>
        <p:txBody>
          <a:bodyPr wrap="square" lIns="0" rIns="0" tIns="0" bIns="0" anchor="ctr">
            <a:spAutoFit/>
          </a:bodyPr>
          <a:lstStyle/>
          <a:p>
            <a:pPr algn="l"/>
            <a:r>
              <a:rPr sz="1100" b="1" i="0">
                <a:solidFill>
                  <a:srgbClr val="FFFFFF"/>
                </a:solidFill>
                <a:latin typeface="Menlo"/>
              </a:rPr>
              <a:t>252</a:t>
            </a:r>
          </a:p>
        </p:txBody>
      </p:sp>
      <p:sp>
        <p:nvSpPr>
          <p:cNvPr id="42" name="TextBox 41"/>
          <p:cNvSpPr txBox="1"/>
          <p:nvPr/>
        </p:nvSpPr>
        <p:spPr>
          <a:xfrm>
            <a:off x="3886200" y="4828032"/>
            <a:ext cx="1828800" cy="384048"/>
          </a:xfrm>
          <a:prstGeom prst="rect">
            <a:avLst/>
          </a:prstGeom>
          <a:noFill/>
        </p:spPr>
        <p:txBody>
          <a:bodyPr wrap="square" lIns="0" rIns="0" tIns="0" bIns="0" anchor="ctr">
            <a:spAutoFit/>
          </a:bodyPr>
          <a:lstStyle/>
          <a:p>
            <a:pPr algn="l"/>
            <a:r>
              <a:rPr sz="900" b="0" i="0">
                <a:solidFill>
                  <a:srgbClr val="999999"/>
                </a:solidFill>
                <a:latin typeface="Menlo"/>
              </a:rPr>
              <a:t>+ Shop Pay etc.</a:t>
            </a:r>
          </a:p>
        </p:txBody>
      </p:sp>
      <p:sp>
        <p:nvSpPr>
          <p:cNvPr id="43" name="TextBox 42"/>
          <p:cNvSpPr txBox="1"/>
          <p:nvPr/>
        </p:nvSpPr>
        <p:spPr>
          <a:xfrm>
            <a:off x="10180015" y="4754880"/>
            <a:ext cx="1371600" cy="292608"/>
          </a:xfrm>
          <a:prstGeom prst="rect">
            <a:avLst/>
          </a:prstGeom>
          <a:noFill/>
        </p:spPr>
        <p:txBody>
          <a:bodyPr wrap="square" lIns="0" rIns="0" tIns="0" bIns="0" anchor="t">
            <a:spAutoFit/>
          </a:bodyPr>
          <a:lstStyle/>
          <a:p>
            <a:pPr algn="l"/>
            <a:r>
              <a:rPr sz="1100" b="1" i="0">
                <a:solidFill>
                  <a:srgbClr val="EF4444"/>
                </a:solidFill>
                <a:latin typeface="Menlo"/>
              </a:rPr>
              <a:t>+ 83</a:t>
            </a:r>
          </a:p>
        </p:txBody>
      </p:sp>
      <p:sp>
        <p:nvSpPr>
          <p:cNvPr id="44" name="TextBox 43"/>
          <p:cNvSpPr txBox="1"/>
          <p:nvPr/>
        </p:nvSpPr>
        <p:spPr>
          <a:xfrm>
            <a:off x="10180015" y="5029200"/>
            <a:ext cx="1371600" cy="228600"/>
          </a:xfrm>
          <a:prstGeom prst="rect">
            <a:avLst/>
          </a:prstGeom>
          <a:noFill/>
        </p:spPr>
        <p:txBody>
          <a:bodyPr wrap="square" lIns="0" rIns="0" tIns="0" bIns="0" anchor="t">
            <a:spAutoFit/>
          </a:bodyPr>
          <a:lstStyle/>
          <a:p>
            <a:pPr algn="l"/>
            <a:r>
              <a:rPr sz="800" b="0" i="0" spc="150">
                <a:solidFill>
                  <a:srgbClr val="999999"/>
                </a:solidFill>
                <a:latin typeface="Helvetica Neue"/>
              </a:rPr>
              <a:t>other channels</a:t>
            </a:r>
          </a:p>
        </p:txBody>
      </p:sp>
      <p:sp>
        <p:nvSpPr>
          <p:cNvPr id="45" name="Rounded Rectangle 44"/>
          <p:cNvSpPr/>
          <p:nvPr/>
        </p:nvSpPr>
        <p:spPr>
          <a:xfrm>
            <a:off x="640080" y="5852160"/>
            <a:ext cx="10911535" cy="64008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5989320"/>
            <a:ext cx="10454335" cy="36576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single biggest leak is session to add to cart. </a:t>
            </a:r>
            <a:r>
              <a:rPr sz="1100" b="0" i="0">
                <a:solidFill>
                  <a:srgbClr val="CCCCCC"/>
                </a:solidFill>
                <a:latin typeface="Helvetica Neue"/>
              </a:rPr>
              <a:t>9.151 sessions (96 % of all visitors) never added a product to cart. Mobile drops ~97 %, desktop ~91 %. Same product page, very different mobile experience. Fix the PDP first, everything downstream is plumbing.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DEVICE BEHAVIOR</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Mobile carries traffic, desktop converts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Device split estimated from GA4 ratios applied to Shopify volume. Mobile is ~83 % of sessions but converts ~43 % worse than desktop. Mobile AOV is ~40 % lower.</a:t>
            </a:r>
          </a:p>
        </p:txBody>
      </p:sp>
      <p:sp>
        <p:nvSpPr>
          <p:cNvPr id="10" name="Rounded Rectangle 9"/>
          <p:cNvSpPr/>
          <p:nvPr/>
        </p:nvSpPr>
        <p:spPr>
          <a:xfrm>
            <a:off x="929487" y="2468880"/>
            <a:ext cx="5029200" cy="2011680"/>
          </a:xfrm>
          <a:prstGeom prst="roundRect">
            <a:avLst>
              <a:gd name="adj" fmla="val 4000"/>
            </a:avLst>
          </a:prstGeom>
          <a:solidFill>
            <a:srgbClr val="101010"/>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3807" y="2697480"/>
            <a:ext cx="2057400" cy="365760"/>
          </a:xfrm>
          <a:prstGeom prst="rect">
            <a:avLst/>
          </a:prstGeom>
          <a:noFill/>
        </p:spPr>
        <p:txBody>
          <a:bodyPr wrap="square" lIns="0" rIns="0" tIns="0" bIns="0" anchor="t">
            <a:spAutoFit/>
          </a:bodyPr>
          <a:lstStyle/>
          <a:p>
            <a:pPr algn="l"/>
            <a:r>
              <a:rPr sz="2000" b="1" i="0">
                <a:solidFill>
                  <a:srgbClr val="FFFFFF"/>
                </a:solidFill>
                <a:latin typeface="Helvetica Neue"/>
              </a:rPr>
              <a:t>Mobile</a:t>
            </a:r>
          </a:p>
        </p:txBody>
      </p:sp>
      <p:sp>
        <p:nvSpPr>
          <p:cNvPr id="12" name="TextBox 11"/>
          <p:cNvSpPr txBox="1"/>
          <p:nvPr/>
        </p:nvSpPr>
        <p:spPr>
          <a:xfrm>
            <a:off x="3444087" y="2697480"/>
            <a:ext cx="2240280" cy="365760"/>
          </a:xfrm>
          <a:prstGeom prst="rect">
            <a:avLst/>
          </a:prstGeom>
          <a:noFill/>
        </p:spPr>
        <p:txBody>
          <a:bodyPr wrap="square" lIns="0" rIns="0" tIns="0" bIns="0" anchor="t">
            <a:spAutoFit/>
          </a:bodyPr>
          <a:lstStyle/>
          <a:p>
            <a:pPr algn="r"/>
            <a:r>
              <a:rPr sz="2000" b="1" i="0">
                <a:solidFill>
                  <a:srgbClr val="EF4444"/>
                </a:solidFill>
                <a:latin typeface="Menlo"/>
              </a:rPr>
              <a:t>~83 % sessions</a:t>
            </a:r>
          </a:p>
        </p:txBody>
      </p:sp>
      <p:sp>
        <p:nvSpPr>
          <p:cNvPr id="13" name="TextBox 12"/>
          <p:cNvSpPr txBox="1"/>
          <p:nvPr/>
        </p:nvSpPr>
        <p:spPr>
          <a:xfrm>
            <a:off x="1203807" y="329184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SESSIONS · 30D</a:t>
            </a:r>
          </a:p>
        </p:txBody>
      </p:sp>
      <p:sp>
        <p:nvSpPr>
          <p:cNvPr id="14" name="TextBox 13"/>
          <p:cNvSpPr txBox="1"/>
          <p:nvPr/>
        </p:nvSpPr>
        <p:spPr>
          <a:xfrm>
            <a:off x="1203807" y="3474720"/>
            <a:ext cx="2240280" cy="274320"/>
          </a:xfrm>
          <a:prstGeom prst="rect">
            <a:avLst/>
          </a:prstGeom>
          <a:noFill/>
        </p:spPr>
        <p:txBody>
          <a:bodyPr wrap="square" lIns="0" rIns="0" tIns="0" bIns="0" anchor="t">
            <a:spAutoFit/>
          </a:bodyPr>
          <a:lstStyle/>
          <a:p>
            <a:pPr algn="l"/>
            <a:r>
              <a:rPr sz="1500" b="1" i="0">
                <a:solidFill>
                  <a:srgbClr val="FFFFFF"/>
                </a:solidFill>
                <a:latin typeface="Menlo"/>
              </a:rPr>
              <a:t>~7.890</a:t>
            </a:r>
          </a:p>
        </p:txBody>
      </p:sp>
      <p:sp>
        <p:nvSpPr>
          <p:cNvPr id="15" name="TextBox 14"/>
          <p:cNvSpPr txBox="1"/>
          <p:nvPr/>
        </p:nvSpPr>
        <p:spPr>
          <a:xfrm>
            <a:off x="3444087" y="329184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ORDERS</a:t>
            </a:r>
          </a:p>
        </p:txBody>
      </p:sp>
      <p:sp>
        <p:nvSpPr>
          <p:cNvPr id="16" name="TextBox 15"/>
          <p:cNvSpPr txBox="1"/>
          <p:nvPr/>
        </p:nvSpPr>
        <p:spPr>
          <a:xfrm>
            <a:off x="3444087" y="3474720"/>
            <a:ext cx="2240280" cy="274320"/>
          </a:xfrm>
          <a:prstGeom prst="rect">
            <a:avLst/>
          </a:prstGeom>
          <a:noFill/>
        </p:spPr>
        <p:txBody>
          <a:bodyPr wrap="square" lIns="0" rIns="0" tIns="0" bIns="0" anchor="t">
            <a:spAutoFit/>
          </a:bodyPr>
          <a:lstStyle/>
          <a:p>
            <a:pPr algn="l"/>
            <a:r>
              <a:rPr sz="1500" b="1" i="0">
                <a:solidFill>
                  <a:srgbClr val="FFFFFF"/>
                </a:solidFill>
                <a:latin typeface="Menlo"/>
              </a:rPr>
              <a:t>~150</a:t>
            </a:r>
          </a:p>
        </p:txBody>
      </p:sp>
      <p:sp>
        <p:nvSpPr>
          <p:cNvPr id="17" name="TextBox 16"/>
          <p:cNvSpPr txBox="1"/>
          <p:nvPr/>
        </p:nvSpPr>
        <p:spPr>
          <a:xfrm>
            <a:off x="1203807" y="379476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CONVERSION RATE</a:t>
            </a:r>
          </a:p>
        </p:txBody>
      </p:sp>
      <p:sp>
        <p:nvSpPr>
          <p:cNvPr id="18" name="TextBox 17"/>
          <p:cNvSpPr txBox="1"/>
          <p:nvPr/>
        </p:nvSpPr>
        <p:spPr>
          <a:xfrm>
            <a:off x="1203807" y="3977640"/>
            <a:ext cx="2240280" cy="274320"/>
          </a:xfrm>
          <a:prstGeom prst="rect">
            <a:avLst/>
          </a:prstGeom>
          <a:noFill/>
        </p:spPr>
        <p:txBody>
          <a:bodyPr wrap="square" lIns="0" rIns="0" tIns="0" bIns="0" anchor="t">
            <a:spAutoFit/>
          </a:bodyPr>
          <a:lstStyle/>
          <a:p>
            <a:pPr algn="l"/>
            <a:r>
              <a:rPr sz="1500" b="1" i="0">
                <a:solidFill>
                  <a:srgbClr val="FFFFFF"/>
                </a:solidFill>
                <a:latin typeface="Menlo"/>
              </a:rPr>
              <a:t>~1,6 %</a:t>
            </a:r>
          </a:p>
        </p:txBody>
      </p:sp>
      <p:sp>
        <p:nvSpPr>
          <p:cNvPr id="19" name="TextBox 18"/>
          <p:cNvSpPr txBox="1"/>
          <p:nvPr/>
        </p:nvSpPr>
        <p:spPr>
          <a:xfrm>
            <a:off x="3444087" y="379476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AVG ORDER VALUE</a:t>
            </a:r>
          </a:p>
        </p:txBody>
      </p:sp>
      <p:sp>
        <p:nvSpPr>
          <p:cNvPr id="20" name="TextBox 19"/>
          <p:cNvSpPr txBox="1"/>
          <p:nvPr/>
        </p:nvSpPr>
        <p:spPr>
          <a:xfrm>
            <a:off x="3444087" y="3977640"/>
            <a:ext cx="2240280" cy="274320"/>
          </a:xfrm>
          <a:prstGeom prst="rect">
            <a:avLst/>
          </a:prstGeom>
          <a:noFill/>
        </p:spPr>
        <p:txBody>
          <a:bodyPr wrap="square" lIns="0" rIns="0" tIns="0" bIns="0" anchor="t">
            <a:spAutoFit/>
          </a:bodyPr>
          <a:lstStyle/>
          <a:p>
            <a:pPr algn="l"/>
            <a:r>
              <a:rPr sz="1500" b="1" i="0">
                <a:solidFill>
                  <a:srgbClr val="FFFFFF"/>
                </a:solidFill>
                <a:latin typeface="Menlo"/>
              </a:rPr>
              <a:t>~3.500 kr</a:t>
            </a:r>
          </a:p>
        </p:txBody>
      </p:sp>
      <p:sp>
        <p:nvSpPr>
          <p:cNvPr id="21" name="Rounded Rectangle 20"/>
          <p:cNvSpPr/>
          <p:nvPr/>
        </p:nvSpPr>
        <p:spPr>
          <a:xfrm>
            <a:off x="6233007" y="2468880"/>
            <a:ext cx="5029200" cy="2011680"/>
          </a:xfrm>
          <a:prstGeom prst="roundRect">
            <a:avLst>
              <a:gd name="adj" fmla="val 4000"/>
            </a:avLst>
          </a:prstGeom>
          <a:solidFill>
            <a:srgbClr val="101010"/>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2697480"/>
            <a:ext cx="2057400" cy="365760"/>
          </a:xfrm>
          <a:prstGeom prst="rect">
            <a:avLst/>
          </a:prstGeom>
          <a:noFill/>
        </p:spPr>
        <p:txBody>
          <a:bodyPr wrap="square" lIns="0" rIns="0" tIns="0" bIns="0" anchor="t">
            <a:spAutoFit/>
          </a:bodyPr>
          <a:lstStyle/>
          <a:p>
            <a:pPr algn="l"/>
            <a:r>
              <a:rPr sz="2000" b="1" i="0">
                <a:solidFill>
                  <a:srgbClr val="FFFFFF"/>
                </a:solidFill>
                <a:latin typeface="Helvetica Neue"/>
              </a:rPr>
              <a:t>Desktop</a:t>
            </a:r>
          </a:p>
        </p:txBody>
      </p:sp>
      <p:sp>
        <p:nvSpPr>
          <p:cNvPr id="23" name="TextBox 22"/>
          <p:cNvSpPr txBox="1"/>
          <p:nvPr/>
        </p:nvSpPr>
        <p:spPr>
          <a:xfrm>
            <a:off x="8747607" y="2697480"/>
            <a:ext cx="2240280" cy="365760"/>
          </a:xfrm>
          <a:prstGeom prst="rect">
            <a:avLst/>
          </a:prstGeom>
          <a:noFill/>
        </p:spPr>
        <p:txBody>
          <a:bodyPr wrap="square" lIns="0" rIns="0" tIns="0" bIns="0" anchor="t">
            <a:spAutoFit/>
          </a:bodyPr>
          <a:lstStyle/>
          <a:p>
            <a:pPr algn="r"/>
            <a:r>
              <a:rPr sz="2000" b="1" i="0">
                <a:solidFill>
                  <a:srgbClr val="F7D007"/>
                </a:solidFill>
                <a:latin typeface="Menlo"/>
              </a:rPr>
              <a:t>~15 % sessions</a:t>
            </a:r>
          </a:p>
        </p:txBody>
      </p:sp>
      <p:sp>
        <p:nvSpPr>
          <p:cNvPr id="24" name="TextBox 23"/>
          <p:cNvSpPr txBox="1"/>
          <p:nvPr/>
        </p:nvSpPr>
        <p:spPr>
          <a:xfrm>
            <a:off x="6507327" y="329184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SESSIONS · 30D</a:t>
            </a:r>
          </a:p>
        </p:txBody>
      </p:sp>
      <p:sp>
        <p:nvSpPr>
          <p:cNvPr id="25" name="TextBox 24"/>
          <p:cNvSpPr txBox="1"/>
          <p:nvPr/>
        </p:nvSpPr>
        <p:spPr>
          <a:xfrm>
            <a:off x="6507327" y="3474720"/>
            <a:ext cx="2240280" cy="274320"/>
          </a:xfrm>
          <a:prstGeom prst="rect">
            <a:avLst/>
          </a:prstGeom>
          <a:noFill/>
        </p:spPr>
        <p:txBody>
          <a:bodyPr wrap="square" lIns="0" rIns="0" tIns="0" bIns="0" anchor="t">
            <a:spAutoFit/>
          </a:bodyPr>
          <a:lstStyle/>
          <a:p>
            <a:pPr algn="l"/>
            <a:r>
              <a:rPr sz="1500" b="1" i="0">
                <a:solidFill>
                  <a:srgbClr val="FFFFFF"/>
                </a:solidFill>
                <a:latin typeface="Menlo"/>
              </a:rPr>
              <a:t>~1.620</a:t>
            </a:r>
          </a:p>
        </p:txBody>
      </p:sp>
      <p:sp>
        <p:nvSpPr>
          <p:cNvPr id="26" name="TextBox 25"/>
          <p:cNvSpPr txBox="1"/>
          <p:nvPr/>
        </p:nvSpPr>
        <p:spPr>
          <a:xfrm>
            <a:off x="8747607" y="329184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ORDERS</a:t>
            </a:r>
          </a:p>
        </p:txBody>
      </p:sp>
      <p:sp>
        <p:nvSpPr>
          <p:cNvPr id="27" name="TextBox 26"/>
          <p:cNvSpPr txBox="1"/>
          <p:nvPr/>
        </p:nvSpPr>
        <p:spPr>
          <a:xfrm>
            <a:off x="8747607" y="3474720"/>
            <a:ext cx="2240280" cy="274320"/>
          </a:xfrm>
          <a:prstGeom prst="rect">
            <a:avLst/>
          </a:prstGeom>
          <a:noFill/>
        </p:spPr>
        <p:txBody>
          <a:bodyPr wrap="square" lIns="0" rIns="0" tIns="0" bIns="0" anchor="t">
            <a:spAutoFit/>
          </a:bodyPr>
          <a:lstStyle/>
          <a:p>
            <a:pPr algn="l"/>
            <a:r>
              <a:rPr sz="1500" b="1" i="0">
                <a:solidFill>
                  <a:srgbClr val="FFFFFF"/>
                </a:solidFill>
                <a:latin typeface="Menlo"/>
              </a:rPr>
              <a:t>~80</a:t>
            </a:r>
          </a:p>
        </p:txBody>
      </p:sp>
      <p:sp>
        <p:nvSpPr>
          <p:cNvPr id="28" name="TextBox 27"/>
          <p:cNvSpPr txBox="1"/>
          <p:nvPr/>
        </p:nvSpPr>
        <p:spPr>
          <a:xfrm>
            <a:off x="6507327" y="379476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CONVERSION RATE</a:t>
            </a:r>
          </a:p>
        </p:txBody>
      </p:sp>
      <p:sp>
        <p:nvSpPr>
          <p:cNvPr id="29" name="TextBox 28"/>
          <p:cNvSpPr txBox="1"/>
          <p:nvPr/>
        </p:nvSpPr>
        <p:spPr>
          <a:xfrm>
            <a:off x="6507327" y="3977640"/>
            <a:ext cx="2240280" cy="274320"/>
          </a:xfrm>
          <a:prstGeom prst="rect">
            <a:avLst/>
          </a:prstGeom>
          <a:noFill/>
        </p:spPr>
        <p:txBody>
          <a:bodyPr wrap="square" lIns="0" rIns="0" tIns="0" bIns="0" anchor="t">
            <a:spAutoFit/>
          </a:bodyPr>
          <a:lstStyle/>
          <a:p>
            <a:pPr algn="l"/>
            <a:r>
              <a:rPr sz="1500" b="1" i="0">
                <a:solidFill>
                  <a:srgbClr val="FFFFFF"/>
                </a:solidFill>
                <a:latin typeface="Menlo"/>
              </a:rPr>
              <a:t>~2,8 %</a:t>
            </a:r>
          </a:p>
        </p:txBody>
      </p:sp>
      <p:sp>
        <p:nvSpPr>
          <p:cNvPr id="30" name="TextBox 29"/>
          <p:cNvSpPr txBox="1"/>
          <p:nvPr/>
        </p:nvSpPr>
        <p:spPr>
          <a:xfrm>
            <a:off x="8747607" y="3794760"/>
            <a:ext cx="2240280" cy="182880"/>
          </a:xfrm>
          <a:prstGeom prst="rect">
            <a:avLst/>
          </a:prstGeom>
          <a:noFill/>
        </p:spPr>
        <p:txBody>
          <a:bodyPr wrap="square" lIns="0" rIns="0" tIns="0" bIns="0" anchor="t">
            <a:spAutoFit/>
          </a:bodyPr>
          <a:lstStyle/>
          <a:p>
            <a:pPr algn="l"/>
            <a:r>
              <a:rPr sz="800" b="1" i="0" spc="120">
                <a:solidFill>
                  <a:srgbClr val="999999"/>
                </a:solidFill>
                <a:latin typeface="Helvetica Neue"/>
              </a:rPr>
              <a:t>AVG ORDER VALUE</a:t>
            </a:r>
          </a:p>
        </p:txBody>
      </p:sp>
      <p:sp>
        <p:nvSpPr>
          <p:cNvPr id="31" name="TextBox 30"/>
          <p:cNvSpPr txBox="1"/>
          <p:nvPr/>
        </p:nvSpPr>
        <p:spPr>
          <a:xfrm>
            <a:off x="8747607" y="3977640"/>
            <a:ext cx="2240280" cy="274320"/>
          </a:xfrm>
          <a:prstGeom prst="rect">
            <a:avLst/>
          </a:prstGeom>
          <a:noFill/>
        </p:spPr>
        <p:txBody>
          <a:bodyPr wrap="square" lIns="0" rIns="0" tIns="0" bIns="0" anchor="t">
            <a:spAutoFit/>
          </a:bodyPr>
          <a:lstStyle/>
          <a:p>
            <a:pPr algn="l"/>
            <a:r>
              <a:rPr sz="1500" b="1" i="0">
                <a:solidFill>
                  <a:srgbClr val="FFFFFF"/>
                </a:solidFill>
                <a:latin typeface="Menlo"/>
              </a:rPr>
              <a:t>~5.800 kr</a:t>
            </a:r>
          </a:p>
        </p:txBody>
      </p:sp>
      <p:sp>
        <p:nvSpPr>
          <p:cNvPr id="32" name="Rounded Rectangle 31"/>
          <p:cNvSpPr/>
          <p:nvPr/>
        </p:nvSpPr>
        <p:spPr>
          <a:xfrm>
            <a:off x="929487" y="4709160"/>
            <a:ext cx="5029200" cy="1508760"/>
          </a:xfrm>
          <a:prstGeom prst="roundRect">
            <a:avLst>
              <a:gd name="adj" fmla="val 4000"/>
            </a:avLst>
          </a:prstGeom>
          <a:solidFill>
            <a:srgbClr val="101010"/>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9487" y="4846320"/>
            <a:ext cx="5029200" cy="274320"/>
          </a:xfrm>
          <a:prstGeom prst="rect">
            <a:avLst/>
          </a:prstGeom>
          <a:noFill/>
        </p:spPr>
        <p:txBody>
          <a:bodyPr wrap="square" lIns="0" rIns="0" tIns="0" bIns="0" anchor="t">
            <a:spAutoFit/>
          </a:bodyPr>
          <a:lstStyle/>
          <a:p>
            <a:pPr algn="ctr"/>
            <a:r>
              <a:rPr sz="900" b="1" i="0" spc="200">
                <a:solidFill>
                  <a:srgbClr val="999999"/>
                </a:solidFill>
                <a:latin typeface="Helvetica Neue"/>
              </a:rPr>
              <a:t>MOBILE SESSION TO ATC</a:t>
            </a:r>
          </a:p>
        </p:txBody>
      </p:sp>
      <p:sp>
        <p:nvSpPr>
          <p:cNvPr id="34" name="TextBox 33"/>
          <p:cNvSpPr txBox="1"/>
          <p:nvPr/>
        </p:nvSpPr>
        <p:spPr>
          <a:xfrm>
            <a:off x="929487" y="5120640"/>
            <a:ext cx="5029200" cy="640080"/>
          </a:xfrm>
          <a:prstGeom prst="rect">
            <a:avLst/>
          </a:prstGeom>
          <a:noFill/>
        </p:spPr>
        <p:txBody>
          <a:bodyPr wrap="square" lIns="0" rIns="0" tIns="0" bIns="0" anchor="t">
            <a:spAutoFit/>
          </a:bodyPr>
          <a:lstStyle/>
          <a:p>
            <a:pPr algn="ctr"/>
            <a:r>
              <a:rPr sz="3800" b="1" i="0">
                <a:solidFill>
                  <a:srgbClr val="EF4444"/>
                </a:solidFill>
                <a:latin typeface="Menlo"/>
              </a:rPr>
              <a:t>~3,0 %</a:t>
            </a:r>
          </a:p>
        </p:txBody>
      </p:sp>
      <p:sp>
        <p:nvSpPr>
          <p:cNvPr id="35" name="TextBox 34"/>
          <p:cNvSpPr txBox="1"/>
          <p:nvPr/>
        </p:nvSpPr>
        <p:spPr>
          <a:xfrm>
            <a:off x="1295247" y="5788152"/>
            <a:ext cx="4297680" cy="365760"/>
          </a:xfrm>
          <a:prstGeom prst="rect">
            <a:avLst/>
          </a:prstGeom>
          <a:noFill/>
        </p:spPr>
        <p:txBody>
          <a:bodyPr wrap="square" lIns="0" rIns="0" tIns="0" bIns="0" anchor="t">
            <a:spAutoFit/>
          </a:bodyPr>
          <a:lstStyle/>
          <a:p>
            <a:pPr algn="ctr"/>
            <a:r>
              <a:rPr sz="1000" b="0" i="0">
                <a:solidFill>
                  <a:srgbClr val="CCCCCC"/>
                </a:solidFill>
                <a:latin typeface="Helvetica Neue"/>
              </a:rPr>
              <a:t>~97 % of mobile sessions never added to cart.</a:t>
            </a:r>
          </a:p>
        </p:txBody>
      </p:sp>
      <p:sp>
        <p:nvSpPr>
          <p:cNvPr id="36" name="Rounded Rectangle 35"/>
          <p:cNvSpPr/>
          <p:nvPr/>
        </p:nvSpPr>
        <p:spPr>
          <a:xfrm>
            <a:off x="6233007" y="4709160"/>
            <a:ext cx="5029200" cy="1508760"/>
          </a:xfrm>
          <a:prstGeom prst="roundRect">
            <a:avLst>
              <a:gd name="adj" fmla="val 4000"/>
            </a:avLst>
          </a:prstGeom>
          <a:solidFill>
            <a:srgbClr val="101010"/>
          </a:solid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3007" y="4846320"/>
            <a:ext cx="5029200" cy="274320"/>
          </a:xfrm>
          <a:prstGeom prst="rect">
            <a:avLst/>
          </a:prstGeom>
          <a:noFill/>
        </p:spPr>
        <p:txBody>
          <a:bodyPr wrap="square" lIns="0" rIns="0" tIns="0" bIns="0" anchor="t">
            <a:spAutoFit/>
          </a:bodyPr>
          <a:lstStyle/>
          <a:p>
            <a:pPr algn="ctr"/>
            <a:r>
              <a:rPr sz="900" b="1" i="0" spc="200">
                <a:solidFill>
                  <a:srgbClr val="999999"/>
                </a:solidFill>
                <a:latin typeface="Helvetica Neue"/>
              </a:rPr>
              <a:t>DESKTOP SESSION TO ATC</a:t>
            </a:r>
          </a:p>
        </p:txBody>
      </p:sp>
      <p:sp>
        <p:nvSpPr>
          <p:cNvPr id="38" name="TextBox 37"/>
          <p:cNvSpPr txBox="1"/>
          <p:nvPr/>
        </p:nvSpPr>
        <p:spPr>
          <a:xfrm>
            <a:off x="6233007" y="5120640"/>
            <a:ext cx="5029200" cy="640080"/>
          </a:xfrm>
          <a:prstGeom prst="rect">
            <a:avLst/>
          </a:prstGeom>
          <a:noFill/>
        </p:spPr>
        <p:txBody>
          <a:bodyPr wrap="square" lIns="0" rIns="0" tIns="0" bIns="0" anchor="t">
            <a:spAutoFit/>
          </a:bodyPr>
          <a:lstStyle/>
          <a:p>
            <a:pPr algn="ctr"/>
            <a:r>
              <a:rPr sz="3800" b="1" i="0">
                <a:solidFill>
                  <a:srgbClr val="F7D007"/>
                </a:solidFill>
                <a:latin typeface="Menlo"/>
              </a:rPr>
              <a:t>~8,5 %</a:t>
            </a:r>
          </a:p>
        </p:txBody>
      </p:sp>
      <p:sp>
        <p:nvSpPr>
          <p:cNvPr id="39" name="TextBox 38"/>
          <p:cNvSpPr txBox="1"/>
          <p:nvPr/>
        </p:nvSpPr>
        <p:spPr>
          <a:xfrm>
            <a:off x="6598767" y="5788152"/>
            <a:ext cx="4297680" cy="365760"/>
          </a:xfrm>
          <a:prstGeom prst="rect">
            <a:avLst/>
          </a:prstGeom>
          <a:noFill/>
        </p:spPr>
        <p:txBody>
          <a:bodyPr wrap="square" lIns="0" rIns="0" tIns="0" bIns="0" anchor="t">
            <a:spAutoFit/>
          </a:bodyPr>
          <a:lstStyle/>
          <a:p>
            <a:pPr algn="ctr"/>
            <a:r>
              <a:rPr sz="1000" b="0" i="0">
                <a:solidFill>
                  <a:srgbClr val="CCCCCC"/>
                </a:solidFill>
                <a:latin typeface="Helvetica Neue"/>
              </a:rPr>
              <a:t>~91 % drop. Still high, but ~2,8x stronger than mobile.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TRAFFIC ACQUISITION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200" b="1" i="0" spc="-50">
                <a:solidFill>
                  <a:srgbClr val="FFFFFF"/>
                </a:solidFill>
                <a:latin typeface="Helvetica Neue"/>
              </a:rPr>
              <a:t>Paid Facebook spends 46 % of GA4 sessions on zero tracked revenue</a:t>
            </a:r>
          </a:p>
        </p:txBody>
      </p:sp>
      <p:sp>
        <p:nvSpPr>
          <p:cNvPr id="9" name="TextBox 8"/>
          <p:cNvSpPr txBox="1"/>
          <p:nvPr/>
        </p:nvSpPr>
        <p:spPr>
          <a:xfrm>
            <a:off x="2011680" y="128016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GA4 source/medium breakdown (90-day). GA4 only reports ~14 % of real sessions but the source mix is still directional. The Facebook gap is a tracking issue, not a creative one.</a:t>
            </a:r>
          </a:p>
        </p:txBody>
      </p:sp>
      <p:sp>
        <p:nvSpPr>
          <p:cNvPr id="10" name="TextBox 9"/>
          <p:cNvSpPr txBox="1"/>
          <p:nvPr/>
        </p:nvSpPr>
        <p:spPr>
          <a:xfrm>
            <a:off x="777240" y="2286000"/>
            <a:ext cx="1920240" cy="274320"/>
          </a:xfrm>
          <a:prstGeom prst="rect">
            <a:avLst/>
          </a:prstGeom>
          <a:noFill/>
        </p:spPr>
        <p:txBody>
          <a:bodyPr wrap="square" lIns="0" rIns="0" tIns="0" bIns="0" anchor="t">
            <a:spAutoFit/>
          </a:bodyPr>
          <a:lstStyle/>
          <a:p>
            <a:pPr algn="l"/>
            <a:r>
              <a:rPr sz="900" b="1" i="0" spc="200">
                <a:solidFill>
                  <a:srgbClr val="999999"/>
                </a:solidFill>
                <a:latin typeface="Helvetica Neue"/>
              </a:rPr>
              <a:t>SOURCE / MEDIUM</a:t>
            </a:r>
          </a:p>
        </p:txBody>
      </p:sp>
      <p:sp>
        <p:nvSpPr>
          <p:cNvPr id="11" name="TextBox 10"/>
          <p:cNvSpPr txBox="1"/>
          <p:nvPr/>
        </p:nvSpPr>
        <p:spPr>
          <a:xfrm>
            <a:off x="2971800" y="2286000"/>
            <a:ext cx="1097280" cy="274320"/>
          </a:xfrm>
          <a:prstGeom prst="rect">
            <a:avLst/>
          </a:prstGeom>
          <a:noFill/>
        </p:spPr>
        <p:txBody>
          <a:bodyPr wrap="square" lIns="0" rIns="0" tIns="0" bIns="0" anchor="t">
            <a:spAutoFit/>
          </a:bodyPr>
          <a:lstStyle/>
          <a:p>
            <a:pPr algn="r"/>
            <a:r>
              <a:rPr sz="900" b="1" i="0" spc="200">
                <a:solidFill>
                  <a:srgbClr val="999999"/>
                </a:solidFill>
                <a:latin typeface="Helvetica Neue"/>
              </a:rPr>
              <a:t>SESSIONS</a:t>
            </a:r>
          </a:p>
        </p:txBody>
      </p:sp>
      <p:sp>
        <p:nvSpPr>
          <p:cNvPr id="12" name="TextBox 11"/>
          <p:cNvSpPr txBox="1"/>
          <p:nvPr/>
        </p:nvSpPr>
        <p:spPr>
          <a:xfrm>
            <a:off x="4343400" y="2286000"/>
            <a:ext cx="914400" cy="274320"/>
          </a:xfrm>
          <a:prstGeom prst="rect">
            <a:avLst/>
          </a:prstGeom>
          <a:noFill/>
        </p:spPr>
        <p:txBody>
          <a:bodyPr wrap="square" lIns="0" rIns="0" tIns="0" bIns="0" anchor="t">
            <a:spAutoFit/>
          </a:bodyPr>
          <a:lstStyle/>
          <a:p>
            <a:pPr algn="r"/>
            <a:r>
              <a:rPr sz="900" b="1" i="0" spc="200">
                <a:solidFill>
                  <a:srgbClr val="999999"/>
                </a:solidFill>
                <a:latin typeface="Helvetica Neue"/>
              </a:rPr>
              <a:t>PURCHASES</a:t>
            </a:r>
          </a:p>
        </p:txBody>
      </p:sp>
      <p:sp>
        <p:nvSpPr>
          <p:cNvPr id="13" name="TextBox 12"/>
          <p:cNvSpPr txBox="1"/>
          <p:nvPr/>
        </p:nvSpPr>
        <p:spPr>
          <a:xfrm>
            <a:off x="5532120" y="2286000"/>
            <a:ext cx="1371600" cy="274320"/>
          </a:xfrm>
          <a:prstGeom prst="rect">
            <a:avLst/>
          </a:prstGeom>
          <a:noFill/>
        </p:spPr>
        <p:txBody>
          <a:bodyPr wrap="square" lIns="0" rIns="0" tIns="0" bIns="0" anchor="t">
            <a:spAutoFit/>
          </a:bodyPr>
          <a:lstStyle/>
          <a:p>
            <a:pPr algn="r"/>
            <a:r>
              <a:rPr sz="900" b="1" i="0" spc="200">
                <a:solidFill>
                  <a:srgbClr val="999999"/>
                </a:solidFill>
                <a:latin typeface="Helvetica Neue"/>
              </a:rPr>
              <a:t>REVENUE (KR)</a:t>
            </a:r>
          </a:p>
        </p:txBody>
      </p:sp>
      <p:sp>
        <p:nvSpPr>
          <p:cNvPr id="14" name="TextBox 13"/>
          <p:cNvSpPr txBox="1"/>
          <p:nvPr/>
        </p:nvSpPr>
        <p:spPr>
          <a:xfrm>
            <a:off x="7178040" y="2286000"/>
            <a:ext cx="4233672" cy="274320"/>
          </a:xfrm>
          <a:prstGeom prst="rect">
            <a:avLst/>
          </a:prstGeom>
          <a:noFill/>
        </p:spPr>
        <p:txBody>
          <a:bodyPr wrap="square" lIns="0" rIns="0" tIns="0" bIns="0" anchor="t">
            <a:spAutoFit/>
          </a:bodyPr>
          <a:lstStyle/>
          <a:p>
            <a:pPr algn="l"/>
            <a:r>
              <a:rPr sz="900" b="1" i="0" spc="200">
                <a:solidFill>
                  <a:srgbClr val="999999"/>
                </a:solidFill>
                <a:latin typeface="Helvetica Neue"/>
              </a:rPr>
              <a:t>NOTES</a:t>
            </a:r>
          </a:p>
        </p:txBody>
      </p:sp>
      <p:sp>
        <p:nvSpPr>
          <p:cNvPr id="15" name="Rectangle 14"/>
          <p:cNvSpPr/>
          <p:nvPr/>
        </p:nvSpPr>
        <p:spPr>
          <a:xfrm>
            <a:off x="640080" y="2578608"/>
            <a:ext cx="1091153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642616"/>
            <a:ext cx="10911535"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697480"/>
            <a:ext cx="1920240" cy="320040"/>
          </a:xfrm>
          <a:prstGeom prst="rect">
            <a:avLst/>
          </a:prstGeom>
          <a:noFill/>
        </p:spPr>
        <p:txBody>
          <a:bodyPr wrap="square" lIns="0" rIns="0" tIns="0" bIns="0" anchor="t">
            <a:spAutoFit/>
          </a:bodyPr>
          <a:lstStyle/>
          <a:p>
            <a:pPr algn="l"/>
            <a:r>
              <a:rPr sz="1100" b="1" i="0">
                <a:solidFill>
                  <a:srgbClr val="EF4444"/>
                </a:solidFill>
                <a:latin typeface="Helvetica Neue"/>
              </a:rPr>
              <a:t>facebook / paid</a:t>
            </a:r>
          </a:p>
        </p:txBody>
      </p:sp>
      <p:sp>
        <p:nvSpPr>
          <p:cNvPr id="18" name="TextBox 17"/>
          <p:cNvSpPr txBox="1"/>
          <p:nvPr/>
        </p:nvSpPr>
        <p:spPr>
          <a:xfrm>
            <a:off x="2971800" y="2697480"/>
            <a:ext cx="1097280" cy="320040"/>
          </a:xfrm>
          <a:prstGeom prst="rect">
            <a:avLst/>
          </a:prstGeom>
          <a:noFill/>
        </p:spPr>
        <p:txBody>
          <a:bodyPr wrap="square" lIns="0" rIns="0" tIns="0" bIns="0" anchor="t">
            <a:spAutoFit/>
          </a:bodyPr>
          <a:lstStyle/>
          <a:p>
            <a:pPr algn="r"/>
            <a:r>
              <a:rPr sz="1100" b="0" i="0">
                <a:solidFill>
                  <a:srgbClr val="CCCCCC"/>
                </a:solidFill>
                <a:latin typeface="Menlo"/>
              </a:rPr>
              <a:t>1.797 (46 %)</a:t>
            </a:r>
          </a:p>
        </p:txBody>
      </p:sp>
      <p:sp>
        <p:nvSpPr>
          <p:cNvPr id="19" name="TextBox 18"/>
          <p:cNvSpPr txBox="1"/>
          <p:nvPr/>
        </p:nvSpPr>
        <p:spPr>
          <a:xfrm>
            <a:off x="4343400" y="2697480"/>
            <a:ext cx="914400" cy="320040"/>
          </a:xfrm>
          <a:prstGeom prst="rect">
            <a:avLst/>
          </a:prstGeom>
          <a:noFill/>
        </p:spPr>
        <p:txBody>
          <a:bodyPr wrap="square" lIns="0" rIns="0" tIns="0" bIns="0" anchor="t">
            <a:spAutoFit/>
          </a:bodyPr>
          <a:lstStyle/>
          <a:p>
            <a:pPr algn="r"/>
            <a:r>
              <a:rPr sz="1100" b="0" i="0">
                <a:solidFill>
                  <a:srgbClr val="EF4444"/>
                </a:solidFill>
                <a:latin typeface="Menlo"/>
              </a:rPr>
              <a:t>0</a:t>
            </a:r>
          </a:p>
        </p:txBody>
      </p:sp>
      <p:sp>
        <p:nvSpPr>
          <p:cNvPr id="20" name="TextBox 19"/>
          <p:cNvSpPr txBox="1"/>
          <p:nvPr/>
        </p:nvSpPr>
        <p:spPr>
          <a:xfrm>
            <a:off x="5532120" y="2697480"/>
            <a:ext cx="1371600" cy="320040"/>
          </a:xfrm>
          <a:prstGeom prst="rect">
            <a:avLst/>
          </a:prstGeom>
          <a:noFill/>
        </p:spPr>
        <p:txBody>
          <a:bodyPr wrap="square" lIns="0" rIns="0" tIns="0" bIns="0" anchor="t">
            <a:spAutoFit/>
          </a:bodyPr>
          <a:lstStyle/>
          <a:p>
            <a:pPr algn="r"/>
            <a:r>
              <a:rPr sz="1100" b="1" i="0">
                <a:solidFill>
                  <a:srgbClr val="EF4444"/>
                </a:solidFill>
                <a:latin typeface="Menlo"/>
              </a:rPr>
              <a:t>0</a:t>
            </a:r>
          </a:p>
        </p:txBody>
      </p:sp>
      <p:sp>
        <p:nvSpPr>
          <p:cNvPr id="21" name="TextBox 20"/>
          <p:cNvSpPr txBox="1"/>
          <p:nvPr/>
        </p:nvSpPr>
        <p:spPr>
          <a:xfrm>
            <a:off x="7178040" y="2697480"/>
            <a:ext cx="4233672" cy="320040"/>
          </a:xfrm>
          <a:prstGeom prst="rect">
            <a:avLst/>
          </a:prstGeom>
          <a:noFill/>
        </p:spPr>
        <p:txBody>
          <a:bodyPr wrap="square" lIns="0" rIns="0" tIns="0" bIns="0" anchor="t">
            <a:spAutoFit/>
          </a:bodyPr>
          <a:lstStyle/>
          <a:p>
            <a:pPr algn="l"/>
            <a:r>
              <a:rPr sz="1000" b="0" i="0">
                <a:solidFill>
                  <a:srgbClr val="999999"/>
                </a:solidFill>
                <a:latin typeface="Helvetica Neue"/>
              </a:rPr>
              <a:t>Tracking gap or attribution loss</a:t>
            </a:r>
          </a:p>
        </p:txBody>
      </p:sp>
      <p:sp>
        <p:nvSpPr>
          <p:cNvPr id="22" name="TextBox 21"/>
          <p:cNvSpPr txBox="1"/>
          <p:nvPr/>
        </p:nvSpPr>
        <p:spPr>
          <a:xfrm>
            <a:off x="777240" y="3154680"/>
            <a:ext cx="1920240" cy="320040"/>
          </a:xfrm>
          <a:prstGeom prst="rect">
            <a:avLst/>
          </a:prstGeom>
          <a:noFill/>
        </p:spPr>
        <p:txBody>
          <a:bodyPr wrap="square" lIns="0" rIns="0" tIns="0" bIns="0" anchor="t">
            <a:spAutoFit/>
          </a:bodyPr>
          <a:lstStyle/>
          <a:p>
            <a:pPr algn="l"/>
            <a:r>
              <a:rPr sz="1100" b="1" i="0">
                <a:solidFill>
                  <a:srgbClr val="F7D007"/>
                </a:solidFill>
                <a:latin typeface="Helvetica Neue"/>
              </a:rPr>
              <a:t>google / cpc</a:t>
            </a:r>
          </a:p>
        </p:txBody>
      </p:sp>
      <p:sp>
        <p:nvSpPr>
          <p:cNvPr id="23" name="TextBox 22"/>
          <p:cNvSpPr txBox="1"/>
          <p:nvPr/>
        </p:nvSpPr>
        <p:spPr>
          <a:xfrm>
            <a:off x="2971800" y="3154680"/>
            <a:ext cx="1097280" cy="320040"/>
          </a:xfrm>
          <a:prstGeom prst="rect">
            <a:avLst/>
          </a:prstGeom>
          <a:noFill/>
        </p:spPr>
        <p:txBody>
          <a:bodyPr wrap="square" lIns="0" rIns="0" tIns="0" bIns="0" anchor="t">
            <a:spAutoFit/>
          </a:bodyPr>
          <a:lstStyle/>
          <a:p>
            <a:pPr algn="r"/>
            <a:r>
              <a:rPr sz="1100" b="0" i="0">
                <a:solidFill>
                  <a:srgbClr val="CCCCCC"/>
                </a:solidFill>
                <a:latin typeface="Menlo"/>
              </a:rPr>
              <a:t>1.023</a:t>
            </a:r>
          </a:p>
        </p:txBody>
      </p:sp>
      <p:sp>
        <p:nvSpPr>
          <p:cNvPr id="24" name="TextBox 23"/>
          <p:cNvSpPr txBox="1"/>
          <p:nvPr/>
        </p:nvSpPr>
        <p:spPr>
          <a:xfrm>
            <a:off x="4343400" y="3154680"/>
            <a:ext cx="914400" cy="320040"/>
          </a:xfrm>
          <a:prstGeom prst="rect">
            <a:avLst/>
          </a:prstGeom>
          <a:noFill/>
        </p:spPr>
        <p:txBody>
          <a:bodyPr wrap="square" lIns="0" rIns="0" tIns="0" bIns="0" anchor="t">
            <a:spAutoFit/>
          </a:bodyPr>
          <a:lstStyle/>
          <a:p>
            <a:pPr algn="r"/>
            <a:r>
              <a:rPr sz="1100" b="0" i="0">
                <a:solidFill>
                  <a:srgbClr val="CCCCCC"/>
                </a:solidFill>
                <a:latin typeface="Menlo"/>
              </a:rPr>
              <a:t>25</a:t>
            </a:r>
          </a:p>
        </p:txBody>
      </p:sp>
      <p:sp>
        <p:nvSpPr>
          <p:cNvPr id="25" name="TextBox 24"/>
          <p:cNvSpPr txBox="1"/>
          <p:nvPr/>
        </p:nvSpPr>
        <p:spPr>
          <a:xfrm>
            <a:off x="5532120" y="3154680"/>
            <a:ext cx="1371600" cy="320040"/>
          </a:xfrm>
          <a:prstGeom prst="rect">
            <a:avLst/>
          </a:prstGeom>
          <a:noFill/>
        </p:spPr>
        <p:txBody>
          <a:bodyPr wrap="square" lIns="0" rIns="0" tIns="0" bIns="0" anchor="t">
            <a:spAutoFit/>
          </a:bodyPr>
          <a:lstStyle/>
          <a:p>
            <a:pPr algn="r"/>
            <a:r>
              <a:rPr sz="1100" b="1" i="0">
                <a:solidFill>
                  <a:srgbClr val="F7D007"/>
                </a:solidFill>
                <a:latin typeface="Menlo"/>
              </a:rPr>
              <a:t>82.687</a:t>
            </a:r>
          </a:p>
        </p:txBody>
      </p:sp>
      <p:sp>
        <p:nvSpPr>
          <p:cNvPr id="26" name="TextBox 25"/>
          <p:cNvSpPr txBox="1"/>
          <p:nvPr/>
        </p:nvSpPr>
        <p:spPr>
          <a:xfrm>
            <a:off x="7178040" y="3154680"/>
            <a:ext cx="4233672" cy="320040"/>
          </a:xfrm>
          <a:prstGeom prst="rect">
            <a:avLst/>
          </a:prstGeom>
          <a:noFill/>
        </p:spPr>
        <p:txBody>
          <a:bodyPr wrap="square" lIns="0" rIns="0" tIns="0" bIns="0" anchor="t">
            <a:spAutoFit/>
          </a:bodyPr>
          <a:lstStyle/>
          <a:p>
            <a:pPr algn="l"/>
            <a:r>
              <a:rPr sz="1000" b="0" i="0">
                <a:solidFill>
                  <a:srgbClr val="999999"/>
                </a:solidFill>
                <a:latin typeface="Helvetica Neue"/>
              </a:rPr>
              <a:t>Healthy. 2,44 % CR</a:t>
            </a:r>
          </a:p>
        </p:txBody>
      </p:sp>
      <p:sp>
        <p:nvSpPr>
          <p:cNvPr id="27" name="Rectangle 26"/>
          <p:cNvSpPr/>
          <p:nvPr/>
        </p:nvSpPr>
        <p:spPr>
          <a:xfrm>
            <a:off x="640080" y="3557016"/>
            <a:ext cx="10911535"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611880"/>
            <a:ext cx="1920240" cy="320040"/>
          </a:xfrm>
          <a:prstGeom prst="rect">
            <a:avLst/>
          </a:prstGeom>
          <a:noFill/>
        </p:spPr>
        <p:txBody>
          <a:bodyPr wrap="square" lIns="0" rIns="0" tIns="0" bIns="0" anchor="t">
            <a:spAutoFit/>
          </a:bodyPr>
          <a:lstStyle/>
          <a:p>
            <a:pPr algn="l"/>
            <a:r>
              <a:rPr sz="1100" b="1" i="0">
                <a:solidFill>
                  <a:srgbClr val="F7D007"/>
                </a:solidFill>
                <a:latin typeface="Helvetica Neue"/>
              </a:rPr>
              <a:t>(direct) / (none)</a:t>
            </a:r>
          </a:p>
        </p:txBody>
      </p:sp>
      <p:sp>
        <p:nvSpPr>
          <p:cNvPr id="29" name="TextBox 28"/>
          <p:cNvSpPr txBox="1"/>
          <p:nvPr/>
        </p:nvSpPr>
        <p:spPr>
          <a:xfrm>
            <a:off x="2971800" y="3611880"/>
            <a:ext cx="1097280" cy="320040"/>
          </a:xfrm>
          <a:prstGeom prst="rect">
            <a:avLst/>
          </a:prstGeom>
          <a:noFill/>
        </p:spPr>
        <p:txBody>
          <a:bodyPr wrap="square" lIns="0" rIns="0" tIns="0" bIns="0" anchor="t">
            <a:spAutoFit/>
          </a:bodyPr>
          <a:lstStyle/>
          <a:p>
            <a:pPr algn="r"/>
            <a:r>
              <a:rPr sz="1100" b="0" i="0">
                <a:solidFill>
                  <a:srgbClr val="CCCCCC"/>
                </a:solidFill>
                <a:latin typeface="Menlo"/>
              </a:rPr>
              <a:t>379</a:t>
            </a:r>
          </a:p>
        </p:txBody>
      </p:sp>
      <p:sp>
        <p:nvSpPr>
          <p:cNvPr id="30" name="TextBox 29"/>
          <p:cNvSpPr txBox="1"/>
          <p:nvPr/>
        </p:nvSpPr>
        <p:spPr>
          <a:xfrm>
            <a:off x="4343400" y="3611880"/>
            <a:ext cx="914400" cy="320040"/>
          </a:xfrm>
          <a:prstGeom prst="rect">
            <a:avLst/>
          </a:prstGeom>
          <a:noFill/>
        </p:spPr>
        <p:txBody>
          <a:bodyPr wrap="square" lIns="0" rIns="0" tIns="0" bIns="0" anchor="t">
            <a:spAutoFit/>
          </a:bodyPr>
          <a:lstStyle/>
          <a:p>
            <a:pPr algn="r"/>
            <a:r>
              <a:rPr sz="1100" b="0" i="0">
                <a:solidFill>
                  <a:srgbClr val="CCCCCC"/>
                </a:solidFill>
                <a:latin typeface="Menlo"/>
              </a:rPr>
              <a:t>21</a:t>
            </a:r>
          </a:p>
        </p:txBody>
      </p:sp>
      <p:sp>
        <p:nvSpPr>
          <p:cNvPr id="31" name="TextBox 30"/>
          <p:cNvSpPr txBox="1"/>
          <p:nvPr/>
        </p:nvSpPr>
        <p:spPr>
          <a:xfrm>
            <a:off x="5532120" y="3611880"/>
            <a:ext cx="1371600" cy="320040"/>
          </a:xfrm>
          <a:prstGeom prst="rect">
            <a:avLst/>
          </a:prstGeom>
          <a:noFill/>
        </p:spPr>
        <p:txBody>
          <a:bodyPr wrap="square" lIns="0" rIns="0" tIns="0" bIns="0" anchor="t">
            <a:spAutoFit/>
          </a:bodyPr>
          <a:lstStyle/>
          <a:p>
            <a:pPr algn="r"/>
            <a:r>
              <a:rPr sz="1100" b="1" i="0">
                <a:solidFill>
                  <a:srgbClr val="F7D007"/>
                </a:solidFill>
                <a:latin typeface="Menlo"/>
              </a:rPr>
              <a:t>126.715</a:t>
            </a:r>
          </a:p>
        </p:txBody>
      </p:sp>
      <p:sp>
        <p:nvSpPr>
          <p:cNvPr id="32" name="TextBox 31"/>
          <p:cNvSpPr txBox="1"/>
          <p:nvPr/>
        </p:nvSpPr>
        <p:spPr>
          <a:xfrm>
            <a:off x="7178040" y="3611880"/>
            <a:ext cx="4233672" cy="320040"/>
          </a:xfrm>
          <a:prstGeom prst="rect">
            <a:avLst/>
          </a:prstGeom>
          <a:noFill/>
        </p:spPr>
        <p:txBody>
          <a:bodyPr wrap="square" lIns="0" rIns="0" tIns="0" bIns="0" anchor="t">
            <a:spAutoFit/>
          </a:bodyPr>
          <a:lstStyle/>
          <a:p>
            <a:pPr algn="l"/>
            <a:r>
              <a:rPr sz="1000" b="0" i="0">
                <a:solidFill>
                  <a:srgbClr val="999999"/>
                </a:solidFill>
                <a:latin typeface="Helvetica Neue"/>
              </a:rPr>
              <a:t>Highest revenue. Likely absorbing FB</a:t>
            </a:r>
          </a:p>
        </p:txBody>
      </p:sp>
      <p:sp>
        <p:nvSpPr>
          <p:cNvPr id="33" name="TextBox 32"/>
          <p:cNvSpPr txBox="1"/>
          <p:nvPr/>
        </p:nvSpPr>
        <p:spPr>
          <a:xfrm>
            <a:off x="777240" y="4069080"/>
            <a:ext cx="1920240" cy="320040"/>
          </a:xfrm>
          <a:prstGeom prst="rect">
            <a:avLst/>
          </a:prstGeom>
          <a:noFill/>
        </p:spPr>
        <p:txBody>
          <a:bodyPr wrap="square" lIns="0" rIns="0" tIns="0" bIns="0" anchor="t">
            <a:spAutoFit/>
          </a:bodyPr>
          <a:lstStyle/>
          <a:p>
            <a:pPr algn="l"/>
            <a:r>
              <a:rPr sz="1100" b="1" i="0">
                <a:solidFill>
                  <a:srgbClr val="F7D007"/>
                </a:solidFill>
                <a:latin typeface="Helvetica Neue"/>
              </a:rPr>
              <a:t>pricerunner / cpc</a:t>
            </a:r>
          </a:p>
        </p:txBody>
      </p:sp>
      <p:sp>
        <p:nvSpPr>
          <p:cNvPr id="34" name="TextBox 33"/>
          <p:cNvSpPr txBox="1"/>
          <p:nvPr/>
        </p:nvSpPr>
        <p:spPr>
          <a:xfrm>
            <a:off x="2971800" y="4069080"/>
            <a:ext cx="1097280" cy="320040"/>
          </a:xfrm>
          <a:prstGeom prst="rect">
            <a:avLst/>
          </a:prstGeom>
          <a:noFill/>
        </p:spPr>
        <p:txBody>
          <a:bodyPr wrap="square" lIns="0" rIns="0" tIns="0" bIns="0" anchor="t">
            <a:spAutoFit/>
          </a:bodyPr>
          <a:lstStyle/>
          <a:p>
            <a:pPr algn="r"/>
            <a:r>
              <a:rPr sz="1100" b="0" i="0">
                <a:solidFill>
                  <a:srgbClr val="CCCCCC"/>
                </a:solidFill>
                <a:latin typeface="Menlo"/>
              </a:rPr>
              <a:t>124</a:t>
            </a:r>
          </a:p>
        </p:txBody>
      </p:sp>
      <p:sp>
        <p:nvSpPr>
          <p:cNvPr id="35" name="TextBox 34"/>
          <p:cNvSpPr txBox="1"/>
          <p:nvPr/>
        </p:nvSpPr>
        <p:spPr>
          <a:xfrm>
            <a:off x="4343400" y="4069080"/>
            <a:ext cx="914400" cy="320040"/>
          </a:xfrm>
          <a:prstGeom prst="rect">
            <a:avLst/>
          </a:prstGeom>
          <a:noFill/>
        </p:spPr>
        <p:txBody>
          <a:bodyPr wrap="square" lIns="0" rIns="0" tIns="0" bIns="0" anchor="t">
            <a:spAutoFit/>
          </a:bodyPr>
          <a:lstStyle/>
          <a:p>
            <a:pPr algn="r"/>
            <a:r>
              <a:rPr sz="1100" b="0" i="0">
                <a:solidFill>
                  <a:srgbClr val="CCCCCC"/>
                </a:solidFill>
                <a:latin typeface="Menlo"/>
              </a:rPr>
              <a:t>10</a:t>
            </a:r>
          </a:p>
        </p:txBody>
      </p:sp>
      <p:sp>
        <p:nvSpPr>
          <p:cNvPr id="36" name="TextBox 35"/>
          <p:cNvSpPr txBox="1"/>
          <p:nvPr/>
        </p:nvSpPr>
        <p:spPr>
          <a:xfrm>
            <a:off x="5532120" y="4069080"/>
            <a:ext cx="1371600" cy="320040"/>
          </a:xfrm>
          <a:prstGeom prst="rect">
            <a:avLst/>
          </a:prstGeom>
          <a:noFill/>
        </p:spPr>
        <p:txBody>
          <a:bodyPr wrap="square" lIns="0" rIns="0" tIns="0" bIns="0" anchor="t">
            <a:spAutoFit/>
          </a:bodyPr>
          <a:lstStyle/>
          <a:p>
            <a:pPr algn="r"/>
            <a:r>
              <a:rPr sz="1100" b="1" i="0">
                <a:solidFill>
                  <a:srgbClr val="F7D007"/>
                </a:solidFill>
                <a:latin typeface="Menlo"/>
              </a:rPr>
              <a:t>90.200</a:t>
            </a:r>
          </a:p>
        </p:txBody>
      </p:sp>
      <p:sp>
        <p:nvSpPr>
          <p:cNvPr id="37" name="TextBox 36"/>
          <p:cNvSpPr txBox="1"/>
          <p:nvPr/>
        </p:nvSpPr>
        <p:spPr>
          <a:xfrm>
            <a:off x="7178040" y="4069080"/>
            <a:ext cx="4233672" cy="320040"/>
          </a:xfrm>
          <a:prstGeom prst="rect">
            <a:avLst/>
          </a:prstGeom>
          <a:noFill/>
        </p:spPr>
        <p:txBody>
          <a:bodyPr wrap="square" lIns="0" rIns="0" tIns="0" bIns="0" anchor="t">
            <a:spAutoFit/>
          </a:bodyPr>
          <a:lstStyle/>
          <a:p>
            <a:pPr algn="l"/>
            <a:r>
              <a:rPr sz="1000" b="0" i="0">
                <a:solidFill>
                  <a:srgbClr val="999999"/>
                </a:solidFill>
                <a:latin typeface="Helvetica Neue"/>
              </a:rPr>
              <a:t>Premium intent. 9.020 kr AOV</a:t>
            </a:r>
          </a:p>
        </p:txBody>
      </p:sp>
      <p:sp>
        <p:nvSpPr>
          <p:cNvPr id="38" name="Rectangle 37"/>
          <p:cNvSpPr/>
          <p:nvPr/>
        </p:nvSpPr>
        <p:spPr>
          <a:xfrm>
            <a:off x="640080" y="4471416"/>
            <a:ext cx="10911535"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526280"/>
            <a:ext cx="1920240" cy="320040"/>
          </a:xfrm>
          <a:prstGeom prst="rect">
            <a:avLst/>
          </a:prstGeom>
          <a:noFill/>
        </p:spPr>
        <p:txBody>
          <a:bodyPr wrap="square" lIns="0" rIns="0" tIns="0" bIns="0" anchor="t">
            <a:spAutoFit/>
          </a:bodyPr>
          <a:lstStyle/>
          <a:p>
            <a:pPr algn="l"/>
            <a:r>
              <a:rPr sz="1100" b="0" i="0">
                <a:solidFill>
                  <a:srgbClr val="CCCCCC"/>
                </a:solidFill>
                <a:latin typeface="Helvetica Neue"/>
              </a:rPr>
              <a:t>partnerads / affiliate</a:t>
            </a:r>
          </a:p>
        </p:txBody>
      </p:sp>
      <p:sp>
        <p:nvSpPr>
          <p:cNvPr id="40" name="TextBox 39"/>
          <p:cNvSpPr txBox="1"/>
          <p:nvPr/>
        </p:nvSpPr>
        <p:spPr>
          <a:xfrm>
            <a:off x="2971800" y="4526280"/>
            <a:ext cx="1097280" cy="320040"/>
          </a:xfrm>
          <a:prstGeom prst="rect">
            <a:avLst/>
          </a:prstGeom>
          <a:noFill/>
        </p:spPr>
        <p:txBody>
          <a:bodyPr wrap="square" lIns="0" rIns="0" tIns="0" bIns="0" anchor="t">
            <a:spAutoFit/>
          </a:bodyPr>
          <a:lstStyle/>
          <a:p>
            <a:pPr algn="r"/>
            <a:r>
              <a:rPr sz="1100" b="0" i="0">
                <a:solidFill>
                  <a:srgbClr val="CCCCCC"/>
                </a:solidFill>
                <a:latin typeface="Menlo"/>
              </a:rPr>
              <a:t>228</a:t>
            </a:r>
          </a:p>
        </p:txBody>
      </p:sp>
      <p:sp>
        <p:nvSpPr>
          <p:cNvPr id="41" name="TextBox 40"/>
          <p:cNvSpPr txBox="1"/>
          <p:nvPr/>
        </p:nvSpPr>
        <p:spPr>
          <a:xfrm>
            <a:off x="4343400" y="4526280"/>
            <a:ext cx="914400" cy="320040"/>
          </a:xfrm>
          <a:prstGeom prst="rect">
            <a:avLst/>
          </a:prstGeom>
          <a:noFill/>
        </p:spPr>
        <p:txBody>
          <a:bodyPr wrap="square" lIns="0" rIns="0" tIns="0" bIns="0" anchor="t">
            <a:spAutoFit/>
          </a:bodyPr>
          <a:lstStyle/>
          <a:p>
            <a:pPr algn="r"/>
            <a:r>
              <a:rPr sz="1100" b="0" i="0">
                <a:solidFill>
                  <a:srgbClr val="CCCCCC"/>
                </a:solidFill>
                <a:latin typeface="Menlo"/>
              </a:rPr>
              <a:t>4</a:t>
            </a:r>
          </a:p>
        </p:txBody>
      </p:sp>
      <p:sp>
        <p:nvSpPr>
          <p:cNvPr id="42" name="TextBox 41"/>
          <p:cNvSpPr txBox="1"/>
          <p:nvPr/>
        </p:nvSpPr>
        <p:spPr>
          <a:xfrm>
            <a:off x="5532120" y="4526280"/>
            <a:ext cx="1371600" cy="320040"/>
          </a:xfrm>
          <a:prstGeom prst="rect">
            <a:avLst/>
          </a:prstGeom>
          <a:noFill/>
        </p:spPr>
        <p:txBody>
          <a:bodyPr wrap="square" lIns="0" rIns="0" tIns="0" bIns="0" anchor="t">
            <a:spAutoFit/>
          </a:bodyPr>
          <a:lstStyle/>
          <a:p>
            <a:pPr algn="r"/>
            <a:r>
              <a:rPr sz="1100" b="0" i="0">
                <a:solidFill>
                  <a:srgbClr val="CCCCCC"/>
                </a:solidFill>
                <a:latin typeface="Menlo"/>
              </a:rPr>
              <a:t>8.175</a:t>
            </a:r>
          </a:p>
        </p:txBody>
      </p:sp>
      <p:sp>
        <p:nvSpPr>
          <p:cNvPr id="43" name="TextBox 42"/>
          <p:cNvSpPr txBox="1"/>
          <p:nvPr/>
        </p:nvSpPr>
        <p:spPr>
          <a:xfrm>
            <a:off x="7178040" y="4526280"/>
            <a:ext cx="4233672" cy="320040"/>
          </a:xfrm>
          <a:prstGeom prst="rect">
            <a:avLst/>
          </a:prstGeom>
          <a:noFill/>
        </p:spPr>
        <p:txBody>
          <a:bodyPr wrap="square" lIns="0" rIns="0" tIns="0" bIns="0" anchor="t">
            <a:spAutoFit/>
          </a:bodyPr>
          <a:lstStyle/>
          <a:p>
            <a:pPr algn="l"/>
            <a:r>
              <a:rPr sz="1000" b="0" i="0">
                <a:solidFill>
                  <a:srgbClr val="999999"/>
                </a:solidFill>
                <a:latin typeface="Helvetica Neue"/>
              </a:rPr>
              <a:t>Low ticket affiliate</a:t>
            </a:r>
          </a:p>
        </p:txBody>
      </p:sp>
      <p:sp>
        <p:nvSpPr>
          <p:cNvPr id="44" name="TextBox 43"/>
          <p:cNvSpPr txBox="1"/>
          <p:nvPr/>
        </p:nvSpPr>
        <p:spPr>
          <a:xfrm>
            <a:off x="777240" y="4983480"/>
            <a:ext cx="1920240" cy="320040"/>
          </a:xfrm>
          <a:prstGeom prst="rect">
            <a:avLst/>
          </a:prstGeom>
          <a:noFill/>
        </p:spPr>
        <p:txBody>
          <a:bodyPr wrap="square" lIns="0" rIns="0" tIns="0" bIns="0" anchor="t">
            <a:spAutoFit/>
          </a:bodyPr>
          <a:lstStyle/>
          <a:p>
            <a:pPr algn="l"/>
            <a:r>
              <a:rPr sz="1100" b="0" i="0">
                <a:solidFill>
                  <a:srgbClr val="CCCCCC"/>
                </a:solidFill>
                <a:latin typeface="Helvetica Neue"/>
              </a:rPr>
              <a:t>google / organic</a:t>
            </a:r>
          </a:p>
        </p:txBody>
      </p:sp>
      <p:sp>
        <p:nvSpPr>
          <p:cNvPr id="45" name="TextBox 44"/>
          <p:cNvSpPr txBox="1"/>
          <p:nvPr/>
        </p:nvSpPr>
        <p:spPr>
          <a:xfrm>
            <a:off x="2971800" y="4983480"/>
            <a:ext cx="1097280" cy="320040"/>
          </a:xfrm>
          <a:prstGeom prst="rect">
            <a:avLst/>
          </a:prstGeom>
          <a:noFill/>
        </p:spPr>
        <p:txBody>
          <a:bodyPr wrap="square" lIns="0" rIns="0" tIns="0" bIns="0" anchor="t">
            <a:spAutoFit/>
          </a:bodyPr>
          <a:lstStyle/>
          <a:p>
            <a:pPr algn="r"/>
            <a:r>
              <a:rPr sz="1100" b="0" i="0">
                <a:solidFill>
                  <a:srgbClr val="CCCCCC"/>
                </a:solidFill>
                <a:latin typeface="Menlo"/>
              </a:rPr>
              <a:t>81</a:t>
            </a:r>
          </a:p>
        </p:txBody>
      </p:sp>
      <p:sp>
        <p:nvSpPr>
          <p:cNvPr id="46" name="TextBox 45"/>
          <p:cNvSpPr txBox="1"/>
          <p:nvPr/>
        </p:nvSpPr>
        <p:spPr>
          <a:xfrm>
            <a:off x="4343400" y="4983480"/>
            <a:ext cx="914400" cy="320040"/>
          </a:xfrm>
          <a:prstGeom prst="rect">
            <a:avLst/>
          </a:prstGeom>
          <a:noFill/>
        </p:spPr>
        <p:txBody>
          <a:bodyPr wrap="square" lIns="0" rIns="0" tIns="0" bIns="0" anchor="t">
            <a:spAutoFit/>
          </a:bodyPr>
          <a:lstStyle/>
          <a:p>
            <a:pPr algn="r"/>
            <a:r>
              <a:rPr sz="1100" b="0" i="0">
                <a:solidFill>
                  <a:srgbClr val="CCCCCC"/>
                </a:solidFill>
                <a:latin typeface="Menlo"/>
              </a:rPr>
              <a:t>3</a:t>
            </a:r>
          </a:p>
        </p:txBody>
      </p:sp>
      <p:sp>
        <p:nvSpPr>
          <p:cNvPr id="47" name="TextBox 46"/>
          <p:cNvSpPr txBox="1"/>
          <p:nvPr/>
        </p:nvSpPr>
        <p:spPr>
          <a:xfrm>
            <a:off x="5532120" y="4983480"/>
            <a:ext cx="1371600" cy="320040"/>
          </a:xfrm>
          <a:prstGeom prst="rect">
            <a:avLst/>
          </a:prstGeom>
          <a:noFill/>
        </p:spPr>
        <p:txBody>
          <a:bodyPr wrap="square" lIns="0" rIns="0" tIns="0" bIns="0" anchor="t">
            <a:spAutoFit/>
          </a:bodyPr>
          <a:lstStyle/>
          <a:p>
            <a:pPr algn="r"/>
            <a:r>
              <a:rPr sz="1100" b="0" i="0">
                <a:solidFill>
                  <a:srgbClr val="CCCCCC"/>
                </a:solidFill>
                <a:latin typeface="Menlo"/>
              </a:rPr>
              <a:t>16.367</a:t>
            </a:r>
          </a:p>
        </p:txBody>
      </p:sp>
      <p:sp>
        <p:nvSpPr>
          <p:cNvPr id="48" name="TextBox 47"/>
          <p:cNvSpPr txBox="1"/>
          <p:nvPr/>
        </p:nvSpPr>
        <p:spPr>
          <a:xfrm>
            <a:off x="7178040" y="4983480"/>
            <a:ext cx="4233672" cy="320040"/>
          </a:xfrm>
          <a:prstGeom prst="rect">
            <a:avLst/>
          </a:prstGeom>
          <a:noFill/>
        </p:spPr>
        <p:txBody>
          <a:bodyPr wrap="square" lIns="0" rIns="0" tIns="0" bIns="0" anchor="t">
            <a:spAutoFit/>
          </a:bodyPr>
          <a:lstStyle/>
          <a:p>
            <a:pPr algn="l"/>
            <a:r>
              <a:rPr sz="1000" b="0" i="0">
                <a:solidFill>
                  <a:srgbClr val="999999"/>
                </a:solidFill>
                <a:latin typeface="Helvetica Neue"/>
              </a:rPr>
              <a:t>Thin presence. Opportunity</a:t>
            </a:r>
          </a:p>
        </p:txBody>
      </p:sp>
      <p:sp>
        <p:nvSpPr>
          <p:cNvPr id="49" name="Rounded Rectangle 48"/>
          <p:cNvSpPr/>
          <p:nvPr/>
        </p:nvSpPr>
        <p:spPr>
          <a:xfrm>
            <a:off x="640080" y="5760720"/>
            <a:ext cx="10911535" cy="73152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80" y="5897880"/>
            <a:ext cx="10454335" cy="457200"/>
          </a:xfrm>
          <a:prstGeom prst="rect">
            <a:avLst/>
          </a:prstGeom>
          <a:noFill/>
        </p:spPr>
        <p:txBody>
          <a:bodyPr wrap="square" lIns="0" rIns="0" tIns="0" bIns="0" anchor="ctr">
            <a:spAutoFit/>
          </a:bodyPr>
          <a:lstStyle/>
          <a:p>
            <a:pPr algn="l">
              <a:lnSpc>
                <a:spcPct val="140000"/>
              </a:lnSpc>
            </a:pPr>
            <a:r>
              <a:rPr sz="1100" b="1" i="0">
                <a:solidFill>
                  <a:srgbClr val="EF4444"/>
                </a:solidFill>
                <a:latin typeface="Helvetica Neue"/>
              </a:rPr>
              <a:t>Tracking flag: </a:t>
            </a:r>
            <a:r>
              <a:rPr sz="1100" b="0" i="0">
                <a:solidFill>
                  <a:srgbClr val="CCCCCC"/>
                </a:solidFill>
                <a:latin typeface="Helvetica Neue"/>
              </a:rPr>
              <a:t>1.797 paid Facebook sessions with zero tracked revenue is a Conversions API or Pixel attribution issue, not a 'Facebook does not sell' issue. iOS 17 plus Shopify Web Pixels Manager regularly drop the source. </a:t>
            </a:r>
            <a:r>
              <a:rPr sz="1100" b="1" i="0">
                <a:solidFill>
                  <a:srgbClr val="F7D007"/>
                </a:solidFill>
                <a:latin typeface="Helvetica Neue"/>
              </a:rPr>
              <a:t>Verify the Meta Pixel and CAPI before cutting Facebook spend.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LANDING PAGES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Paid traffic lands on the page that breaks the funnel</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Top landing pages over the last 90 days. Three of the top four are PDPs converting at 0,18 to 0,31 %. The homepage converts at 2,26 %.</a:t>
            </a:r>
          </a:p>
        </p:txBody>
      </p:sp>
      <p:sp>
        <p:nvSpPr>
          <p:cNvPr id="10" name="TextBox 9"/>
          <p:cNvSpPr txBox="1"/>
          <p:nvPr/>
        </p:nvSpPr>
        <p:spPr>
          <a:xfrm>
            <a:off x="777240" y="2377440"/>
            <a:ext cx="5212080" cy="274320"/>
          </a:xfrm>
          <a:prstGeom prst="rect">
            <a:avLst/>
          </a:prstGeom>
          <a:noFill/>
        </p:spPr>
        <p:txBody>
          <a:bodyPr wrap="square" lIns="0" rIns="0" tIns="0" bIns="0" anchor="t">
            <a:spAutoFit/>
          </a:bodyPr>
          <a:lstStyle/>
          <a:p>
            <a:pPr algn="l"/>
            <a:r>
              <a:rPr sz="900" b="1" i="0" spc="200">
                <a:solidFill>
                  <a:srgbClr val="999999"/>
                </a:solidFill>
                <a:latin typeface="Helvetica Neue"/>
              </a:rPr>
              <a:t>LANDING PAGE</a:t>
            </a:r>
          </a:p>
        </p:txBody>
      </p:sp>
      <p:sp>
        <p:nvSpPr>
          <p:cNvPr id="11" name="TextBox 10"/>
          <p:cNvSpPr txBox="1"/>
          <p:nvPr/>
        </p:nvSpPr>
        <p:spPr>
          <a:xfrm>
            <a:off x="6263640" y="2377440"/>
            <a:ext cx="914400" cy="274320"/>
          </a:xfrm>
          <a:prstGeom prst="rect">
            <a:avLst/>
          </a:prstGeom>
          <a:noFill/>
        </p:spPr>
        <p:txBody>
          <a:bodyPr wrap="square" lIns="0" rIns="0" tIns="0" bIns="0" anchor="t">
            <a:spAutoFit/>
          </a:bodyPr>
          <a:lstStyle/>
          <a:p>
            <a:pPr algn="r"/>
            <a:r>
              <a:rPr sz="900" b="1" i="0" spc="200">
                <a:solidFill>
                  <a:srgbClr val="999999"/>
                </a:solidFill>
                <a:latin typeface="Helvetica Neue"/>
              </a:rPr>
              <a:t>SESSIONS</a:t>
            </a:r>
          </a:p>
        </p:txBody>
      </p:sp>
      <p:sp>
        <p:nvSpPr>
          <p:cNvPr id="12" name="TextBox 11"/>
          <p:cNvSpPr txBox="1"/>
          <p:nvPr/>
        </p:nvSpPr>
        <p:spPr>
          <a:xfrm>
            <a:off x="7452360" y="2377440"/>
            <a:ext cx="822960" cy="274320"/>
          </a:xfrm>
          <a:prstGeom prst="rect">
            <a:avLst/>
          </a:prstGeom>
          <a:noFill/>
        </p:spPr>
        <p:txBody>
          <a:bodyPr wrap="square" lIns="0" rIns="0" tIns="0" bIns="0" anchor="t">
            <a:spAutoFit/>
          </a:bodyPr>
          <a:lstStyle/>
          <a:p>
            <a:pPr algn="r"/>
            <a:r>
              <a:rPr sz="900" b="1" i="0" spc="200">
                <a:solidFill>
                  <a:srgbClr val="999999"/>
                </a:solidFill>
                <a:latin typeface="Helvetica Neue"/>
              </a:rPr>
              <a:t>BOUNCE</a:t>
            </a:r>
          </a:p>
        </p:txBody>
      </p:sp>
      <p:sp>
        <p:nvSpPr>
          <p:cNvPr id="13" name="TextBox 12"/>
          <p:cNvSpPr txBox="1"/>
          <p:nvPr/>
        </p:nvSpPr>
        <p:spPr>
          <a:xfrm>
            <a:off x="8549640" y="2377440"/>
            <a:ext cx="914400" cy="274320"/>
          </a:xfrm>
          <a:prstGeom prst="rect">
            <a:avLst/>
          </a:prstGeom>
          <a:noFill/>
        </p:spPr>
        <p:txBody>
          <a:bodyPr wrap="square" lIns="0" rIns="0" tIns="0" bIns="0" anchor="t">
            <a:spAutoFit/>
          </a:bodyPr>
          <a:lstStyle/>
          <a:p>
            <a:pPr algn="r"/>
            <a:r>
              <a:rPr sz="900" b="1" i="0" spc="200">
                <a:solidFill>
                  <a:srgbClr val="999999"/>
                </a:solidFill>
                <a:latin typeface="Helvetica Neue"/>
              </a:rPr>
              <a:t>PURCHASES</a:t>
            </a:r>
          </a:p>
        </p:txBody>
      </p:sp>
      <p:sp>
        <p:nvSpPr>
          <p:cNvPr id="14" name="TextBox 13"/>
          <p:cNvSpPr txBox="1"/>
          <p:nvPr/>
        </p:nvSpPr>
        <p:spPr>
          <a:xfrm>
            <a:off x="9738360" y="2377440"/>
            <a:ext cx="1673352" cy="274320"/>
          </a:xfrm>
          <a:prstGeom prst="rect">
            <a:avLst/>
          </a:prstGeom>
          <a:noFill/>
        </p:spPr>
        <p:txBody>
          <a:bodyPr wrap="square" lIns="0" rIns="0" tIns="0" bIns="0" anchor="t">
            <a:spAutoFit/>
          </a:bodyPr>
          <a:lstStyle/>
          <a:p>
            <a:pPr algn="r"/>
            <a:r>
              <a:rPr sz="900" b="1" i="0" spc="200">
                <a:solidFill>
                  <a:srgbClr val="999999"/>
                </a:solidFill>
                <a:latin typeface="Helvetica Neue"/>
              </a:rPr>
              <a:t>CR</a:t>
            </a:r>
          </a:p>
        </p:txBody>
      </p:sp>
      <p:sp>
        <p:nvSpPr>
          <p:cNvPr id="15" name="Rectangle 14"/>
          <p:cNvSpPr/>
          <p:nvPr/>
        </p:nvSpPr>
        <p:spPr>
          <a:xfrm>
            <a:off x="640080" y="2670048"/>
            <a:ext cx="1091153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734056"/>
            <a:ext cx="10911535"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88920"/>
            <a:ext cx="5212080" cy="320040"/>
          </a:xfrm>
          <a:prstGeom prst="rect">
            <a:avLst/>
          </a:prstGeom>
          <a:noFill/>
        </p:spPr>
        <p:txBody>
          <a:bodyPr wrap="square" lIns="0" rIns="0" tIns="0" bIns="0" anchor="t">
            <a:spAutoFit/>
          </a:bodyPr>
          <a:lstStyle/>
          <a:p>
            <a:pPr algn="l"/>
            <a:r>
              <a:rPr sz="1050" b="0" i="0">
                <a:solidFill>
                  <a:srgbClr val="CCCCCC"/>
                </a:solidFill>
                <a:latin typeface="Menlo"/>
              </a:rPr>
              <a:t>/products/the-virtufit-oval-isbad-500-liter-wood-look</a:t>
            </a:r>
          </a:p>
        </p:txBody>
      </p:sp>
      <p:sp>
        <p:nvSpPr>
          <p:cNvPr id="18" name="TextBox 17"/>
          <p:cNvSpPr txBox="1"/>
          <p:nvPr/>
        </p:nvSpPr>
        <p:spPr>
          <a:xfrm>
            <a:off x="6263640" y="2788920"/>
            <a:ext cx="914400" cy="320040"/>
          </a:xfrm>
          <a:prstGeom prst="rect">
            <a:avLst/>
          </a:prstGeom>
          <a:noFill/>
        </p:spPr>
        <p:txBody>
          <a:bodyPr wrap="square" lIns="0" rIns="0" tIns="0" bIns="0" anchor="t">
            <a:spAutoFit/>
          </a:bodyPr>
          <a:lstStyle/>
          <a:p>
            <a:pPr algn="r"/>
            <a:r>
              <a:rPr sz="1100" b="0" i="0">
                <a:solidFill>
                  <a:srgbClr val="CCCCCC"/>
                </a:solidFill>
                <a:latin typeface="Menlo"/>
              </a:rPr>
              <a:t>569</a:t>
            </a:r>
          </a:p>
        </p:txBody>
      </p:sp>
      <p:sp>
        <p:nvSpPr>
          <p:cNvPr id="19" name="TextBox 18"/>
          <p:cNvSpPr txBox="1"/>
          <p:nvPr/>
        </p:nvSpPr>
        <p:spPr>
          <a:xfrm>
            <a:off x="7452360" y="2788920"/>
            <a:ext cx="822960" cy="320040"/>
          </a:xfrm>
          <a:prstGeom prst="rect">
            <a:avLst/>
          </a:prstGeom>
          <a:noFill/>
        </p:spPr>
        <p:txBody>
          <a:bodyPr wrap="square" lIns="0" rIns="0" tIns="0" bIns="0" anchor="t">
            <a:spAutoFit/>
          </a:bodyPr>
          <a:lstStyle/>
          <a:p>
            <a:pPr algn="r"/>
            <a:r>
              <a:rPr sz="1100" b="0" i="0">
                <a:solidFill>
                  <a:srgbClr val="CCCCCC"/>
                </a:solidFill>
                <a:latin typeface="Menlo"/>
              </a:rPr>
              <a:t>68 %</a:t>
            </a:r>
          </a:p>
        </p:txBody>
      </p:sp>
      <p:sp>
        <p:nvSpPr>
          <p:cNvPr id="20" name="TextBox 19"/>
          <p:cNvSpPr txBox="1"/>
          <p:nvPr/>
        </p:nvSpPr>
        <p:spPr>
          <a:xfrm>
            <a:off x="8549640" y="2788920"/>
            <a:ext cx="914400" cy="320040"/>
          </a:xfrm>
          <a:prstGeom prst="rect">
            <a:avLst/>
          </a:prstGeom>
          <a:noFill/>
        </p:spPr>
        <p:txBody>
          <a:bodyPr wrap="square" lIns="0" rIns="0" tIns="0" bIns="0" anchor="t">
            <a:spAutoFit/>
          </a:bodyPr>
          <a:lstStyle/>
          <a:p>
            <a:pPr algn="r"/>
            <a:r>
              <a:rPr sz="1100" b="0" i="0">
                <a:solidFill>
                  <a:srgbClr val="CCCCCC"/>
                </a:solidFill>
                <a:latin typeface="Menlo"/>
              </a:rPr>
              <a:t>1</a:t>
            </a:r>
          </a:p>
        </p:txBody>
      </p:sp>
      <p:sp>
        <p:nvSpPr>
          <p:cNvPr id="21" name="TextBox 20"/>
          <p:cNvSpPr txBox="1"/>
          <p:nvPr/>
        </p:nvSpPr>
        <p:spPr>
          <a:xfrm>
            <a:off x="9738360" y="2788920"/>
            <a:ext cx="1673352" cy="320040"/>
          </a:xfrm>
          <a:prstGeom prst="rect">
            <a:avLst/>
          </a:prstGeom>
          <a:noFill/>
        </p:spPr>
        <p:txBody>
          <a:bodyPr wrap="square" lIns="0" rIns="0" tIns="0" bIns="0" anchor="t">
            <a:spAutoFit/>
          </a:bodyPr>
          <a:lstStyle/>
          <a:p>
            <a:pPr algn="r"/>
            <a:r>
              <a:rPr sz="1100" b="1" i="0">
                <a:solidFill>
                  <a:srgbClr val="EF4444"/>
                </a:solidFill>
                <a:latin typeface="Menlo"/>
              </a:rPr>
              <a:t>0,18 %</a:t>
            </a:r>
          </a:p>
        </p:txBody>
      </p:sp>
      <p:sp>
        <p:nvSpPr>
          <p:cNvPr id="22" name="TextBox 21"/>
          <p:cNvSpPr txBox="1"/>
          <p:nvPr/>
        </p:nvSpPr>
        <p:spPr>
          <a:xfrm>
            <a:off x="777240" y="3246120"/>
            <a:ext cx="5212080" cy="320040"/>
          </a:xfrm>
          <a:prstGeom prst="rect">
            <a:avLst/>
          </a:prstGeom>
          <a:noFill/>
        </p:spPr>
        <p:txBody>
          <a:bodyPr wrap="square" lIns="0" rIns="0" tIns="0" bIns="0" anchor="t">
            <a:spAutoFit/>
          </a:bodyPr>
          <a:lstStyle/>
          <a:p>
            <a:pPr algn="l"/>
            <a:r>
              <a:rPr sz="1050" b="0" i="0">
                <a:solidFill>
                  <a:srgbClr val="CCCCCC"/>
                </a:solidFill>
                <a:latin typeface="Menlo"/>
              </a:rPr>
              <a:t>/products/berg-sports-grand-champion-inground-520-grey</a:t>
            </a:r>
          </a:p>
        </p:txBody>
      </p:sp>
      <p:sp>
        <p:nvSpPr>
          <p:cNvPr id="23" name="TextBox 22"/>
          <p:cNvSpPr txBox="1"/>
          <p:nvPr/>
        </p:nvSpPr>
        <p:spPr>
          <a:xfrm>
            <a:off x="6263640" y="3246120"/>
            <a:ext cx="914400" cy="320040"/>
          </a:xfrm>
          <a:prstGeom prst="rect">
            <a:avLst/>
          </a:prstGeom>
          <a:noFill/>
        </p:spPr>
        <p:txBody>
          <a:bodyPr wrap="square" lIns="0" rIns="0" tIns="0" bIns="0" anchor="t">
            <a:spAutoFit/>
          </a:bodyPr>
          <a:lstStyle/>
          <a:p>
            <a:pPr algn="r"/>
            <a:r>
              <a:rPr sz="1100" b="0" i="0">
                <a:solidFill>
                  <a:srgbClr val="CCCCCC"/>
                </a:solidFill>
                <a:latin typeface="Menlo"/>
              </a:rPr>
              <a:t>337</a:t>
            </a:r>
          </a:p>
        </p:txBody>
      </p:sp>
      <p:sp>
        <p:nvSpPr>
          <p:cNvPr id="24" name="TextBox 23"/>
          <p:cNvSpPr txBox="1"/>
          <p:nvPr/>
        </p:nvSpPr>
        <p:spPr>
          <a:xfrm>
            <a:off x="7452360" y="3246120"/>
            <a:ext cx="822960" cy="320040"/>
          </a:xfrm>
          <a:prstGeom prst="rect">
            <a:avLst/>
          </a:prstGeom>
          <a:noFill/>
        </p:spPr>
        <p:txBody>
          <a:bodyPr wrap="square" lIns="0" rIns="0" tIns="0" bIns="0" anchor="t">
            <a:spAutoFit/>
          </a:bodyPr>
          <a:lstStyle/>
          <a:p>
            <a:pPr algn="r"/>
            <a:r>
              <a:rPr sz="1100" b="0" i="0">
                <a:solidFill>
                  <a:srgbClr val="CCCCCC"/>
                </a:solidFill>
                <a:latin typeface="Menlo"/>
              </a:rPr>
              <a:t>61 %</a:t>
            </a:r>
          </a:p>
        </p:txBody>
      </p:sp>
      <p:sp>
        <p:nvSpPr>
          <p:cNvPr id="25" name="TextBox 24"/>
          <p:cNvSpPr txBox="1"/>
          <p:nvPr/>
        </p:nvSpPr>
        <p:spPr>
          <a:xfrm>
            <a:off x="8549640" y="3246120"/>
            <a:ext cx="914400" cy="320040"/>
          </a:xfrm>
          <a:prstGeom prst="rect">
            <a:avLst/>
          </a:prstGeom>
          <a:noFill/>
        </p:spPr>
        <p:txBody>
          <a:bodyPr wrap="square" lIns="0" rIns="0" tIns="0" bIns="0" anchor="t">
            <a:spAutoFit/>
          </a:bodyPr>
          <a:lstStyle/>
          <a:p>
            <a:pPr algn="r"/>
            <a:r>
              <a:rPr sz="1100" b="0" i="0">
                <a:solidFill>
                  <a:srgbClr val="CCCCCC"/>
                </a:solidFill>
                <a:latin typeface="Menlo"/>
              </a:rPr>
              <a:t>1</a:t>
            </a:r>
          </a:p>
        </p:txBody>
      </p:sp>
      <p:sp>
        <p:nvSpPr>
          <p:cNvPr id="26" name="TextBox 25"/>
          <p:cNvSpPr txBox="1"/>
          <p:nvPr/>
        </p:nvSpPr>
        <p:spPr>
          <a:xfrm>
            <a:off x="9738360" y="3246120"/>
            <a:ext cx="1673352" cy="320040"/>
          </a:xfrm>
          <a:prstGeom prst="rect">
            <a:avLst/>
          </a:prstGeom>
          <a:noFill/>
        </p:spPr>
        <p:txBody>
          <a:bodyPr wrap="square" lIns="0" rIns="0" tIns="0" bIns="0" anchor="t">
            <a:spAutoFit/>
          </a:bodyPr>
          <a:lstStyle/>
          <a:p>
            <a:pPr algn="r"/>
            <a:r>
              <a:rPr sz="1100" b="1" i="0">
                <a:solidFill>
                  <a:srgbClr val="EF4444"/>
                </a:solidFill>
                <a:latin typeface="Menlo"/>
              </a:rPr>
              <a:t>0,30 %</a:t>
            </a:r>
          </a:p>
        </p:txBody>
      </p:sp>
      <p:sp>
        <p:nvSpPr>
          <p:cNvPr id="27" name="Rectangle 26"/>
          <p:cNvSpPr/>
          <p:nvPr/>
        </p:nvSpPr>
        <p:spPr>
          <a:xfrm>
            <a:off x="640080" y="3648456"/>
            <a:ext cx="10911535"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703320"/>
            <a:ext cx="5212080" cy="320040"/>
          </a:xfrm>
          <a:prstGeom prst="rect">
            <a:avLst/>
          </a:prstGeom>
          <a:noFill/>
        </p:spPr>
        <p:txBody>
          <a:bodyPr wrap="square" lIns="0" rIns="0" tIns="0" bIns="0" anchor="t">
            <a:spAutoFit/>
          </a:bodyPr>
          <a:lstStyle/>
          <a:p>
            <a:pPr algn="l"/>
            <a:r>
              <a:rPr sz="1050" b="0" i="0">
                <a:solidFill>
                  <a:srgbClr val="CCCCCC"/>
                </a:solidFill>
                <a:latin typeface="Menlo"/>
              </a:rPr>
              <a:t>/products/virtufit-mini-bordtennisbord-tt160</a:t>
            </a:r>
          </a:p>
        </p:txBody>
      </p:sp>
      <p:sp>
        <p:nvSpPr>
          <p:cNvPr id="29" name="TextBox 28"/>
          <p:cNvSpPr txBox="1"/>
          <p:nvPr/>
        </p:nvSpPr>
        <p:spPr>
          <a:xfrm>
            <a:off x="6263640" y="3703320"/>
            <a:ext cx="914400" cy="320040"/>
          </a:xfrm>
          <a:prstGeom prst="rect">
            <a:avLst/>
          </a:prstGeom>
          <a:noFill/>
        </p:spPr>
        <p:txBody>
          <a:bodyPr wrap="square" lIns="0" rIns="0" tIns="0" bIns="0" anchor="t">
            <a:spAutoFit/>
          </a:bodyPr>
          <a:lstStyle/>
          <a:p>
            <a:pPr algn="r"/>
            <a:r>
              <a:rPr sz="1100" b="0" i="0">
                <a:solidFill>
                  <a:srgbClr val="CCCCCC"/>
                </a:solidFill>
                <a:latin typeface="Menlo"/>
              </a:rPr>
              <a:t>324</a:t>
            </a:r>
          </a:p>
        </p:txBody>
      </p:sp>
      <p:sp>
        <p:nvSpPr>
          <p:cNvPr id="30" name="TextBox 29"/>
          <p:cNvSpPr txBox="1"/>
          <p:nvPr/>
        </p:nvSpPr>
        <p:spPr>
          <a:xfrm>
            <a:off x="7452360" y="3703320"/>
            <a:ext cx="822960" cy="320040"/>
          </a:xfrm>
          <a:prstGeom prst="rect">
            <a:avLst/>
          </a:prstGeom>
          <a:noFill/>
        </p:spPr>
        <p:txBody>
          <a:bodyPr wrap="square" lIns="0" rIns="0" tIns="0" bIns="0" anchor="t">
            <a:spAutoFit/>
          </a:bodyPr>
          <a:lstStyle/>
          <a:p>
            <a:pPr algn="r"/>
            <a:r>
              <a:rPr sz="1100" b="0" i="0">
                <a:solidFill>
                  <a:srgbClr val="CCCCCC"/>
                </a:solidFill>
                <a:latin typeface="Menlo"/>
              </a:rPr>
              <a:t>80 %</a:t>
            </a:r>
          </a:p>
        </p:txBody>
      </p:sp>
      <p:sp>
        <p:nvSpPr>
          <p:cNvPr id="31" name="TextBox 30"/>
          <p:cNvSpPr txBox="1"/>
          <p:nvPr/>
        </p:nvSpPr>
        <p:spPr>
          <a:xfrm>
            <a:off x="8549640" y="3703320"/>
            <a:ext cx="914400" cy="320040"/>
          </a:xfrm>
          <a:prstGeom prst="rect">
            <a:avLst/>
          </a:prstGeom>
          <a:noFill/>
        </p:spPr>
        <p:txBody>
          <a:bodyPr wrap="square" lIns="0" rIns="0" tIns="0" bIns="0" anchor="t">
            <a:spAutoFit/>
          </a:bodyPr>
          <a:lstStyle/>
          <a:p>
            <a:pPr algn="r"/>
            <a:r>
              <a:rPr sz="1100" b="0" i="0">
                <a:solidFill>
                  <a:srgbClr val="CCCCCC"/>
                </a:solidFill>
                <a:latin typeface="Menlo"/>
              </a:rPr>
              <a:t>1</a:t>
            </a:r>
          </a:p>
        </p:txBody>
      </p:sp>
      <p:sp>
        <p:nvSpPr>
          <p:cNvPr id="32" name="TextBox 31"/>
          <p:cNvSpPr txBox="1"/>
          <p:nvPr/>
        </p:nvSpPr>
        <p:spPr>
          <a:xfrm>
            <a:off x="9738360" y="3703320"/>
            <a:ext cx="1673352" cy="320040"/>
          </a:xfrm>
          <a:prstGeom prst="rect">
            <a:avLst/>
          </a:prstGeom>
          <a:noFill/>
        </p:spPr>
        <p:txBody>
          <a:bodyPr wrap="square" lIns="0" rIns="0" tIns="0" bIns="0" anchor="t">
            <a:spAutoFit/>
          </a:bodyPr>
          <a:lstStyle/>
          <a:p>
            <a:pPr algn="r"/>
            <a:r>
              <a:rPr sz="1100" b="1" i="0">
                <a:solidFill>
                  <a:srgbClr val="EF4444"/>
                </a:solidFill>
                <a:latin typeface="Menlo"/>
              </a:rPr>
              <a:t>0,31 %</a:t>
            </a:r>
          </a:p>
        </p:txBody>
      </p:sp>
      <p:sp>
        <p:nvSpPr>
          <p:cNvPr id="33" name="Rectangle 32"/>
          <p:cNvSpPr/>
          <p:nvPr/>
        </p:nvSpPr>
        <p:spPr>
          <a:xfrm>
            <a:off x="640080" y="4105656"/>
            <a:ext cx="10911535" cy="438912"/>
          </a:xfrm>
          <a:prstGeom prst="rect">
            <a:avLst/>
          </a:prstGeom>
          <a:solidFill>
            <a:srgbClr val="141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160520"/>
            <a:ext cx="5212080" cy="320040"/>
          </a:xfrm>
          <a:prstGeom prst="rect">
            <a:avLst/>
          </a:prstGeom>
          <a:noFill/>
        </p:spPr>
        <p:txBody>
          <a:bodyPr wrap="square" lIns="0" rIns="0" tIns="0" bIns="0" anchor="t">
            <a:spAutoFit/>
          </a:bodyPr>
          <a:lstStyle/>
          <a:p>
            <a:pPr algn="l"/>
            <a:r>
              <a:rPr sz="1050" b="1" i="0">
                <a:solidFill>
                  <a:srgbClr val="FFFFFF"/>
                </a:solidFill>
                <a:latin typeface="Menlo"/>
              </a:rPr>
              <a:t>/ (Homepage)</a:t>
            </a:r>
          </a:p>
        </p:txBody>
      </p:sp>
      <p:sp>
        <p:nvSpPr>
          <p:cNvPr id="35" name="TextBox 34"/>
          <p:cNvSpPr txBox="1"/>
          <p:nvPr/>
        </p:nvSpPr>
        <p:spPr>
          <a:xfrm>
            <a:off x="6263640" y="4160520"/>
            <a:ext cx="914400" cy="320040"/>
          </a:xfrm>
          <a:prstGeom prst="rect">
            <a:avLst/>
          </a:prstGeom>
          <a:noFill/>
        </p:spPr>
        <p:txBody>
          <a:bodyPr wrap="square" lIns="0" rIns="0" tIns="0" bIns="0" anchor="t">
            <a:spAutoFit/>
          </a:bodyPr>
          <a:lstStyle/>
          <a:p>
            <a:pPr algn="r"/>
            <a:r>
              <a:rPr sz="1100" b="0" i="0">
                <a:solidFill>
                  <a:srgbClr val="CCCCCC"/>
                </a:solidFill>
                <a:latin typeface="Menlo"/>
              </a:rPr>
              <a:t>265</a:t>
            </a:r>
          </a:p>
        </p:txBody>
      </p:sp>
      <p:sp>
        <p:nvSpPr>
          <p:cNvPr id="36" name="TextBox 35"/>
          <p:cNvSpPr txBox="1"/>
          <p:nvPr/>
        </p:nvSpPr>
        <p:spPr>
          <a:xfrm>
            <a:off x="7452360" y="4160520"/>
            <a:ext cx="822960" cy="320040"/>
          </a:xfrm>
          <a:prstGeom prst="rect">
            <a:avLst/>
          </a:prstGeom>
          <a:noFill/>
        </p:spPr>
        <p:txBody>
          <a:bodyPr wrap="square" lIns="0" rIns="0" tIns="0" bIns="0" anchor="t">
            <a:spAutoFit/>
          </a:bodyPr>
          <a:lstStyle/>
          <a:p>
            <a:pPr algn="r"/>
            <a:r>
              <a:rPr sz="1100" b="0" i="0">
                <a:solidFill>
                  <a:srgbClr val="CCCCCC"/>
                </a:solidFill>
                <a:latin typeface="Menlo"/>
              </a:rPr>
              <a:t>31 %</a:t>
            </a:r>
          </a:p>
        </p:txBody>
      </p:sp>
      <p:sp>
        <p:nvSpPr>
          <p:cNvPr id="37" name="TextBox 36"/>
          <p:cNvSpPr txBox="1"/>
          <p:nvPr/>
        </p:nvSpPr>
        <p:spPr>
          <a:xfrm>
            <a:off x="8549640" y="4160520"/>
            <a:ext cx="914400" cy="320040"/>
          </a:xfrm>
          <a:prstGeom prst="rect">
            <a:avLst/>
          </a:prstGeom>
          <a:noFill/>
        </p:spPr>
        <p:txBody>
          <a:bodyPr wrap="square" lIns="0" rIns="0" tIns="0" bIns="0" anchor="t">
            <a:spAutoFit/>
          </a:bodyPr>
          <a:lstStyle/>
          <a:p>
            <a:pPr algn="r"/>
            <a:r>
              <a:rPr sz="1100" b="0" i="0">
                <a:solidFill>
                  <a:srgbClr val="CCCCCC"/>
                </a:solidFill>
                <a:latin typeface="Menlo"/>
              </a:rPr>
              <a:t>6</a:t>
            </a:r>
          </a:p>
        </p:txBody>
      </p:sp>
      <p:sp>
        <p:nvSpPr>
          <p:cNvPr id="38" name="TextBox 37"/>
          <p:cNvSpPr txBox="1"/>
          <p:nvPr/>
        </p:nvSpPr>
        <p:spPr>
          <a:xfrm>
            <a:off x="9738360" y="4160520"/>
            <a:ext cx="1673352" cy="320040"/>
          </a:xfrm>
          <a:prstGeom prst="rect">
            <a:avLst/>
          </a:prstGeom>
          <a:noFill/>
        </p:spPr>
        <p:txBody>
          <a:bodyPr wrap="square" lIns="0" rIns="0" tIns="0" bIns="0" anchor="t">
            <a:spAutoFit/>
          </a:bodyPr>
          <a:lstStyle/>
          <a:p>
            <a:pPr algn="r"/>
            <a:r>
              <a:rPr sz="1100" b="1" i="0">
                <a:solidFill>
                  <a:srgbClr val="F7D007"/>
                </a:solidFill>
                <a:latin typeface="Menlo"/>
              </a:rPr>
              <a:t>2,26 %</a:t>
            </a:r>
          </a:p>
        </p:txBody>
      </p:sp>
      <p:sp>
        <p:nvSpPr>
          <p:cNvPr id="39" name="Rectangle 38"/>
          <p:cNvSpPr/>
          <p:nvPr/>
        </p:nvSpPr>
        <p:spPr>
          <a:xfrm>
            <a:off x="640080" y="4562856"/>
            <a:ext cx="10911535"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617720"/>
            <a:ext cx="5212080" cy="320040"/>
          </a:xfrm>
          <a:prstGeom prst="rect">
            <a:avLst/>
          </a:prstGeom>
          <a:noFill/>
        </p:spPr>
        <p:txBody>
          <a:bodyPr wrap="square" lIns="0" rIns="0" tIns="0" bIns="0" anchor="t">
            <a:spAutoFit/>
          </a:bodyPr>
          <a:lstStyle/>
          <a:p>
            <a:pPr algn="l"/>
            <a:r>
              <a:rPr sz="1050" b="0" i="0">
                <a:solidFill>
                  <a:srgbClr val="CCCCCC"/>
                </a:solidFill>
                <a:latin typeface="Menlo"/>
              </a:rPr>
              <a:t>/products/flowfitness-ds100i-smart-home-gym</a:t>
            </a:r>
          </a:p>
        </p:txBody>
      </p:sp>
      <p:sp>
        <p:nvSpPr>
          <p:cNvPr id="41" name="TextBox 40"/>
          <p:cNvSpPr txBox="1"/>
          <p:nvPr/>
        </p:nvSpPr>
        <p:spPr>
          <a:xfrm>
            <a:off x="6263640" y="4617720"/>
            <a:ext cx="914400" cy="320040"/>
          </a:xfrm>
          <a:prstGeom prst="rect">
            <a:avLst/>
          </a:prstGeom>
          <a:noFill/>
        </p:spPr>
        <p:txBody>
          <a:bodyPr wrap="square" lIns="0" rIns="0" tIns="0" bIns="0" anchor="t">
            <a:spAutoFit/>
          </a:bodyPr>
          <a:lstStyle/>
          <a:p>
            <a:pPr algn="r"/>
            <a:r>
              <a:rPr sz="1100" b="0" i="0">
                <a:solidFill>
                  <a:srgbClr val="CCCCCC"/>
                </a:solidFill>
                <a:latin typeface="Menlo"/>
              </a:rPr>
              <a:t>142</a:t>
            </a:r>
          </a:p>
        </p:txBody>
      </p:sp>
      <p:sp>
        <p:nvSpPr>
          <p:cNvPr id="42" name="TextBox 41"/>
          <p:cNvSpPr txBox="1"/>
          <p:nvPr/>
        </p:nvSpPr>
        <p:spPr>
          <a:xfrm>
            <a:off x="7452360" y="4617720"/>
            <a:ext cx="822960" cy="320040"/>
          </a:xfrm>
          <a:prstGeom prst="rect">
            <a:avLst/>
          </a:prstGeom>
          <a:noFill/>
        </p:spPr>
        <p:txBody>
          <a:bodyPr wrap="square" lIns="0" rIns="0" tIns="0" bIns="0" anchor="t">
            <a:spAutoFit/>
          </a:bodyPr>
          <a:lstStyle/>
          <a:p>
            <a:pPr algn="r"/>
            <a:r>
              <a:rPr sz="1100" b="0" i="0">
                <a:solidFill>
                  <a:srgbClr val="CCCCCC"/>
                </a:solidFill>
                <a:latin typeface="Menlo"/>
              </a:rPr>
              <a:t>67 %</a:t>
            </a:r>
          </a:p>
        </p:txBody>
      </p:sp>
      <p:sp>
        <p:nvSpPr>
          <p:cNvPr id="43" name="TextBox 42"/>
          <p:cNvSpPr txBox="1"/>
          <p:nvPr/>
        </p:nvSpPr>
        <p:spPr>
          <a:xfrm>
            <a:off x="8549640" y="4617720"/>
            <a:ext cx="914400" cy="320040"/>
          </a:xfrm>
          <a:prstGeom prst="rect">
            <a:avLst/>
          </a:prstGeom>
          <a:noFill/>
        </p:spPr>
        <p:txBody>
          <a:bodyPr wrap="square" lIns="0" rIns="0" tIns="0" bIns="0" anchor="t">
            <a:spAutoFit/>
          </a:bodyPr>
          <a:lstStyle/>
          <a:p>
            <a:pPr algn="r"/>
            <a:r>
              <a:rPr sz="1100" b="0" i="0">
                <a:solidFill>
                  <a:srgbClr val="CCCCCC"/>
                </a:solidFill>
                <a:latin typeface="Menlo"/>
              </a:rPr>
              <a:t>0</a:t>
            </a:r>
          </a:p>
        </p:txBody>
      </p:sp>
      <p:sp>
        <p:nvSpPr>
          <p:cNvPr id="44" name="TextBox 43"/>
          <p:cNvSpPr txBox="1"/>
          <p:nvPr/>
        </p:nvSpPr>
        <p:spPr>
          <a:xfrm>
            <a:off x="9738360" y="4617720"/>
            <a:ext cx="1673352" cy="320040"/>
          </a:xfrm>
          <a:prstGeom prst="rect">
            <a:avLst/>
          </a:prstGeom>
          <a:noFill/>
        </p:spPr>
        <p:txBody>
          <a:bodyPr wrap="square" lIns="0" rIns="0" tIns="0" bIns="0" anchor="t">
            <a:spAutoFit/>
          </a:bodyPr>
          <a:lstStyle/>
          <a:p>
            <a:pPr algn="r"/>
            <a:r>
              <a:rPr sz="1100" b="1" i="0">
                <a:solidFill>
                  <a:srgbClr val="EF4444"/>
                </a:solidFill>
                <a:latin typeface="Menlo"/>
              </a:rPr>
              <a:t>0,00 %</a:t>
            </a:r>
          </a:p>
        </p:txBody>
      </p:sp>
      <p:sp>
        <p:nvSpPr>
          <p:cNvPr id="45" name="Rounded Rectangle 44"/>
          <p:cNvSpPr/>
          <p:nvPr/>
        </p:nvSpPr>
        <p:spPr>
          <a:xfrm>
            <a:off x="640080" y="5852160"/>
            <a:ext cx="10911535" cy="5486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5989320"/>
            <a:ext cx="10454335" cy="27432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Every PDP fix in this audit compounds with the Facebook ad spend. </a:t>
            </a:r>
            <a:r>
              <a:rPr sz="1100" b="0" i="0">
                <a:solidFill>
                  <a:srgbClr val="CCCCCC"/>
                </a:solidFill>
                <a:latin typeface="Helvetica Neue"/>
              </a:rPr>
              <a:t>If paid social keeps landing on PDPs, the buy box rebuild and the financing line are direct ad efficiency multipliers, not just on-site CRO.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09</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01</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PHASE 1</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Critical · fix this month</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Three opportunities, 23.000 to 42.000 kr per month combined. Low to medium effort, all shippable inside 30 days. PDP-focused because the PDP is the leak.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10</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01  ·  CRITICAL</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PDP buy box rebuild</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65.000 to 120.000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F59E0B"/>
                </a:solidFill>
                <a:latin typeface="Helvetica Neue"/>
              </a:rPr>
              <a:t>MEDIUM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3 TO 6</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Session to ATC drops 96 % over 30 days (9.151 missed ATCs)</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Mobile drop ~97 % vs desktop ~91 % on the same PDP</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Above the fold: SKU, name, price, qty, CTA, two collapsed accordions. Built for a 200 kr product</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'Relaterede produkter' cross sell shows competing treadmills, not accessories</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Recovering 1pp of mobile session-to-ATC (3,0 % to 4,0 %) on ~7.890 mobile sessions per month at the current 47 % ATC to purchase rate at 3.813 kr AOV adds about 140.000 kr per month. The full buy box rebuild targets ~1pp; the lower bound assumes 50 % realization.</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Spec chip row under title: '3,0 HP · 18 km/t · 150 kg · Foldbart'</a:t>
            </a:r>
          </a:p>
        </p:txBody>
      </p:sp>
      <p:sp>
        <p:nvSpPr>
          <p:cNvPr id="36" name="Oval 35"/>
          <p:cNvSpPr/>
          <p:nvPr/>
        </p:nvSpPr>
        <p:spPr>
          <a:xfrm>
            <a:off x="6461607" y="35844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584448"/>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5844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5844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5478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Save badge above price: 'SPAR 4.000 kr · -22 %'</a:t>
            </a:r>
          </a:p>
        </p:txBody>
      </p:sp>
      <p:sp>
        <p:nvSpPr>
          <p:cNvPr id="41" name="Oval 40"/>
          <p:cNvSpPr/>
          <p:nvPr/>
        </p:nvSpPr>
        <p:spPr>
          <a:xfrm>
            <a:off x="6461607" y="39319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3931920"/>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3931920"/>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3931920"/>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38953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Trust badge row under CTA: 2 års garanti, Gratis fragt 499 kr, 365 dages retur, Showroom i Aarhus</a:t>
            </a:r>
          </a:p>
        </p:txBody>
      </p:sp>
      <p:sp>
        <p:nvSpPr>
          <p:cNvPr id="46" name="Oval 45"/>
          <p:cNvSpPr/>
          <p:nvPr/>
        </p:nvSpPr>
        <p:spPr>
          <a:xfrm>
            <a:off x="6461607" y="43891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389120"/>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389120"/>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389120"/>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50" name="TextBox 49"/>
          <p:cNvSpPr txBox="1"/>
          <p:nvPr/>
        </p:nvSpPr>
        <p:spPr>
          <a:xfrm>
            <a:off x="7238847" y="43525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Sticky add to cart on mobile, visible after gallery scroll</a:t>
            </a:r>
          </a:p>
        </p:txBody>
      </p:sp>
      <p:sp>
        <p:nvSpPr>
          <p:cNvPr id="51" name="Oval 50"/>
          <p:cNvSpPr/>
          <p:nvPr/>
        </p:nvSpPr>
        <p:spPr>
          <a:xfrm>
            <a:off x="6461607" y="4736592"/>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1607" y="4736592"/>
            <a:ext cx="201168" cy="201168"/>
          </a:xfrm>
          <a:prstGeom prst="rect">
            <a:avLst/>
          </a:prstGeom>
          <a:noFill/>
        </p:spPr>
        <p:txBody>
          <a:bodyPr wrap="square" lIns="0" rIns="0" tIns="0" bIns="0" anchor="ctr">
            <a:spAutoFit/>
          </a:bodyPr>
          <a:lstStyle/>
          <a:p>
            <a:pPr algn="ctr"/>
            <a:r>
              <a:rPr sz="800" b="1" i="0">
                <a:solidFill>
                  <a:srgbClr val="F7D007"/>
                </a:solidFill>
                <a:latin typeface="Menlo"/>
              </a:rPr>
              <a:t>5</a:t>
            </a:r>
          </a:p>
        </p:txBody>
      </p:sp>
      <p:sp>
        <p:nvSpPr>
          <p:cNvPr id="53" name="Rounded Rectangle 52"/>
          <p:cNvSpPr/>
          <p:nvPr/>
        </p:nvSpPr>
        <p:spPr>
          <a:xfrm>
            <a:off x="6735927" y="4736592"/>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35927" y="4736592"/>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55" name="TextBox 54"/>
          <p:cNvSpPr txBox="1"/>
          <p:nvPr/>
        </p:nvSpPr>
        <p:spPr>
          <a:xfrm>
            <a:off x="7238847" y="4700016"/>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Demo video as second gallery item (20 to 60 seconds)</a:t>
            </a:r>
          </a:p>
        </p:txBody>
      </p:sp>
      <p:sp>
        <p:nvSpPr>
          <p:cNvPr id="56" name="Oval 55"/>
          <p:cNvSpPr/>
          <p:nvPr/>
        </p:nvSpPr>
        <p:spPr>
          <a:xfrm>
            <a:off x="6461607" y="5084064"/>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61607" y="5084064"/>
            <a:ext cx="201168" cy="201168"/>
          </a:xfrm>
          <a:prstGeom prst="rect">
            <a:avLst/>
          </a:prstGeom>
          <a:noFill/>
        </p:spPr>
        <p:txBody>
          <a:bodyPr wrap="square" lIns="0" rIns="0" tIns="0" bIns="0" anchor="ctr">
            <a:spAutoFit/>
          </a:bodyPr>
          <a:lstStyle/>
          <a:p>
            <a:pPr algn="ctr"/>
            <a:r>
              <a:rPr sz="800" b="1" i="0">
                <a:solidFill>
                  <a:srgbClr val="F7D007"/>
                </a:solidFill>
                <a:latin typeface="Menlo"/>
              </a:rPr>
              <a:t>6</a:t>
            </a:r>
          </a:p>
        </p:txBody>
      </p:sp>
      <p:sp>
        <p:nvSpPr>
          <p:cNvPr id="58" name="Rounded Rectangle 57"/>
          <p:cNvSpPr/>
          <p:nvPr/>
        </p:nvSpPr>
        <p:spPr>
          <a:xfrm>
            <a:off x="6735927" y="5084064"/>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35927" y="5084064"/>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60" name="TextBox 59"/>
          <p:cNvSpPr txBox="1"/>
          <p:nvPr/>
        </p:nvSpPr>
        <p:spPr>
          <a:xfrm>
            <a:off x="7238847" y="5047488"/>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Replace cross sell with 'Komplet dit setup' (mat, lubricant, heart rate strap)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11</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04  ·  CRITICAL</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Klarna or ViaBill financing on PDP</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55.000 to 100.000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22C55E"/>
                </a:solidFill>
                <a:latin typeface="Helvetica Neue"/>
              </a:rPr>
              <a:t>LOW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1 TO 2</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TR600i PDP shows 13.900 kr with no monthly equivalent. No Klarna, ViaBill, AnyDay, Sparxpres</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fitshop.dk shows both Klarna and ViaBill at PDP level and checkout</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Average order value 3.813 kr. Top trampolines sit at 12.000 to 30.000 kr. Buyers finance major purchases</a:t>
            </a:r>
          </a:p>
        </p:txBody>
      </p:sp>
      <p:sp>
        <p:nvSpPr>
          <p:cNvPr id="26" name="TextBox 25"/>
          <p:cNvSpPr txBox="1"/>
          <p:nvPr/>
        </p:nvSpPr>
        <p:spPr>
          <a:xfrm>
            <a:off x="929487" y="447141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47141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Pay later is a default expectation in Denmark above 2.000 kr</a:t>
            </a:r>
          </a:p>
        </p:txBody>
      </p:sp>
      <p:sp>
        <p:nvSpPr>
          <p:cNvPr id="28" name="TextBox 27"/>
          <p:cNvSpPr txBox="1"/>
          <p:nvPr/>
        </p:nvSpPr>
        <p:spPr>
          <a:xfrm>
            <a:off x="929487" y="4946904"/>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'Fra 1.158 kr / md med ViaBill' reframes the high price as a 12-month commitment. A 10 % relative lift on site CR (1,77 % to 1,95 %) on 9.510 monthly sessions at 3.813 kr AOV adds ~65.000 kr per month. Conservative half = ~55K.</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Install ViaBill or Klarna pay later via Shopify app</a:t>
            </a:r>
          </a:p>
        </p:txBody>
      </p:sp>
      <p:sp>
        <p:nvSpPr>
          <p:cNvPr id="36" name="Oval 35"/>
          <p:cNvSpPr/>
          <p:nvPr/>
        </p:nvSpPr>
        <p:spPr>
          <a:xfrm>
            <a:off x="6461607" y="35844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584448"/>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5844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5844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5478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Display monthly equivalent under price on every PDP above 1.500 kr</a:t>
            </a:r>
          </a:p>
        </p:txBody>
      </p:sp>
      <p:sp>
        <p:nvSpPr>
          <p:cNvPr id="41" name="Oval 40"/>
          <p:cNvSpPr/>
          <p:nvPr/>
        </p:nvSpPr>
        <p:spPr>
          <a:xfrm>
            <a:off x="6461607" y="39319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3931920"/>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3931920"/>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3931920"/>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38953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Block under CTA: 'Op til 12 måneder rentefri delbetaling'</a:t>
            </a:r>
          </a:p>
        </p:txBody>
      </p:sp>
      <p:sp>
        <p:nvSpPr>
          <p:cNvPr id="46" name="Oval 45"/>
          <p:cNvSpPr/>
          <p:nvPr/>
        </p:nvSpPr>
        <p:spPr>
          <a:xfrm>
            <a:off x="6461607" y="4279392"/>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279392"/>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279392"/>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279392"/>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0" name="TextBox 49"/>
          <p:cNvSpPr txBox="1"/>
          <p:nvPr/>
        </p:nvSpPr>
        <p:spPr>
          <a:xfrm>
            <a:off x="7238847" y="4242816"/>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Rotate 'Delbetaling tilgængelig' into top USP strip</a:t>
            </a:r>
          </a:p>
        </p:txBody>
      </p:sp>
      <p:sp>
        <p:nvSpPr>
          <p:cNvPr id="51" name="Oval 50"/>
          <p:cNvSpPr/>
          <p:nvPr/>
        </p:nvSpPr>
        <p:spPr>
          <a:xfrm>
            <a:off x="6461607" y="4626864"/>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1607" y="4626864"/>
            <a:ext cx="201168" cy="201168"/>
          </a:xfrm>
          <a:prstGeom prst="rect">
            <a:avLst/>
          </a:prstGeom>
          <a:noFill/>
        </p:spPr>
        <p:txBody>
          <a:bodyPr wrap="square" lIns="0" rIns="0" tIns="0" bIns="0" anchor="ctr">
            <a:spAutoFit/>
          </a:bodyPr>
          <a:lstStyle/>
          <a:p>
            <a:pPr algn="ctr"/>
            <a:r>
              <a:rPr sz="800" b="1" i="0">
                <a:solidFill>
                  <a:srgbClr val="F7D007"/>
                </a:solidFill>
                <a:latin typeface="Menlo"/>
              </a:rPr>
              <a:t>5</a:t>
            </a:r>
          </a:p>
        </p:txBody>
      </p:sp>
      <p:sp>
        <p:nvSpPr>
          <p:cNvPr id="53" name="Rounded Rectangle 52"/>
          <p:cNvSpPr/>
          <p:nvPr/>
        </p:nvSpPr>
        <p:spPr>
          <a:xfrm>
            <a:off x="6735927" y="4626864"/>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35927" y="4626864"/>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5" name="TextBox 54"/>
          <p:cNvSpPr txBox="1"/>
          <p:nvPr/>
        </p:nvSpPr>
        <p:spPr>
          <a:xfrm>
            <a:off x="7238847" y="4590288"/>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Add financing logo to footer payment row + cart + checkout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12</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05  ·  CRITICAL</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Promote the 4,5 Trustpilot stars you already have</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45.000 to 80.000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22C55E"/>
                </a:solidFill>
                <a:latin typeface="Helvetica Neue"/>
              </a:rPr>
              <a:t>LOW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1 TO 3</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SportGym ApS on Trustpilot: 4,5 / 5 across 15 anmeldelser ('Fremragende')</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Homepage shows no rating widget. Collection cards: zero stars. PDP: no review section</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fitshop.dk surfaces 4,84 / 41.278 reviews. Træningspartner shows 807 reviews</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9.151 missed ATCs in 30 days. PDP has no social proof at the exact moment of decision</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Social proof at PDP is the standard +5 % to +10 % CR lift in premium retail. On 252 monthly orders at 3.813 kr AOV, a 6 % lift compounds to ~58.000 kr per month. Conservative range 45-80K.</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Embed Trustpilot Trustbox under the homepage hero</a:t>
            </a:r>
          </a:p>
        </p:txBody>
      </p:sp>
      <p:sp>
        <p:nvSpPr>
          <p:cNvPr id="36" name="Oval 35"/>
          <p:cNvSpPr/>
          <p:nvPr/>
        </p:nvSpPr>
        <p:spPr>
          <a:xfrm>
            <a:off x="6461607" y="35844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584448"/>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5844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5844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5478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Install Judge.me, Stamped, or Trustpilot Product Reviews. Stars on every collection card</a:t>
            </a:r>
          </a:p>
        </p:txBody>
      </p:sp>
      <p:sp>
        <p:nvSpPr>
          <p:cNvPr id="41" name="Oval 40"/>
          <p:cNvSpPr/>
          <p:nvPr/>
        </p:nvSpPr>
        <p:spPr>
          <a:xfrm>
            <a:off x="6461607" y="40416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041648"/>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0416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0416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0050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Reviews block on every PDP: star average, count, verified buyer badge, 3 to 5 quotes</a:t>
            </a:r>
          </a:p>
        </p:txBody>
      </p:sp>
      <p:sp>
        <p:nvSpPr>
          <p:cNvPr id="46" name="Oval 45"/>
          <p:cNvSpPr/>
          <p:nvPr/>
        </p:nvSpPr>
        <p:spPr>
          <a:xfrm>
            <a:off x="6461607" y="44988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498848"/>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4988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4988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0" name="TextBox 49"/>
          <p:cNvSpPr txBox="1"/>
          <p:nvPr/>
        </p:nvSpPr>
        <p:spPr>
          <a:xfrm>
            <a:off x="7238847" y="44622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Klaviyo post-purchase flow: review request day 14, follow up day 30</a:t>
            </a:r>
          </a:p>
        </p:txBody>
      </p:sp>
      <p:sp>
        <p:nvSpPr>
          <p:cNvPr id="51" name="Oval 50"/>
          <p:cNvSpPr/>
          <p:nvPr/>
        </p:nvSpPr>
        <p:spPr>
          <a:xfrm>
            <a:off x="6461607" y="48463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1607" y="4846320"/>
            <a:ext cx="201168" cy="201168"/>
          </a:xfrm>
          <a:prstGeom prst="rect">
            <a:avLst/>
          </a:prstGeom>
          <a:noFill/>
        </p:spPr>
        <p:txBody>
          <a:bodyPr wrap="square" lIns="0" rIns="0" tIns="0" bIns="0" anchor="ctr">
            <a:spAutoFit/>
          </a:bodyPr>
          <a:lstStyle/>
          <a:p>
            <a:pPr algn="ctr"/>
            <a:r>
              <a:rPr sz="800" b="1" i="0">
                <a:solidFill>
                  <a:srgbClr val="F7D007"/>
                </a:solidFill>
                <a:latin typeface="Menlo"/>
              </a:rPr>
              <a:t>5</a:t>
            </a:r>
          </a:p>
        </p:txBody>
      </p:sp>
      <p:sp>
        <p:nvSpPr>
          <p:cNvPr id="53" name="Rounded Rectangle 52"/>
          <p:cNvSpPr/>
          <p:nvPr/>
        </p:nvSpPr>
        <p:spPr>
          <a:xfrm>
            <a:off x="6735927" y="4846320"/>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35927" y="4846320"/>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5" name="TextBox 54"/>
          <p:cNvSpPr txBox="1"/>
          <p:nvPr/>
        </p:nvSpPr>
        <p:spPr>
          <a:xfrm>
            <a:off x="7238847" y="48097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Print one customer quote on order confirmation and unboxing card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02</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PHASE 2</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High value · this quarter</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Three opportunities, 18.000 to 34.000 kr per month combined. Mostly homepage and collection-level. Deliverable Week 3 to 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14</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02  ·  HIGH VALUE</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Rebuild the hero around categories, not one Saturday</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28.000 to 55.000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F59E0B"/>
                </a:solidFill>
                <a:latin typeface="Helvetica Neue"/>
              </a:rPr>
              <a:t>MEDIUM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1 TO 2</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Desktop hero left: dense 'KOM TIL EN SJOV DAG' event graphic. Right: event details (31. maj)</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Mobile first viewport is entire event banner. CTA 'Læg i indkøbskurv' never appears</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Brand promise 'Alt til et aktivt liv, samlet ét sted' never appears above the fold</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Homepage as landing converts at 2,26 %. Top three PDP landings convert at 0,18 to 0,31 %</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If rebuilt hero lifts homepage to PDP CTR by 10 % and downstream CR by 5 %, ~35.000 kr per month at the new baseline. Compounds with paid social redirected to homepage instead of PDPs.</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Compress the event into a thin announcement strip under the existing fragt bar</a:t>
            </a:r>
          </a:p>
        </p:txBody>
      </p:sp>
      <p:sp>
        <p:nvSpPr>
          <p:cNvPr id="36" name="Oval 35"/>
          <p:cNvSpPr/>
          <p:nvPr/>
        </p:nvSpPr>
        <p:spPr>
          <a:xfrm>
            <a:off x="6461607" y="36941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694176"/>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6941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6941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6576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Category-led hero: lifestyle visual, brand promise, six tiles (Løbebånd, Romaskine, Smart Home Gym, Trampoliner, BERG, Tilbud)</a:t>
            </a:r>
          </a:p>
        </p:txBody>
      </p:sp>
      <p:sp>
        <p:nvSpPr>
          <p:cNvPr id="41" name="Oval 40"/>
          <p:cNvSpPr/>
          <p:nvPr/>
        </p:nvSpPr>
        <p:spPr>
          <a:xfrm>
            <a:off x="6461607" y="41513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151376"/>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1513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1513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1148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Surface 4 trust USPs as a strip directly under the hero (fragt, retur, lager, showroom)</a:t>
            </a:r>
          </a:p>
        </p:txBody>
      </p:sp>
      <p:sp>
        <p:nvSpPr>
          <p:cNvPr id="46" name="Oval 45"/>
          <p:cNvSpPr/>
          <p:nvPr/>
        </p:nvSpPr>
        <p:spPr>
          <a:xfrm>
            <a:off x="6461607" y="46085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608576"/>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608576"/>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608576"/>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50" name="TextBox 49"/>
          <p:cNvSpPr txBox="1"/>
          <p:nvPr/>
        </p:nvSpPr>
        <p:spPr>
          <a:xfrm>
            <a:off x="7238847" y="45720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Secondary CTA 'Find det rigtige løbebånd' leading to a guided buying 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15</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06  ·  HIGH VALUE</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Structured filters and spec chips on collection pages</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18.000 to 35.000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EF4444"/>
                </a:solidFill>
                <a:latin typeface="Helvetica Neue"/>
              </a:rPr>
              <a:t>HIGH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5 TO 8</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/collections/lobebaend lists 13 treadmills from 3.495 to 39.900 kr. Filters: stock and price only</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No brand, motor power, max user weight, max speed, foldable, smart, or incline filter</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Product cards show no specs, no ratings, no quick view, no compare</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Collection / Isbad got 80 sessions, Trampoliner til nedgravning 81 sessions. Real category intent</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Filter UX improves collection to PDP rate by 10 % to 20 % in premium ecom. Estimated ~1.300 monthly collection sessions × 15 % lift × 3,77 % ATC × 47 % to purchase × 3.813 kr AOV adds ~25.000 kr per month.</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Install Searchanise, Boost AI Search, or Smart Product Filter</a:t>
            </a:r>
          </a:p>
        </p:txBody>
      </p:sp>
      <p:sp>
        <p:nvSpPr>
          <p:cNvPr id="36" name="Oval 35"/>
          <p:cNvSpPr/>
          <p:nvPr/>
        </p:nvSpPr>
        <p:spPr>
          <a:xfrm>
            <a:off x="6461607" y="35844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584448"/>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5844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5844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5478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Løbebånd filters: Brand, Motor (HP), Max brugervægt, Maks hastighed, Hældning, Foldbart, Smart / App</a:t>
            </a:r>
          </a:p>
        </p:txBody>
      </p:sp>
      <p:sp>
        <p:nvSpPr>
          <p:cNvPr id="41" name="Oval 40"/>
          <p:cNvSpPr/>
          <p:nvPr/>
        </p:nvSpPr>
        <p:spPr>
          <a:xfrm>
            <a:off x="6461607" y="40416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041648"/>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0416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0416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0050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Trampoliner filters: Størrelse, Form, Sikkerhedsnet, Aldersgruppe, Mærke</a:t>
            </a:r>
          </a:p>
        </p:txBody>
      </p:sp>
      <p:sp>
        <p:nvSpPr>
          <p:cNvPr id="46" name="Oval 45"/>
          <p:cNvSpPr/>
          <p:nvPr/>
        </p:nvSpPr>
        <p:spPr>
          <a:xfrm>
            <a:off x="6461607" y="44988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498848"/>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4988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4988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0" name="TextBox 49"/>
          <p:cNvSpPr txBox="1"/>
          <p:nvPr/>
        </p:nvSpPr>
        <p:spPr>
          <a:xfrm>
            <a:off x="7238847" y="44622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3 to 5 spec chips on each card: '3 HP · 18 km/t · 150 kg · Foldbart'</a:t>
            </a:r>
          </a:p>
        </p:txBody>
      </p:sp>
      <p:sp>
        <p:nvSpPr>
          <p:cNvPr id="51" name="Oval 50"/>
          <p:cNvSpPr/>
          <p:nvPr/>
        </p:nvSpPr>
        <p:spPr>
          <a:xfrm>
            <a:off x="6461607" y="48463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1607" y="4846320"/>
            <a:ext cx="201168" cy="201168"/>
          </a:xfrm>
          <a:prstGeom prst="rect">
            <a:avLst/>
          </a:prstGeom>
          <a:noFill/>
        </p:spPr>
        <p:txBody>
          <a:bodyPr wrap="square" lIns="0" rIns="0" tIns="0" bIns="0" anchor="ctr">
            <a:spAutoFit/>
          </a:bodyPr>
          <a:lstStyle/>
          <a:p>
            <a:pPr algn="ctr"/>
            <a:r>
              <a:rPr sz="800" b="1" i="0">
                <a:solidFill>
                  <a:srgbClr val="F7D007"/>
                </a:solidFill>
                <a:latin typeface="Menlo"/>
              </a:rPr>
              <a:t>5</a:t>
            </a:r>
          </a:p>
        </p:txBody>
      </p:sp>
      <p:sp>
        <p:nvSpPr>
          <p:cNvPr id="53" name="Rounded Rectangle 52"/>
          <p:cNvSpPr/>
          <p:nvPr/>
        </p:nvSpPr>
        <p:spPr>
          <a:xfrm>
            <a:off x="6735927" y="4846320"/>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35927" y="4846320"/>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55" name="TextBox 54"/>
          <p:cNvSpPr txBox="1"/>
          <p:nvPr/>
        </p:nvSpPr>
        <p:spPr>
          <a:xfrm>
            <a:off x="7238847" y="48097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'Find dit løbebånd' quiz at top of category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16</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03  ·  HIGH VALUE</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Replace competing cross sells with accessories</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18.000 to 35.000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22C55E"/>
                </a:solidFill>
                <a:latin typeface="Helvetica Neue"/>
              </a:rPr>
              <a:t>LOW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4 TO 6</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Current 'Relaterede produkter' on TR600i PDP shows 4 other treadmills at 12.900, 4.995, 3.495, 7.495 kr</a:t>
            </a:r>
          </a:p>
        </p:txBody>
      </p:sp>
      <p:sp>
        <p:nvSpPr>
          <p:cNvPr id="22" name="TextBox 21"/>
          <p:cNvSpPr txBox="1"/>
          <p:nvPr/>
        </p:nvSpPr>
        <p:spPr>
          <a:xfrm>
            <a:off x="929487" y="370332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70332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The cross sell competes with the current product. Sends the buyer sideways, not upward</a:t>
            </a:r>
          </a:p>
        </p:txBody>
      </p:sp>
      <p:sp>
        <p:nvSpPr>
          <p:cNvPr id="24" name="TextBox 23"/>
          <p:cNvSpPr txBox="1"/>
          <p:nvPr/>
        </p:nvSpPr>
        <p:spPr>
          <a:xfrm>
            <a:off x="929487" y="408736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408736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Fitness Engros and Træningspartner ship accessory bundles. Best practice in fitness</a:t>
            </a:r>
          </a:p>
        </p:txBody>
      </p:sp>
      <p:sp>
        <p:nvSpPr>
          <p:cNvPr id="26" name="TextBox 25"/>
          <p:cNvSpPr txBox="1"/>
          <p:nvPr/>
        </p:nvSpPr>
        <p:spPr>
          <a:xfrm>
            <a:off x="929487" y="447141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47141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3.813 kr AOV. Floor mat (500 kr) and heart rate strap (600 kr) are obvious +10 % AOV adds</a:t>
            </a:r>
          </a:p>
        </p:txBody>
      </p:sp>
      <p:sp>
        <p:nvSpPr>
          <p:cNvPr id="28" name="TextBox 27"/>
          <p:cNvSpPr txBox="1"/>
          <p:nvPr/>
        </p:nvSpPr>
        <p:spPr>
          <a:xfrm>
            <a:off x="929487" y="4946904"/>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10 % AOV lift on 252 monthly orders at 3.813 kr = ~96.000 kr / month upside cap. Conservative 25 % capture = ~24.000 kr per month incremental.</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Rename 'Relaterede produkter' to 'Komplet dit setup'</a:t>
            </a:r>
          </a:p>
        </p:txBody>
      </p:sp>
      <p:sp>
        <p:nvSpPr>
          <p:cNvPr id="36" name="Oval 35"/>
          <p:cNvSpPr/>
          <p:nvPr/>
        </p:nvSpPr>
        <p:spPr>
          <a:xfrm>
            <a:off x="6461607" y="35844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584448"/>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5844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5844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5478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Treadmill set: floor mat, lubricant, heart rate strap, water bottle, gulvmåtte</a:t>
            </a:r>
          </a:p>
        </p:txBody>
      </p:sp>
      <p:sp>
        <p:nvSpPr>
          <p:cNvPr id="41" name="Oval 40"/>
          <p:cNvSpPr/>
          <p:nvPr/>
        </p:nvSpPr>
        <p:spPr>
          <a:xfrm>
            <a:off x="6461607" y="40416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041648"/>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0416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0416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0050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End the row with one upsell model for upgrade context</a:t>
            </a:r>
          </a:p>
        </p:txBody>
      </p:sp>
      <p:sp>
        <p:nvSpPr>
          <p:cNvPr id="46" name="Oval 45"/>
          <p:cNvSpPr/>
          <p:nvPr/>
        </p:nvSpPr>
        <p:spPr>
          <a:xfrm>
            <a:off x="6461607" y="43891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389120"/>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389120"/>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389120"/>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50" name="TextBox 49"/>
          <p:cNvSpPr txBox="1"/>
          <p:nvPr/>
        </p:nvSpPr>
        <p:spPr>
          <a:xfrm>
            <a:off x="7238847" y="43525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Cart drawer cross sell: 'Tilføj for kun 250 kr mere og få gratis fragt'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17</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03</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PHASE 3</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Optimize · compound the wins</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Three opportunities, 4.000 to 8.000 kr per month combined, plus a tracking quality fix that unblocks Meta ad efficiency. Mostly compounding, mostly long lever.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18</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07  ·  OPTIMIZE</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Post purchase review flow (close the volume gap)</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12.000 to 22.000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22C55E"/>
                </a:solidFill>
                <a:latin typeface="Helvetica Neue"/>
              </a:rPr>
              <a:t>LOW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ONGOING</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sportgym.dk: 15 Trustpilot reviews at 4,5 stars</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træningspartner.dk: 807 reviews at 4,5 stars. Same score, 53x review volume</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berg.com: 4.000+ reviews. apuls.dk: 3.000+ reviews</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No automated review request flow in place. The asset is not growing</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A working flow at 252 orders / month at a 20 % response rate adds ~150 reviews / month. After 2 quarters the volume gap to peers halves and the PDP social proof opportunity compounds at a different scale.</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Klaviyo flow: review request 14 days after delivery, follow up at 30 days</a:t>
            </a:r>
          </a:p>
        </p:txBody>
      </p:sp>
      <p:sp>
        <p:nvSpPr>
          <p:cNvPr id="36" name="Oval 35"/>
          <p:cNvSpPr/>
          <p:nvPr/>
        </p:nvSpPr>
        <p:spPr>
          <a:xfrm>
            <a:off x="6461607" y="36941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694176"/>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6941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6941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6576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Photo upload incentive: small thank you (next order discount or accessory)</a:t>
            </a:r>
          </a:p>
        </p:txBody>
      </p:sp>
      <p:sp>
        <p:nvSpPr>
          <p:cNvPr id="41" name="Oval 40"/>
          <p:cNvSpPr/>
          <p:nvPr/>
        </p:nvSpPr>
        <p:spPr>
          <a:xfrm>
            <a:off x="6461607" y="41513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151376"/>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1513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1513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1148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Print one customer quote on order confirmation and unboxing card</a:t>
            </a:r>
          </a:p>
        </p:txBody>
      </p:sp>
      <p:sp>
        <p:nvSpPr>
          <p:cNvPr id="46" name="Oval 45"/>
          <p:cNvSpPr/>
          <p:nvPr/>
        </p:nvSpPr>
        <p:spPr>
          <a:xfrm>
            <a:off x="6461607" y="44988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498848"/>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498848"/>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498848"/>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50" name="TextBox 49"/>
          <p:cNvSpPr txBox="1"/>
          <p:nvPr/>
        </p:nvSpPr>
        <p:spPr>
          <a:xfrm>
            <a:off x="7238847" y="44622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SMS follow up at 21 days for opted-in customers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19</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08  ·  OPTIMIZE</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Buying guides plus 'Find dit løbebånd' quiz</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12.000 to 22.000 kr</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EF4444"/>
                </a:solidFill>
                <a:latin typeface="Helvetica Neue"/>
              </a:rPr>
              <a:t>HIGH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8 TO 12</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Organic search delivers 81 sessions at 16.367 kr revenue (4,1 % CR). Thin presence, high intent</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Fitness Engros runs an extensive blog plus athlete content. Træningspartner blogs but does not quiz</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13 treadmills from 3.495 to 39.900 kr with no guided buying tool</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No quiz flow today. Buyers compare 4 PDPs manually then leave</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Buying guides drive organic compounding. Quiz delivers a 1,5x to 2x category to PDP conversion in premium retail. Steady state at 3 quarters: ~17.000 kr per month at the new baseline.</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3 to 5 long form guides per major category (Løbebånd, Trampolin, Isbad, Smart Home Gym, Romaskine)</a:t>
            </a:r>
          </a:p>
        </p:txBody>
      </p:sp>
      <p:sp>
        <p:nvSpPr>
          <p:cNvPr id="36" name="Oval 35"/>
          <p:cNvSpPr/>
          <p:nvPr/>
        </p:nvSpPr>
        <p:spPr>
          <a:xfrm>
            <a:off x="6461607" y="36941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694176"/>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694176"/>
            <a:ext cx="411480" cy="201168"/>
          </a:xfrm>
          <a:prstGeom prst="roundRect">
            <a:avLst>
              <a:gd name="adj" fmla="val 30000"/>
            </a:avLst>
          </a:prstGeom>
          <a:solidFill>
            <a:srgbClr val="181402"/>
          </a:solidFill>
          <a:ln w="63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694176"/>
            <a:ext cx="411480" cy="201168"/>
          </a:xfrm>
          <a:prstGeom prst="rect">
            <a:avLst/>
          </a:prstGeom>
          <a:noFill/>
        </p:spPr>
        <p:txBody>
          <a:bodyPr wrap="square" lIns="0" rIns="0" tIns="0" bIns="0" anchor="ctr">
            <a:spAutoFit/>
          </a:bodyPr>
          <a:lstStyle/>
          <a:p>
            <a:pPr algn="ctr"/>
            <a:r>
              <a:rPr sz="700" b="1" i="0" spc="100">
                <a:solidFill>
                  <a:srgbClr val="F7D007"/>
                </a:solidFill>
                <a:latin typeface="Menlo"/>
              </a:rPr>
              <a:t>TEST</a:t>
            </a:r>
          </a:p>
        </p:txBody>
      </p:sp>
      <p:sp>
        <p:nvSpPr>
          <p:cNvPr id="40" name="TextBox 39"/>
          <p:cNvSpPr txBox="1"/>
          <p:nvPr/>
        </p:nvSpPr>
        <p:spPr>
          <a:xfrm>
            <a:off x="7238847" y="36576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'Find dit løbebånd' quiz at top of /collections/lobebaend. 4 questions returning a shortlist of 2 to 3 SKUs</a:t>
            </a:r>
          </a:p>
        </p:txBody>
      </p:sp>
      <p:sp>
        <p:nvSpPr>
          <p:cNvPr id="41" name="Oval 40"/>
          <p:cNvSpPr/>
          <p:nvPr/>
        </p:nvSpPr>
        <p:spPr>
          <a:xfrm>
            <a:off x="6461607" y="41513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151376"/>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1513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1513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1148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Link guides into the category page header and the PDP description block</a:t>
            </a:r>
          </a:p>
        </p:txBody>
      </p:sp>
      <p:sp>
        <p:nvSpPr>
          <p:cNvPr id="46" name="Oval 45"/>
          <p:cNvSpPr/>
          <p:nvPr/>
        </p:nvSpPr>
        <p:spPr>
          <a:xfrm>
            <a:off x="6461607" y="46085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608576"/>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6085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6085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0" name="TextBox 49"/>
          <p:cNvSpPr txBox="1"/>
          <p:nvPr/>
        </p:nvSpPr>
        <p:spPr>
          <a:xfrm>
            <a:off x="7238847" y="45720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Cross link from blog posts to specific PDPs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20</a:t>
            </a:r>
          </a:p>
        </p:txBody>
      </p:sp>
      <p:sp>
        <p:nvSpPr>
          <p:cNvPr id="7" name="TextBox 6"/>
          <p:cNvSpPr txBox="1"/>
          <p:nvPr/>
        </p:nvSpPr>
        <p:spPr>
          <a:xfrm>
            <a:off x="0" y="777240"/>
            <a:ext cx="12191695" cy="274320"/>
          </a:xfrm>
          <a:prstGeom prst="rect">
            <a:avLst/>
          </a:prstGeom>
          <a:noFill/>
        </p:spPr>
        <p:txBody>
          <a:bodyPr wrap="square" lIns="0" rIns="0" tIns="0" bIns="0" anchor="t">
            <a:spAutoFit/>
          </a:bodyPr>
          <a:lstStyle/>
          <a:p>
            <a:pPr algn="ctr"/>
            <a:r>
              <a:rPr sz="1000" b="1" i="0" spc="300">
                <a:solidFill>
                  <a:srgbClr val="F7D007"/>
                </a:solidFill>
                <a:latin typeface="Helvetica Neue"/>
              </a:rPr>
              <a:t>OPPORTUNITY 09  ·  OPTIMIZE · TRACKING</a:t>
            </a:r>
          </a:p>
        </p:txBody>
      </p:sp>
      <p:sp>
        <p:nvSpPr>
          <p:cNvPr id="8" name="TextBox 7"/>
          <p:cNvSpPr txBox="1"/>
          <p:nvPr/>
        </p:nvSpPr>
        <p:spPr>
          <a:xfrm>
            <a:off x="731520" y="1097280"/>
            <a:ext cx="10728655" cy="640080"/>
          </a:xfrm>
          <a:prstGeom prst="rect">
            <a:avLst/>
          </a:prstGeom>
          <a:noFill/>
        </p:spPr>
        <p:txBody>
          <a:bodyPr wrap="square" lIns="0" rIns="0" tIns="0" bIns="0" anchor="t">
            <a:spAutoFit/>
          </a:bodyPr>
          <a:lstStyle/>
          <a:p>
            <a:pPr algn="ctr"/>
            <a:r>
              <a:rPr sz="3000" b="1" i="0" spc="-50">
                <a:solidFill>
                  <a:srgbClr val="FFFFFF"/>
                </a:solidFill>
                <a:latin typeface="Helvetica Neue"/>
              </a:rPr>
              <a:t>Verify Meta Pixel and Conversions API before cutting FB spend</a:t>
            </a:r>
          </a:p>
        </p:txBody>
      </p:sp>
      <p:sp>
        <p:nvSpPr>
          <p:cNvPr id="9" name="Rounded Rectangle 8"/>
          <p:cNvSpPr/>
          <p:nvPr/>
        </p:nvSpPr>
        <p:spPr>
          <a:xfrm>
            <a:off x="640080" y="1874519"/>
            <a:ext cx="10911535" cy="640080"/>
          </a:xfrm>
          <a:prstGeom prst="roundRect">
            <a:avLst>
              <a:gd name="adj" fmla="val 1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59"/>
            <a:ext cx="3200400" cy="228600"/>
          </a:xfrm>
          <a:prstGeom prst="rect">
            <a:avLst/>
          </a:prstGeom>
          <a:noFill/>
        </p:spPr>
        <p:txBody>
          <a:bodyPr wrap="square" lIns="0" rIns="0" tIns="0" bIns="0" anchor="t">
            <a:spAutoFit/>
          </a:bodyPr>
          <a:lstStyle/>
          <a:p>
            <a:pPr algn="l"/>
            <a:r>
              <a:rPr sz="900" b="1" i="0" spc="200">
                <a:solidFill>
                  <a:srgbClr val="999999"/>
                </a:solidFill>
                <a:latin typeface="Helvetica Neue"/>
              </a:rPr>
              <a:t>ESTIMATED MONTHLY IMPACT</a:t>
            </a:r>
          </a:p>
        </p:txBody>
      </p:sp>
      <p:sp>
        <p:nvSpPr>
          <p:cNvPr id="11" name="TextBox 10"/>
          <p:cNvSpPr txBox="1"/>
          <p:nvPr/>
        </p:nvSpPr>
        <p:spPr>
          <a:xfrm>
            <a:off x="914400" y="2167127"/>
            <a:ext cx="5486400" cy="365760"/>
          </a:xfrm>
          <a:prstGeom prst="rect">
            <a:avLst/>
          </a:prstGeom>
          <a:noFill/>
        </p:spPr>
        <p:txBody>
          <a:bodyPr wrap="square" lIns="0" rIns="0" tIns="0" bIns="0" anchor="t">
            <a:spAutoFit/>
          </a:bodyPr>
          <a:lstStyle/>
          <a:p>
            <a:pPr algn="l"/>
            <a:r>
              <a:rPr sz="2000" b="1" i="0">
                <a:solidFill>
                  <a:srgbClr val="F7D007"/>
                </a:solidFill>
                <a:latin typeface="Menlo"/>
              </a:rPr>
              <a:t>Data quality unlock</a:t>
            </a:r>
          </a:p>
        </p:txBody>
      </p:sp>
      <p:sp>
        <p:nvSpPr>
          <p:cNvPr id="12" name="Rounded Rectangle 11"/>
          <p:cNvSpPr/>
          <p:nvPr/>
        </p:nvSpPr>
        <p:spPr>
          <a:xfrm>
            <a:off x="8945575" y="2039111"/>
            <a:ext cx="1234440" cy="292608"/>
          </a:xfrm>
          <a:prstGeom prst="roundRect">
            <a:avLst>
              <a:gd name="adj" fmla="val 50000"/>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5575" y="2039111"/>
            <a:ext cx="1234440" cy="292608"/>
          </a:xfrm>
          <a:prstGeom prst="rect">
            <a:avLst/>
          </a:prstGeom>
          <a:noFill/>
        </p:spPr>
        <p:txBody>
          <a:bodyPr wrap="square" lIns="0" rIns="0" tIns="0" bIns="0" anchor="ctr">
            <a:spAutoFit/>
          </a:bodyPr>
          <a:lstStyle/>
          <a:p>
            <a:pPr algn="ctr"/>
            <a:r>
              <a:rPr sz="900" b="1" i="0" spc="120">
                <a:solidFill>
                  <a:srgbClr val="22C55E"/>
                </a:solidFill>
                <a:latin typeface="Helvetica Neue"/>
              </a:rPr>
              <a:t>LOW EFFORT</a:t>
            </a:r>
          </a:p>
        </p:txBody>
      </p:sp>
      <p:sp>
        <p:nvSpPr>
          <p:cNvPr id="14" name="Rounded Rectangle 13"/>
          <p:cNvSpPr/>
          <p:nvPr/>
        </p:nvSpPr>
        <p:spPr>
          <a:xfrm>
            <a:off x="8945575" y="2039111"/>
            <a:ext cx="1234440" cy="292608"/>
          </a:xfrm>
          <a:prstGeom prst="roundRect">
            <a:avLst>
              <a:gd name="adj" fmla="val 50000"/>
            </a:avLst>
          </a:prstGeom>
          <a:no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71455" y="2039111"/>
            <a:ext cx="1143000" cy="29260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71455" y="2039111"/>
            <a:ext cx="1143000" cy="292608"/>
          </a:xfrm>
          <a:prstGeom prst="rect">
            <a:avLst/>
          </a:prstGeom>
          <a:noFill/>
        </p:spPr>
        <p:txBody>
          <a:bodyPr wrap="square" lIns="0" rIns="0" tIns="0" bIns="0" anchor="ctr">
            <a:spAutoFit/>
          </a:bodyPr>
          <a:lstStyle/>
          <a:p>
            <a:pPr algn="ctr"/>
            <a:r>
              <a:rPr sz="900" b="1" i="0" spc="100">
                <a:solidFill>
                  <a:srgbClr val="CCCCCC"/>
                </a:solidFill>
                <a:latin typeface="Helvetica Neue"/>
              </a:rPr>
              <a:t>WEEK 1</a:t>
            </a:r>
          </a:p>
        </p:txBody>
      </p:sp>
      <p:sp>
        <p:nvSpPr>
          <p:cNvPr id="17" name="Rounded Rectangle 16"/>
          <p:cNvSpPr/>
          <p:nvPr/>
        </p:nvSpPr>
        <p:spPr>
          <a:xfrm>
            <a:off x="10271455" y="2039111"/>
            <a:ext cx="1143000" cy="292608"/>
          </a:xfrm>
          <a:prstGeom prst="roundRect">
            <a:avLst>
              <a:gd name="adj" fmla="val 50000"/>
            </a:avLst>
          </a:prstGeom>
          <a:no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516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48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EVIDENCE</a:t>
            </a:r>
          </a:p>
        </p:txBody>
      </p:sp>
      <p:sp>
        <p:nvSpPr>
          <p:cNvPr id="20" name="TextBox 19"/>
          <p:cNvSpPr txBox="1"/>
          <p:nvPr/>
        </p:nvSpPr>
        <p:spPr>
          <a:xfrm>
            <a:off x="929487" y="3200400"/>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1" name="TextBox 20"/>
          <p:cNvSpPr txBox="1"/>
          <p:nvPr/>
        </p:nvSpPr>
        <p:spPr>
          <a:xfrm>
            <a:off x="1112367" y="3200400"/>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facebook / paid: 1.797 sessions, 0 tracked purchases, 0 kr revenue (46 % of all sessions)</a:t>
            </a:r>
          </a:p>
        </p:txBody>
      </p:sp>
      <p:sp>
        <p:nvSpPr>
          <p:cNvPr id="22" name="TextBox 21"/>
          <p:cNvSpPr txBox="1"/>
          <p:nvPr/>
        </p:nvSpPr>
        <p:spPr>
          <a:xfrm>
            <a:off x="929487" y="3584448"/>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3" name="TextBox 22"/>
          <p:cNvSpPr txBox="1"/>
          <p:nvPr/>
        </p:nvSpPr>
        <p:spPr>
          <a:xfrm>
            <a:off x="1112367" y="3584448"/>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(direct) / (none): 379 sessions, 21 purchases, 126.715 kr revenue (highest in the deck)</a:t>
            </a:r>
          </a:p>
        </p:txBody>
      </p:sp>
      <p:sp>
        <p:nvSpPr>
          <p:cNvPr id="24" name="TextBox 23"/>
          <p:cNvSpPr txBox="1"/>
          <p:nvPr/>
        </p:nvSpPr>
        <p:spPr>
          <a:xfrm>
            <a:off x="929487" y="3968496"/>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5" name="TextBox 24"/>
          <p:cNvSpPr txBox="1"/>
          <p:nvPr/>
        </p:nvSpPr>
        <p:spPr>
          <a:xfrm>
            <a:off x="1112367" y="3968496"/>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Direct is almost certainly absorbing the Facebook last click loss</a:t>
            </a:r>
          </a:p>
        </p:txBody>
      </p:sp>
      <p:sp>
        <p:nvSpPr>
          <p:cNvPr id="26" name="TextBox 25"/>
          <p:cNvSpPr txBox="1"/>
          <p:nvPr/>
        </p:nvSpPr>
        <p:spPr>
          <a:xfrm>
            <a:off x="929487" y="4352544"/>
            <a:ext cx="18288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7" name="TextBox 26"/>
          <p:cNvSpPr txBox="1"/>
          <p:nvPr/>
        </p:nvSpPr>
        <p:spPr>
          <a:xfrm>
            <a:off x="1112367" y="4352544"/>
            <a:ext cx="4617720" cy="640080"/>
          </a:xfrm>
          <a:prstGeom prst="rect">
            <a:avLst/>
          </a:prstGeom>
          <a:noFill/>
        </p:spPr>
        <p:txBody>
          <a:bodyPr wrap="square" lIns="0" rIns="0" tIns="0" bIns="0" anchor="t">
            <a:spAutoFit/>
          </a:bodyPr>
          <a:lstStyle/>
          <a:p>
            <a:pPr algn="l"/>
            <a:r>
              <a:rPr sz="1100" b="0" i="0">
                <a:solidFill>
                  <a:srgbClr val="CCCCCC"/>
                </a:solidFill>
                <a:latin typeface="Helvetica Neue"/>
              </a:rPr>
              <a:t>iOS 17 plus Shopify Web Pixels Manager regularly drop the source on the new event API</a:t>
            </a:r>
          </a:p>
        </p:txBody>
      </p:sp>
      <p:sp>
        <p:nvSpPr>
          <p:cNvPr id="28" name="TextBox 27"/>
          <p:cNvSpPr txBox="1"/>
          <p:nvPr/>
        </p:nvSpPr>
        <p:spPr>
          <a:xfrm>
            <a:off x="929487" y="4828032"/>
            <a:ext cx="4800600" cy="731520"/>
          </a:xfrm>
          <a:prstGeom prst="rect">
            <a:avLst/>
          </a:prstGeom>
          <a:noFill/>
        </p:spPr>
        <p:txBody>
          <a:bodyPr wrap="square" lIns="0" rIns="0" tIns="0" bIns="0" anchor="t">
            <a:spAutoFit/>
          </a:bodyPr>
          <a:lstStyle/>
          <a:p>
            <a:pPr algn="l"/>
            <a:r>
              <a:rPr sz="1000" b="0" i="1">
                <a:solidFill>
                  <a:srgbClr val="999999"/>
                </a:solidFill>
                <a:latin typeface="Helvetica Neue"/>
              </a:rPr>
              <a:t>This is an ad efficiency unlock, not a CR opportunity. With proper attribution Meta's Advantage Plus campaigns can scale efficiently. Without it, every spend decision is blind. Fix this before any FB budget changes.</a:t>
            </a:r>
          </a:p>
        </p:txBody>
      </p:sp>
      <p:sp>
        <p:nvSpPr>
          <p:cNvPr id="29" name="Rounded Rectangle 28"/>
          <p:cNvSpPr/>
          <p:nvPr/>
        </p:nvSpPr>
        <p:spPr>
          <a:xfrm>
            <a:off x="6187287" y="2651760"/>
            <a:ext cx="5349240" cy="370332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880360"/>
            <a:ext cx="4800600" cy="228600"/>
          </a:xfrm>
          <a:prstGeom prst="rect">
            <a:avLst/>
          </a:prstGeom>
          <a:noFill/>
        </p:spPr>
        <p:txBody>
          <a:bodyPr wrap="square" lIns="0" rIns="0" tIns="0" bIns="0" anchor="t">
            <a:spAutoFit/>
          </a:bodyPr>
          <a:lstStyle/>
          <a:p>
            <a:pPr algn="l"/>
            <a:r>
              <a:rPr sz="1000" b="1" i="0" spc="200">
                <a:solidFill>
                  <a:srgbClr val="F7D007"/>
                </a:solidFill>
                <a:latin typeface="Helvetica Neue"/>
              </a:rPr>
              <a:t>ACTIONS</a:t>
            </a:r>
          </a:p>
        </p:txBody>
      </p:sp>
      <p:sp>
        <p:nvSpPr>
          <p:cNvPr id="31" name="Oval 30"/>
          <p:cNvSpPr/>
          <p:nvPr/>
        </p:nvSpPr>
        <p:spPr>
          <a:xfrm>
            <a:off x="6461607" y="3236976"/>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1607" y="3236976"/>
            <a:ext cx="201168" cy="201168"/>
          </a:xfrm>
          <a:prstGeom prst="rect">
            <a:avLst/>
          </a:prstGeom>
          <a:noFill/>
        </p:spPr>
        <p:txBody>
          <a:bodyPr wrap="square" lIns="0" rIns="0" tIns="0" bIns="0" anchor="ctr">
            <a:spAutoFit/>
          </a:bodyPr>
          <a:lstStyle/>
          <a:p>
            <a:pPr algn="ctr"/>
            <a:r>
              <a:rPr sz="800" b="1" i="0">
                <a:solidFill>
                  <a:srgbClr val="F7D007"/>
                </a:solidFill>
                <a:latin typeface="Menlo"/>
              </a:rPr>
              <a:t>1</a:t>
            </a:r>
          </a:p>
        </p:txBody>
      </p:sp>
      <p:sp>
        <p:nvSpPr>
          <p:cNvPr id="33" name="Rounded Rectangle 32"/>
          <p:cNvSpPr/>
          <p:nvPr/>
        </p:nvSpPr>
        <p:spPr>
          <a:xfrm>
            <a:off x="6735927" y="3236976"/>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236976"/>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35" name="TextBox 34"/>
          <p:cNvSpPr txBox="1"/>
          <p:nvPr/>
        </p:nvSpPr>
        <p:spPr>
          <a:xfrm>
            <a:off x="7238847" y="3200400"/>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Audit Meta Pixel via Events Manager and Facebook Pixel Helper</a:t>
            </a:r>
          </a:p>
        </p:txBody>
      </p:sp>
      <p:sp>
        <p:nvSpPr>
          <p:cNvPr id="36" name="Oval 35"/>
          <p:cNvSpPr/>
          <p:nvPr/>
        </p:nvSpPr>
        <p:spPr>
          <a:xfrm>
            <a:off x="6461607" y="35844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584448"/>
            <a:ext cx="201168" cy="201168"/>
          </a:xfrm>
          <a:prstGeom prst="rect">
            <a:avLst/>
          </a:prstGeom>
          <a:noFill/>
        </p:spPr>
        <p:txBody>
          <a:bodyPr wrap="square" lIns="0" rIns="0" tIns="0" bIns="0" anchor="ctr">
            <a:spAutoFit/>
          </a:bodyPr>
          <a:lstStyle/>
          <a:p>
            <a:pPr algn="ctr"/>
            <a:r>
              <a:rPr sz="800" b="1" i="0">
                <a:solidFill>
                  <a:srgbClr val="F7D007"/>
                </a:solidFill>
                <a:latin typeface="Menlo"/>
              </a:rPr>
              <a:t>2</a:t>
            </a:r>
          </a:p>
        </p:txBody>
      </p:sp>
      <p:sp>
        <p:nvSpPr>
          <p:cNvPr id="38" name="Rounded Rectangle 37"/>
          <p:cNvSpPr/>
          <p:nvPr/>
        </p:nvSpPr>
        <p:spPr>
          <a:xfrm>
            <a:off x="6735927" y="35844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5927" y="35844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0" name="TextBox 39"/>
          <p:cNvSpPr txBox="1"/>
          <p:nvPr/>
        </p:nvSpPr>
        <p:spPr>
          <a:xfrm>
            <a:off x="7238847" y="35478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Enable Shopify Conversions API integration in admin (server side fallback)</a:t>
            </a:r>
          </a:p>
        </p:txBody>
      </p:sp>
      <p:sp>
        <p:nvSpPr>
          <p:cNvPr id="41" name="Oval 40"/>
          <p:cNvSpPr/>
          <p:nvPr/>
        </p:nvSpPr>
        <p:spPr>
          <a:xfrm>
            <a:off x="6461607" y="40416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1607" y="4041648"/>
            <a:ext cx="201168" cy="201168"/>
          </a:xfrm>
          <a:prstGeom prst="rect">
            <a:avLst/>
          </a:prstGeom>
          <a:noFill/>
        </p:spPr>
        <p:txBody>
          <a:bodyPr wrap="square" lIns="0" rIns="0" tIns="0" bIns="0" anchor="ctr">
            <a:spAutoFit/>
          </a:bodyPr>
          <a:lstStyle/>
          <a:p>
            <a:pPr algn="ctr"/>
            <a:r>
              <a:rPr sz="800" b="1" i="0">
                <a:solidFill>
                  <a:srgbClr val="F7D007"/>
                </a:solidFill>
                <a:latin typeface="Menlo"/>
              </a:rPr>
              <a:t>3</a:t>
            </a:r>
          </a:p>
        </p:txBody>
      </p:sp>
      <p:sp>
        <p:nvSpPr>
          <p:cNvPr id="43" name="Rounded Rectangle 42"/>
          <p:cNvSpPr/>
          <p:nvPr/>
        </p:nvSpPr>
        <p:spPr>
          <a:xfrm>
            <a:off x="6735927" y="40416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35927" y="40416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45" name="TextBox 44"/>
          <p:cNvSpPr txBox="1"/>
          <p:nvPr/>
        </p:nvSpPr>
        <p:spPr>
          <a:xfrm>
            <a:off x="7238847" y="40050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Run a 50 kr test purchase and confirm Purchase event fires once, not twice</a:t>
            </a:r>
          </a:p>
        </p:txBody>
      </p:sp>
      <p:sp>
        <p:nvSpPr>
          <p:cNvPr id="46" name="Oval 45"/>
          <p:cNvSpPr/>
          <p:nvPr/>
        </p:nvSpPr>
        <p:spPr>
          <a:xfrm>
            <a:off x="6461607" y="4498848"/>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1607" y="4498848"/>
            <a:ext cx="201168" cy="201168"/>
          </a:xfrm>
          <a:prstGeom prst="rect">
            <a:avLst/>
          </a:prstGeom>
          <a:noFill/>
        </p:spPr>
        <p:txBody>
          <a:bodyPr wrap="square" lIns="0" rIns="0" tIns="0" bIns="0" anchor="ctr">
            <a:spAutoFit/>
          </a:bodyPr>
          <a:lstStyle/>
          <a:p>
            <a:pPr algn="ctr"/>
            <a:r>
              <a:rPr sz="800" b="1" i="0">
                <a:solidFill>
                  <a:srgbClr val="F7D007"/>
                </a:solidFill>
                <a:latin typeface="Menlo"/>
              </a:rPr>
              <a:t>4</a:t>
            </a:r>
          </a:p>
        </p:txBody>
      </p:sp>
      <p:sp>
        <p:nvSpPr>
          <p:cNvPr id="48" name="Rounded Rectangle 47"/>
          <p:cNvSpPr/>
          <p:nvPr/>
        </p:nvSpPr>
        <p:spPr>
          <a:xfrm>
            <a:off x="6735927" y="4498848"/>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5927" y="4498848"/>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0" name="TextBox 49"/>
          <p:cNvSpPr txBox="1"/>
          <p:nvPr/>
        </p:nvSpPr>
        <p:spPr>
          <a:xfrm>
            <a:off x="7238847" y="4462272"/>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Validate the event match quality score climbs above 7</a:t>
            </a:r>
          </a:p>
        </p:txBody>
      </p:sp>
      <p:sp>
        <p:nvSpPr>
          <p:cNvPr id="51" name="Oval 50"/>
          <p:cNvSpPr/>
          <p:nvPr/>
        </p:nvSpPr>
        <p:spPr>
          <a:xfrm>
            <a:off x="6461607" y="4846320"/>
            <a:ext cx="201168" cy="201168"/>
          </a:xfrm>
          <a:prstGeom prst="ellipse">
            <a:avLst/>
          </a:prstGeom>
          <a:noFill/>
          <a:ln w="9525">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1607" y="4846320"/>
            <a:ext cx="201168" cy="201168"/>
          </a:xfrm>
          <a:prstGeom prst="rect">
            <a:avLst/>
          </a:prstGeom>
          <a:noFill/>
        </p:spPr>
        <p:txBody>
          <a:bodyPr wrap="square" lIns="0" rIns="0" tIns="0" bIns="0" anchor="ctr">
            <a:spAutoFit/>
          </a:bodyPr>
          <a:lstStyle/>
          <a:p>
            <a:pPr algn="ctr"/>
            <a:r>
              <a:rPr sz="800" b="1" i="0">
                <a:solidFill>
                  <a:srgbClr val="F7D007"/>
                </a:solidFill>
                <a:latin typeface="Menlo"/>
              </a:rPr>
              <a:t>5</a:t>
            </a:r>
          </a:p>
        </p:txBody>
      </p:sp>
      <p:sp>
        <p:nvSpPr>
          <p:cNvPr id="53" name="Rounded Rectangle 52"/>
          <p:cNvSpPr/>
          <p:nvPr/>
        </p:nvSpPr>
        <p:spPr>
          <a:xfrm>
            <a:off x="6735927" y="4846320"/>
            <a:ext cx="411480" cy="201168"/>
          </a:xfrm>
          <a:prstGeom prst="roundRect">
            <a:avLst>
              <a:gd name="adj" fmla="val 30000"/>
            </a:avLst>
          </a:prstGeom>
          <a:solidFill>
            <a:srgbClr val="05180A"/>
          </a:solidFill>
          <a:ln w="63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35927" y="4846320"/>
            <a:ext cx="411480" cy="201168"/>
          </a:xfrm>
          <a:prstGeom prst="rect">
            <a:avLst/>
          </a:prstGeom>
          <a:noFill/>
        </p:spPr>
        <p:txBody>
          <a:bodyPr wrap="square" lIns="0" rIns="0" tIns="0" bIns="0" anchor="ctr">
            <a:spAutoFit/>
          </a:bodyPr>
          <a:lstStyle/>
          <a:p>
            <a:pPr algn="ctr"/>
            <a:r>
              <a:rPr sz="700" b="1" i="0" spc="100">
                <a:solidFill>
                  <a:srgbClr val="22C55E"/>
                </a:solidFill>
                <a:latin typeface="Menlo"/>
              </a:rPr>
              <a:t>SHIP</a:t>
            </a:r>
          </a:p>
        </p:txBody>
      </p:sp>
      <p:sp>
        <p:nvSpPr>
          <p:cNvPr id="55" name="TextBox 54"/>
          <p:cNvSpPr txBox="1"/>
          <p:nvPr/>
        </p:nvSpPr>
        <p:spPr>
          <a:xfrm>
            <a:off x="7238847" y="4809744"/>
            <a:ext cx="4023360" cy="640080"/>
          </a:xfrm>
          <a:prstGeom prst="rect">
            <a:avLst/>
          </a:prstGeom>
          <a:noFill/>
        </p:spPr>
        <p:txBody>
          <a:bodyPr wrap="square" lIns="0" rIns="0" tIns="0" bIns="0" anchor="t">
            <a:spAutoFit/>
          </a:bodyPr>
          <a:lstStyle/>
          <a:p>
            <a:pPr algn="l"/>
            <a:r>
              <a:rPr sz="1050" b="0" i="0">
                <a:solidFill>
                  <a:srgbClr val="CCCCCC"/>
                </a:solidFill>
                <a:latin typeface="Helvetica Neue"/>
              </a:rPr>
              <a:t>Re-baseline attribution after 14 days of corrected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BENCHMARK</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How three Danish competitors handle the same gaps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Fitshop is the scale player. Fitness Engros is the content brand. Træningspartner is the Trustpilot volume leader. Each solves at least three of the five blockers.</a:t>
            </a:r>
          </a:p>
        </p:txBody>
      </p:sp>
      <p:sp>
        <p:nvSpPr>
          <p:cNvPr id="10" name="TextBox 9"/>
          <p:cNvSpPr txBox="1"/>
          <p:nvPr/>
        </p:nvSpPr>
        <p:spPr>
          <a:xfrm>
            <a:off x="929487" y="2240280"/>
            <a:ext cx="2468880" cy="274320"/>
          </a:xfrm>
          <a:prstGeom prst="rect">
            <a:avLst/>
          </a:prstGeom>
          <a:noFill/>
        </p:spPr>
        <p:txBody>
          <a:bodyPr wrap="square" lIns="0" rIns="0" tIns="0" bIns="0" anchor="t">
            <a:spAutoFit/>
          </a:bodyPr>
          <a:lstStyle/>
          <a:p>
            <a:pPr algn="l"/>
            <a:r>
              <a:rPr sz="900" b="1" i="0" spc="200">
                <a:solidFill>
                  <a:srgbClr val="999999"/>
                </a:solidFill>
                <a:latin typeface="Helvetica Neue"/>
              </a:rPr>
              <a:t>FEATURE</a:t>
            </a:r>
          </a:p>
        </p:txBody>
      </p:sp>
      <p:sp>
        <p:nvSpPr>
          <p:cNvPr id="11" name="TextBox 10"/>
          <p:cNvSpPr txBox="1"/>
          <p:nvPr/>
        </p:nvSpPr>
        <p:spPr>
          <a:xfrm>
            <a:off x="3672687" y="2240280"/>
            <a:ext cx="1691640" cy="274320"/>
          </a:xfrm>
          <a:prstGeom prst="rect">
            <a:avLst/>
          </a:prstGeom>
          <a:noFill/>
        </p:spPr>
        <p:txBody>
          <a:bodyPr wrap="square" lIns="0" rIns="0" tIns="0" bIns="0" anchor="t">
            <a:spAutoFit/>
          </a:bodyPr>
          <a:lstStyle/>
          <a:p>
            <a:pPr algn="l"/>
            <a:r>
              <a:rPr sz="1000" b="1" i="0">
                <a:solidFill>
                  <a:srgbClr val="F7D007"/>
                </a:solidFill>
                <a:latin typeface="Helvetica Neue"/>
              </a:rPr>
              <a:t>sportgym.dk</a:t>
            </a:r>
          </a:p>
        </p:txBody>
      </p:sp>
      <p:sp>
        <p:nvSpPr>
          <p:cNvPr id="12" name="TextBox 11"/>
          <p:cNvSpPr txBox="1"/>
          <p:nvPr/>
        </p:nvSpPr>
        <p:spPr>
          <a:xfrm>
            <a:off x="5638647" y="2240280"/>
            <a:ext cx="1691640" cy="274320"/>
          </a:xfrm>
          <a:prstGeom prst="rect">
            <a:avLst/>
          </a:prstGeom>
          <a:noFill/>
        </p:spPr>
        <p:txBody>
          <a:bodyPr wrap="square" lIns="0" rIns="0" tIns="0" bIns="0" anchor="t">
            <a:spAutoFit/>
          </a:bodyPr>
          <a:lstStyle/>
          <a:p>
            <a:pPr algn="l"/>
            <a:r>
              <a:rPr sz="1000" b="1" i="0">
                <a:solidFill>
                  <a:srgbClr val="999999"/>
                </a:solidFill>
                <a:latin typeface="Helvetica Neue"/>
              </a:rPr>
              <a:t>fitshop.dk</a:t>
            </a:r>
          </a:p>
        </p:txBody>
      </p:sp>
      <p:sp>
        <p:nvSpPr>
          <p:cNvPr id="13" name="TextBox 12"/>
          <p:cNvSpPr txBox="1"/>
          <p:nvPr/>
        </p:nvSpPr>
        <p:spPr>
          <a:xfrm>
            <a:off x="7604607" y="2240280"/>
            <a:ext cx="1691640" cy="274320"/>
          </a:xfrm>
          <a:prstGeom prst="rect">
            <a:avLst/>
          </a:prstGeom>
          <a:noFill/>
        </p:spPr>
        <p:txBody>
          <a:bodyPr wrap="square" lIns="0" rIns="0" tIns="0" bIns="0" anchor="t">
            <a:spAutoFit/>
          </a:bodyPr>
          <a:lstStyle/>
          <a:p>
            <a:pPr algn="l"/>
            <a:r>
              <a:rPr sz="1000" b="1" i="0">
                <a:solidFill>
                  <a:srgbClr val="999999"/>
                </a:solidFill>
                <a:latin typeface="Helvetica Neue"/>
              </a:rPr>
              <a:t>fitnessengros.dk</a:t>
            </a:r>
          </a:p>
        </p:txBody>
      </p:sp>
      <p:sp>
        <p:nvSpPr>
          <p:cNvPr id="14" name="TextBox 13"/>
          <p:cNvSpPr txBox="1"/>
          <p:nvPr/>
        </p:nvSpPr>
        <p:spPr>
          <a:xfrm>
            <a:off x="9570567" y="2240280"/>
            <a:ext cx="1691640" cy="274320"/>
          </a:xfrm>
          <a:prstGeom prst="rect">
            <a:avLst/>
          </a:prstGeom>
          <a:noFill/>
        </p:spPr>
        <p:txBody>
          <a:bodyPr wrap="square" lIns="0" rIns="0" tIns="0" bIns="0" anchor="t">
            <a:spAutoFit/>
          </a:bodyPr>
          <a:lstStyle/>
          <a:p>
            <a:pPr algn="l"/>
            <a:r>
              <a:rPr sz="1000" b="1" i="0">
                <a:solidFill>
                  <a:srgbClr val="999999"/>
                </a:solidFill>
                <a:latin typeface="Helvetica Neue"/>
              </a:rPr>
              <a:t>træningspartner.dk</a:t>
            </a:r>
          </a:p>
        </p:txBody>
      </p:sp>
      <p:sp>
        <p:nvSpPr>
          <p:cNvPr id="15" name="Rectangle 14"/>
          <p:cNvSpPr/>
          <p:nvPr/>
        </p:nvSpPr>
        <p:spPr>
          <a:xfrm>
            <a:off x="792327" y="2532888"/>
            <a:ext cx="10607040"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2327" y="2569464"/>
            <a:ext cx="10607040"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487" y="26243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Hero sells the category</a:t>
            </a:r>
          </a:p>
        </p:txBody>
      </p:sp>
      <p:sp>
        <p:nvSpPr>
          <p:cNvPr id="18" name="Oval 17"/>
          <p:cNvSpPr/>
          <p:nvPr/>
        </p:nvSpPr>
        <p:spPr>
          <a:xfrm>
            <a:off x="3672687" y="27157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55567" y="2624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No · event banner</a:t>
            </a:r>
          </a:p>
        </p:txBody>
      </p:sp>
      <p:sp>
        <p:nvSpPr>
          <p:cNvPr id="20" name="Oval 19"/>
          <p:cNvSpPr/>
          <p:nvPr/>
        </p:nvSpPr>
        <p:spPr>
          <a:xfrm>
            <a:off x="5638647" y="27157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21527" y="2624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Yes · categories</a:t>
            </a:r>
          </a:p>
        </p:txBody>
      </p:sp>
      <p:sp>
        <p:nvSpPr>
          <p:cNvPr id="22" name="Oval 21"/>
          <p:cNvSpPr/>
          <p:nvPr/>
        </p:nvSpPr>
        <p:spPr>
          <a:xfrm>
            <a:off x="7604607" y="27157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87487" y="2624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Yes · categories</a:t>
            </a:r>
          </a:p>
        </p:txBody>
      </p:sp>
      <p:sp>
        <p:nvSpPr>
          <p:cNvPr id="24" name="Oval 23"/>
          <p:cNvSpPr/>
          <p:nvPr/>
        </p:nvSpPr>
        <p:spPr>
          <a:xfrm>
            <a:off x="9570567" y="27157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53447" y="2624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Partial</a:t>
            </a:r>
          </a:p>
        </p:txBody>
      </p:sp>
      <p:sp>
        <p:nvSpPr>
          <p:cNvPr id="26" name="TextBox 25"/>
          <p:cNvSpPr txBox="1"/>
          <p:nvPr/>
        </p:nvSpPr>
        <p:spPr>
          <a:xfrm>
            <a:off x="929487" y="30815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Trustpilot widget on home</a:t>
            </a:r>
          </a:p>
        </p:txBody>
      </p:sp>
      <p:sp>
        <p:nvSpPr>
          <p:cNvPr id="27" name="Oval 26"/>
          <p:cNvSpPr/>
          <p:nvPr/>
        </p:nvSpPr>
        <p:spPr>
          <a:xfrm>
            <a:off x="3672687" y="31729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55567" y="3081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Not visible</a:t>
            </a:r>
          </a:p>
        </p:txBody>
      </p:sp>
      <p:sp>
        <p:nvSpPr>
          <p:cNvPr id="29" name="Oval 28"/>
          <p:cNvSpPr/>
          <p:nvPr/>
        </p:nvSpPr>
        <p:spPr>
          <a:xfrm>
            <a:off x="5638647" y="31729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1527" y="3081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Google 4,84 / 41k</a:t>
            </a:r>
          </a:p>
        </p:txBody>
      </p:sp>
      <p:sp>
        <p:nvSpPr>
          <p:cNvPr id="31" name="Oval 30"/>
          <p:cNvSpPr/>
          <p:nvPr/>
        </p:nvSpPr>
        <p:spPr>
          <a:xfrm>
            <a:off x="7604607" y="31729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87487" y="3081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Static stars</a:t>
            </a:r>
          </a:p>
        </p:txBody>
      </p:sp>
      <p:sp>
        <p:nvSpPr>
          <p:cNvPr id="33" name="Oval 32"/>
          <p:cNvSpPr/>
          <p:nvPr/>
        </p:nvSpPr>
        <p:spPr>
          <a:xfrm>
            <a:off x="9570567" y="31729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53447" y="3081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807 reviews</a:t>
            </a:r>
          </a:p>
        </p:txBody>
      </p:sp>
      <p:sp>
        <p:nvSpPr>
          <p:cNvPr id="35" name="Rectangle 34"/>
          <p:cNvSpPr/>
          <p:nvPr/>
        </p:nvSpPr>
        <p:spPr>
          <a:xfrm>
            <a:off x="792327" y="3483864"/>
            <a:ext cx="10607040"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487" y="35387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Reviews on PDP</a:t>
            </a:r>
          </a:p>
        </p:txBody>
      </p:sp>
      <p:sp>
        <p:nvSpPr>
          <p:cNvPr id="37" name="Oval 36"/>
          <p:cNvSpPr/>
          <p:nvPr/>
        </p:nvSpPr>
        <p:spPr>
          <a:xfrm>
            <a:off x="3672687" y="36301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55567" y="35387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None</a:t>
            </a:r>
          </a:p>
        </p:txBody>
      </p:sp>
      <p:sp>
        <p:nvSpPr>
          <p:cNvPr id="39" name="Oval 38"/>
          <p:cNvSpPr/>
          <p:nvPr/>
        </p:nvSpPr>
        <p:spPr>
          <a:xfrm>
            <a:off x="5638647" y="36301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21527" y="35387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Limited</a:t>
            </a:r>
          </a:p>
        </p:txBody>
      </p:sp>
      <p:sp>
        <p:nvSpPr>
          <p:cNvPr id="41" name="Oval 40"/>
          <p:cNvSpPr/>
          <p:nvPr/>
        </p:nvSpPr>
        <p:spPr>
          <a:xfrm>
            <a:off x="7604607" y="36301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87487" y="35387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None</a:t>
            </a:r>
          </a:p>
        </p:txBody>
      </p:sp>
      <p:sp>
        <p:nvSpPr>
          <p:cNvPr id="43" name="Oval 42"/>
          <p:cNvSpPr/>
          <p:nvPr/>
        </p:nvSpPr>
        <p:spPr>
          <a:xfrm>
            <a:off x="9570567" y="36301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53447" y="35387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Stars + count</a:t>
            </a:r>
          </a:p>
        </p:txBody>
      </p:sp>
      <p:sp>
        <p:nvSpPr>
          <p:cNvPr id="45" name="TextBox 44"/>
          <p:cNvSpPr txBox="1"/>
          <p:nvPr/>
        </p:nvSpPr>
        <p:spPr>
          <a:xfrm>
            <a:off x="929487" y="39959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Financing on PDP</a:t>
            </a:r>
          </a:p>
        </p:txBody>
      </p:sp>
      <p:sp>
        <p:nvSpPr>
          <p:cNvPr id="46" name="Oval 45"/>
          <p:cNvSpPr/>
          <p:nvPr/>
        </p:nvSpPr>
        <p:spPr>
          <a:xfrm>
            <a:off x="3672687" y="40873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55567" y="39959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None</a:t>
            </a:r>
          </a:p>
        </p:txBody>
      </p:sp>
      <p:sp>
        <p:nvSpPr>
          <p:cNvPr id="48" name="Oval 47"/>
          <p:cNvSpPr/>
          <p:nvPr/>
        </p:nvSpPr>
        <p:spPr>
          <a:xfrm>
            <a:off x="5638647" y="40873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21527" y="39959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Klarna + ViaBill</a:t>
            </a:r>
          </a:p>
        </p:txBody>
      </p:sp>
      <p:sp>
        <p:nvSpPr>
          <p:cNvPr id="50" name="Oval 49"/>
          <p:cNvSpPr/>
          <p:nvPr/>
        </p:nvSpPr>
        <p:spPr>
          <a:xfrm>
            <a:off x="7604607" y="40873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87487" y="39959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Not visible</a:t>
            </a:r>
          </a:p>
        </p:txBody>
      </p:sp>
      <p:sp>
        <p:nvSpPr>
          <p:cNvPr id="52" name="Oval 51"/>
          <p:cNvSpPr/>
          <p:nvPr/>
        </p:nvSpPr>
        <p:spPr>
          <a:xfrm>
            <a:off x="9570567" y="40873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53447" y="39959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Yes</a:t>
            </a:r>
          </a:p>
        </p:txBody>
      </p:sp>
      <p:sp>
        <p:nvSpPr>
          <p:cNvPr id="54" name="Rectangle 53"/>
          <p:cNvSpPr/>
          <p:nvPr/>
        </p:nvSpPr>
        <p:spPr>
          <a:xfrm>
            <a:off x="792327" y="4398264"/>
            <a:ext cx="10607040"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9487" y="44531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Structured filters</a:t>
            </a:r>
          </a:p>
        </p:txBody>
      </p:sp>
      <p:sp>
        <p:nvSpPr>
          <p:cNvPr id="56" name="Oval 55"/>
          <p:cNvSpPr/>
          <p:nvPr/>
        </p:nvSpPr>
        <p:spPr>
          <a:xfrm>
            <a:off x="3672687" y="45445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855567" y="44531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Stock + price only</a:t>
            </a:r>
          </a:p>
        </p:txBody>
      </p:sp>
      <p:sp>
        <p:nvSpPr>
          <p:cNvPr id="58" name="Oval 57"/>
          <p:cNvSpPr/>
          <p:nvPr/>
        </p:nvSpPr>
        <p:spPr>
          <a:xfrm>
            <a:off x="5638647" y="45445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21527" y="44531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Some brand filters</a:t>
            </a:r>
          </a:p>
        </p:txBody>
      </p:sp>
      <p:sp>
        <p:nvSpPr>
          <p:cNvPr id="60" name="Oval 59"/>
          <p:cNvSpPr/>
          <p:nvPr/>
        </p:nvSpPr>
        <p:spPr>
          <a:xfrm>
            <a:off x="7604607" y="45445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87487" y="44531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Category subnav</a:t>
            </a:r>
          </a:p>
        </p:txBody>
      </p:sp>
      <p:sp>
        <p:nvSpPr>
          <p:cNvPr id="62" name="Oval 61"/>
          <p:cNvSpPr/>
          <p:nvPr/>
        </p:nvSpPr>
        <p:spPr>
          <a:xfrm>
            <a:off x="9570567" y="45445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53447" y="44531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Multi facet</a:t>
            </a:r>
          </a:p>
        </p:txBody>
      </p:sp>
      <p:sp>
        <p:nvSpPr>
          <p:cNvPr id="64" name="TextBox 63"/>
          <p:cNvSpPr txBox="1"/>
          <p:nvPr/>
        </p:nvSpPr>
        <p:spPr>
          <a:xfrm>
            <a:off x="929487" y="49103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Cross sell = accessories</a:t>
            </a:r>
          </a:p>
        </p:txBody>
      </p:sp>
      <p:sp>
        <p:nvSpPr>
          <p:cNvPr id="65" name="Oval 64"/>
          <p:cNvSpPr/>
          <p:nvPr/>
        </p:nvSpPr>
        <p:spPr>
          <a:xfrm>
            <a:off x="3672687" y="5001768"/>
            <a:ext cx="118872" cy="11887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55567" y="4910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Competing models</a:t>
            </a:r>
          </a:p>
        </p:txBody>
      </p:sp>
      <p:sp>
        <p:nvSpPr>
          <p:cNvPr id="67" name="Oval 66"/>
          <p:cNvSpPr/>
          <p:nvPr/>
        </p:nvSpPr>
        <p:spPr>
          <a:xfrm>
            <a:off x="5638647" y="50017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821527" y="4910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Mixed</a:t>
            </a:r>
          </a:p>
        </p:txBody>
      </p:sp>
      <p:sp>
        <p:nvSpPr>
          <p:cNvPr id="69" name="Oval 68"/>
          <p:cNvSpPr/>
          <p:nvPr/>
        </p:nvSpPr>
        <p:spPr>
          <a:xfrm>
            <a:off x="7604607" y="50017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87487" y="4910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Accessory bundles</a:t>
            </a:r>
          </a:p>
        </p:txBody>
      </p:sp>
      <p:sp>
        <p:nvSpPr>
          <p:cNvPr id="71" name="Oval 70"/>
          <p:cNvSpPr/>
          <p:nvPr/>
        </p:nvSpPr>
        <p:spPr>
          <a:xfrm>
            <a:off x="9570567" y="50017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753447" y="49103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Mixed</a:t>
            </a:r>
          </a:p>
        </p:txBody>
      </p:sp>
      <p:sp>
        <p:nvSpPr>
          <p:cNvPr id="73" name="Rectangle 72"/>
          <p:cNvSpPr/>
          <p:nvPr/>
        </p:nvSpPr>
        <p:spPr>
          <a:xfrm>
            <a:off x="792327" y="5312664"/>
            <a:ext cx="10607040" cy="4389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29487" y="5367528"/>
            <a:ext cx="2468880" cy="347472"/>
          </a:xfrm>
          <a:prstGeom prst="rect">
            <a:avLst/>
          </a:prstGeom>
          <a:noFill/>
        </p:spPr>
        <p:txBody>
          <a:bodyPr wrap="square" lIns="0" rIns="0" tIns="0" bIns="0" anchor="t">
            <a:spAutoFit/>
          </a:bodyPr>
          <a:lstStyle/>
          <a:p>
            <a:pPr algn="l"/>
            <a:r>
              <a:rPr sz="1000" b="1" i="0">
                <a:solidFill>
                  <a:srgbClr val="FFFFFF"/>
                </a:solidFill>
                <a:latin typeface="Helvetica Neue"/>
              </a:rPr>
              <a:t>Showroom / pickup</a:t>
            </a:r>
          </a:p>
        </p:txBody>
      </p:sp>
      <p:sp>
        <p:nvSpPr>
          <p:cNvPr id="75" name="Oval 74"/>
          <p:cNvSpPr/>
          <p:nvPr/>
        </p:nvSpPr>
        <p:spPr>
          <a:xfrm>
            <a:off x="3672687" y="54589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55567" y="5367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Aarhus + PDP pickup</a:t>
            </a:r>
          </a:p>
        </p:txBody>
      </p:sp>
      <p:sp>
        <p:nvSpPr>
          <p:cNvPr id="77" name="Oval 76"/>
          <p:cNvSpPr/>
          <p:nvPr/>
        </p:nvSpPr>
        <p:spPr>
          <a:xfrm>
            <a:off x="5638647" y="54589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821527" y="5367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69 EU stores</a:t>
            </a:r>
          </a:p>
        </p:txBody>
      </p:sp>
      <p:sp>
        <p:nvSpPr>
          <p:cNvPr id="79" name="Oval 78"/>
          <p:cNvSpPr/>
          <p:nvPr/>
        </p:nvSpPr>
        <p:spPr>
          <a:xfrm>
            <a:off x="7604607" y="5458968"/>
            <a:ext cx="118872" cy="11887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87487" y="5367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Taastrup showroom</a:t>
            </a:r>
          </a:p>
        </p:txBody>
      </p:sp>
      <p:sp>
        <p:nvSpPr>
          <p:cNvPr id="81" name="Oval 80"/>
          <p:cNvSpPr/>
          <p:nvPr/>
        </p:nvSpPr>
        <p:spPr>
          <a:xfrm>
            <a:off x="9570567" y="5458968"/>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753447" y="5367528"/>
            <a:ext cx="1508760" cy="347472"/>
          </a:xfrm>
          <a:prstGeom prst="rect">
            <a:avLst/>
          </a:prstGeom>
          <a:noFill/>
        </p:spPr>
        <p:txBody>
          <a:bodyPr wrap="square" lIns="0" rIns="0" tIns="0" bIns="0" anchor="t">
            <a:spAutoFit/>
          </a:bodyPr>
          <a:lstStyle/>
          <a:p>
            <a:pPr algn="l"/>
            <a:r>
              <a:rPr sz="1000" b="0" i="0">
                <a:solidFill>
                  <a:srgbClr val="CCCCCC"/>
                </a:solidFill>
                <a:latin typeface="Helvetica Neue"/>
              </a:rPr>
              <a:t>Limited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CUSTOMER VOICE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400" b="1" i="0" spc="-50">
                <a:solidFill>
                  <a:srgbClr val="FFFFFF"/>
                </a:solidFill>
                <a:latin typeface="Helvetica Neue"/>
              </a:rPr>
              <a:t>'Fremragende'. 4,5 stars. And nobody is asking for more.</a:t>
            </a:r>
          </a:p>
        </p:txBody>
      </p:sp>
      <p:sp>
        <p:nvSpPr>
          <p:cNvPr id="9" name="TextBox 8"/>
          <p:cNvSpPr txBox="1"/>
          <p:nvPr/>
        </p:nvSpPr>
        <p:spPr>
          <a:xfrm>
            <a:off x="2011680" y="128016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The Trustpilot profile for SportGym ApS shows a strong score on a thin sample. The fix is not to manufacture reviews. The fix is to show what you have and to ask after every purchase.</a:t>
            </a:r>
          </a:p>
        </p:txBody>
      </p:sp>
      <p:sp>
        <p:nvSpPr>
          <p:cNvPr id="10" name="Rounded Rectangle 9"/>
          <p:cNvSpPr/>
          <p:nvPr/>
        </p:nvSpPr>
        <p:spPr>
          <a:xfrm>
            <a:off x="746607" y="2606040"/>
            <a:ext cx="5212080" cy="36576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2367" y="2880360"/>
            <a:ext cx="4480560" cy="457200"/>
          </a:xfrm>
          <a:prstGeom prst="rect">
            <a:avLst/>
          </a:prstGeom>
          <a:noFill/>
        </p:spPr>
        <p:txBody>
          <a:bodyPr wrap="square" lIns="0" rIns="0" tIns="0" bIns="0" anchor="t">
            <a:spAutoFit/>
          </a:bodyPr>
          <a:lstStyle/>
          <a:p>
            <a:pPr algn="l"/>
            <a:r>
              <a:rPr sz="2800" b="1" i="0">
                <a:solidFill>
                  <a:srgbClr val="F7D007"/>
                </a:solidFill>
                <a:latin typeface="Helvetica Neue"/>
              </a:rPr>
              <a:t>★ ★ ★ ★ ★</a:t>
            </a:r>
          </a:p>
        </p:txBody>
      </p:sp>
      <p:sp>
        <p:nvSpPr>
          <p:cNvPr id="12" name="TextBox 11"/>
          <p:cNvSpPr txBox="1"/>
          <p:nvPr/>
        </p:nvSpPr>
        <p:spPr>
          <a:xfrm>
            <a:off x="1112367" y="3474720"/>
            <a:ext cx="4480560" cy="731520"/>
          </a:xfrm>
          <a:prstGeom prst="rect">
            <a:avLst/>
          </a:prstGeom>
          <a:noFill/>
        </p:spPr>
        <p:txBody>
          <a:bodyPr wrap="square" lIns="0" rIns="0" tIns="0" bIns="0" anchor="t">
            <a:spAutoFit/>
          </a:bodyPr>
          <a:lstStyle/>
          <a:p>
            <a:pPr algn="l"/>
            <a:r>
              <a:rPr sz="5400" b="1" i="0">
                <a:solidFill>
                  <a:srgbClr val="FFFFFF"/>
                </a:solidFill>
                <a:latin typeface="Menlo"/>
              </a:rPr>
              <a:t>4,5 / 5</a:t>
            </a:r>
          </a:p>
        </p:txBody>
      </p:sp>
      <p:sp>
        <p:nvSpPr>
          <p:cNvPr id="13" name="TextBox 12"/>
          <p:cNvSpPr txBox="1"/>
          <p:nvPr/>
        </p:nvSpPr>
        <p:spPr>
          <a:xfrm>
            <a:off x="1112367" y="4297680"/>
            <a:ext cx="4480560" cy="274320"/>
          </a:xfrm>
          <a:prstGeom prst="rect">
            <a:avLst/>
          </a:prstGeom>
          <a:noFill/>
        </p:spPr>
        <p:txBody>
          <a:bodyPr wrap="square" lIns="0" rIns="0" tIns="0" bIns="0" anchor="t">
            <a:spAutoFit/>
          </a:bodyPr>
          <a:lstStyle/>
          <a:p>
            <a:pPr algn="l"/>
            <a:r>
              <a:rPr sz="1000" b="0" i="1">
                <a:solidFill>
                  <a:srgbClr val="999999"/>
                </a:solidFill>
                <a:latin typeface="Helvetica Neue"/>
              </a:rPr>
              <a:t>SportGym ApS on Trustpilot · 'Fremragende'</a:t>
            </a:r>
          </a:p>
        </p:txBody>
      </p:sp>
      <p:sp>
        <p:nvSpPr>
          <p:cNvPr id="14" name="TextBox 13"/>
          <p:cNvSpPr txBox="1"/>
          <p:nvPr/>
        </p:nvSpPr>
        <p:spPr>
          <a:xfrm>
            <a:off x="1112367" y="4709160"/>
            <a:ext cx="4480560" cy="1463040"/>
          </a:xfrm>
          <a:prstGeom prst="rect">
            <a:avLst/>
          </a:prstGeom>
          <a:noFill/>
        </p:spPr>
        <p:txBody>
          <a:bodyPr wrap="square" lIns="0" rIns="0" tIns="0" bIns="0" anchor="t">
            <a:spAutoFit/>
          </a:bodyPr>
          <a:lstStyle/>
          <a:p>
            <a:pPr algn="l"/>
            <a:r>
              <a:rPr sz="1100" b="0" i="0">
                <a:solidFill>
                  <a:srgbClr val="CCCCCC"/>
                </a:solidFill>
                <a:latin typeface="Helvetica Neue"/>
              </a:rPr>
              <a:t>A 4,5 score is rare territory for fitness ecom. The cost of leaving it invisible compounds with every paid click. Every visitor who leaves to check Trustpilot on their own is a visitor you stopped trusting before they trusted you.</a:t>
            </a:r>
          </a:p>
        </p:txBody>
      </p:sp>
      <p:sp>
        <p:nvSpPr>
          <p:cNvPr id="15" name="Rounded Rectangle 14"/>
          <p:cNvSpPr/>
          <p:nvPr/>
        </p:nvSpPr>
        <p:spPr>
          <a:xfrm>
            <a:off x="6233007" y="2606040"/>
            <a:ext cx="5212080" cy="36576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8767" y="2880360"/>
            <a:ext cx="4480560" cy="274320"/>
          </a:xfrm>
          <a:prstGeom prst="rect">
            <a:avLst/>
          </a:prstGeom>
          <a:noFill/>
        </p:spPr>
        <p:txBody>
          <a:bodyPr wrap="square" lIns="0" rIns="0" tIns="0" bIns="0" anchor="t">
            <a:spAutoFit/>
          </a:bodyPr>
          <a:lstStyle/>
          <a:p>
            <a:pPr algn="l"/>
            <a:r>
              <a:rPr sz="1000" b="1" i="0" spc="180">
                <a:solidFill>
                  <a:srgbClr val="F7D007"/>
                </a:solidFill>
                <a:latin typeface="Helvetica Neue"/>
              </a:rPr>
              <a:t>VOLUME GAP VS DANISH PEERS</a:t>
            </a:r>
          </a:p>
        </p:txBody>
      </p:sp>
      <p:sp>
        <p:nvSpPr>
          <p:cNvPr id="17" name="TextBox 16"/>
          <p:cNvSpPr txBox="1"/>
          <p:nvPr/>
        </p:nvSpPr>
        <p:spPr>
          <a:xfrm>
            <a:off x="6598767" y="3246120"/>
            <a:ext cx="2743200" cy="292608"/>
          </a:xfrm>
          <a:prstGeom prst="rect">
            <a:avLst/>
          </a:prstGeom>
          <a:noFill/>
        </p:spPr>
        <p:txBody>
          <a:bodyPr wrap="square" lIns="0" rIns="0" tIns="0" bIns="0" anchor="t">
            <a:spAutoFit/>
          </a:bodyPr>
          <a:lstStyle/>
          <a:p>
            <a:pPr algn="l"/>
            <a:r>
              <a:rPr sz="1100" b="0" i="0">
                <a:solidFill>
                  <a:srgbClr val="CCCCCC"/>
                </a:solidFill>
                <a:latin typeface="Helvetica Neue"/>
              </a:rPr>
              <a:t>sportgym.dk</a:t>
            </a:r>
          </a:p>
        </p:txBody>
      </p:sp>
      <p:sp>
        <p:nvSpPr>
          <p:cNvPr id="18" name="TextBox 17"/>
          <p:cNvSpPr txBox="1"/>
          <p:nvPr/>
        </p:nvSpPr>
        <p:spPr>
          <a:xfrm>
            <a:off x="6598767" y="3246120"/>
            <a:ext cx="4480560" cy="292608"/>
          </a:xfrm>
          <a:prstGeom prst="rect">
            <a:avLst/>
          </a:prstGeom>
          <a:noFill/>
        </p:spPr>
        <p:txBody>
          <a:bodyPr wrap="square" lIns="0" rIns="0" tIns="0" bIns="0" anchor="t">
            <a:spAutoFit/>
          </a:bodyPr>
          <a:lstStyle/>
          <a:p>
            <a:pPr algn="r"/>
            <a:r>
              <a:rPr sz="1100" b="1" i="0">
                <a:solidFill>
                  <a:srgbClr val="FFFFFF"/>
                </a:solidFill>
                <a:latin typeface="Menlo"/>
              </a:rPr>
              <a:t>15 reviews · 4,5 ★</a:t>
            </a:r>
          </a:p>
        </p:txBody>
      </p:sp>
      <p:sp>
        <p:nvSpPr>
          <p:cNvPr id="19" name="TextBox 18"/>
          <p:cNvSpPr txBox="1"/>
          <p:nvPr/>
        </p:nvSpPr>
        <p:spPr>
          <a:xfrm>
            <a:off x="6598767" y="3611880"/>
            <a:ext cx="2743200" cy="292608"/>
          </a:xfrm>
          <a:prstGeom prst="rect">
            <a:avLst/>
          </a:prstGeom>
          <a:noFill/>
        </p:spPr>
        <p:txBody>
          <a:bodyPr wrap="square" lIns="0" rIns="0" tIns="0" bIns="0" anchor="t">
            <a:spAutoFit/>
          </a:bodyPr>
          <a:lstStyle/>
          <a:p>
            <a:pPr algn="l"/>
            <a:r>
              <a:rPr sz="1100" b="0" i="0">
                <a:solidFill>
                  <a:srgbClr val="CCCCCC"/>
                </a:solidFill>
                <a:latin typeface="Helvetica Neue"/>
              </a:rPr>
              <a:t>træningspartner.dk</a:t>
            </a:r>
          </a:p>
        </p:txBody>
      </p:sp>
      <p:sp>
        <p:nvSpPr>
          <p:cNvPr id="20" name="TextBox 19"/>
          <p:cNvSpPr txBox="1"/>
          <p:nvPr/>
        </p:nvSpPr>
        <p:spPr>
          <a:xfrm>
            <a:off x="6598767" y="3611880"/>
            <a:ext cx="4480560" cy="292608"/>
          </a:xfrm>
          <a:prstGeom prst="rect">
            <a:avLst/>
          </a:prstGeom>
          <a:noFill/>
        </p:spPr>
        <p:txBody>
          <a:bodyPr wrap="square" lIns="0" rIns="0" tIns="0" bIns="0" anchor="t">
            <a:spAutoFit/>
          </a:bodyPr>
          <a:lstStyle/>
          <a:p>
            <a:pPr algn="r"/>
            <a:r>
              <a:rPr sz="1100" b="1" i="0">
                <a:solidFill>
                  <a:srgbClr val="FFFFFF"/>
                </a:solidFill>
                <a:latin typeface="Menlo"/>
              </a:rPr>
              <a:t>807 reviews · 4,5 ★</a:t>
            </a:r>
          </a:p>
        </p:txBody>
      </p:sp>
      <p:sp>
        <p:nvSpPr>
          <p:cNvPr id="21" name="TextBox 20"/>
          <p:cNvSpPr txBox="1"/>
          <p:nvPr/>
        </p:nvSpPr>
        <p:spPr>
          <a:xfrm>
            <a:off x="6598767" y="3977640"/>
            <a:ext cx="2743200" cy="292608"/>
          </a:xfrm>
          <a:prstGeom prst="rect">
            <a:avLst/>
          </a:prstGeom>
          <a:noFill/>
        </p:spPr>
        <p:txBody>
          <a:bodyPr wrap="square" lIns="0" rIns="0" tIns="0" bIns="0" anchor="t">
            <a:spAutoFit/>
          </a:bodyPr>
          <a:lstStyle/>
          <a:p>
            <a:pPr algn="l"/>
            <a:r>
              <a:rPr sz="1100" b="0" i="0">
                <a:solidFill>
                  <a:srgbClr val="CCCCCC"/>
                </a:solidFill>
                <a:latin typeface="Helvetica Neue"/>
              </a:rPr>
              <a:t>apuls.dk</a:t>
            </a:r>
          </a:p>
        </p:txBody>
      </p:sp>
      <p:sp>
        <p:nvSpPr>
          <p:cNvPr id="22" name="TextBox 21"/>
          <p:cNvSpPr txBox="1"/>
          <p:nvPr/>
        </p:nvSpPr>
        <p:spPr>
          <a:xfrm>
            <a:off x="6598767" y="3977640"/>
            <a:ext cx="4480560" cy="292608"/>
          </a:xfrm>
          <a:prstGeom prst="rect">
            <a:avLst/>
          </a:prstGeom>
          <a:noFill/>
        </p:spPr>
        <p:txBody>
          <a:bodyPr wrap="square" lIns="0" rIns="0" tIns="0" bIns="0" anchor="t">
            <a:spAutoFit/>
          </a:bodyPr>
          <a:lstStyle/>
          <a:p>
            <a:pPr algn="r"/>
            <a:r>
              <a:rPr sz="1100" b="1" i="0">
                <a:solidFill>
                  <a:srgbClr val="FFFFFF"/>
                </a:solidFill>
                <a:latin typeface="Menlo"/>
              </a:rPr>
              <a:t>3k reviews · 4,2 ★</a:t>
            </a:r>
          </a:p>
        </p:txBody>
      </p:sp>
      <p:sp>
        <p:nvSpPr>
          <p:cNvPr id="23" name="TextBox 22"/>
          <p:cNvSpPr txBox="1"/>
          <p:nvPr/>
        </p:nvSpPr>
        <p:spPr>
          <a:xfrm>
            <a:off x="6598767" y="4343400"/>
            <a:ext cx="2743200" cy="292608"/>
          </a:xfrm>
          <a:prstGeom prst="rect">
            <a:avLst/>
          </a:prstGeom>
          <a:noFill/>
        </p:spPr>
        <p:txBody>
          <a:bodyPr wrap="square" lIns="0" rIns="0" tIns="0" bIns="0" anchor="t">
            <a:spAutoFit/>
          </a:bodyPr>
          <a:lstStyle/>
          <a:p>
            <a:pPr algn="l"/>
            <a:r>
              <a:rPr sz="1100" b="0" i="0">
                <a:solidFill>
                  <a:srgbClr val="CCCCCC"/>
                </a:solidFill>
                <a:latin typeface="Helvetica Neue"/>
              </a:rPr>
              <a:t>berg.com</a:t>
            </a:r>
          </a:p>
        </p:txBody>
      </p:sp>
      <p:sp>
        <p:nvSpPr>
          <p:cNvPr id="24" name="TextBox 23"/>
          <p:cNvSpPr txBox="1"/>
          <p:nvPr/>
        </p:nvSpPr>
        <p:spPr>
          <a:xfrm>
            <a:off x="6598767" y="4343400"/>
            <a:ext cx="4480560" cy="292608"/>
          </a:xfrm>
          <a:prstGeom prst="rect">
            <a:avLst/>
          </a:prstGeom>
          <a:noFill/>
        </p:spPr>
        <p:txBody>
          <a:bodyPr wrap="square" lIns="0" rIns="0" tIns="0" bIns="0" anchor="t">
            <a:spAutoFit/>
          </a:bodyPr>
          <a:lstStyle/>
          <a:p>
            <a:pPr algn="r"/>
            <a:r>
              <a:rPr sz="1100" b="1" i="0">
                <a:solidFill>
                  <a:srgbClr val="FFFFFF"/>
                </a:solidFill>
                <a:latin typeface="Menlo"/>
              </a:rPr>
              <a:t>4k reviews · 4,5 ★</a:t>
            </a:r>
          </a:p>
        </p:txBody>
      </p:sp>
      <p:sp>
        <p:nvSpPr>
          <p:cNvPr id="25" name="TextBox 24"/>
          <p:cNvSpPr txBox="1"/>
          <p:nvPr/>
        </p:nvSpPr>
        <p:spPr>
          <a:xfrm>
            <a:off x="6598767" y="4709160"/>
            <a:ext cx="2743200" cy="292608"/>
          </a:xfrm>
          <a:prstGeom prst="rect">
            <a:avLst/>
          </a:prstGeom>
          <a:noFill/>
        </p:spPr>
        <p:txBody>
          <a:bodyPr wrap="square" lIns="0" rIns="0" tIns="0" bIns="0" anchor="t">
            <a:spAutoFit/>
          </a:bodyPr>
          <a:lstStyle/>
          <a:p>
            <a:pPr algn="l"/>
            <a:r>
              <a:rPr sz="1100" b="0" i="0">
                <a:solidFill>
                  <a:srgbClr val="CCCCCC"/>
                </a:solidFill>
                <a:latin typeface="Helvetica Neue"/>
              </a:rPr>
              <a:t>luksusleg.dk</a:t>
            </a:r>
          </a:p>
        </p:txBody>
      </p:sp>
      <p:sp>
        <p:nvSpPr>
          <p:cNvPr id="26" name="TextBox 25"/>
          <p:cNvSpPr txBox="1"/>
          <p:nvPr/>
        </p:nvSpPr>
        <p:spPr>
          <a:xfrm>
            <a:off x="6598767" y="4709160"/>
            <a:ext cx="4480560" cy="292608"/>
          </a:xfrm>
          <a:prstGeom prst="rect">
            <a:avLst/>
          </a:prstGeom>
          <a:noFill/>
        </p:spPr>
        <p:txBody>
          <a:bodyPr wrap="square" lIns="0" rIns="0" tIns="0" bIns="0" anchor="t">
            <a:spAutoFit/>
          </a:bodyPr>
          <a:lstStyle/>
          <a:p>
            <a:pPr algn="r"/>
            <a:r>
              <a:rPr sz="1100" b="1" i="0">
                <a:solidFill>
                  <a:srgbClr val="FFFFFF"/>
                </a:solidFill>
                <a:latin typeface="Menlo"/>
              </a:rPr>
              <a:t>15 reviews · 4,5 ★</a:t>
            </a:r>
          </a:p>
        </p:txBody>
      </p:sp>
      <p:sp>
        <p:nvSpPr>
          <p:cNvPr id="27" name="TextBox 26"/>
          <p:cNvSpPr txBox="1"/>
          <p:nvPr/>
        </p:nvSpPr>
        <p:spPr>
          <a:xfrm>
            <a:off x="6598767" y="5349240"/>
            <a:ext cx="4480560" cy="822960"/>
          </a:xfrm>
          <a:prstGeom prst="rect">
            <a:avLst/>
          </a:prstGeom>
          <a:noFill/>
        </p:spPr>
        <p:txBody>
          <a:bodyPr wrap="square" lIns="0" rIns="0" tIns="0" bIns="0" anchor="t">
            <a:spAutoFit/>
          </a:bodyPr>
          <a:lstStyle/>
          <a:p>
            <a:pPr algn="l"/>
            <a:r>
              <a:rPr sz="1100" b="0" i="0">
                <a:solidFill>
                  <a:srgbClr val="CCCCCC"/>
                </a:solidFill>
                <a:latin typeface="Helvetica Neue"/>
              </a:rPr>
              <a:t>Same score as Træningspartner. 1 / 53rd of their review volume. A post purchase email flow at scale closes that gap within two quarters.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23</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EXECUTION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90 day roadmap</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Three phases. Compounding impact across the quarter. None require a replatform.</a:t>
            </a:r>
          </a:p>
        </p:txBody>
      </p:sp>
      <p:sp>
        <p:nvSpPr>
          <p:cNvPr id="10" name="Rounded Rectangle 9"/>
          <p:cNvSpPr/>
          <p:nvPr/>
        </p:nvSpPr>
        <p:spPr>
          <a:xfrm>
            <a:off x="335129" y="2194560"/>
            <a:ext cx="3749039" cy="4251960"/>
          </a:xfrm>
          <a:prstGeom prst="roundRect">
            <a:avLst>
              <a:gd name="adj" fmla="val 4000"/>
            </a:avLst>
          </a:prstGeom>
          <a:solidFill>
            <a:srgbClr val="101010"/>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3729" y="2423160"/>
            <a:ext cx="3291839" cy="228600"/>
          </a:xfrm>
          <a:prstGeom prst="rect">
            <a:avLst/>
          </a:prstGeom>
          <a:noFill/>
        </p:spPr>
        <p:txBody>
          <a:bodyPr wrap="square" lIns="0" rIns="0" tIns="0" bIns="0" anchor="t">
            <a:spAutoFit/>
          </a:bodyPr>
          <a:lstStyle/>
          <a:p>
            <a:pPr algn="l"/>
            <a:r>
              <a:rPr sz="900" b="1" i="0" spc="200">
                <a:solidFill>
                  <a:srgbClr val="999999"/>
                </a:solidFill>
                <a:latin typeface="Menlo"/>
              </a:rPr>
              <a:t>// PHASE 1</a:t>
            </a:r>
          </a:p>
        </p:txBody>
      </p:sp>
      <p:sp>
        <p:nvSpPr>
          <p:cNvPr id="12" name="TextBox 11"/>
          <p:cNvSpPr txBox="1"/>
          <p:nvPr/>
        </p:nvSpPr>
        <p:spPr>
          <a:xfrm>
            <a:off x="563729" y="2697480"/>
            <a:ext cx="3291839" cy="365760"/>
          </a:xfrm>
          <a:prstGeom prst="rect">
            <a:avLst/>
          </a:prstGeom>
          <a:noFill/>
        </p:spPr>
        <p:txBody>
          <a:bodyPr wrap="square" lIns="0" rIns="0" tIns="0" bIns="0" anchor="t">
            <a:spAutoFit/>
          </a:bodyPr>
          <a:lstStyle/>
          <a:p>
            <a:pPr algn="l"/>
            <a:r>
              <a:rPr sz="1800" b="1" i="0" spc="-30">
                <a:solidFill>
                  <a:srgbClr val="FFFFFF"/>
                </a:solidFill>
                <a:latin typeface="Helvetica Neue"/>
              </a:rPr>
              <a:t>Quick wins</a:t>
            </a:r>
          </a:p>
        </p:txBody>
      </p:sp>
      <p:sp>
        <p:nvSpPr>
          <p:cNvPr id="13" name="TextBox 12"/>
          <p:cNvSpPr txBox="1"/>
          <p:nvPr/>
        </p:nvSpPr>
        <p:spPr>
          <a:xfrm>
            <a:off x="563729" y="3063240"/>
            <a:ext cx="3291839" cy="274320"/>
          </a:xfrm>
          <a:prstGeom prst="rect">
            <a:avLst/>
          </a:prstGeom>
          <a:noFill/>
        </p:spPr>
        <p:txBody>
          <a:bodyPr wrap="square" lIns="0" rIns="0" tIns="0" bIns="0" anchor="t">
            <a:spAutoFit/>
          </a:bodyPr>
          <a:lstStyle/>
          <a:p>
            <a:pPr algn="l"/>
            <a:r>
              <a:rPr sz="1000" b="0" i="0">
                <a:solidFill>
                  <a:srgbClr val="999999"/>
                </a:solidFill>
                <a:latin typeface="Helvetica Neue"/>
              </a:rPr>
              <a:t>Week 1 to 2</a:t>
            </a:r>
          </a:p>
        </p:txBody>
      </p:sp>
      <p:sp>
        <p:nvSpPr>
          <p:cNvPr id="14" name="Rounded Rectangle 13"/>
          <p:cNvSpPr/>
          <p:nvPr/>
        </p:nvSpPr>
        <p:spPr>
          <a:xfrm>
            <a:off x="563729" y="3429000"/>
            <a:ext cx="3291839" cy="502920"/>
          </a:xfrm>
          <a:prstGeom prst="roundRect">
            <a:avLst>
              <a:gd name="adj" fmla="val 15000"/>
            </a:avLst>
          </a:prstGeom>
          <a:solidFill>
            <a:srgbClr val="141002"/>
          </a:solidFill>
          <a:ln w="6350">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0889" y="3447288"/>
            <a:ext cx="1828800" cy="182880"/>
          </a:xfrm>
          <a:prstGeom prst="rect">
            <a:avLst/>
          </a:prstGeom>
          <a:noFill/>
        </p:spPr>
        <p:txBody>
          <a:bodyPr wrap="square" lIns="0" rIns="0" tIns="0" bIns="0" anchor="t">
            <a:spAutoFit/>
          </a:bodyPr>
          <a:lstStyle/>
          <a:p>
            <a:pPr algn="l"/>
            <a:r>
              <a:rPr sz="800" b="1" i="0" spc="150">
                <a:solidFill>
                  <a:srgbClr val="999999"/>
                </a:solidFill>
                <a:latin typeface="Helvetica Neue"/>
              </a:rPr>
              <a:t>EXPECTED IMPACT</a:t>
            </a:r>
          </a:p>
        </p:txBody>
      </p:sp>
      <p:sp>
        <p:nvSpPr>
          <p:cNvPr id="16" name="TextBox 15"/>
          <p:cNvSpPr txBox="1"/>
          <p:nvPr/>
        </p:nvSpPr>
        <p:spPr>
          <a:xfrm>
            <a:off x="700889" y="3657600"/>
            <a:ext cx="3017519" cy="274320"/>
          </a:xfrm>
          <a:prstGeom prst="rect">
            <a:avLst/>
          </a:prstGeom>
          <a:noFill/>
        </p:spPr>
        <p:txBody>
          <a:bodyPr wrap="square" lIns="0" rIns="0" tIns="0" bIns="0" anchor="t">
            <a:spAutoFit/>
          </a:bodyPr>
          <a:lstStyle/>
          <a:p>
            <a:pPr algn="l"/>
            <a:r>
              <a:rPr sz="1300" b="1" i="0">
                <a:solidFill>
                  <a:srgbClr val="F7D007"/>
                </a:solidFill>
                <a:latin typeface="Menlo"/>
              </a:rPr>
              <a:t>100K to 180K kr / mo</a:t>
            </a:r>
          </a:p>
        </p:txBody>
      </p:sp>
      <p:sp>
        <p:nvSpPr>
          <p:cNvPr id="17" name="TextBox 16"/>
          <p:cNvSpPr txBox="1"/>
          <p:nvPr/>
        </p:nvSpPr>
        <p:spPr>
          <a:xfrm>
            <a:off x="563729" y="4114800"/>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746609" y="4114800"/>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Embed Trustpilot Trustbox under hero</a:t>
            </a:r>
          </a:p>
        </p:txBody>
      </p:sp>
      <p:sp>
        <p:nvSpPr>
          <p:cNvPr id="19" name="TextBox 18"/>
          <p:cNvSpPr txBox="1"/>
          <p:nvPr/>
        </p:nvSpPr>
        <p:spPr>
          <a:xfrm>
            <a:off x="563729" y="4425696"/>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0" name="TextBox 19"/>
          <p:cNvSpPr txBox="1"/>
          <p:nvPr/>
        </p:nvSpPr>
        <p:spPr>
          <a:xfrm>
            <a:off x="746609" y="4425696"/>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Install ViaBill or Klarna on PDP</a:t>
            </a:r>
          </a:p>
        </p:txBody>
      </p:sp>
      <p:sp>
        <p:nvSpPr>
          <p:cNvPr id="21" name="TextBox 20"/>
          <p:cNvSpPr txBox="1"/>
          <p:nvPr/>
        </p:nvSpPr>
        <p:spPr>
          <a:xfrm>
            <a:off x="563729" y="4736592"/>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2" name="TextBox 21"/>
          <p:cNvSpPr txBox="1"/>
          <p:nvPr/>
        </p:nvSpPr>
        <p:spPr>
          <a:xfrm>
            <a:off x="746609" y="4736592"/>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Reviews app: stars on cards + PDP</a:t>
            </a:r>
          </a:p>
        </p:txBody>
      </p:sp>
      <p:sp>
        <p:nvSpPr>
          <p:cNvPr id="23" name="TextBox 22"/>
          <p:cNvSpPr txBox="1"/>
          <p:nvPr/>
        </p:nvSpPr>
        <p:spPr>
          <a:xfrm>
            <a:off x="563729" y="5047488"/>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4" name="TextBox 23"/>
          <p:cNvSpPr txBox="1"/>
          <p:nvPr/>
        </p:nvSpPr>
        <p:spPr>
          <a:xfrm>
            <a:off x="746609" y="5047488"/>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Verify Meta Pixel + CAPI</a:t>
            </a:r>
          </a:p>
        </p:txBody>
      </p:sp>
      <p:sp>
        <p:nvSpPr>
          <p:cNvPr id="25" name="TextBox 24"/>
          <p:cNvSpPr txBox="1"/>
          <p:nvPr/>
        </p:nvSpPr>
        <p:spPr>
          <a:xfrm>
            <a:off x="563729" y="5358384"/>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6" name="TextBox 25"/>
          <p:cNvSpPr txBox="1"/>
          <p:nvPr/>
        </p:nvSpPr>
        <p:spPr>
          <a:xfrm>
            <a:off x="746609" y="5358384"/>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Trust USP strip under hero</a:t>
            </a:r>
          </a:p>
        </p:txBody>
      </p:sp>
      <p:sp>
        <p:nvSpPr>
          <p:cNvPr id="27" name="TextBox 26"/>
          <p:cNvSpPr txBox="1"/>
          <p:nvPr/>
        </p:nvSpPr>
        <p:spPr>
          <a:xfrm>
            <a:off x="563729" y="5669280"/>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8" name="TextBox 27"/>
          <p:cNvSpPr txBox="1"/>
          <p:nvPr/>
        </p:nvSpPr>
        <p:spPr>
          <a:xfrm>
            <a:off x="746609" y="5669280"/>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Compress event into thin strip</a:t>
            </a:r>
          </a:p>
        </p:txBody>
      </p:sp>
      <p:sp>
        <p:nvSpPr>
          <p:cNvPr id="29" name="Rounded Rectangle 28"/>
          <p:cNvSpPr/>
          <p:nvPr/>
        </p:nvSpPr>
        <p:spPr>
          <a:xfrm>
            <a:off x="4221328" y="2194560"/>
            <a:ext cx="3749039" cy="4251960"/>
          </a:xfrm>
          <a:prstGeom prst="roundRect">
            <a:avLst>
              <a:gd name="adj" fmla="val 4000"/>
            </a:avLst>
          </a:prstGeom>
          <a:solidFill>
            <a:srgbClr val="10101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49928" y="2423160"/>
            <a:ext cx="3291839" cy="228600"/>
          </a:xfrm>
          <a:prstGeom prst="rect">
            <a:avLst/>
          </a:prstGeom>
          <a:noFill/>
        </p:spPr>
        <p:txBody>
          <a:bodyPr wrap="square" lIns="0" rIns="0" tIns="0" bIns="0" anchor="t">
            <a:spAutoFit/>
          </a:bodyPr>
          <a:lstStyle/>
          <a:p>
            <a:pPr algn="l"/>
            <a:r>
              <a:rPr sz="900" b="1" i="0" spc="200">
                <a:solidFill>
                  <a:srgbClr val="999999"/>
                </a:solidFill>
                <a:latin typeface="Menlo"/>
              </a:rPr>
              <a:t>// PHASE 2</a:t>
            </a:r>
          </a:p>
        </p:txBody>
      </p:sp>
      <p:sp>
        <p:nvSpPr>
          <p:cNvPr id="31" name="TextBox 30"/>
          <p:cNvSpPr txBox="1"/>
          <p:nvPr/>
        </p:nvSpPr>
        <p:spPr>
          <a:xfrm>
            <a:off x="4449928" y="2697480"/>
            <a:ext cx="3291839" cy="365760"/>
          </a:xfrm>
          <a:prstGeom prst="rect">
            <a:avLst/>
          </a:prstGeom>
          <a:noFill/>
        </p:spPr>
        <p:txBody>
          <a:bodyPr wrap="square" lIns="0" rIns="0" tIns="0" bIns="0" anchor="t">
            <a:spAutoFit/>
          </a:bodyPr>
          <a:lstStyle/>
          <a:p>
            <a:pPr algn="l"/>
            <a:r>
              <a:rPr sz="1800" b="1" i="0" spc="-30">
                <a:solidFill>
                  <a:srgbClr val="FFFFFF"/>
                </a:solidFill>
                <a:latin typeface="Helvetica Neue"/>
              </a:rPr>
              <a:t>Core optimizations</a:t>
            </a:r>
          </a:p>
        </p:txBody>
      </p:sp>
      <p:sp>
        <p:nvSpPr>
          <p:cNvPr id="32" name="TextBox 31"/>
          <p:cNvSpPr txBox="1"/>
          <p:nvPr/>
        </p:nvSpPr>
        <p:spPr>
          <a:xfrm>
            <a:off x="4449928" y="3063240"/>
            <a:ext cx="3291839" cy="274320"/>
          </a:xfrm>
          <a:prstGeom prst="rect">
            <a:avLst/>
          </a:prstGeom>
          <a:noFill/>
        </p:spPr>
        <p:txBody>
          <a:bodyPr wrap="square" lIns="0" rIns="0" tIns="0" bIns="0" anchor="t">
            <a:spAutoFit/>
          </a:bodyPr>
          <a:lstStyle/>
          <a:p>
            <a:pPr algn="l"/>
            <a:r>
              <a:rPr sz="1000" b="0" i="0">
                <a:solidFill>
                  <a:srgbClr val="999999"/>
                </a:solidFill>
                <a:latin typeface="Helvetica Neue"/>
              </a:rPr>
              <a:t>Week 3 to 6</a:t>
            </a:r>
          </a:p>
        </p:txBody>
      </p:sp>
      <p:sp>
        <p:nvSpPr>
          <p:cNvPr id="33" name="Rounded Rectangle 32"/>
          <p:cNvSpPr/>
          <p:nvPr/>
        </p:nvSpPr>
        <p:spPr>
          <a:xfrm>
            <a:off x="4449928" y="3429000"/>
            <a:ext cx="3291839" cy="502920"/>
          </a:xfrm>
          <a:prstGeom prst="roundRect">
            <a:avLst>
              <a:gd name="adj" fmla="val 15000"/>
            </a:avLst>
          </a:prstGeom>
          <a:solidFill>
            <a:srgbClr val="141002"/>
          </a:solidFill>
          <a:ln w="6350">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87088" y="3447288"/>
            <a:ext cx="1828800" cy="182880"/>
          </a:xfrm>
          <a:prstGeom prst="rect">
            <a:avLst/>
          </a:prstGeom>
          <a:noFill/>
        </p:spPr>
        <p:txBody>
          <a:bodyPr wrap="square" lIns="0" rIns="0" tIns="0" bIns="0" anchor="t">
            <a:spAutoFit/>
          </a:bodyPr>
          <a:lstStyle/>
          <a:p>
            <a:pPr algn="l"/>
            <a:r>
              <a:rPr sz="800" b="1" i="0" spc="150">
                <a:solidFill>
                  <a:srgbClr val="999999"/>
                </a:solidFill>
                <a:latin typeface="Helvetica Neue"/>
              </a:rPr>
              <a:t>EXPECTED IMPACT</a:t>
            </a:r>
          </a:p>
        </p:txBody>
      </p:sp>
      <p:sp>
        <p:nvSpPr>
          <p:cNvPr id="35" name="TextBox 34"/>
          <p:cNvSpPr txBox="1"/>
          <p:nvPr/>
        </p:nvSpPr>
        <p:spPr>
          <a:xfrm>
            <a:off x="4587088" y="3657600"/>
            <a:ext cx="3017519" cy="274320"/>
          </a:xfrm>
          <a:prstGeom prst="rect">
            <a:avLst/>
          </a:prstGeom>
          <a:noFill/>
        </p:spPr>
        <p:txBody>
          <a:bodyPr wrap="square" lIns="0" rIns="0" tIns="0" bIns="0" anchor="t">
            <a:spAutoFit/>
          </a:bodyPr>
          <a:lstStyle/>
          <a:p>
            <a:pPr algn="l"/>
            <a:r>
              <a:rPr sz="1300" b="1" i="0">
                <a:solidFill>
                  <a:srgbClr val="F7D007"/>
                </a:solidFill>
                <a:latin typeface="Menlo"/>
              </a:rPr>
              <a:t>123K to 232K kr / mo</a:t>
            </a:r>
          </a:p>
        </p:txBody>
      </p:sp>
      <p:sp>
        <p:nvSpPr>
          <p:cNvPr id="36" name="TextBox 35"/>
          <p:cNvSpPr txBox="1"/>
          <p:nvPr/>
        </p:nvSpPr>
        <p:spPr>
          <a:xfrm>
            <a:off x="4449928" y="4114800"/>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7" name="TextBox 36"/>
          <p:cNvSpPr txBox="1"/>
          <p:nvPr/>
        </p:nvSpPr>
        <p:spPr>
          <a:xfrm>
            <a:off x="4632808" y="4114800"/>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PDP buy box rebuild (chips, badges, financing, trust, sticky ATC, video)</a:t>
            </a:r>
          </a:p>
        </p:txBody>
      </p:sp>
      <p:sp>
        <p:nvSpPr>
          <p:cNvPr id="38" name="TextBox 37"/>
          <p:cNvSpPr txBox="1"/>
          <p:nvPr/>
        </p:nvSpPr>
        <p:spPr>
          <a:xfrm>
            <a:off x="4449928" y="4425696"/>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9" name="TextBox 38"/>
          <p:cNvSpPr txBox="1"/>
          <p:nvPr/>
        </p:nvSpPr>
        <p:spPr>
          <a:xfrm>
            <a:off x="4632808" y="4425696"/>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Hero rebuild: category grid + brand promise</a:t>
            </a:r>
          </a:p>
        </p:txBody>
      </p:sp>
      <p:sp>
        <p:nvSpPr>
          <p:cNvPr id="40" name="TextBox 39"/>
          <p:cNvSpPr txBox="1"/>
          <p:nvPr/>
        </p:nvSpPr>
        <p:spPr>
          <a:xfrm>
            <a:off x="4449928" y="4736592"/>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41" name="TextBox 40"/>
          <p:cNvSpPr txBox="1"/>
          <p:nvPr/>
        </p:nvSpPr>
        <p:spPr>
          <a:xfrm>
            <a:off x="4632808" y="4736592"/>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Accessories cross sell ('Komplet dit setup')</a:t>
            </a:r>
          </a:p>
        </p:txBody>
      </p:sp>
      <p:sp>
        <p:nvSpPr>
          <p:cNvPr id="42" name="TextBox 41"/>
          <p:cNvSpPr txBox="1"/>
          <p:nvPr/>
        </p:nvSpPr>
        <p:spPr>
          <a:xfrm>
            <a:off x="4449928" y="5047488"/>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43" name="TextBox 42"/>
          <p:cNvSpPr txBox="1"/>
          <p:nvPr/>
        </p:nvSpPr>
        <p:spPr>
          <a:xfrm>
            <a:off x="4632808" y="5047488"/>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Klaviyo post purchase review flow</a:t>
            </a:r>
          </a:p>
        </p:txBody>
      </p:sp>
      <p:sp>
        <p:nvSpPr>
          <p:cNvPr id="44" name="Rounded Rectangle 43"/>
          <p:cNvSpPr/>
          <p:nvPr/>
        </p:nvSpPr>
        <p:spPr>
          <a:xfrm>
            <a:off x="8107527" y="2194560"/>
            <a:ext cx="3749039" cy="4251960"/>
          </a:xfrm>
          <a:prstGeom prst="roundRect">
            <a:avLst>
              <a:gd name="adj" fmla="val 4000"/>
            </a:avLst>
          </a:prstGeom>
          <a:solidFill>
            <a:srgbClr val="101010"/>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6127" y="2423160"/>
            <a:ext cx="3291839" cy="228600"/>
          </a:xfrm>
          <a:prstGeom prst="rect">
            <a:avLst/>
          </a:prstGeom>
          <a:noFill/>
        </p:spPr>
        <p:txBody>
          <a:bodyPr wrap="square" lIns="0" rIns="0" tIns="0" bIns="0" anchor="t">
            <a:spAutoFit/>
          </a:bodyPr>
          <a:lstStyle/>
          <a:p>
            <a:pPr algn="l"/>
            <a:r>
              <a:rPr sz="900" b="1" i="0" spc="200">
                <a:solidFill>
                  <a:srgbClr val="999999"/>
                </a:solidFill>
                <a:latin typeface="Menlo"/>
              </a:rPr>
              <a:t>// PHASE 3</a:t>
            </a:r>
          </a:p>
        </p:txBody>
      </p:sp>
      <p:sp>
        <p:nvSpPr>
          <p:cNvPr id="46" name="TextBox 45"/>
          <p:cNvSpPr txBox="1"/>
          <p:nvPr/>
        </p:nvSpPr>
        <p:spPr>
          <a:xfrm>
            <a:off x="8336127" y="2697480"/>
            <a:ext cx="3291839" cy="365760"/>
          </a:xfrm>
          <a:prstGeom prst="rect">
            <a:avLst/>
          </a:prstGeom>
          <a:noFill/>
        </p:spPr>
        <p:txBody>
          <a:bodyPr wrap="square" lIns="0" rIns="0" tIns="0" bIns="0" anchor="t">
            <a:spAutoFit/>
          </a:bodyPr>
          <a:lstStyle/>
          <a:p>
            <a:pPr algn="l"/>
            <a:r>
              <a:rPr sz="1800" b="1" i="0" spc="-30">
                <a:solidFill>
                  <a:srgbClr val="FFFFFF"/>
                </a:solidFill>
                <a:latin typeface="Helvetica Neue"/>
              </a:rPr>
              <a:t>Growth systems</a:t>
            </a:r>
          </a:p>
        </p:txBody>
      </p:sp>
      <p:sp>
        <p:nvSpPr>
          <p:cNvPr id="47" name="TextBox 46"/>
          <p:cNvSpPr txBox="1"/>
          <p:nvPr/>
        </p:nvSpPr>
        <p:spPr>
          <a:xfrm>
            <a:off x="8336127" y="3063240"/>
            <a:ext cx="3291839" cy="274320"/>
          </a:xfrm>
          <a:prstGeom prst="rect">
            <a:avLst/>
          </a:prstGeom>
          <a:noFill/>
        </p:spPr>
        <p:txBody>
          <a:bodyPr wrap="square" lIns="0" rIns="0" tIns="0" bIns="0" anchor="t">
            <a:spAutoFit/>
          </a:bodyPr>
          <a:lstStyle/>
          <a:p>
            <a:pPr algn="l"/>
            <a:r>
              <a:rPr sz="1000" b="0" i="0">
                <a:solidFill>
                  <a:srgbClr val="999999"/>
                </a:solidFill>
                <a:latin typeface="Helvetica Neue"/>
              </a:rPr>
              <a:t>Week 7 to 12</a:t>
            </a:r>
          </a:p>
        </p:txBody>
      </p:sp>
      <p:sp>
        <p:nvSpPr>
          <p:cNvPr id="48" name="Rounded Rectangle 47"/>
          <p:cNvSpPr/>
          <p:nvPr/>
        </p:nvSpPr>
        <p:spPr>
          <a:xfrm>
            <a:off x="8336127" y="3429000"/>
            <a:ext cx="3291839" cy="502920"/>
          </a:xfrm>
          <a:prstGeom prst="roundRect">
            <a:avLst>
              <a:gd name="adj" fmla="val 15000"/>
            </a:avLst>
          </a:prstGeom>
          <a:solidFill>
            <a:srgbClr val="141002"/>
          </a:solidFill>
          <a:ln w="6350">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73287" y="3447288"/>
            <a:ext cx="1828800" cy="182880"/>
          </a:xfrm>
          <a:prstGeom prst="rect">
            <a:avLst/>
          </a:prstGeom>
          <a:noFill/>
        </p:spPr>
        <p:txBody>
          <a:bodyPr wrap="square" lIns="0" rIns="0" tIns="0" bIns="0" anchor="t">
            <a:spAutoFit/>
          </a:bodyPr>
          <a:lstStyle/>
          <a:p>
            <a:pPr algn="l"/>
            <a:r>
              <a:rPr sz="800" b="1" i="0" spc="150">
                <a:solidFill>
                  <a:srgbClr val="999999"/>
                </a:solidFill>
                <a:latin typeface="Helvetica Neue"/>
              </a:rPr>
              <a:t>EXPECTED IMPACT</a:t>
            </a:r>
          </a:p>
        </p:txBody>
      </p:sp>
      <p:sp>
        <p:nvSpPr>
          <p:cNvPr id="50" name="TextBox 49"/>
          <p:cNvSpPr txBox="1"/>
          <p:nvPr/>
        </p:nvSpPr>
        <p:spPr>
          <a:xfrm>
            <a:off x="8473287" y="3657600"/>
            <a:ext cx="3017519" cy="274320"/>
          </a:xfrm>
          <a:prstGeom prst="rect">
            <a:avLst/>
          </a:prstGeom>
          <a:noFill/>
        </p:spPr>
        <p:txBody>
          <a:bodyPr wrap="square" lIns="0" rIns="0" tIns="0" bIns="0" anchor="t">
            <a:spAutoFit/>
          </a:bodyPr>
          <a:lstStyle/>
          <a:p>
            <a:pPr algn="l"/>
            <a:r>
              <a:rPr sz="1300" b="1" i="0">
                <a:solidFill>
                  <a:srgbClr val="F7D007"/>
                </a:solidFill>
                <a:latin typeface="Menlo"/>
              </a:rPr>
              <a:t>30K to 57K kr / mo</a:t>
            </a:r>
          </a:p>
        </p:txBody>
      </p:sp>
      <p:sp>
        <p:nvSpPr>
          <p:cNvPr id="51" name="TextBox 50"/>
          <p:cNvSpPr txBox="1"/>
          <p:nvPr/>
        </p:nvSpPr>
        <p:spPr>
          <a:xfrm>
            <a:off x="8336127" y="4114800"/>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52" name="TextBox 51"/>
          <p:cNvSpPr txBox="1"/>
          <p:nvPr/>
        </p:nvSpPr>
        <p:spPr>
          <a:xfrm>
            <a:off x="8519007" y="4114800"/>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Collection filters + spec chips</a:t>
            </a:r>
          </a:p>
        </p:txBody>
      </p:sp>
      <p:sp>
        <p:nvSpPr>
          <p:cNvPr id="53" name="TextBox 52"/>
          <p:cNvSpPr txBox="1"/>
          <p:nvPr/>
        </p:nvSpPr>
        <p:spPr>
          <a:xfrm>
            <a:off x="8336127" y="4425696"/>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54" name="TextBox 53"/>
          <p:cNvSpPr txBox="1"/>
          <p:nvPr/>
        </p:nvSpPr>
        <p:spPr>
          <a:xfrm>
            <a:off x="8519007" y="4425696"/>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'Find dit løbebånd' quiz</a:t>
            </a:r>
          </a:p>
        </p:txBody>
      </p:sp>
      <p:sp>
        <p:nvSpPr>
          <p:cNvPr id="55" name="TextBox 54"/>
          <p:cNvSpPr txBox="1"/>
          <p:nvPr/>
        </p:nvSpPr>
        <p:spPr>
          <a:xfrm>
            <a:off x="8336127" y="4736592"/>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56" name="TextBox 55"/>
          <p:cNvSpPr txBox="1"/>
          <p:nvPr/>
        </p:nvSpPr>
        <p:spPr>
          <a:xfrm>
            <a:off x="8519007" y="4736592"/>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Buying guides per category</a:t>
            </a:r>
          </a:p>
        </p:txBody>
      </p:sp>
      <p:sp>
        <p:nvSpPr>
          <p:cNvPr id="57" name="TextBox 56"/>
          <p:cNvSpPr txBox="1"/>
          <p:nvPr/>
        </p:nvSpPr>
        <p:spPr>
          <a:xfrm>
            <a:off x="8336127" y="5047488"/>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58" name="TextBox 57"/>
          <p:cNvSpPr txBox="1"/>
          <p:nvPr/>
        </p:nvSpPr>
        <p:spPr>
          <a:xfrm>
            <a:off x="8519007" y="5047488"/>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PDP comparison table + FAQ block</a:t>
            </a:r>
          </a:p>
        </p:txBody>
      </p:sp>
      <p:sp>
        <p:nvSpPr>
          <p:cNvPr id="59" name="TextBox 58"/>
          <p:cNvSpPr txBox="1"/>
          <p:nvPr/>
        </p:nvSpPr>
        <p:spPr>
          <a:xfrm>
            <a:off x="8336127" y="5358384"/>
            <a:ext cx="182880"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60" name="TextBox 59"/>
          <p:cNvSpPr txBox="1"/>
          <p:nvPr/>
        </p:nvSpPr>
        <p:spPr>
          <a:xfrm>
            <a:off x="8519007" y="5358384"/>
            <a:ext cx="3108959" cy="310896"/>
          </a:xfrm>
          <a:prstGeom prst="rect">
            <a:avLst/>
          </a:prstGeom>
          <a:noFill/>
        </p:spPr>
        <p:txBody>
          <a:bodyPr wrap="square" lIns="0" rIns="0" tIns="0" bIns="0" anchor="t">
            <a:spAutoFit/>
          </a:bodyPr>
          <a:lstStyle/>
          <a:p>
            <a:pPr algn="l"/>
            <a:r>
              <a:rPr sz="1000" b="0" i="0">
                <a:solidFill>
                  <a:srgbClr val="CCCCCC"/>
                </a:solidFill>
                <a:latin typeface="Helvetica Neue"/>
              </a:rPr>
              <a:t>Re-baseline attribution post Meta fix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24</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SUMMARY</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Opportunity scorecard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All 9 opportunities sized, prioritized, and tagged by effort and phase.</a:t>
            </a:r>
          </a:p>
        </p:txBody>
      </p:sp>
      <p:sp>
        <p:nvSpPr>
          <p:cNvPr id="10" name="TextBox 9"/>
          <p:cNvSpPr txBox="1"/>
          <p:nvPr/>
        </p:nvSpPr>
        <p:spPr>
          <a:xfrm>
            <a:off x="777240" y="2331720"/>
            <a:ext cx="228600" cy="274320"/>
          </a:xfrm>
          <a:prstGeom prst="rect">
            <a:avLst/>
          </a:prstGeom>
          <a:noFill/>
        </p:spPr>
        <p:txBody>
          <a:bodyPr wrap="square" lIns="0" rIns="0" tIns="0" bIns="0" anchor="t">
            <a:spAutoFit/>
          </a:bodyPr>
          <a:lstStyle/>
          <a:p>
            <a:pPr algn="ctr"/>
            <a:r>
              <a:rPr sz="900" b="1" i="0" spc="200">
                <a:solidFill>
                  <a:srgbClr val="999999"/>
                </a:solidFill>
                <a:latin typeface="Helvetica Neue"/>
              </a:rPr>
              <a:t>#</a:t>
            </a:r>
          </a:p>
        </p:txBody>
      </p:sp>
      <p:sp>
        <p:nvSpPr>
          <p:cNvPr id="11" name="TextBox 10"/>
          <p:cNvSpPr txBox="1"/>
          <p:nvPr/>
        </p:nvSpPr>
        <p:spPr>
          <a:xfrm>
            <a:off x="1280160" y="2331720"/>
            <a:ext cx="4846320" cy="274320"/>
          </a:xfrm>
          <a:prstGeom prst="rect">
            <a:avLst/>
          </a:prstGeom>
          <a:noFill/>
        </p:spPr>
        <p:txBody>
          <a:bodyPr wrap="square" lIns="0" rIns="0" tIns="0" bIns="0" anchor="t">
            <a:spAutoFit/>
          </a:bodyPr>
          <a:lstStyle/>
          <a:p>
            <a:pPr algn="l"/>
            <a:r>
              <a:rPr sz="900" b="1" i="0" spc="200">
                <a:solidFill>
                  <a:srgbClr val="999999"/>
                </a:solidFill>
                <a:latin typeface="Helvetica Neue"/>
              </a:rPr>
              <a:t>OPPORTUNITY</a:t>
            </a:r>
          </a:p>
        </p:txBody>
      </p:sp>
      <p:sp>
        <p:nvSpPr>
          <p:cNvPr id="12" name="TextBox 11"/>
          <p:cNvSpPr txBox="1"/>
          <p:nvPr/>
        </p:nvSpPr>
        <p:spPr>
          <a:xfrm>
            <a:off x="6400800" y="2331720"/>
            <a:ext cx="2194560" cy="274320"/>
          </a:xfrm>
          <a:prstGeom prst="rect">
            <a:avLst/>
          </a:prstGeom>
          <a:noFill/>
        </p:spPr>
        <p:txBody>
          <a:bodyPr wrap="square" lIns="0" rIns="0" tIns="0" bIns="0" anchor="t">
            <a:spAutoFit/>
          </a:bodyPr>
          <a:lstStyle/>
          <a:p>
            <a:pPr algn="r"/>
            <a:r>
              <a:rPr sz="900" b="1" i="0" spc="200">
                <a:solidFill>
                  <a:srgbClr val="999999"/>
                </a:solidFill>
                <a:latin typeface="Helvetica Neue"/>
              </a:rPr>
              <a:t>MONTHLY DKK</a:t>
            </a:r>
          </a:p>
        </p:txBody>
      </p:sp>
      <p:sp>
        <p:nvSpPr>
          <p:cNvPr id="13" name="TextBox 12"/>
          <p:cNvSpPr txBox="1"/>
          <p:nvPr/>
        </p:nvSpPr>
        <p:spPr>
          <a:xfrm>
            <a:off x="8869680" y="2331720"/>
            <a:ext cx="868680" cy="274320"/>
          </a:xfrm>
          <a:prstGeom prst="rect">
            <a:avLst/>
          </a:prstGeom>
          <a:noFill/>
        </p:spPr>
        <p:txBody>
          <a:bodyPr wrap="square" lIns="0" rIns="0" tIns="0" bIns="0" anchor="t">
            <a:spAutoFit/>
          </a:bodyPr>
          <a:lstStyle/>
          <a:p>
            <a:pPr algn="l"/>
            <a:r>
              <a:rPr sz="900" b="1" i="0" spc="200">
                <a:solidFill>
                  <a:srgbClr val="999999"/>
                </a:solidFill>
                <a:latin typeface="Helvetica Neue"/>
              </a:rPr>
              <a:t>EFFORT</a:t>
            </a:r>
          </a:p>
        </p:txBody>
      </p:sp>
      <p:sp>
        <p:nvSpPr>
          <p:cNvPr id="14" name="TextBox 13"/>
          <p:cNvSpPr txBox="1"/>
          <p:nvPr/>
        </p:nvSpPr>
        <p:spPr>
          <a:xfrm>
            <a:off x="10012680" y="2331720"/>
            <a:ext cx="1399032" cy="274320"/>
          </a:xfrm>
          <a:prstGeom prst="rect">
            <a:avLst/>
          </a:prstGeom>
          <a:noFill/>
        </p:spPr>
        <p:txBody>
          <a:bodyPr wrap="square" lIns="0" rIns="0" tIns="0" bIns="0" anchor="t">
            <a:spAutoFit/>
          </a:bodyPr>
          <a:lstStyle/>
          <a:p>
            <a:pPr algn="l"/>
            <a:r>
              <a:rPr sz="900" b="1" i="0" spc="200">
                <a:solidFill>
                  <a:srgbClr val="999999"/>
                </a:solidFill>
                <a:latin typeface="Helvetica Neue"/>
              </a:rPr>
              <a:t>PHASE</a:t>
            </a:r>
          </a:p>
        </p:txBody>
      </p:sp>
      <p:sp>
        <p:nvSpPr>
          <p:cNvPr id="15" name="Rectangle 14"/>
          <p:cNvSpPr/>
          <p:nvPr/>
        </p:nvSpPr>
        <p:spPr>
          <a:xfrm>
            <a:off x="640080" y="2624328"/>
            <a:ext cx="1091153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660904"/>
            <a:ext cx="10911535" cy="36576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15768"/>
            <a:ext cx="228600" cy="274320"/>
          </a:xfrm>
          <a:prstGeom prst="rect">
            <a:avLst/>
          </a:prstGeom>
          <a:noFill/>
        </p:spPr>
        <p:txBody>
          <a:bodyPr wrap="square" lIns="0" rIns="0" tIns="0" bIns="0" anchor="t">
            <a:spAutoFit/>
          </a:bodyPr>
          <a:lstStyle/>
          <a:p>
            <a:pPr algn="ctr"/>
            <a:r>
              <a:rPr sz="1100" b="1" i="0">
                <a:solidFill>
                  <a:srgbClr val="F7D007"/>
                </a:solidFill>
                <a:latin typeface="Menlo"/>
              </a:rPr>
              <a:t>01</a:t>
            </a:r>
          </a:p>
        </p:txBody>
      </p:sp>
      <p:sp>
        <p:nvSpPr>
          <p:cNvPr id="18" name="TextBox 17"/>
          <p:cNvSpPr txBox="1"/>
          <p:nvPr/>
        </p:nvSpPr>
        <p:spPr>
          <a:xfrm>
            <a:off x="1280160" y="2715768"/>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PDP buy box rebuild  ·  SG-02</a:t>
            </a:r>
          </a:p>
        </p:txBody>
      </p:sp>
      <p:sp>
        <p:nvSpPr>
          <p:cNvPr id="19" name="TextBox 18"/>
          <p:cNvSpPr txBox="1"/>
          <p:nvPr/>
        </p:nvSpPr>
        <p:spPr>
          <a:xfrm>
            <a:off x="6400800" y="2715768"/>
            <a:ext cx="2194560" cy="274320"/>
          </a:xfrm>
          <a:prstGeom prst="rect">
            <a:avLst/>
          </a:prstGeom>
          <a:noFill/>
        </p:spPr>
        <p:txBody>
          <a:bodyPr wrap="square" lIns="0" rIns="0" tIns="0" bIns="0" anchor="t">
            <a:spAutoFit/>
          </a:bodyPr>
          <a:lstStyle/>
          <a:p>
            <a:pPr algn="r"/>
            <a:r>
              <a:rPr sz="1100" b="1" i="0">
                <a:solidFill>
                  <a:srgbClr val="F7D007"/>
                </a:solidFill>
                <a:latin typeface="Menlo"/>
              </a:rPr>
              <a:t>65.000 to 120.000</a:t>
            </a:r>
          </a:p>
        </p:txBody>
      </p:sp>
      <p:sp>
        <p:nvSpPr>
          <p:cNvPr id="20" name="Rounded Rectangle 19"/>
          <p:cNvSpPr/>
          <p:nvPr/>
        </p:nvSpPr>
        <p:spPr>
          <a:xfrm>
            <a:off x="8869680" y="2752344"/>
            <a:ext cx="640080" cy="201168"/>
          </a:xfrm>
          <a:prstGeom prst="roundRect">
            <a:avLst>
              <a:gd name="adj" fmla="val 50000"/>
            </a:avLst>
          </a:prstGeom>
          <a:solidFill>
            <a:srgbClr val="080808"/>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0" y="2752344"/>
            <a:ext cx="640080" cy="201168"/>
          </a:xfrm>
          <a:prstGeom prst="rect">
            <a:avLst/>
          </a:prstGeom>
          <a:noFill/>
        </p:spPr>
        <p:txBody>
          <a:bodyPr wrap="square" lIns="0" rIns="0" tIns="0" bIns="0" anchor="ctr">
            <a:spAutoFit/>
          </a:bodyPr>
          <a:lstStyle/>
          <a:p>
            <a:pPr algn="ctr"/>
            <a:r>
              <a:rPr sz="800" b="1" i="0" spc="100">
                <a:solidFill>
                  <a:srgbClr val="F59E0B"/>
                </a:solidFill>
                <a:latin typeface="Menlo"/>
              </a:rPr>
              <a:t>Med</a:t>
            </a:r>
          </a:p>
        </p:txBody>
      </p:sp>
      <p:sp>
        <p:nvSpPr>
          <p:cNvPr id="22" name="TextBox 21"/>
          <p:cNvSpPr txBox="1"/>
          <p:nvPr/>
        </p:nvSpPr>
        <p:spPr>
          <a:xfrm>
            <a:off x="10012680" y="2715768"/>
            <a:ext cx="1399032" cy="274320"/>
          </a:xfrm>
          <a:prstGeom prst="rect">
            <a:avLst/>
          </a:prstGeom>
          <a:noFill/>
        </p:spPr>
        <p:txBody>
          <a:bodyPr wrap="square" lIns="0" rIns="0" tIns="0" bIns="0" anchor="t">
            <a:spAutoFit/>
          </a:bodyPr>
          <a:lstStyle/>
          <a:p>
            <a:pPr algn="l"/>
            <a:r>
              <a:rPr sz="1000" b="0" i="0">
                <a:solidFill>
                  <a:srgbClr val="CCCCCC"/>
                </a:solidFill>
                <a:latin typeface="Menlo"/>
              </a:rPr>
              <a:t>Phase 2</a:t>
            </a:r>
          </a:p>
        </p:txBody>
      </p:sp>
      <p:sp>
        <p:nvSpPr>
          <p:cNvPr id="23" name="TextBox 22"/>
          <p:cNvSpPr txBox="1"/>
          <p:nvPr/>
        </p:nvSpPr>
        <p:spPr>
          <a:xfrm>
            <a:off x="777240" y="3099816"/>
            <a:ext cx="228600" cy="274320"/>
          </a:xfrm>
          <a:prstGeom prst="rect">
            <a:avLst/>
          </a:prstGeom>
          <a:noFill/>
        </p:spPr>
        <p:txBody>
          <a:bodyPr wrap="square" lIns="0" rIns="0" tIns="0" bIns="0" anchor="t">
            <a:spAutoFit/>
          </a:bodyPr>
          <a:lstStyle/>
          <a:p>
            <a:pPr algn="ctr"/>
            <a:r>
              <a:rPr sz="1100" b="1" i="0">
                <a:solidFill>
                  <a:srgbClr val="F7D007"/>
                </a:solidFill>
                <a:latin typeface="Menlo"/>
              </a:rPr>
              <a:t>02</a:t>
            </a:r>
          </a:p>
        </p:txBody>
      </p:sp>
      <p:sp>
        <p:nvSpPr>
          <p:cNvPr id="24" name="TextBox 23"/>
          <p:cNvSpPr txBox="1"/>
          <p:nvPr/>
        </p:nvSpPr>
        <p:spPr>
          <a:xfrm>
            <a:off x="1280160" y="3099816"/>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Hero rebuild · category led  ·  SG-01</a:t>
            </a:r>
          </a:p>
        </p:txBody>
      </p:sp>
      <p:sp>
        <p:nvSpPr>
          <p:cNvPr id="25" name="TextBox 24"/>
          <p:cNvSpPr txBox="1"/>
          <p:nvPr/>
        </p:nvSpPr>
        <p:spPr>
          <a:xfrm>
            <a:off x="6400800" y="3099816"/>
            <a:ext cx="2194560" cy="274320"/>
          </a:xfrm>
          <a:prstGeom prst="rect">
            <a:avLst/>
          </a:prstGeom>
          <a:noFill/>
        </p:spPr>
        <p:txBody>
          <a:bodyPr wrap="square" lIns="0" rIns="0" tIns="0" bIns="0" anchor="t">
            <a:spAutoFit/>
          </a:bodyPr>
          <a:lstStyle/>
          <a:p>
            <a:pPr algn="r"/>
            <a:r>
              <a:rPr sz="1100" b="1" i="0">
                <a:solidFill>
                  <a:srgbClr val="F7D007"/>
                </a:solidFill>
                <a:latin typeface="Menlo"/>
              </a:rPr>
              <a:t>28.000 to 55.000</a:t>
            </a:r>
          </a:p>
        </p:txBody>
      </p:sp>
      <p:sp>
        <p:nvSpPr>
          <p:cNvPr id="26" name="Rounded Rectangle 25"/>
          <p:cNvSpPr/>
          <p:nvPr/>
        </p:nvSpPr>
        <p:spPr>
          <a:xfrm>
            <a:off x="8869680" y="3136392"/>
            <a:ext cx="640080" cy="201168"/>
          </a:xfrm>
          <a:prstGeom prst="roundRect">
            <a:avLst>
              <a:gd name="adj" fmla="val 50000"/>
            </a:avLst>
          </a:prstGeom>
          <a:solidFill>
            <a:srgbClr val="080808"/>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0" y="3136392"/>
            <a:ext cx="640080" cy="201168"/>
          </a:xfrm>
          <a:prstGeom prst="rect">
            <a:avLst/>
          </a:prstGeom>
          <a:noFill/>
        </p:spPr>
        <p:txBody>
          <a:bodyPr wrap="square" lIns="0" rIns="0" tIns="0" bIns="0" anchor="ctr">
            <a:spAutoFit/>
          </a:bodyPr>
          <a:lstStyle/>
          <a:p>
            <a:pPr algn="ctr"/>
            <a:r>
              <a:rPr sz="800" b="1" i="0" spc="100">
                <a:solidFill>
                  <a:srgbClr val="F59E0B"/>
                </a:solidFill>
                <a:latin typeface="Menlo"/>
              </a:rPr>
              <a:t>Med</a:t>
            </a:r>
          </a:p>
        </p:txBody>
      </p:sp>
      <p:sp>
        <p:nvSpPr>
          <p:cNvPr id="28" name="TextBox 27"/>
          <p:cNvSpPr txBox="1"/>
          <p:nvPr/>
        </p:nvSpPr>
        <p:spPr>
          <a:xfrm>
            <a:off x="10012680" y="3099816"/>
            <a:ext cx="1399032" cy="274320"/>
          </a:xfrm>
          <a:prstGeom prst="rect">
            <a:avLst/>
          </a:prstGeom>
          <a:noFill/>
        </p:spPr>
        <p:txBody>
          <a:bodyPr wrap="square" lIns="0" rIns="0" tIns="0" bIns="0" anchor="t">
            <a:spAutoFit/>
          </a:bodyPr>
          <a:lstStyle/>
          <a:p>
            <a:pPr algn="l"/>
            <a:r>
              <a:rPr sz="1000" b="0" i="0">
                <a:solidFill>
                  <a:srgbClr val="CCCCCC"/>
                </a:solidFill>
                <a:latin typeface="Menlo"/>
              </a:rPr>
              <a:t>Phase 2</a:t>
            </a:r>
          </a:p>
        </p:txBody>
      </p:sp>
      <p:sp>
        <p:nvSpPr>
          <p:cNvPr id="29" name="Rectangle 28"/>
          <p:cNvSpPr/>
          <p:nvPr/>
        </p:nvSpPr>
        <p:spPr>
          <a:xfrm>
            <a:off x="640080" y="3429000"/>
            <a:ext cx="10911535" cy="36576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483864"/>
            <a:ext cx="228600" cy="274320"/>
          </a:xfrm>
          <a:prstGeom prst="rect">
            <a:avLst/>
          </a:prstGeom>
          <a:noFill/>
        </p:spPr>
        <p:txBody>
          <a:bodyPr wrap="square" lIns="0" rIns="0" tIns="0" bIns="0" anchor="t">
            <a:spAutoFit/>
          </a:bodyPr>
          <a:lstStyle/>
          <a:p>
            <a:pPr algn="ctr"/>
            <a:r>
              <a:rPr sz="1100" b="1" i="0">
                <a:solidFill>
                  <a:srgbClr val="F7D007"/>
                </a:solidFill>
                <a:latin typeface="Menlo"/>
              </a:rPr>
              <a:t>03</a:t>
            </a:r>
          </a:p>
        </p:txBody>
      </p:sp>
      <p:sp>
        <p:nvSpPr>
          <p:cNvPr id="31" name="TextBox 30"/>
          <p:cNvSpPr txBox="1"/>
          <p:nvPr/>
        </p:nvSpPr>
        <p:spPr>
          <a:xfrm>
            <a:off x="1280160" y="3483864"/>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Accessories cross sell  ·  SG-03</a:t>
            </a:r>
          </a:p>
        </p:txBody>
      </p:sp>
      <p:sp>
        <p:nvSpPr>
          <p:cNvPr id="32" name="TextBox 31"/>
          <p:cNvSpPr txBox="1"/>
          <p:nvPr/>
        </p:nvSpPr>
        <p:spPr>
          <a:xfrm>
            <a:off x="6400800" y="3483864"/>
            <a:ext cx="2194560" cy="274320"/>
          </a:xfrm>
          <a:prstGeom prst="rect">
            <a:avLst/>
          </a:prstGeom>
          <a:noFill/>
        </p:spPr>
        <p:txBody>
          <a:bodyPr wrap="square" lIns="0" rIns="0" tIns="0" bIns="0" anchor="t">
            <a:spAutoFit/>
          </a:bodyPr>
          <a:lstStyle/>
          <a:p>
            <a:pPr algn="r"/>
            <a:r>
              <a:rPr sz="1100" b="1" i="0">
                <a:solidFill>
                  <a:srgbClr val="F7D007"/>
                </a:solidFill>
                <a:latin typeface="Menlo"/>
              </a:rPr>
              <a:t>18.000 to 35.000</a:t>
            </a:r>
          </a:p>
        </p:txBody>
      </p:sp>
      <p:sp>
        <p:nvSpPr>
          <p:cNvPr id="33" name="Rounded Rectangle 32"/>
          <p:cNvSpPr/>
          <p:nvPr/>
        </p:nvSpPr>
        <p:spPr>
          <a:xfrm>
            <a:off x="8869680" y="3520440"/>
            <a:ext cx="640080" cy="201168"/>
          </a:xfrm>
          <a:prstGeom prst="roundRect">
            <a:avLst>
              <a:gd name="adj" fmla="val 50000"/>
            </a:avLst>
          </a:prstGeom>
          <a:solidFill>
            <a:srgbClr val="080808"/>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0" y="3520440"/>
            <a:ext cx="640080" cy="201168"/>
          </a:xfrm>
          <a:prstGeom prst="rect">
            <a:avLst/>
          </a:prstGeom>
          <a:noFill/>
        </p:spPr>
        <p:txBody>
          <a:bodyPr wrap="square" lIns="0" rIns="0" tIns="0" bIns="0" anchor="ctr">
            <a:spAutoFit/>
          </a:bodyPr>
          <a:lstStyle/>
          <a:p>
            <a:pPr algn="ctr"/>
            <a:r>
              <a:rPr sz="800" b="1" i="0" spc="100">
                <a:solidFill>
                  <a:srgbClr val="22C55E"/>
                </a:solidFill>
                <a:latin typeface="Menlo"/>
              </a:rPr>
              <a:t>Low</a:t>
            </a:r>
          </a:p>
        </p:txBody>
      </p:sp>
      <p:sp>
        <p:nvSpPr>
          <p:cNvPr id="35" name="TextBox 34"/>
          <p:cNvSpPr txBox="1"/>
          <p:nvPr/>
        </p:nvSpPr>
        <p:spPr>
          <a:xfrm>
            <a:off x="10012680" y="3483864"/>
            <a:ext cx="1399032" cy="274320"/>
          </a:xfrm>
          <a:prstGeom prst="rect">
            <a:avLst/>
          </a:prstGeom>
          <a:noFill/>
        </p:spPr>
        <p:txBody>
          <a:bodyPr wrap="square" lIns="0" rIns="0" tIns="0" bIns="0" anchor="t">
            <a:spAutoFit/>
          </a:bodyPr>
          <a:lstStyle/>
          <a:p>
            <a:pPr algn="l"/>
            <a:r>
              <a:rPr sz="1000" b="0" i="0">
                <a:solidFill>
                  <a:srgbClr val="CCCCCC"/>
                </a:solidFill>
                <a:latin typeface="Menlo"/>
              </a:rPr>
              <a:t>Phase 2</a:t>
            </a:r>
          </a:p>
        </p:txBody>
      </p:sp>
      <p:sp>
        <p:nvSpPr>
          <p:cNvPr id="36" name="TextBox 35"/>
          <p:cNvSpPr txBox="1"/>
          <p:nvPr/>
        </p:nvSpPr>
        <p:spPr>
          <a:xfrm>
            <a:off x="777240" y="3867912"/>
            <a:ext cx="228600" cy="274320"/>
          </a:xfrm>
          <a:prstGeom prst="rect">
            <a:avLst/>
          </a:prstGeom>
          <a:noFill/>
        </p:spPr>
        <p:txBody>
          <a:bodyPr wrap="square" lIns="0" rIns="0" tIns="0" bIns="0" anchor="t">
            <a:spAutoFit/>
          </a:bodyPr>
          <a:lstStyle/>
          <a:p>
            <a:pPr algn="ctr"/>
            <a:r>
              <a:rPr sz="1100" b="1" i="0">
                <a:solidFill>
                  <a:srgbClr val="F7D007"/>
                </a:solidFill>
                <a:latin typeface="Menlo"/>
              </a:rPr>
              <a:t>04</a:t>
            </a:r>
          </a:p>
        </p:txBody>
      </p:sp>
      <p:sp>
        <p:nvSpPr>
          <p:cNvPr id="37" name="TextBox 36"/>
          <p:cNvSpPr txBox="1"/>
          <p:nvPr/>
        </p:nvSpPr>
        <p:spPr>
          <a:xfrm>
            <a:off x="1280160" y="3867912"/>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Klarna or ViaBill financing</a:t>
            </a:r>
          </a:p>
        </p:txBody>
      </p:sp>
      <p:sp>
        <p:nvSpPr>
          <p:cNvPr id="38" name="TextBox 37"/>
          <p:cNvSpPr txBox="1"/>
          <p:nvPr/>
        </p:nvSpPr>
        <p:spPr>
          <a:xfrm>
            <a:off x="6400800" y="3867912"/>
            <a:ext cx="2194560" cy="274320"/>
          </a:xfrm>
          <a:prstGeom prst="rect">
            <a:avLst/>
          </a:prstGeom>
          <a:noFill/>
        </p:spPr>
        <p:txBody>
          <a:bodyPr wrap="square" lIns="0" rIns="0" tIns="0" bIns="0" anchor="t">
            <a:spAutoFit/>
          </a:bodyPr>
          <a:lstStyle/>
          <a:p>
            <a:pPr algn="r"/>
            <a:r>
              <a:rPr sz="1100" b="1" i="0">
                <a:solidFill>
                  <a:srgbClr val="F7D007"/>
                </a:solidFill>
                <a:latin typeface="Menlo"/>
              </a:rPr>
              <a:t>55.000 to 100.000</a:t>
            </a:r>
          </a:p>
        </p:txBody>
      </p:sp>
      <p:sp>
        <p:nvSpPr>
          <p:cNvPr id="39" name="Rounded Rectangle 38"/>
          <p:cNvSpPr/>
          <p:nvPr/>
        </p:nvSpPr>
        <p:spPr>
          <a:xfrm>
            <a:off x="8869680" y="3904488"/>
            <a:ext cx="640080" cy="201168"/>
          </a:xfrm>
          <a:prstGeom prst="roundRect">
            <a:avLst>
              <a:gd name="adj" fmla="val 50000"/>
            </a:avLst>
          </a:prstGeom>
          <a:solidFill>
            <a:srgbClr val="080808"/>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3904488"/>
            <a:ext cx="640080" cy="201168"/>
          </a:xfrm>
          <a:prstGeom prst="rect">
            <a:avLst/>
          </a:prstGeom>
          <a:noFill/>
        </p:spPr>
        <p:txBody>
          <a:bodyPr wrap="square" lIns="0" rIns="0" tIns="0" bIns="0" anchor="ctr">
            <a:spAutoFit/>
          </a:bodyPr>
          <a:lstStyle/>
          <a:p>
            <a:pPr algn="ctr"/>
            <a:r>
              <a:rPr sz="800" b="1" i="0" spc="100">
                <a:solidFill>
                  <a:srgbClr val="22C55E"/>
                </a:solidFill>
                <a:latin typeface="Menlo"/>
              </a:rPr>
              <a:t>Low</a:t>
            </a:r>
          </a:p>
        </p:txBody>
      </p:sp>
      <p:sp>
        <p:nvSpPr>
          <p:cNvPr id="41" name="TextBox 40"/>
          <p:cNvSpPr txBox="1"/>
          <p:nvPr/>
        </p:nvSpPr>
        <p:spPr>
          <a:xfrm>
            <a:off x="10012680" y="3867912"/>
            <a:ext cx="1399032" cy="274320"/>
          </a:xfrm>
          <a:prstGeom prst="rect">
            <a:avLst/>
          </a:prstGeom>
          <a:noFill/>
        </p:spPr>
        <p:txBody>
          <a:bodyPr wrap="square" lIns="0" rIns="0" tIns="0" bIns="0" anchor="t">
            <a:spAutoFit/>
          </a:bodyPr>
          <a:lstStyle/>
          <a:p>
            <a:pPr algn="l"/>
            <a:r>
              <a:rPr sz="1000" b="0" i="0">
                <a:solidFill>
                  <a:srgbClr val="CCCCCC"/>
                </a:solidFill>
                <a:latin typeface="Menlo"/>
              </a:rPr>
              <a:t>Phase 1</a:t>
            </a:r>
          </a:p>
        </p:txBody>
      </p:sp>
      <p:sp>
        <p:nvSpPr>
          <p:cNvPr id="42" name="Rectangle 41"/>
          <p:cNvSpPr/>
          <p:nvPr/>
        </p:nvSpPr>
        <p:spPr>
          <a:xfrm>
            <a:off x="640080" y="4197096"/>
            <a:ext cx="10911535" cy="36576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4251960"/>
            <a:ext cx="228600" cy="274320"/>
          </a:xfrm>
          <a:prstGeom prst="rect">
            <a:avLst/>
          </a:prstGeom>
          <a:noFill/>
        </p:spPr>
        <p:txBody>
          <a:bodyPr wrap="square" lIns="0" rIns="0" tIns="0" bIns="0" anchor="t">
            <a:spAutoFit/>
          </a:bodyPr>
          <a:lstStyle/>
          <a:p>
            <a:pPr algn="ctr"/>
            <a:r>
              <a:rPr sz="1100" b="1" i="0">
                <a:solidFill>
                  <a:srgbClr val="F7D007"/>
                </a:solidFill>
                <a:latin typeface="Menlo"/>
              </a:rPr>
              <a:t>05</a:t>
            </a:r>
          </a:p>
        </p:txBody>
      </p:sp>
      <p:sp>
        <p:nvSpPr>
          <p:cNvPr id="44" name="TextBox 43"/>
          <p:cNvSpPr txBox="1"/>
          <p:nvPr/>
        </p:nvSpPr>
        <p:spPr>
          <a:xfrm>
            <a:off x="1280160" y="4251960"/>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Trustpilot social proof</a:t>
            </a:r>
          </a:p>
        </p:txBody>
      </p:sp>
      <p:sp>
        <p:nvSpPr>
          <p:cNvPr id="45" name="TextBox 44"/>
          <p:cNvSpPr txBox="1"/>
          <p:nvPr/>
        </p:nvSpPr>
        <p:spPr>
          <a:xfrm>
            <a:off x="6400800" y="4251960"/>
            <a:ext cx="2194560" cy="274320"/>
          </a:xfrm>
          <a:prstGeom prst="rect">
            <a:avLst/>
          </a:prstGeom>
          <a:noFill/>
        </p:spPr>
        <p:txBody>
          <a:bodyPr wrap="square" lIns="0" rIns="0" tIns="0" bIns="0" anchor="t">
            <a:spAutoFit/>
          </a:bodyPr>
          <a:lstStyle/>
          <a:p>
            <a:pPr algn="r"/>
            <a:r>
              <a:rPr sz="1100" b="1" i="0">
                <a:solidFill>
                  <a:srgbClr val="F7D007"/>
                </a:solidFill>
                <a:latin typeface="Menlo"/>
              </a:rPr>
              <a:t>45.000 to 80.000</a:t>
            </a:r>
          </a:p>
        </p:txBody>
      </p:sp>
      <p:sp>
        <p:nvSpPr>
          <p:cNvPr id="46" name="Rounded Rectangle 45"/>
          <p:cNvSpPr/>
          <p:nvPr/>
        </p:nvSpPr>
        <p:spPr>
          <a:xfrm>
            <a:off x="8869680" y="4288536"/>
            <a:ext cx="640080" cy="201168"/>
          </a:xfrm>
          <a:prstGeom prst="roundRect">
            <a:avLst>
              <a:gd name="adj" fmla="val 50000"/>
            </a:avLst>
          </a:prstGeom>
          <a:solidFill>
            <a:srgbClr val="080808"/>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69680" y="4288536"/>
            <a:ext cx="640080" cy="201168"/>
          </a:xfrm>
          <a:prstGeom prst="rect">
            <a:avLst/>
          </a:prstGeom>
          <a:noFill/>
        </p:spPr>
        <p:txBody>
          <a:bodyPr wrap="square" lIns="0" rIns="0" tIns="0" bIns="0" anchor="ctr">
            <a:spAutoFit/>
          </a:bodyPr>
          <a:lstStyle/>
          <a:p>
            <a:pPr algn="ctr"/>
            <a:r>
              <a:rPr sz="800" b="1" i="0" spc="100">
                <a:solidFill>
                  <a:srgbClr val="22C55E"/>
                </a:solidFill>
                <a:latin typeface="Menlo"/>
              </a:rPr>
              <a:t>Low</a:t>
            </a:r>
          </a:p>
        </p:txBody>
      </p:sp>
      <p:sp>
        <p:nvSpPr>
          <p:cNvPr id="48" name="TextBox 47"/>
          <p:cNvSpPr txBox="1"/>
          <p:nvPr/>
        </p:nvSpPr>
        <p:spPr>
          <a:xfrm>
            <a:off x="10012680" y="4251960"/>
            <a:ext cx="1399032" cy="274320"/>
          </a:xfrm>
          <a:prstGeom prst="rect">
            <a:avLst/>
          </a:prstGeom>
          <a:noFill/>
        </p:spPr>
        <p:txBody>
          <a:bodyPr wrap="square" lIns="0" rIns="0" tIns="0" bIns="0" anchor="t">
            <a:spAutoFit/>
          </a:bodyPr>
          <a:lstStyle/>
          <a:p>
            <a:pPr algn="l"/>
            <a:r>
              <a:rPr sz="1000" b="0" i="0">
                <a:solidFill>
                  <a:srgbClr val="CCCCCC"/>
                </a:solidFill>
                <a:latin typeface="Menlo"/>
              </a:rPr>
              <a:t>Phase 1</a:t>
            </a:r>
          </a:p>
        </p:txBody>
      </p:sp>
      <p:sp>
        <p:nvSpPr>
          <p:cNvPr id="49" name="TextBox 48"/>
          <p:cNvSpPr txBox="1"/>
          <p:nvPr/>
        </p:nvSpPr>
        <p:spPr>
          <a:xfrm>
            <a:off x="777240" y="4636008"/>
            <a:ext cx="228600" cy="274320"/>
          </a:xfrm>
          <a:prstGeom prst="rect">
            <a:avLst/>
          </a:prstGeom>
          <a:noFill/>
        </p:spPr>
        <p:txBody>
          <a:bodyPr wrap="square" lIns="0" rIns="0" tIns="0" bIns="0" anchor="t">
            <a:spAutoFit/>
          </a:bodyPr>
          <a:lstStyle/>
          <a:p>
            <a:pPr algn="ctr"/>
            <a:r>
              <a:rPr sz="1100" b="1" i="0">
                <a:solidFill>
                  <a:srgbClr val="F7D007"/>
                </a:solidFill>
                <a:latin typeface="Menlo"/>
              </a:rPr>
              <a:t>06</a:t>
            </a:r>
          </a:p>
        </p:txBody>
      </p:sp>
      <p:sp>
        <p:nvSpPr>
          <p:cNvPr id="50" name="TextBox 49"/>
          <p:cNvSpPr txBox="1"/>
          <p:nvPr/>
        </p:nvSpPr>
        <p:spPr>
          <a:xfrm>
            <a:off x="1280160" y="4636008"/>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Collection filters + chips</a:t>
            </a:r>
          </a:p>
        </p:txBody>
      </p:sp>
      <p:sp>
        <p:nvSpPr>
          <p:cNvPr id="51" name="TextBox 50"/>
          <p:cNvSpPr txBox="1"/>
          <p:nvPr/>
        </p:nvSpPr>
        <p:spPr>
          <a:xfrm>
            <a:off x="6400800" y="4636008"/>
            <a:ext cx="2194560" cy="274320"/>
          </a:xfrm>
          <a:prstGeom prst="rect">
            <a:avLst/>
          </a:prstGeom>
          <a:noFill/>
        </p:spPr>
        <p:txBody>
          <a:bodyPr wrap="square" lIns="0" rIns="0" tIns="0" bIns="0" anchor="t">
            <a:spAutoFit/>
          </a:bodyPr>
          <a:lstStyle/>
          <a:p>
            <a:pPr algn="r"/>
            <a:r>
              <a:rPr sz="1100" b="1" i="0">
                <a:solidFill>
                  <a:srgbClr val="F7D007"/>
                </a:solidFill>
                <a:latin typeface="Menlo"/>
              </a:rPr>
              <a:t>18.000 to 35.000</a:t>
            </a:r>
          </a:p>
        </p:txBody>
      </p:sp>
      <p:sp>
        <p:nvSpPr>
          <p:cNvPr id="52" name="Rounded Rectangle 51"/>
          <p:cNvSpPr/>
          <p:nvPr/>
        </p:nvSpPr>
        <p:spPr>
          <a:xfrm>
            <a:off x="8869680" y="4672584"/>
            <a:ext cx="640080" cy="201168"/>
          </a:xfrm>
          <a:prstGeom prst="roundRect">
            <a:avLst>
              <a:gd name="adj" fmla="val 50000"/>
            </a:avLst>
          </a:prstGeom>
          <a:solidFill>
            <a:srgbClr val="080808"/>
          </a:solidFill>
          <a:ln w="762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69680" y="4672584"/>
            <a:ext cx="640080" cy="201168"/>
          </a:xfrm>
          <a:prstGeom prst="rect">
            <a:avLst/>
          </a:prstGeom>
          <a:noFill/>
        </p:spPr>
        <p:txBody>
          <a:bodyPr wrap="square" lIns="0" rIns="0" tIns="0" bIns="0" anchor="ctr">
            <a:spAutoFit/>
          </a:bodyPr>
          <a:lstStyle/>
          <a:p>
            <a:pPr algn="ctr"/>
            <a:r>
              <a:rPr sz="800" b="1" i="0" spc="100">
                <a:solidFill>
                  <a:srgbClr val="EF4444"/>
                </a:solidFill>
                <a:latin typeface="Menlo"/>
              </a:rPr>
              <a:t>High</a:t>
            </a:r>
          </a:p>
        </p:txBody>
      </p:sp>
      <p:sp>
        <p:nvSpPr>
          <p:cNvPr id="54" name="TextBox 53"/>
          <p:cNvSpPr txBox="1"/>
          <p:nvPr/>
        </p:nvSpPr>
        <p:spPr>
          <a:xfrm>
            <a:off x="10012680" y="4636008"/>
            <a:ext cx="1399032" cy="274320"/>
          </a:xfrm>
          <a:prstGeom prst="rect">
            <a:avLst/>
          </a:prstGeom>
          <a:noFill/>
        </p:spPr>
        <p:txBody>
          <a:bodyPr wrap="square" lIns="0" rIns="0" tIns="0" bIns="0" anchor="t">
            <a:spAutoFit/>
          </a:bodyPr>
          <a:lstStyle/>
          <a:p>
            <a:pPr algn="l"/>
            <a:r>
              <a:rPr sz="1000" b="0" i="0">
                <a:solidFill>
                  <a:srgbClr val="CCCCCC"/>
                </a:solidFill>
                <a:latin typeface="Menlo"/>
              </a:rPr>
              <a:t>Phase 3</a:t>
            </a:r>
          </a:p>
        </p:txBody>
      </p:sp>
      <p:sp>
        <p:nvSpPr>
          <p:cNvPr id="55" name="Rectangle 54"/>
          <p:cNvSpPr/>
          <p:nvPr/>
        </p:nvSpPr>
        <p:spPr>
          <a:xfrm>
            <a:off x="640080" y="4965192"/>
            <a:ext cx="10911535" cy="36576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7240" y="5020056"/>
            <a:ext cx="228600" cy="274320"/>
          </a:xfrm>
          <a:prstGeom prst="rect">
            <a:avLst/>
          </a:prstGeom>
          <a:noFill/>
        </p:spPr>
        <p:txBody>
          <a:bodyPr wrap="square" lIns="0" rIns="0" tIns="0" bIns="0" anchor="t">
            <a:spAutoFit/>
          </a:bodyPr>
          <a:lstStyle/>
          <a:p>
            <a:pPr algn="ctr"/>
            <a:r>
              <a:rPr sz="1100" b="1" i="0">
                <a:solidFill>
                  <a:srgbClr val="F7D007"/>
                </a:solidFill>
                <a:latin typeface="Menlo"/>
              </a:rPr>
              <a:t>07</a:t>
            </a:r>
          </a:p>
        </p:txBody>
      </p:sp>
      <p:sp>
        <p:nvSpPr>
          <p:cNvPr id="57" name="TextBox 56"/>
          <p:cNvSpPr txBox="1"/>
          <p:nvPr/>
        </p:nvSpPr>
        <p:spPr>
          <a:xfrm>
            <a:off x="1280160" y="5020056"/>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Post purchase review flow</a:t>
            </a:r>
          </a:p>
        </p:txBody>
      </p:sp>
      <p:sp>
        <p:nvSpPr>
          <p:cNvPr id="58" name="TextBox 57"/>
          <p:cNvSpPr txBox="1"/>
          <p:nvPr/>
        </p:nvSpPr>
        <p:spPr>
          <a:xfrm>
            <a:off x="6400800" y="5020056"/>
            <a:ext cx="2194560" cy="274320"/>
          </a:xfrm>
          <a:prstGeom prst="rect">
            <a:avLst/>
          </a:prstGeom>
          <a:noFill/>
        </p:spPr>
        <p:txBody>
          <a:bodyPr wrap="square" lIns="0" rIns="0" tIns="0" bIns="0" anchor="t">
            <a:spAutoFit/>
          </a:bodyPr>
          <a:lstStyle/>
          <a:p>
            <a:pPr algn="r"/>
            <a:r>
              <a:rPr sz="1100" b="1" i="0">
                <a:solidFill>
                  <a:srgbClr val="F7D007"/>
                </a:solidFill>
                <a:latin typeface="Menlo"/>
              </a:rPr>
              <a:t>12.000 to 22.000</a:t>
            </a:r>
          </a:p>
        </p:txBody>
      </p:sp>
      <p:sp>
        <p:nvSpPr>
          <p:cNvPr id="59" name="Rounded Rectangle 58"/>
          <p:cNvSpPr/>
          <p:nvPr/>
        </p:nvSpPr>
        <p:spPr>
          <a:xfrm>
            <a:off x="8869680" y="5056632"/>
            <a:ext cx="640080" cy="201168"/>
          </a:xfrm>
          <a:prstGeom prst="roundRect">
            <a:avLst>
              <a:gd name="adj" fmla="val 50000"/>
            </a:avLst>
          </a:prstGeom>
          <a:solidFill>
            <a:srgbClr val="080808"/>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869680" y="5056632"/>
            <a:ext cx="640080" cy="201168"/>
          </a:xfrm>
          <a:prstGeom prst="rect">
            <a:avLst/>
          </a:prstGeom>
          <a:noFill/>
        </p:spPr>
        <p:txBody>
          <a:bodyPr wrap="square" lIns="0" rIns="0" tIns="0" bIns="0" anchor="ctr">
            <a:spAutoFit/>
          </a:bodyPr>
          <a:lstStyle/>
          <a:p>
            <a:pPr algn="ctr"/>
            <a:r>
              <a:rPr sz="800" b="1" i="0" spc="100">
                <a:solidFill>
                  <a:srgbClr val="22C55E"/>
                </a:solidFill>
                <a:latin typeface="Menlo"/>
              </a:rPr>
              <a:t>Low</a:t>
            </a:r>
          </a:p>
        </p:txBody>
      </p:sp>
      <p:sp>
        <p:nvSpPr>
          <p:cNvPr id="61" name="TextBox 60"/>
          <p:cNvSpPr txBox="1"/>
          <p:nvPr/>
        </p:nvSpPr>
        <p:spPr>
          <a:xfrm>
            <a:off x="10012680" y="5020056"/>
            <a:ext cx="1399032" cy="274320"/>
          </a:xfrm>
          <a:prstGeom prst="rect">
            <a:avLst/>
          </a:prstGeom>
          <a:noFill/>
        </p:spPr>
        <p:txBody>
          <a:bodyPr wrap="square" lIns="0" rIns="0" tIns="0" bIns="0" anchor="t">
            <a:spAutoFit/>
          </a:bodyPr>
          <a:lstStyle/>
          <a:p>
            <a:pPr algn="l"/>
            <a:r>
              <a:rPr sz="1000" b="0" i="0">
                <a:solidFill>
                  <a:srgbClr val="CCCCCC"/>
                </a:solidFill>
                <a:latin typeface="Menlo"/>
              </a:rPr>
              <a:t>Phase 2</a:t>
            </a:r>
          </a:p>
        </p:txBody>
      </p:sp>
      <p:sp>
        <p:nvSpPr>
          <p:cNvPr id="62" name="TextBox 61"/>
          <p:cNvSpPr txBox="1"/>
          <p:nvPr/>
        </p:nvSpPr>
        <p:spPr>
          <a:xfrm>
            <a:off x="777240" y="5404104"/>
            <a:ext cx="228600" cy="274320"/>
          </a:xfrm>
          <a:prstGeom prst="rect">
            <a:avLst/>
          </a:prstGeom>
          <a:noFill/>
        </p:spPr>
        <p:txBody>
          <a:bodyPr wrap="square" lIns="0" rIns="0" tIns="0" bIns="0" anchor="t">
            <a:spAutoFit/>
          </a:bodyPr>
          <a:lstStyle/>
          <a:p>
            <a:pPr algn="ctr"/>
            <a:r>
              <a:rPr sz="1100" b="1" i="0">
                <a:solidFill>
                  <a:srgbClr val="F7D007"/>
                </a:solidFill>
                <a:latin typeface="Menlo"/>
              </a:rPr>
              <a:t>08</a:t>
            </a:r>
          </a:p>
        </p:txBody>
      </p:sp>
      <p:sp>
        <p:nvSpPr>
          <p:cNvPr id="63" name="TextBox 62"/>
          <p:cNvSpPr txBox="1"/>
          <p:nvPr/>
        </p:nvSpPr>
        <p:spPr>
          <a:xfrm>
            <a:off x="1280160" y="5404104"/>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Buying guides + quiz</a:t>
            </a:r>
          </a:p>
        </p:txBody>
      </p:sp>
      <p:sp>
        <p:nvSpPr>
          <p:cNvPr id="64" name="TextBox 63"/>
          <p:cNvSpPr txBox="1"/>
          <p:nvPr/>
        </p:nvSpPr>
        <p:spPr>
          <a:xfrm>
            <a:off x="6400800" y="5404104"/>
            <a:ext cx="2194560" cy="274320"/>
          </a:xfrm>
          <a:prstGeom prst="rect">
            <a:avLst/>
          </a:prstGeom>
          <a:noFill/>
        </p:spPr>
        <p:txBody>
          <a:bodyPr wrap="square" lIns="0" rIns="0" tIns="0" bIns="0" anchor="t">
            <a:spAutoFit/>
          </a:bodyPr>
          <a:lstStyle/>
          <a:p>
            <a:pPr algn="r"/>
            <a:r>
              <a:rPr sz="1100" b="1" i="0">
                <a:solidFill>
                  <a:srgbClr val="F7D007"/>
                </a:solidFill>
                <a:latin typeface="Menlo"/>
              </a:rPr>
              <a:t>12.000 to 22.000</a:t>
            </a:r>
          </a:p>
        </p:txBody>
      </p:sp>
      <p:sp>
        <p:nvSpPr>
          <p:cNvPr id="65" name="Rounded Rectangle 64"/>
          <p:cNvSpPr/>
          <p:nvPr/>
        </p:nvSpPr>
        <p:spPr>
          <a:xfrm>
            <a:off x="8869680" y="5440680"/>
            <a:ext cx="640080" cy="201168"/>
          </a:xfrm>
          <a:prstGeom prst="roundRect">
            <a:avLst>
              <a:gd name="adj" fmla="val 50000"/>
            </a:avLst>
          </a:prstGeom>
          <a:solidFill>
            <a:srgbClr val="080808"/>
          </a:solidFill>
          <a:ln w="762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69680" y="5440680"/>
            <a:ext cx="640080" cy="201168"/>
          </a:xfrm>
          <a:prstGeom prst="rect">
            <a:avLst/>
          </a:prstGeom>
          <a:noFill/>
        </p:spPr>
        <p:txBody>
          <a:bodyPr wrap="square" lIns="0" rIns="0" tIns="0" bIns="0" anchor="ctr">
            <a:spAutoFit/>
          </a:bodyPr>
          <a:lstStyle/>
          <a:p>
            <a:pPr algn="ctr"/>
            <a:r>
              <a:rPr sz="800" b="1" i="0" spc="100">
                <a:solidFill>
                  <a:srgbClr val="EF4444"/>
                </a:solidFill>
                <a:latin typeface="Menlo"/>
              </a:rPr>
              <a:t>High</a:t>
            </a:r>
          </a:p>
        </p:txBody>
      </p:sp>
      <p:sp>
        <p:nvSpPr>
          <p:cNvPr id="67" name="TextBox 66"/>
          <p:cNvSpPr txBox="1"/>
          <p:nvPr/>
        </p:nvSpPr>
        <p:spPr>
          <a:xfrm>
            <a:off x="10012680" y="5404104"/>
            <a:ext cx="1399032" cy="274320"/>
          </a:xfrm>
          <a:prstGeom prst="rect">
            <a:avLst/>
          </a:prstGeom>
          <a:noFill/>
        </p:spPr>
        <p:txBody>
          <a:bodyPr wrap="square" lIns="0" rIns="0" tIns="0" bIns="0" anchor="t">
            <a:spAutoFit/>
          </a:bodyPr>
          <a:lstStyle/>
          <a:p>
            <a:pPr algn="l"/>
            <a:r>
              <a:rPr sz="1000" b="0" i="0">
                <a:solidFill>
                  <a:srgbClr val="CCCCCC"/>
                </a:solidFill>
                <a:latin typeface="Menlo"/>
              </a:rPr>
              <a:t>Phase 3</a:t>
            </a:r>
          </a:p>
        </p:txBody>
      </p:sp>
      <p:sp>
        <p:nvSpPr>
          <p:cNvPr id="68" name="Rectangle 67"/>
          <p:cNvSpPr/>
          <p:nvPr/>
        </p:nvSpPr>
        <p:spPr>
          <a:xfrm>
            <a:off x="640080" y="5733288"/>
            <a:ext cx="10911535" cy="36576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240" y="5788152"/>
            <a:ext cx="228600" cy="274320"/>
          </a:xfrm>
          <a:prstGeom prst="rect">
            <a:avLst/>
          </a:prstGeom>
          <a:noFill/>
        </p:spPr>
        <p:txBody>
          <a:bodyPr wrap="square" lIns="0" rIns="0" tIns="0" bIns="0" anchor="t">
            <a:spAutoFit/>
          </a:bodyPr>
          <a:lstStyle/>
          <a:p>
            <a:pPr algn="ctr"/>
            <a:r>
              <a:rPr sz="1100" b="1" i="0">
                <a:solidFill>
                  <a:srgbClr val="F7D007"/>
                </a:solidFill>
                <a:latin typeface="Menlo"/>
              </a:rPr>
              <a:t>09</a:t>
            </a:r>
          </a:p>
        </p:txBody>
      </p:sp>
      <p:sp>
        <p:nvSpPr>
          <p:cNvPr id="70" name="TextBox 69"/>
          <p:cNvSpPr txBox="1"/>
          <p:nvPr/>
        </p:nvSpPr>
        <p:spPr>
          <a:xfrm>
            <a:off x="1280160" y="5788152"/>
            <a:ext cx="4846320" cy="274320"/>
          </a:xfrm>
          <a:prstGeom prst="rect">
            <a:avLst/>
          </a:prstGeom>
          <a:noFill/>
        </p:spPr>
        <p:txBody>
          <a:bodyPr wrap="square" lIns="0" rIns="0" tIns="0" bIns="0" anchor="t">
            <a:spAutoFit/>
          </a:bodyPr>
          <a:lstStyle/>
          <a:p>
            <a:pPr algn="l"/>
            <a:r>
              <a:rPr sz="1100" b="0" i="0">
                <a:solidFill>
                  <a:srgbClr val="FFFFFF"/>
                </a:solidFill>
                <a:latin typeface="Helvetica Neue"/>
              </a:rPr>
              <a:t>Meta Pixel + CAPI fix</a:t>
            </a:r>
          </a:p>
        </p:txBody>
      </p:sp>
      <p:sp>
        <p:nvSpPr>
          <p:cNvPr id="71" name="TextBox 70"/>
          <p:cNvSpPr txBox="1"/>
          <p:nvPr/>
        </p:nvSpPr>
        <p:spPr>
          <a:xfrm>
            <a:off x="6400800" y="5788152"/>
            <a:ext cx="2194560" cy="274320"/>
          </a:xfrm>
          <a:prstGeom prst="rect">
            <a:avLst/>
          </a:prstGeom>
          <a:noFill/>
        </p:spPr>
        <p:txBody>
          <a:bodyPr wrap="square" lIns="0" rIns="0" tIns="0" bIns="0" anchor="t">
            <a:spAutoFit/>
          </a:bodyPr>
          <a:lstStyle/>
          <a:p>
            <a:pPr algn="r"/>
            <a:r>
              <a:rPr sz="1000" b="0" i="1">
                <a:solidFill>
                  <a:srgbClr val="999999"/>
                </a:solidFill>
                <a:latin typeface="Helvetica Neue"/>
              </a:rPr>
              <a:t>Data quality unlock</a:t>
            </a:r>
          </a:p>
        </p:txBody>
      </p:sp>
      <p:sp>
        <p:nvSpPr>
          <p:cNvPr id="72" name="Rounded Rectangle 71"/>
          <p:cNvSpPr/>
          <p:nvPr/>
        </p:nvSpPr>
        <p:spPr>
          <a:xfrm>
            <a:off x="8869680" y="5824728"/>
            <a:ext cx="640080" cy="201168"/>
          </a:xfrm>
          <a:prstGeom prst="roundRect">
            <a:avLst>
              <a:gd name="adj" fmla="val 50000"/>
            </a:avLst>
          </a:prstGeom>
          <a:solidFill>
            <a:srgbClr val="080808"/>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69680" y="5824728"/>
            <a:ext cx="640080" cy="201168"/>
          </a:xfrm>
          <a:prstGeom prst="rect">
            <a:avLst/>
          </a:prstGeom>
          <a:noFill/>
        </p:spPr>
        <p:txBody>
          <a:bodyPr wrap="square" lIns="0" rIns="0" tIns="0" bIns="0" anchor="ctr">
            <a:spAutoFit/>
          </a:bodyPr>
          <a:lstStyle/>
          <a:p>
            <a:pPr algn="ctr"/>
            <a:r>
              <a:rPr sz="800" b="1" i="0" spc="100">
                <a:solidFill>
                  <a:srgbClr val="22C55E"/>
                </a:solidFill>
                <a:latin typeface="Menlo"/>
              </a:rPr>
              <a:t>Low</a:t>
            </a:r>
          </a:p>
        </p:txBody>
      </p:sp>
      <p:sp>
        <p:nvSpPr>
          <p:cNvPr id="74" name="TextBox 73"/>
          <p:cNvSpPr txBox="1"/>
          <p:nvPr/>
        </p:nvSpPr>
        <p:spPr>
          <a:xfrm>
            <a:off x="10012680" y="5788152"/>
            <a:ext cx="1399032" cy="274320"/>
          </a:xfrm>
          <a:prstGeom prst="rect">
            <a:avLst/>
          </a:prstGeom>
          <a:noFill/>
        </p:spPr>
        <p:txBody>
          <a:bodyPr wrap="square" lIns="0" rIns="0" tIns="0" bIns="0" anchor="t">
            <a:spAutoFit/>
          </a:bodyPr>
          <a:lstStyle/>
          <a:p>
            <a:pPr algn="l"/>
            <a:r>
              <a:rPr sz="1000" b="0" i="0">
                <a:solidFill>
                  <a:srgbClr val="CCCCCC"/>
                </a:solidFill>
                <a:latin typeface="Menlo"/>
              </a:rPr>
              <a:t>Phase 1</a:t>
            </a:r>
          </a:p>
        </p:txBody>
      </p:sp>
      <p:sp>
        <p:nvSpPr>
          <p:cNvPr id="75" name="Rounded Rectangle 74"/>
          <p:cNvSpPr/>
          <p:nvPr/>
        </p:nvSpPr>
        <p:spPr>
          <a:xfrm>
            <a:off x="640080" y="6309360"/>
            <a:ext cx="10911535" cy="502920"/>
          </a:xfrm>
          <a:prstGeom prst="roundRect">
            <a:avLst>
              <a:gd name="adj" fmla="val 20000"/>
            </a:avLst>
          </a:prstGeom>
          <a:solidFill>
            <a:srgbClr val="1410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14400" y="6309360"/>
            <a:ext cx="3657600" cy="502920"/>
          </a:xfrm>
          <a:prstGeom prst="rect">
            <a:avLst/>
          </a:prstGeom>
          <a:noFill/>
        </p:spPr>
        <p:txBody>
          <a:bodyPr wrap="square" lIns="0" rIns="0" tIns="0" bIns="0" anchor="ctr">
            <a:spAutoFit/>
          </a:bodyPr>
          <a:lstStyle/>
          <a:p>
            <a:pPr algn="l"/>
            <a:r>
              <a:rPr sz="1000" b="1" i="0" spc="200">
                <a:solidFill>
                  <a:srgbClr val="FFFFFF"/>
                </a:solidFill>
                <a:latin typeface="Helvetica Neue"/>
              </a:rPr>
              <a:t>TOTAL ADDRESSABLE UPLIFT</a:t>
            </a:r>
          </a:p>
        </p:txBody>
      </p:sp>
      <p:sp>
        <p:nvSpPr>
          <p:cNvPr id="77" name="TextBox 76"/>
          <p:cNvSpPr txBox="1"/>
          <p:nvPr/>
        </p:nvSpPr>
        <p:spPr>
          <a:xfrm>
            <a:off x="4754880" y="6309360"/>
            <a:ext cx="6522415" cy="502920"/>
          </a:xfrm>
          <a:prstGeom prst="rect">
            <a:avLst/>
          </a:prstGeom>
          <a:noFill/>
        </p:spPr>
        <p:txBody>
          <a:bodyPr wrap="square" lIns="0" rIns="0" tIns="0" bIns="0" anchor="ctr">
            <a:spAutoFit/>
          </a:bodyPr>
          <a:lstStyle/>
          <a:p>
            <a:pPr algn="r"/>
            <a:r>
              <a:rPr sz="1300" b="1" i="0">
                <a:solidFill>
                  <a:srgbClr val="F7D007"/>
                </a:solidFill>
                <a:latin typeface="Menlo"/>
              </a:rPr>
              <a:t>253.000 to 469.000 kr per month  ·  +25 % to +47 %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25</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04</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SELECTED TEST PLANS</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Three tests, three mockups</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Three highest-impact opportunities, designed at the pixel level. Hypothesis and KPIs included on each card.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26</a:t>
            </a:r>
          </a:p>
        </p:txBody>
      </p:sp>
      <p:sp>
        <p:nvSpPr>
          <p:cNvPr id="7" name="Rectangle 6"/>
          <p:cNvSpPr/>
          <p:nvPr/>
        </p:nvSpPr>
        <p:spPr>
          <a:xfrm>
            <a:off x="0" y="0"/>
            <a:ext cx="534924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777240"/>
            <a:ext cx="1920240" cy="292608"/>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777240"/>
            <a:ext cx="1920240" cy="292608"/>
          </a:xfrm>
          <a:prstGeom prst="rect">
            <a:avLst/>
          </a:prstGeom>
          <a:noFill/>
        </p:spPr>
        <p:txBody>
          <a:bodyPr wrap="square" lIns="0" rIns="0" tIns="0" bIns="0" anchor="ctr">
            <a:spAutoFit/>
          </a:bodyPr>
          <a:lstStyle/>
          <a:p>
            <a:pPr algn="ctr"/>
            <a:r>
              <a:rPr sz="1000" b="1" i="0" spc="130">
                <a:solidFill>
                  <a:srgbClr val="000000"/>
                </a:solidFill>
                <a:latin typeface="Helvetica Neue"/>
              </a:rPr>
              <a:t>SG-01 · HERO</a:t>
            </a:r>
          </a:p>
        </p:txBody>
      </p:sp>
      <p:sp>
        <p:nvSpPr>
          <p:cNvPr id="10" name="TextBox 9"/>
          <p:cNvSpPr txBox="1"/>
          <p:nvPr/>
        </p:nvSpPr>
        <p:spPr>
          <a:xfrm>
            <a:off x="365760" y="1280160"/>
            <a:ext cx="4617720" cy="457200"/>
          </a:xfrm>
          <a:prstGeom prst="rect">
            <a:avLst/>
          </a:prstGeom>
          <a:noFill/>
        </p:spPr>
        <p:txBody>
          <a:bodyPr wrap="square" lIns="0" rIns="0" tIns="0" bIns="0" anchor="t">
            <a:spAutoFit/>
          </a:bodyPr>
          <a:lstStyle/>
          <a:p>
            <a:pPr algn="l"/>
            <a:r>
              <a:rPr sz="2000" b="1" i="0" spc="-40">
                <a:solidFill>
                  <a:srgbClr val="FFFFFF"/>
                </a:solidFill>
                <a:latin typeface="Helvetica Neue"/>
              </a:rPr>
              <a:t>Category led hero</a:t>
            </a:r>
          </a:p>
        </p:txBody>
      </p:sp>
      <p:sp>
        <p:nvSpPr>
          <p:cNvPr id="11" name="TextBox 10"/>
          <p:cNvSpPr txBox="1"/>
          <p:nvPr/>
        </p:nvSpPr>
        <p:spPr>
          <a:xfrm>
            <a:off x="365760" y="1783080"/>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365760" y="2011680"/>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84832"/>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4" name="TextBox 13"/>
          <p:cNvSpPr txBox="1"/>
          <p:nvPr/>
        </p:nvSpPr>
        <p:spPr>
          <a:xfrm>
            <a:off x="566928" y="2084832"/>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Homepage hero is occupied by a one-day family event banner. New visitors get no signal this is a fitness equipment store.</a:t>
            </a:r>
          </a:p>
        </p:txBody>
      </p:sp>
      <p:sp>
        <p:nvSpPr>
          <p:cNvPr id="15" name="TextBox 14"/>
          <p:cNvSpPr txBox="1"/>
          <p:nvPr/>
        </p:nvSpPr>
        <p:spPr>
          <a:xfrm>
            <a:off x="365760" y="2468880"/>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566928" y="2468880"/>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Homepage as landing page converts at 2,26 % (6 / 265). Paid PDP landing pages convert at 0,18 to 0,31 %.</a:t>
            </a:r>
          </a:p>
        </p:txBody>
      </p:sp>
      <p:sp>
        <p:nvSpPr>
          <p:cNvPr id="17" name="TextBox 16"/>
          <p:cNvSpPr txBox="1"/>
          <p:nvPr/>
        </p:nvSpPr>
        <p:spPr>
          <a:xfrm>
            <a:off x="365760" y="2852928"/>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566928" y="2852928"/>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Brand promise and category nav never appear above the fold on mobile.</a:t>
            </a:r>
          </a:p>
        </p:txBody>
      </p:sp>
      <p:sp>
        <p:nvSpPr>
          <p:cNvPr id="19" name="TextBox 18"/>
          <p:cNvSpPr txBox="1"/>
          <p:nvPr/>
        </p:nvSpPr>
        <p:spPr>
          <a:xfrm>
            <a:off x="365760" y="3154680"/>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365760" y="3383280"/>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456432"/>
            <a:ext cx="4617720" cy="731520"/>
          </a:xfrm>
          <a:prstGeom prst="rect">
            <a:avLst/>
          </a:prstGeom>
          <a:noFill/>
        </p:spPr>
        <p:txBody>
          <a:bodyPr wrap="square" lIns="0" rIns="0" tIns="0" bIns="0" anchor="t">
            <a:spAutoFit/>
          </a:bodyPr>
          <a:lstStyle/>
          <a:p>
            <a:pPr algn="l"/>
            <a:r>
              <a:rPr sz="1000" b="0" i="0">
                <a:solidFill>
                  <a:srgbClr val="CCCCCC"/>
                </a:solidFill>
                <a:latin typeface="Helvetica Neue"/>
              </a:rPr>
              <a:t>Replacing the event hero with a category-led layout (lifestyle visual, brand promise, six category tiles, four trust USPs) lifts homepage to PDP CTR and downstream site CR for paid social and direct traffic.</a:t>
            </a:r>
          </a:p>
        </p:txBody>
      </p:sp>
      <p:sp>
        <p:nvSpPr>
          <p:cNvPr id="22" name="TextBox 21"/>
          <p:cNvSpPr txBox="1"/>
          <p:nvPr/>
        </p:nvSpPr>
        <p:spPr>
          <a:xfrm>
            <a:off x="365760" y="4169664"/>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365760" y="4398264"/>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471416"/>
            <a:ext cx="201168" cy="228600"/>
          </a:xfrm>
          <a:prstGeom prst="rect">
            <a:avLst/>
          </a:prstGeom>
          <a:noFill/>
        </p:spPr>
        <p:txBody>
          <a:bodyPr wrap="square" lIns="0" rIns="0" tIns="0" bIns="0" anchor="t">
            <a:spAutoFit/>
          </a:bodyPr>
          <a:lstStyle/>
          <a:p>
            <a:pPr algn="l"/>
            <a:r>
              <a:rPr sz="1000" b="1" i="0">
                <a:solidFill>
                  <a:srgbClr val="F7D007"/>
                </a:solidFill>
                <a:latin typeface="Menlo"/>
              </a:rPr>
              <a:t>1.</a:t>
            </a:r>
          </a:p>
        </p:txBody>
      </p:sp>
      <p:sp>
        <p:nvSpPr>
          <p:cNvPr id="25" name="TextBox 24"/>
          <p:cNvSpPr txBox="1"/>
          <p:nvPr/>
        </p:nvSpPr>
        <p:spPr>
          <a:xfrm>
            <a:off x="621792" y="4471416"/>
            <a:ext cx="4361688" cy="228600"/>
          </a:xfrm>
          <a:prstGeom prst="rect">
            <a:avLst/>
          </a:prstGeom>
          <a:noFill/>
        </p:spPr>
        <p:txBody>
          <a:bodyPr wrap="square" lIns="0" rIns="0" tIns="0" bIns="0" anchor="t">
            <a:spAutoFit/>
          </a:bodyPr>
          <a:lstStyle/>
          <a:p>
            <a:pPr algn="l"/>
            <a:r>
              <a:rPr sz="1000" b="1" i="0">
                <a:solidFill>
                  <a:srgbClr val="F7D007"/>
                </a:solidFill>
                <a:latin typeface="Helvetica Neue"/>
              </a:rPr>
              <a:t>Homepage to PDP CTR</a:t>
            </a:r>
          </a:p>
        </p:txBody>
      </p:sp>
      <p:sp>
        <p:nvSpPr>
          <p:cNvPr id="26" name="TextBox 25"/>
          <p:cNvSpPr txBox="1"/>
          <p:nvPr/>
        </p:nvSpPr>
        <p:spPr>
          <a:xfrm>
            <a:off x="365760" y="4709160"/>
            <a:ext cx="201168" cy="228600"/>
          </a:xfrm>
          <a:prstGeom prst="rect">
            <a:avLst/>
          </a:prstGeom>
          <a:noFill/>
        </p:spPr>
        <p:txBody>
          <a:bodyPr wrap="square" lIns="0" rIns="0" tIns="0" bIns="0" anchor="t">
            <a:spAutoFit/>
          </a:bodyPr>
          <a:lstStyle/>
          <a:p>
            <a:pPr algn="l"/>
            <a:r>
              <a:rPr sz="1000" b="1" i="0">
                <a:solidFill>
                  <a:srgbClr val="CCCCCC"/>
                </a:solidFill>
                <a:latin typeface="Menlo"/>
              </a:rPr>
              <a:t>2.</a:t>
            </a:r>
          </a:p>
        </p:txBody>
      </p:sp>
      <p:sp>
        <p:nvSpPr>
          <p:cNvPr id="27" name="TextBox 26"/>
          <p:cNvSpPr txBox="1"/>
          <p:nvPr/>
        </p:nvSpPr>
        <p:spPr>
          <a:xfrm>
            <a:off x="621792" y="4709160"/>
            <a:ext cx="4361688" cy="228600"/>
          </a:xfrm>
          <a:prstGeom prst="rect">
            <a:avLst/>
          </a:prstGeom>
          <a:noFill/>
        </p:spPr>
        <p:txBody>
          <a:bodyPr wrap="square" lIns="0" rIns="0" tIns="0" bIns="0" anchor="t">
            <a:spAutoFit/>
          </a:bodyPr>
          <a:lstStyle/>
          <a:p>
            <a:pPr algn="l"/>
            <a:r>
              <a:rPr sz="1000" b="0" i="0">
                <a:solidFill>
                  <a:srgbClr val="CCCCCC"/>
                </a:solidFill>
                <a:latin typeface="Helvetica Neue"/>
              </a:rPr>
              <a:t>Bounce rate</a:t>
            </a:r>
          </a:p>
        </p:txBody>
      </p:sp>
      <p:sp>
        <p:nvSpPr>
          <p:cNvPr id="28" name="TextBox 27"/>
          <p:cNvSpPr txBox="1"/>
          <p:nvPr/>
        </p:nvSpPr>
        <p:spPr>
          <a:xfrm>
            <a:off x="365760" y="4946904"/>
            <a:ext cx="201168" cy="228600"/>
          </a:xfrm>
          <a:prstGeom prst="rect">
            <a:avLst/>
          </a:prstGeom>
          <a:noFill/>
        </p:spPr>
        <p:txBody>
          <a:bodyPr wrap="square" lIns="0" rIns="0" tIns="0" bIns="0" anchor="t">
            <a:spAutoFit/>
          </a:bodyPr>
          <a:lstStyle/>
          <a:p>
            <a:pPr algn="l"/>
            <a:r>
              <a:rPr sz="1000" b="1" i="0">
                <a:solidFill>
                  <a:srgbClr val="CCCCCC"/>
                </a:solidFill>
                <a:latin typeface="Menlo"/>
              </a:rPr>
              <a:t>3.</a:t>
            </a:r>
          </a:p>
        </p:txBody>
      </p:sp>
      <p:sp>
        <p:nvSpPr>
          <p:cNvPr id="29" name="TextBox 28"/>
          <p:cNvSpPr txBox="1"/>
          <p:nvPr/>
        </p:nvSpPr>
        <p:spPr>
          <a:xfrm>
            <a:off x="621792" y="4946904"/>
            <a:ext cx="4361688" cy="228600"/>
          </a:xfrm>
          <a:prstGeom prst="rect">
            <a:avLst/>
          </a:prstGeom>
          <a:noFill/>
        </p:spPr>
        <p:txBody>
          <a:bodyPr wrap="square" lIns="0" rIns="0" tIns="0" bIns="0" anchor="t">
            <a:spAutoFit/>
          </a:bodyPr>
          <a:lstStyle/>
          <a:p>
            <a:pPr algn="l"/>
            <a:r>
              <a:rPr sz="1000" b="0" i="0">
                <a:solidFill>
                  <a:srgbClr val="CCCCCC"/>
                </a:solidFill>
                <a:latin typeface="Helvetica Neue"/>
              </a:rPr>
              <a:t>Site CR</a:t>
            </a:r>
          </a:p>
        </p:txBody>
      </p:sp>
      <p:sp>
        <p:nvSpPr>
          <p:cNvPr id="30" name="Rounded Rectangle 29"/>
          <p:cNvSpPr/>
          <p:nvPr/>
        </p:nvSpPr>
        <p:spPr>
          <a:xfrm>
            <a:off x="365760" y="5897880"/>
            <a:ext cx="4617720" cy="59436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DURATION</a:t>
            </a:r>
          </a:p>
        </p:txBody>
      </p:sp>
      <p:sp>
        <p:nvSpPr>
          <p:cNvPr id="32" name="TextBox 31"/>
          <p:cNvSpPr txBox="1"/>
          <p:nvPr/>
        </p:nvSpPr>
        <p:spPr>
          <a:xfrm>
            <a:off x="45720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4 weeks</a:t>
            </a:r>
          </a:p>
        </p:txBody>
      </p:sp>
      <p:sp>
        <p:nvSpPr>
          <p:cNvPr id="33" name="TextBox 32"/>
          <p:cNvSpPr txBox="1"/>
          <p:nvPr/>
        </p:nvSpPr>
        <p:spPr>
          <a:xfrm>
            <a:off x="161163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AUDIENCE</a:t>
            </a:r>
          </a:p>
        </p:txBody>
      </p:sp>
      <p:sp>
        <p:nvSpPr>
          <p:cNvPr id="34" name="TextBox 33"/>
          <p:cNvSpPr txBox="1"/>
          <p:nvPr/>
        </p:nvSpPr>
        <p:spPr>
          <a:xfrm>
            <a:off x="161163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All visitors</a:t>
            </a:r>
          </a:p>
        </p:txBody>
      </p:sp>
      <p:sp>
        <p:nvSpPr>
          <p:cNvPr id="35" name="TextBox 34"/>
          <p:cNvSpPr txBox="1"/>
          <p:nvPr/>
        </p:nvSpPr>
        <p:spPr>
          <a:xfrm>
            <a:off x="276606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MULTIPLIER</a:t>
            </a:r>
          </a:p>
        </p:txBody>
      </p:sp>
      <p:sp>
        <p:nvSpPr>
          <p:cNvPr id="36" name="TextBox 35"/>
          <p:cNvSpPr txBox="1"/>
          <p:nvPr/>
        </p:nvSpPr>
        <p:spPr>
          <a:xfrm>
            <a:off x="276606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25 %</a:t>
            </a:r>
          </a:p>
        </p:txBody>
      </p:sp>
      <p:sp>
        <p:nvSpPr>
          <p:cNvPr id="37" name="TextBox 36"/>
          <p:cNvSpPr txBox="1"/>
          <p:nvPr/>
        </p:nvSpPr>
        <p:spPr>
          <a:xfrm>
            <a:off x="392049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URL</a:t>
            </a:r>
          </a:p>
        </p:txBody>
      </p:sp>
      <p:sp>
        <p:nvSpPr>
          <p:cNvPr id="38" name="TextBox 37"/>
          <p:cNvSpPr txBox="1"/>
          <p:nvPr/>
        </p:nvSpPr>
        <p:spPr>
          <a:xfrm>
            <a:off x="392049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 (homepage)</a:t>
            </a:r>
          </a:p>
        </p:txBody>
      </p:sp>
      <p:sp>
        <p:nvSpPr>
          <p:cNvPr id="39" name="Rectangle 38"/>
          <p:cNvSpPr/>
          <p:nvPr/>
        </p:nvSpPr>
        <p:spPr>
          <a:xfrm>
            <a:off x="5349240" y="0"/>
            <a:ext cx="684245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777240"/>
            <a:ext cx="5928055" cy="457200"/>
          </a:xfrm>
          <a:prstGeom prst="rect">
            <a:avLst/>
          </a:prstGeom>
          <a:noFill/>
        </p:spPr>
        <p:txBody>
          <a:bodyPr wrap="square" lIns="0" rIns="0" tIns="0" bIns="0" anchor="t">
            <a:spAutoFit/>
          </a:bodyPr>
          <a:lstStyle/>
          <a:p>
            <a:pPr algn="l"/>
            <a:r>
              <a:rPr sz="1800" b="1" i="0" spc="-30">
                <a:solidFill>
                  <a:srgbClr val="111111"/>
                </a:solidFill>
                <a:latin typeface="Helvetica Neue"/>
              </a:rPr>
              <a:t>Category led hero</a:t>
            </a:r>
          </a:p>
        </p:txBody>
      </p:sp>
      <p:sp>
        <p:nvSpPr>
          <p:cNvPr id="41" name="Rounded Rectangle 40"/>
          <p:cNvSpPr/>
          <p:nvPr/>
        </p:nvSpPr>
        <p:spPr>
          <a:xfrm>
            <a:off x="5806440" y="1325880"/>
            <a:ext cx="5928055" cy="365760"/>
          </a:xfrm>
          <a:prstGeom prst="roundRect">
            <a:avLst>
              <a:gd name="adj" fmla="val 15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0" y="1325880"/>
            <a:ext cx="640080" cy="365760"/>
          </a:xfrm>
          <a:prstGeom prst="rect">
            <a:avLst/>
          </a:prstGeom>
          <a:noFill/>
        </p:spPr>
        <p:txBody>
          <a:bodyPr wrap="square" lIns="0" rIns="0" tIns="0" bIns="0" anchor="ctr">
            <a:spAutoFit/>
          </a:bodyPr>
          <a:lstStyle/>
          <a:p>
            <a:pPr algn="l"/>
            <a:r>
              <a:rPr sz="1000" b="1" i="0">
                <a:solidFill>
                  <a:srgbClr val="111111"/>
                </a:solidFill>
                <a:latin typeface="Helvetica Neue"/>
              </a:rPr>
              <a:t>Tool:</a:t>
            </a:r>
          </a:p>
        </p:txBody>
      </p:sp>
      <p:sp>
        <p:nvSpPr>
          <p:cNvPr id="43" name="TextBox 42"/>
          <p:cNvSpPr txBox="1"/>
          <p:nvPr/>
        </p:nvSpPr>
        <p:spPr>
          <a:xfrm>
            <a:off x="6537960" y="1325880"/>
            <a:ext cx="1097280" cy="365760"/>
          </a:xfrm>
          <a:prstGeom prst="rect">
            <a:avLst/>
          </a:prstGeom>
          <a:noFill/>
        </p:spPr>
        <p:txBody>
          <a:bodyPr wrap="square" lIns="0" rIns="0" tIns="0" bIns="0" anchor="ctr">
            <a:spAutoFit/>
          </a:bodyPr>
          <a:lstStyle/>
          <a:p>
            <a:pPr algn="l"/>
            <a:r>
              <a:rPr sz="1000" b="0" i="0">
                <a:solidFill>
                  <a:srgbClr val="111111"/>
                </a:solidFill>
                <a:latin typeface="Menlo"/>
              </a:rPr>
              <a:t>IntelliGEMS</a:t>
            </a:r>
          </a:p>
        </p:txBody>
      </p:sp>
      <p:sp>
        <p:nvSpPr>
          <p:cNvPr id="44" name="TextBox 43"/>
          <p:cNvSpPr txBox="1"/>
          <p:nvPr/>
        </p:nvSpPr>
        <p:spPr>
          <a:xfrm>
            <a:off x="7726680" y="1325880"/>
            <a:ext cx="640080" cy="365760"/>
          </a:xfrm>
          <a:prstGeom prst="rect">
            <a:avLst/>
          </a:prstGeom>
          <a:noFill/>
        </p:spPr>
        <p:txBody>
          <a:bodyPr wrap="square" lIns="0" rIns="0" tIns="0" bIns="0" anchor="ctr">
            <a:spAutoFit/>
          </a:bodyPr>
          <a:lstStyle/>
          <a:p>
            <a:pPr algn="l"/>
            <a:r>
              <a:rPr sz="1000" b="1" i="0">
                <a:solidFill>
                  <a:srgbClr val="111111"/>
                </a:solidFill>
                <a:latin typeface="Helvetica Neue"/>
              </a:rPr>
              <a:t>Phase:</a:t>
            </a:r>
          </a:p>
        </p:txBody>
      </p:sp>
      <p:sp>
        <p:nvSpPr>
          <p:cNvPr id="45" name="TextBox 44"/>
          <p:cNvSpPr txBox="1"/>
          <p:nvPr/>
        </p:nvSpPr>
        <p:spPr>
          <a:xfrm>
            <a:off x="8321040" y="1325880"/>
            <a:ext cx="1097280" cy="365760"/>
          </a:xfrm>
          <a:prstGeom prst="rect">
            <a:avLst/>
          </a:prstGeom>
          <a:noFill/>
        </p:spPr>
        <p:txBody>
          <a:bodyPr wrap="square" lIns="0" rIns="0" tIns="0" bIns="0" anchor="ctr">
            <a:spAutoFit/>
          </a:bodyPr>
          <a:lstStyle/>
          <a:p>
            <a:pPr algn="l"/>
            <a:r>
              <a:rPr sz="1000" b="0" i="0">
                <a:solidFill>
                  <a:srgbClr val="111111"/>
                </a:solidFill>
                <a:latin typeface="Menlo"/>
              </a:rPr>
              <a:t>2 · W1-2</a:t>
            </a:r>
          </a:p>
        </p:txBody>
      </p:sp>
      <p:sp>
        <p:nvSpPr>
          <p:cNvPr id="46" name="Rounded Rectangle 45"/>
          <p:cNvSpPr/>
          <p:nvPr/>
        </p:nvSpPr>
        <p:spPr>
          <a:xfrm>
            <a:off x="10865815" y="1389888"/>
            <a:ext cx="777240" cy="237744"/>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65815" y="1389888"/>
            <a:ext cx="777240" cy="237744"/>
          </a:xfrm>
          <a:prstGeom prst="rect">
            <a:avLst/>
          </a:prstGeom>
          <a:noFill/>
        </p:spPr>
        <p:txBody>
          <a:bodyPr wrap="square" lIns="0" rIns="0" tIns="0" bIns="0" anchor="ctr">
            <a:spAutoFit/>
          </a:bodyPr>
          <a:lstStyle/>
          <a:p>
            <a:pPr algn="ctr"/>
            <a:r>
              <a:rPr sz="800" b="1" i="0" spc="100">
                <a:solidFill>
                  <a:srgbClr val="000000"/>
                </a:solidFill>
                <a:latin typeface="Helvetica Neue"/>
              </a:rPr>
              <a:t>A/B TEST</a:t>
            </a:r>
          </a:p>
        </p:txBody>
      </p:sp>
      <p:sp>
        <p:nvSpPr>
          <p:cNvPr id="48" name="Rounded Rectangle 47"/>
          <p:cNvSpPr/>
          <p:nvPr/>
        </p:nvSpPr>
        <p:spPr>
          <a:xfrm>
            <a:off x="5806440" y="2194560"/>
            <a:ext cx="2781147" cy="3200400"/>
          </a:xfrm>
          <a:prstGeom prst="roundRect">
            <a:avLst>
              <a:gd name="adj" fmla="val 4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01-home-desktop-fold.png"/>
          <p:cNvPicPr>
            <a:picLocks noChangeAspect="1"/>
          </p:cNvPicPr>
          <p:nvPr/>
        </p:nvPicPr>
        <p:blipFill>
          <a:blip r:embed="rId3"/>
          <a:stretch>
            <a:fillRect/>
          </a:stretch>
        </p:blipFill>
        <p:spPr>
          <a:xfrm>
            <a:off x="5806440" y="2925651"/>
            <a:ext cx="2781147" cy="1738217"/>
          </a:xfrm>
          <a:prstGeom prst="rect">
            <a:avLst/>
          </a:prstGeom>
        </p:spPr>
      </p:pic>
      <p:sp>
        <p:nvSpPr>
          <p:cNvPr id="50" name="TextBox 49"/>
          <p:cNvSpPr txBox="1"/>
          <p:nvPr/>
        </p:nvSpPr>
        <p:spPr>
          <a:xfrm>
            <a:off x="5806440" y="5468112"/>
            <a:ext cx="2781147" cy="274320"/>
          </a:xfrm>
          <a:prstGeom prst="rect">
            <a:avLst/>
          </a:prstGeom>
          <a:noFill/>
        </p:spPr>
        <p:txBody>
          <a:bodyPr wrap="square" lIns="0" rIns="0" tIns="0" bIns="0" anchor="t">
            <a:spAutoFit/>
          </a:bodyPr>
          <a:lstStyle/>
          <a:p>
            <a:pPr algn="ctr"/>
            <a:r>
              <a:rPr sz="1000" b="1" i="0" spc="200">
                <a:solidFill>
                  <a:srgbClr val="111111"/>
                </a:solidFill>
                <a:latin typeface="Helvetica Neue"/>
              </a:rPr>
              <a:t>CONTROL</a:t>
            </a:r>
          </a:p>
        </p:txBody>
      </p:sp>
      <p:sp>
        <p:nvSpPr>
          <p:cNvPr id="51" name="Rounded Rectangle 50"/>
          <p:cNvSpPr/>
          <p:nvPr/>
        </p:nvSpPr>
        <p:spPr>
          <a:xfrm>
            <a:off x="8953347" y="2194560"/>
            <a:ext cx="2781147" cy="3200400"/>
          </a:xfrm>
          <a:prstGeom prst="roundRect">
            <a:avLst>
              <a:gd name="adj" fmla="val 4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esign-hero.png"/>
          <p:cNvPicPr>
            <a:picLocks noChangeAspect="1"/>
          </p:cNvPicPr>
          <p:nvPr/>
        </p:nvPicPr>
        <p:blipFill>
          <a:blip r:embed="rId4"/>
          <a:stretch>
            <a:fillRect/>
          </a:stretch>
        </p:blipFill>
        <p:spPr>
          <a:xfrm>
            <a:off x="8953347" y="2899315"/>
            <a:ext cx="2781147" cy="1790890"/>
          </a:xfrm>
          <a:prstGeom prst="rect">
            <a:avLst/>
          </a:prstGeom>
        </p:spPr>
      </p:pic>
      <p:sp>
        <p:nvSpPr>
          <p:cNvPr id="53" name="Rounded Rectangle 52"/>
          <p:cNvSpPr/>
          <p:nvPr/>
        </p:nvSpPr>
        <p:spPr>
          <a:xfrm>
            <a:off x="9886720" y="5440680"/>
            <a:ext cx="914400" cy="274320"/>
          </a:xfrm>
          <a:prstGeom prst="roundRect">
            <a:avLst>
              <a:gd name="adj" fmla="val 50000"/>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86720" y="5440680"/>
            <a:ext cx="914400" cy="274320"/>
          </a:xfrm>
          <a:prstGeom prst="rect">
            <a:avLst/>
          </a:prstGeom>
          <a:noFill/>
        </p:spPr>
        <p:txBody>
          <a:bodyPr wrap="square" lIns="0" rIns="0" tIns="0" bIns="0" anchor="ctr">
            <a:spAutoFit/>
          </a:bodyPr>
          <a:lstStyle/>
          <a:p>
            <a:pPr algn="ctr"/>
            <a:r>
              <a:rPr sz="1000" b="1" i="0" spc="200">
                <a:solidFill>
                  <a:srgbClr val="F7D007"/>
                </a:solidFill>
                <a:latin typeface="Helvetica Neue"/>
              </a:rPr>
              <a:t>VARIANT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27</a:t>
            </a:r>
          </a:p>
        </p:txBody>
      </p:sp>
      <p:sp>
        <p:nvSpPr>
          <p:cNvPr id="7" name="Rectangle 6"/>
          <p:cNvSpPr/>
          <p:nvPr/>
        </p:nvSpPr>
        <p:spPr>
          <a:xfrm>
            <a:off x="0" y="0"/>
            <a:ext cx="534924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777240"/>
            <a:ext cx="1920240" cy="292608"/>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777240"/>
            <a:ext cx="1920240" cy="292608"/>
          </a:xfrm>
          <a:prstGeom prst="rect">
            <a:avLst/>
          </a:prstGeom>
          <a:noFill/>
        </p:spPr>
        <p:txBody>
          <a:bodyPr wrap="square" lIns="0" rIns="0" tIns="0" bIns="0" anchor="ctr">
            <a:spAutoFit/>
          </a:bodyPr>
          <a:lstStyle/>
          <a:p>
            <a:pPr algn="ctr"/>
            <a:r>
              <a:rPr sz="1000" b="1" i="0" spc="130">
                <a:solidFill>
                  <a:srgbClr val="000000"/>
                </a:solidFill>
                <a:latin typeface="Helvetica Neue"/>
              </a:rPr>
              <a:t>SG-02 · PDP</a:t>
            </a:r>
          </a:p>
        </p:txBody>
      </p:sp>
      <p:sp>
        <p:nvSpPr>
          <p:cNvPr id="10" name="TextBox 9"/>
          <p:cNvSpPr txBox="1"/>
          <p:nvPr/>
        </p:nvSpPr>
        <p:spPr>
          <a:xfrm>
            <a:off x="365760" y="1280160"/>
            <a:ext cx="4617720" cy="457200"/>
          </a:xfrm>
          <a:prstGeom prst="rect">
            <a:avLst/>
          </a:prstGeom>
          <a:noFill/>
        </p:spPr>
        <p:txBody>
          <a:bodyPr wrap="square" lIns="0" rIns="0" tIns="0" bIns="0" anchor="t">
            <a:spAutoFit/>
          </a:bodyPr>
          <a:lstStyle/>
          <a:p>
            <a:pPr algn="l"/>
            <a:r>
              <a:rPr sz="2000" b="1" i="0" spc="-40">
                <a:solidFill>
                  <a:srgbClr val="FFFFFF"/>
                </a:solidFill>
                <a:latin typeface="Helvetica Neue"/>
              </a:rPr>
              <a:t>PDP buy box rebuild</a:t>
            </a:r>
          </a:p>
        </p:txBody>
      </p:sp>
      <p:sp>
        <p:nvSpPr>
          <p:cNvPr id="11" name="TextBox 10"/>
          <p:cNvSpPr txBox="1"/>
          <p:nvPr/>
        </p:nvSpPr>
        <p:spPr>
          <a:xfrm>
            <a:off x="365760" y="1783080"/>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365760" y="2011680"/>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84832"/>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4" name="TextBox 13"/>
          <p:cNvSpPr txBox="1"/>
          <p:nvPr/>
        </p:nvSpPr>
        <p:spPr>
          <a:xfrm>
            <a:off x="566928" y="2084832"/>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95 % of PDP viewers never add to cart. 2.535 missed ATCs over 90 days. Mobile drops 96,2 %, desktop 86,1 %.</a:t>
            </a:r>
          </a:p>
        </p:txBody>
      </p:sp>
      <p:sp>
        <p:nvSpPr>
          <p:cNvPr id="15" name="TextBox 14"/>
          <p:cNvSpPr txBox="1"/>
          <p:nvPr/>
        </p:nvSpPr>
        <p:spPr>
          <a:xfrm>
            <a:off x="365760" y="2468880"/>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566928" y="2468880"/>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TR600i PDP at 13.900 kr shows no financing, no save badge, no spec chips, no trust badges, no demo video.</a:t>
            </a:r>
          </a:p>
        </p:txBody>
      </p:sp>
      <p:sp>
        <p:nvSpPr>
          <p:cNvPr id="17" name="TextBox 16"/>
          <p:cNvSpPr txBox="1"/>
          <p:nvPr/>
        </p:nvSpPr>
        <p:spPr>
          <a:xfrm>
            <a:off x="365760" y="2852928"/>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566928" y="2852928"/>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Cross sell module surfaces 4 competing treadmills instead of accessories.</a:t>
            </a:r>
          </a:p>
        </p:txBody>
      </p:sp>
      <p:sp>
        <p:nvSpPr>
          <p:cNvPr id="19" name="TextBox 18"/>
          <p:cNvSpPr txBox="1"/>
          <p:nvPr/>
        </p:nvSpPr>
        <p:spPr>
          <a:xfrm>
            <a:off x="365760" y="3282696"/>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365760" y="3511296"/>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584448"/>
            <a:ext cx="4617720" cy="731520"/>
          </a:xfrm>
          <a:prstGeom prst="rect">
            <a:avLst/>
          </a:prstGeom>
          <a:noFill/>
        </p:spPr>
        <p:txBody>
          <a:bodyPr wrap="square" lIns="0" rIns="0" tIns="0" bIns="0" anchor="t">
            <a:spAutoFit/>
          </a:bodyPr>
          <a:lstStyle/>
          <a:p>
            <a:pPr algn="l"/>
            <a:r>
              <a:rPr sz="1000" b="0" i="0">
                <a:solidFill>
                  <a:srgbClr val="CCCCCC"/>
                </a:solidFill>
                <a:latin typeface="Helvetica Neue"/>
              </a:rPr>
              <a:t>Rebuilding the PDP fold with spec chips, a save badge, a financing line, four trust badges, and a sticky add-to-cart on mobile lifts PDP add-to-cart rate without changing price or product range.</a:t>
            </a:r>
          </a:p>
        </p:txBody>
      </p:sp>
      <p:sp>
        <p:nvSpPr>
          <p:cNvPr id="22" name="TextBox 21"/>
          <p:cNvSpPr txBox="1"/>
          <p:nvPr/>
        </p:nvSpPr>
        <p:spPr>
          <a:xfrm>
            <a:off x="365760" y="4297680"/>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365760" y="4526280"/>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599432"/>
            <a:ext cx="201168" cy="228600"/>
          </a:xfrm>
          <a:prstGeom prst="rect">
            <a:avLst/>
          </a:prstGeom>
          <a:noFill/>
        </p:spPr>
        <p:txBody>
          <a:bodyPr wrap="square" lIns="0" rIns="0" tIns="0" bIns="0" anchor="t">
            <a:spAutoFit/>
          </a:bodyPr>
          <a:lstStyle/>
          <a:p>
            <a:pPr algn="l"/>
            <a:r>
              <a:rPr sz="1000" b="1" i="0">
                <a:solidFill>
                  <a:srgbClr val="F7D007"/>
                </a:solidFill>
                <a:latin typeface="Menlo"/>
              </a:rPr>
              <a:t>1.</a:t>
            </a:r>
          </a:p>
        </p:txBody>
      </p:sp>
      <p:sp>
        <p:nvSpPr>
          <p:cNvPr id="25" name="TextBox 24"/>
          <p:cNvSpPr txBox="1"/>
          <p:nvPr/>
        </p:nvSpPr>
        <p:spPr>
          <a:xfrm>
            <a:off x="621792" y="4599432"/>
            <a:ext cx="4361688" cy="228600"/>
          </a:xfrm>
          <a:prstGeom prst="rect">
            <a:avLst/>
          </a:prstGeom>
          <a:noFill/>
        </p:spPr>
        <p:txBody>
          <a:bodyPr wrap="square" lIns="0" rIns="0" tIns="0" bIns="0" anchor="t">
            <a:spAutoFit/>
          </a:bodyPr>
          <a:lstStyle/>
          <a:p>
            <a:pPr algn="l"/>
            <a:r>
              <a:rPr sz="1000" b="1" i="0">
                <a:solidFill>
                  <a:srgbClr val="F7D007"/>
                </a:solidFill>
                <a:latin typeface="Helvetica Neue"/>
              </a:rPr>
              <a:t>PDP to add-to-cart rate</a:t>
            </a:r>
          </a:p>
        </p:txBody>
      </p:sp>
      <p:sp>
        <p:nvSpPr>
          <p:cNvPr id="26" name="TextBox 25"/>
          <p:cNvSpPr txBox="1"/>
          <p:nvPr/>
        </p:nvSpPr>
        <p:spPr>
          <a:xfrm>
            <a:off x="365760" y="4837176"/>
            <a:ext cx="201168" cy="228600"/>
          </a:xfrm>
          <a:prstGeom prst="rect">
            <a:avLst/>
          </a:prstGeom>
          <a:noFill/>
        </p:spPr>
        <p:txBody>
          <a:bodyPr wrap="square" lIns="0" rIns="0" tIns="0" bIns="0" anchor="t">
            <a:spAutoFit/>
          </a:bodyPr>
          <a:lstStyle/>
          <a:p>
            <a:pPr algn="l"/>
            <a:r>
              <a:rPr sz="1000" b="1" i="0">
                <a:solidFill>
                  <a:srgbClr val="CCCCCC"/>
                </a:solidFill>
                <a:latin typeface="Menlo"/>
              </a:rPr>
              <a:t>2.</a:t>
            </a:r>
          </a:p>
        </p:txBody>
      </p:sp>
      <p:sp>
        <p:nvSpPr>
          <p:cNvPr id="27" name="TextBox 26"/>
          <p:cNvSpPr txBox="1"/>
          <p:nvPr/>
        </p:nvSpPr>
        <p:spPr>
          <a:xfrm>
            <a:off x="621792" y="4837176"/>
            <a:ext cx="4361688" cy="228600"/>
          </a:xfrm>
          <a:prstGeom prst="rect">
            <a:avLst/>
          </a:prstGeom>
          <a:noFill/>
        </p:spPr>
        <p:txBody>
          <a:bodyPr wrap="square" lIns="0" rIns="0" tIns="0" bIns="0" anchor="t">
            <a:spAutoFit/>
          </a:bodyPr>
          <a:lstStyle/>
          <a:p>
            <a:pPr algn="l"/>
            <a:r>
              <a:rPr sz="1000" b="0" i="0">
                <a:solidFill>
                  <a:srgbClr val="CCCCCC"/>
                </a:solidFill>
                <a:latin typeface="Helvetica Neue"/>
              </a:rPr>
              <a:t>Revenue per visitor</a:t>
            </a:r>
          </a:p>
        </p:txBody>
      </p:sp>
      <p:sp>
        <p:nvSpPr>
          <p:cNvPr id="28" name="TextBox 27"/>
          <p:cNvSpPr txBox="1"/>
          <p:nvPr/>
        </p:nvSpPr>
        <p:spPr>
          <a:xfrm>
            <a:off x="365760" y="5074920"/>
            <a:ext cx="201168" cy="228600"/>
          </a:xfrm>
          <a:prstGeom prst="rect">
            <a:avLst/>
          </a:prstGeom>
          <a:noFill/>
        </p:spPr>
        <p:txBody>
          <a:bodyPr wrap="square" lIns="0" rIns="0" tIns="0" bIns="0" anchor="t">
            <a:spAutoFit/>
          </a:bodyPr>
          <a:lstStyle/>
          <a:p>
            <a:pPr algn="l"/>
            <a:r>
              <a:rPr sz="1000" b="1" i="0">
                <a:solidFill>
                  <a:srgbClr val="CCCCCC"/>
                </a:solidFill>
                <a:latin typeface="Menlo"/>
              </a:rPr>
              <a:t>3.</a:t>
            </a:r>
          </a:p>
        </p:txBody>
      </p:sp>
      <p:sp>
        <p:nvSpPr>
          <p:cNvPr id="29" name="TextBox 28"/>
          <p:cNvSpPr txBox="1"/>
          <p:nvPr/>
        </p:nvSpPr>
        <p:spPr>
          <a:xfrm>
            <a:off x="621792" y="5074920"/>
            <a:ext cx="4361688" cy="228600"/>
          </a:xfrm>
          <a:prstGeom prst="rect">
            <a:avLst/>
          </a:prstGeom>
          <a:noFill/>
        </p:spPr>
        <p:txBody>
          <a:bodyPr wrap="square" lIns="0" rIns="0" tIns="0" bIns="0" anchor="t">
            <a:spAutoFit/>
          </a:bodyPr>
          <a:lstStyle/>
          <a:p>
            <a:pPr algn="l"/>
            <a:r>
              <a:rPr sz="1000" b="0" i="0">
                <a:solidFill>
                  <a:srgbClr val="CCCCCC"/>
                </a:solidFill>
                <a:latin typeface="Helvetica Neue"/>
              </a:rPr>
              <a:t>Average order value</a:t>
            </a:r>
          </a:p>
        </p:txBody>
      </p:sp>
      <p:sp>
        <p:nvSpPr>
          <p:cNvPr id="30" name="Rounded Rectangle 29"/>
          <p:cNvSpPr/>
          <p:nvPr/>
        </p:nvSpPr>
        <p:spPr>
          <a:xfrm>
            <a:off x="365760" y="5897880"/>
            <a:ext cx="4617720" cy="59436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DURATION</a:t>
            </a:r>
          </a:p>
        </p:txBody>
      </p:sp>
      <p:sp>
        <p:nvSpPr>
          <p:cNvPr id="32" name="TextBox 31"/>
          <p:cNvSpPr txBox="1"/>
          <p:nvPr/>
        </p:nvSpPr>
        <p:spPr>
          <a:xfrm>
            <a:off x="45720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4-6 weeks</a:t>
            </a:r>
          </a:p>
        </p:txBody>
      </p:sp>
      <p:sp>
        <p:nvSpPr>
          <p:cNvPr id="33" name="TextBox 32"/>
          <p:cNvSpPr txBox="1"/>
          <p:nvPr/>
        </p:nvSpPr>
        <p:spPr>
          <a:xfrm>
            <a:off x="161163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AUDIENCE</a:t>
            </a:r>
          </a:p>
        </p:txBody>
      </p:sp>
      <p:sp>
        <p:nvSpPr>
          <p:cNvPr id="34" name="TextBox 33"/>
          <p:cNvSpPr txBox="1"/>
          <p:nvPr/>
        </p:nvSpPr>
        <p:spPr>
          <a:xfrm>
            <a:off x="161163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PDP visitors</a:t>
            </a:r>
          </a:p>
        </p:txBody>
      </p:sp>
      <p:sp>
        <p:nvSpPr>
          <p:cNvPr id="35" name="TextBox 34"/>
          <p:cNvSpPr txBox="1"/>
          <p:nvPr/>
        </p:nvSpPr>
        <p:spPr>
          <a:xfrm>
            <a:off x="276606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MULTIPLIER</a:t>
            </a:r>
          </a:p>
        </p:txBody>
      </p:sp>
      <p:sp>
        <p:nvSpPr>
          <p:cNvPr id="36" name="TextBox 35"/>
          <p:cNvSpPr txBox="1"/>
          <p:nvPr/>
        </p:nvSpPr>
        <p:spPr>
          <a:xfrm>
            <a:off x="276606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75 %</a:t>
            </a:r>
          </a:p>
        </p:txBody>
      </p:sp>
      <p:sp>
        <p:nvSpPr>
          <p:cNvPr id="37" name="TextBox 36"/>
          <p:cNvSpPr txBox="1"/>
          <p:nvPr/>
        </p:nvSpPr>
        <p:spPr>
          <a:xfrm>
            <a:off x="392049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URL</a:t>
            </a:r>
          </a:p>
        </p:txBody>
      </p:sp>
      <p:sp>
        <p:nvSpPr>
          <p:cNvPr id="38" name="TextBox 37"/>
          <p:cNvSpPr txBox="1"/>
          <p:nvPr/>
        </p:nvSpPr>
        <p:spPr>
          <a:xfrm>
            <a:off x="392049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/products/*</a:t>
            </a:r>
          </a:p>
        </p:txBody>
      </p:sp>
      <p:sp>
        <p:nvSpPr>
          <p:cNvPr id="39" name="Rectangle 38"/>
          <p:cNvSpPr/>
          <p:nvPr/>
        </p:nvSpPr>
        <p:spPr>
          <a:xfrm>
            <a:off x="5349240" y="0"/>
            <a:ext cx="684245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777240"/>
            <a:ext cx="5928055" cy="457200"/>
          </a:xfrm>
          <a:prstGeom prst="rect">
            <a:avLst/>
          </a:prstGeom>
          <a:noFill/>
        </p:spPr>
        <p:txBody>
          <a:bodyPr wrap="square" lIns="0" rIns="0" tIns="0" bIns="0" anchor="t">
            <a:spAutoFit/>
          </a:bodyPr>
          <a:lstStyle/>
          <a:p>
            <a:pPr algn="l"/>
            <a:r>
              <a:rPr sz="1800" b="1" i="0" spc="-30">
                <a:solidFill>
                  <a:srgbClr val="111111"/>
                </a:solidFill>
                <a:latin typeface="Helvetica Neue"/>
              </a:rPr>
              <a:t>PDP buy box rebuild</a:t>
            </a:r>
          </a:p>
        </p:txBody>
      </p:sp>
      <p:sp>
        <p:nvSpPr>
          <p:cNvPr id="41" name="Rounded Rectangle 40"/>
          <p:cNvSpPr/>
          <p:nvPr/>
        </p:nvSpPr>
        <p:spPr>
          <a:xfrm>
            <a:off x="5806440" y="1325880"/>
            <a:ext cx="5928055" cy="365760"/>
          </a:xfrm>
          <a:prstGeom prst="roundRect">
            <a:avLst>
              <a:gd name="adj" fmla="val 15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0" y="1325880"/>
            <a:ext cx="640080" cy="365760"/>
          </a:xfrm>
          <a:prstGeom prst="rect">
            <a:avLst/>
          </a:prstGeom>
          <a:noFill/>
        </p:spPr>
        <p:txBody>
          <a:bodyPr wrap="square" lIns="0" rIns="0" tIns="0" bIns="0" anchor="ctr">
            <a:spAutoFit/>
          </a:bodyPr>
          <a:lstStyle/>
          <a:p>
            <a:pPr algn="l"/>
            <a:r>
              <a:rPr sz="1000" b="1" i="0">
                <a:solidFill>
                  <a:srgbClr val="111111"/>
                </a:solidFill>
                <a:latin typeface="Helvetica Neue"/>
              </a:rPr>
              <a:t>Tool:</a:t>
            </a:r>
          </a:p>
        </p:txBody>
      </p:sp>
      <p:sp>
        <p:nvSpPr>
          <p:cNvPr id="43" name="TextBox 42"/>
          <p:cNvSpPr txBox="1"/>
          <p:nvPr/>
        </p:nvSpPr>
        <p:spPr>
          <a:xfrm>
            <a:off x="6537960" y="1325880"/>
            <a:ext cx="1097280" cy="365760"/>
          </a:xfrm>
          <a:prstGeom prst="rect">
            <a:avLst/>
          </a:prstGeom>
          <a:noFill/>
        </p:spPr>
        <p:txBody>
          <a:bodyPr wrap="square" lIns="0" rIns="0" tIns="0" bIns="0" anchor="ctr">
            <a:spAutoFit/>
          </a:bodyPr>
          <a:lstStyle/>
          <a:p>
            <a:pPr algn="l"/>
            <a:r>
              <a:rPr sz="1000" b="0" i="0">
                <a:solidFill>
                  <a:srgbClr val="111111"/>
                </a:solidFill>
                <a:latin typeface="Menlo"/>
              </a:rPr>
              <a:t>IntelliGEMS</a:t>
            </a:r>
          </a:p>
        </p:txBody>
      </p:sp>
      <p:sp>
        <p:nvSpPr>
          <p:cNvPr id="44" name="TextBox 43"/>
          <p:cNvSpPr txBox="1"/>
          <p:nvPr/>
        </p:nvSpPr>
        <p:spPr>
          <a:xfrm>
            <a:off x="7726680" y="1325880"/>
            <a:ext cx="640080" cy="365760"/>
          </a:xfrm>
          <a:prstGeom prst="rect">
            <a:avLst/>
          </a:prstGeom>
          <a:noFill/>
        </p:spPr>
        <p:txBody>
          <a:bodyPr wrap="square" lIns="0" rIns="0" tIns="0" bIns="0" anchor="ctr">
            <a:spAutoFit/>
          </a:bodyPr>
          <a:lstStyle/>
          <a:p>
            <a:pPr algn="l"/>
            <a:r>
              <a:rPr sz="1000" b="1" i="0">
                <a:solidFill>
                  <a:srgbClr val="111111"/>
                </a:solidFill>
                <a:latin typeface="Helvetica Neue"/>
              </a:rPr>
              <a:t>Phase:</a:t>
            </a:r>
          </a:p>
        </p:txBody>
      </p:sp>
      <p:sp>
        <p:nvSpPr>
          <p:cNvPr id="45" name="TextBox 44"/>
          <p:cNvSpPr txBox="1"/>
          <p:nvPr/>
        </p:nvSpPr>
        <p:spPr>
          <a:xfrm>
            <a:off x="8321040" y="1325880"/>
            <a:ext cx="1097280" cy="365760"/>
          </a:xfrm>
          <a:prstGeom prst="rect">
            <a:avLst/>
          </a:prstGeom>
          <a:noFill/>
        </p:spPr>
        <p:txBody>
          <a:bodyPr wrap="square" lIns="0" rIns="0" tIns="0" bIns="0" anchor="ctr">
            <a:spAutoFit/>
          </a:bodyPr>
          <a:lstStyle/>
          <a:p>
            <a:pPr algn="l"/>
            <a:r>
              <a:rPr sz="1000" b="0" i="0">
                <a:solidFill>
                  <a:srgbClr val="111111"/>
                </a:solidFill>
                <a:latin typeface="Menlo"/>
              </a:rPr>
              <a:t>2 · W3-6</a:t>
            </a:r>
          </a:p>
        </p:txBody>
      </p:sp>
      <p:sp>
        <p:nvSpPr>
          <p:cNvPr id="46" name="Rounded Rectangle 45"/>
          <p:cNvSpPr/>
          <p:nvPr/>
        </p:nvSpPr>
        <p:spPr>
          <a:xfrm>
            <a:off x="10865815" y="1389888"/>
            <a:ext cx="777240" cy="237744"/>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65815" y="1389888"/>
            <a:ext cx="777240" cy="237744"/>
          </a:xfrm>
          <a:prstGeom prst="rect">
            <a:avLst/>
          </a:prstGeom>
          <a:noFill/>
        </p:spPr>
        <p:txBody>
          <a:bodyPr wrap="square" lIns="0" rIns="0" tIns="0" bIns="0" anchor="ctr">
            <a:spAutoFit/>
          </a:bodyPr>
          <a:lstStyle/>
          <a:p>
            <a:pPr algn="ctr"/>
            <a:r>
              <a:rPr sz="800" b="1" i="0" spc="100">
                <a:solidFill>
                  <a:srgbClr val="000000"/>
                </a:solidFill>
                <a:latin typeface="Helvetica Neue"/>
              </a:rPr>
              <a:t>A/B TEST</a:t>
            </a:r>
          </a:p>
        </p:txBody>
      </p:sp>
      <p:sp>
        <p:nvSpPr>
          <p:cNvPr id="48" name="Rounded Rectangle 47"/>
          <p:cNvSpPr/>
          <p:nvPr/>
        </p:nvSpPr>
        <p:spPr>
          <a:xfrm>
            <a:off x="5806440" y="2194560"/>
            <a:ext cx="2781147" cy="3200400"/>
          </a:xfrm>
          <a:prstGeom prst="roundRect">
            <a:avLst>
              <a:gd name="adj" fmla="val 4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06-pdp-desktop-fold.png"/>
          <p:cNvPicPr>
            <a:picLocks noChangeAspect="1"/>
          </p:cNvPicPr>
          <p:nvPr/>
        </p:nvPicPr>
        <p:blipFill>
          <a:blip r:embed="rId3"/>
          <a:stretch>
            <a:fillRect/>
          </a:stretch>
        </p:blipFill>
        <p:spPr>
          <a:xfrm>
            <a:off x="5806440" y="2925651"/>
            <a:ext cx="2781147" cy="1738217"/>
          </a:xfrm>
          <a:prstGeom prst="rect">
            <a:avLst/>
          </a:prstGeom>
        </p:spPr>
      </p:pic>
      <p:sp>
        <p:nvSpPr>
          <p:cNvPr id="50" name="TextBox 49"/>
          <p:cNvSpPr txBox="1"/>
          <p:nvPr/>
        </p:nvSpPr>
        <p:spPr>
          <a:xfrm>
            <a:off x="5806440" y="5468112"/>
            <a:ext cx="2781147" cy="274320"/>
          </a:xfrm>
          <a:prstGeom prst="rect">
            <a:avLst/>
          </a:prstGeom>
          <a:noFill/>
        </p:spPr>
        <p:txBody>
          <a:bodyPr wrap="square" lIns="0" rIns="0" tIns="0" bIns="0" anchor="t">
            <a:spAutoFit/>
          </a:bodyPr>
          <a:lstStyle/>
          <a:p>
            <a:pPr algn="ctr"/>
            <a:r>
              <a:rPr sz="1000" b="1" i="0" spc="200">
                <a:solidFill>
                  <a:srgbClr val="111111"/>
                </a:solidFill>
                <a:latin typeface="Helvetica Neue"/>
              </a:rPr>
              <a:t>CONTROL</a:t>
            </a:r>
          </a:p>
        </p:txBody>
      </p:sp>
      <p:sp>
        <p:nvSpPr>
          <p:cNvPr id="51" name="Rounded Rectangle 50"/>
          <p:cNvSpPr/>
          <p:nvPr/>
        </p:nvSpPr>
        <p:spPr>
          <a:xfrm>
            <a:off x="8953347" y="2194560"/>
            <a:ext cx="2781147" cy="3200400"/>
          </a:xfrm>
          <a:prstGeom prst="roundRect">
            <a:avLst>
              <a:gd name="adj" fmla="val 4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esign-pdp.png"/>
          <p:cNvPicPr>
            <a:picLocks noChangeAspect="1"/>
          </p:cNvPicPr>
          <p:nvPr/>
        </p:nvPicPr>
        <p:blipFill>
          <a:blip r:embed="rId4"/>
          <a:stretch>
            <a:fillRect/>
          </a:stretch>
        </p:blipFill>
        <p:spPr>
          <a:xfrm>
            <a:off x="8953347" y="2899315"/>
            <a:ext cx="2781147" cy="1790890"/>
          </a:xfrm>
          <a:prstGeom prst="rect">
            <a:avLst/>
          </a:prstGeom>
        </p:spPr>
      </p:pic>
      <p:sp>
        <p:nvSpPr>
          <p:cNvPr id="53" name="Rounded Rectangle 52"/>
          <p:cNvSpPr/>
          <p:nvPr/>
        </p:nvSpPr>
        <p:spPr>
          <a:xfrm>
            <a:off x="9886720" y="5440680"/>
            <a:ext cx="914400" cy="274320"/>
          </a:xfrm>
          <a:prstGeom prst="roundRect">
            <a:avLst>
              <a:gd name="adj" fmla="val 50000"/>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86720" y="5440680"/>
            <a:ext cx="914400" cy="274320"/>
          </a:xfrm>
          <a:prstGeom prst="rect">
            <a:avLst/>
          </a:prstGeom>
          <a:noFill/>
        </p:spPr>
        <p:txBody>
          <a:bodyPr wrap="square" lIns="0" rIns="0" tIns="0" bIns="0" anchor="ctr">
            <a:spAutoFit/>
          </a:bodyPr>
          <a:lstStyle/>
          <a:p>
            <a:pPr algn="ctr"/>
            <a:r>
              <a:rPr sz="1000" b="1" i="0" spc="200">
                <a:solidFill>
                  <a:srgbClr val="F7D007"/>
                </a:solidFill>
                <a:latin typeface="Helvetica Neue"/>
              </a:rPr>
              <a:t>VARIANT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28</a:t>
            </a:r>
          </a:p>
        </p:txBody>
      </p:sp>
      <p:sp>
        <p:nvSpPr>
          <p:cNvPr id="7" name="Rectangle 6"/>
          <p:cNvSpPr/>
          <p:nvPr/>
        </p:nvSpPr>
        <p:spPr>
          <a:xfrm>
            <a:off x="0" y="0"/>
            <a:ext cx="534924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777240"/>
            <a:ext cx="1920240" cy="292608"/>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777240"/>
            <a:ext cx="1920240" cy="292608"/>
          </a:xfrm>
          <a:prstGeom prst="rect">
            <a:avLst/>
          </a:prstGeom>
          <a:noFill/>
        </p:spPr>
        <p:txBody>
          <a:bodyPr wrap="square" lIns="0" rIns="0" tIns="0" bIns="0" anchor="ctr">
            <a:spAutoFit/>
          </a:bodyPr>
          <a:lstStyle/>
          <a:p>
            <a:pPr algn="ctr"/>
            <a:r>
              <a:rPr sz="1000" b="1" i="0" spc="130">
                <a:solidFill>
                  <a:srgbClr val="000000"/>
                </a:solidFill>
                <a:latin typeface="Helvetica Neue"/>
              </a:rPr>
              <a:t>SG-03 · CART</a:t>
            </a:r>
          </a:p>
        </p:txBody>
      </p:sp>
      <p:sp>
        <p:nvSpPr>
          <p:cNvPr id="10" name="TextBox 9"/>
          <p:cNvSpPr txBox="1"/>
          <p:nvPr/>
        </p:nvSpPr>
        <p:spPr>
          <a:xfrm>
            <a:off x="365760" y="1280160"/>
            <a:ext cx="4617720" cy="457200"/>
          </a:xfrm>
          <a:prstGeom prst="rect">
            <a:avLst/>
          </a:prstGeom>
          <a:noFill/>
        </p:spPr>
        <p:txBody>
          <a:bodyPr wrap="square" lIns="0" rIns="0" tIns="0" bIns="0" anchor="t">
            <a:spAutoFit/>
          </a:bodyPr>
          <a:lstStyle/>
          <a:p>
            <a:pPr algn="l"/>
            <a:r>
              <a:rPr sz="2000" b="1" i="0" spc="-40">
                <a:solidFill>
                  <a:srgbClr val="FFFFFF"/>
                </a:solidFill>
                <a:latin typeface="Helvetica Neue"/>
              </a:rPr>
              <a:t>Cart drawer cross sell</a:t>
            </a:r>
          </a:p>
        </p:txBody>
      </p:sp>
      <p:sp>
        <p:nvSpPr>
          <p:cNvPr id="11" name="TextBox 10"/>
          <p:cNvSpPr txBox="1"/>
          <p:nvPr/>
        </p:nvSpPr>
        <p:spPr>
          <a:xfrm>
            <a:off x="365760" y="1783080"/>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365760" y="2011680"/>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84832"/>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4" name="TextBox 13"/>
          <p:cNvSpPr txBox="1"/>
          <p:nvPr/>
        </p:nvSpPr>
        <p:spPr>
          <a:xfrm>
            <a:off x="566928" y="2084832"/>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ATC to begin-checkout is 65 % (45 carts abandoned at the ATC step per quarter).</a:t>
            </a:r>
          </a:p>
        </p:txBody>
      </p:sp>
      <p:sp>
        <p:nvSpPr>
          <p:cNvPr id="15" name="TextBox 14"/>
          <p:cNvSpPr txBox="1"/>
          <p:nvPr/>
        </p:nvSpPr>
        <p:spPr>
          <a:xfrm>
            <a:off x="365760" y="2468880"/>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566928" y="2468880"/>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Current cart shows product, qty, total. No cross sell, no shipping progress, no financing reminder.</a:t>
            </a:r>
          </a:p>
        </p:txBody>
      </p:sp>
      <p:sp>
        <p:nvSpPr>
          <p:cNvPr id="17" name="TextBox 16"/>
          <p:cNvSpPr txBox="1"/>
          <p:nvPr/>
        </p:nvSpPr>
        <p:spPr>
          <a:xfrm>
            <a:off x="365760" y="2852928"/>
            <a:ext cx="164592" cy="27432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566928" y="2852928"/>
            <a:ext cx="4416552" cy="502920"/>
          </a:xfrm>
          <a:prstGeom prst="rect">
            <a:avLst/>
          </a:prstGeom>
          <a:noFill/>
        </p:spPr>
        <p:txBody>
          <a:bodyPr wrap="square" lIns="0" rIns="0" tIns="0" bIns="0" anchor="t">
            <a:spAutoFit/>
          </a:bodyPr>
          <a:lstStyle/>
          <a:p>
            <a:pPr algn="l"/>
            <a:r>
              <a:rPr sz="1000" b="0" i="0">
                <a:solidFill>
                  <a:srgbClr val="CCCCCC"/>
                </a:solidFill>
                <a:latin typeface="Helvetica Neue"/>
              </a:rPr>
              <a:t>5.015 kr AOV. Floor mat, lubricant, heart rate strap are obvious accessory adds.</a:t>
            </a:r>
          </a:p>
        </p:txBody>
      </p:sp>
      <p:sp>
        <p:nvSpPr>
          <p:cNvPr id="19" name="TextBox 18"/>
          <p:cNvSpPr txBox="1"/>
          <p:nvPr/>
        </p:nvSpPr>
        <p:spPr>
          <a:xfrm>
            <a:off x="365760" y="3282696"/>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365760" y="3511296"/>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584448"/>
            <a:ext cx="4617720" cy="731520"/>
          </a:xfrm>
          <a:prstGeom prst="rect">
            <a:avLst/>
          </a:prstGeom>
          <a:noFill/>
        </p:spPr>
        <p:txBody>
          <a:bodyPr wrap="square" lIns="0" rIns="0" tIns="0" bIns="0" anchor="t">
            <a:spAutoFit/>
          </a:bodyPr>
          <a:lstStyle/>
          <a:p>
            <a:pPr algn="l"/>
            <a:r>
              <a:rPr sz="1000" b="0" i="0">
                <a:solidFill>
                  <a:srgbClr val="CCCCCC"/>
                </a:solidFill>
                <a:latin typeface="Helvetica Neue"/>
              </a:rPr>
              <a:t>Upgrading the cart drawer with a 'Komplet dit setup' accessory module, free-shipping progress bar, financing reminder, and trust row lifts AOV and cart-to-checkout completion without slowing the primary purchase flow.</a:t>
            </a:r>
          </a:p>
        </p:txBody>
      </p:sp>
      <p:sp>
        <p:nvSpPr>
          <p:cNvPr id="22" name="TextBox 21"/>
          <p:cNvSpPr txBox="1"/>
          <p:nvPr/>
        </p:nvSpPr>
        <p:spPr>
          <a:xfrm>
            <a:off x="365760" y="4297680"/>
            <a:ext cx="461772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365760" y="4526280"/>
            <a:ext cx="4617720" cy="9144"/>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599432"/>
            <a:ext cx="201168" cy="228600"/>
          </a:xfrm>
          <a:prstGeom prst="rect">
            <a:avLst/>
          </a:prstGeom>
          <a:noFill/>
        </p:spPr>
        <p:txBody>
          <a:bodyPr wrap="square" lIns="0" rIns="0" tIns="0" bIns="0" anchor="t">
            <a:spAutoFit/>
          </a:bodyPr>
          <a:lstStyle/>
          <a:p>
            <a:pPr algn="l"/>
            <a:r>
              <a:rPr sz="1000" b="1" i="0">
                <a:solidFill>
                  <a:srgbClr val="F7D007"/>
                </a:solidFill>
                <a:latin typeface="Menlo"/>
              </a:rPr>
              <a:t>1.</a:t>
            </a:r>
          </a:p>
        </p:txBody>
      </p:sp>
      <p:sp>
        <p:nvSpPr>
          <p:cNvPr id="25" name="TextBox 24"/>
          <p:cNvSpPr txBox="1"/>
          <p:nvPr/>
        </p:nvSpPr>
        <p:spPr>
          <a:xfrm>
            <a:off x="621792" y="4599432"/>
            <a:ext cx="4361688" cy="228600"/>
          </a:xfrm>
          <a:prstGeom prst="rect">
            <a:avLst/>
          </a:prstGeom>
          <a:noFill/>
        </p:spPr>
        <p:txBody>
          <a:bodyPr wrap="square" lIns="0" rIns="0" tIns="0" bIns="0" anchor="t">
            <a:spAutoFit/>
          </a:bodyPr>
          <a:lstStyle/>
          <a:p>
            <a:pPr algn="l"/>
            <a:r>
              <a:rPr sz="1000" b="1" i="0">
                <a:solidFill>
                  <a:srgbClr val="F7D007"/>
                </a:solidFill>
                <a:latin typeface="Helvetica Neue"/>
              </a:rPr>
              <a:t>Average order value</a:t>
            </a:r>
          </a:p>
        </p:txBody>
      </p:sp>
      <p:sp>
        <p:nvSpPr>
          <p:cNvPr id="26" name="TextBox 25"/>
          <p:cNvSpPr txBox="1"/>
          <p:nvPr/>
        </p:nvSpPr>
        <p:spPr>
          <a:xfrm>
            <a:off x="365760" y="4837176"/>
            <a:ext cx="201168" cy="228600"/>
          </a:xfrm>
          <a:prstGeom prst="rect">
            <a:avLst/>
          </a:prstGeom>
          <a:noFill/>
        </p:spPr>
        <p:txBody>
          <a:bodyPr wrap="square" lIns="0" rIns="0" tIns="0" bIns="0" anchor="t">
            <a:spAutoFit/>
          </a:bodyPr>
          <a:lstStyle/>
          <a:p>
            <a:pPr algn="l"/>
            <a:r>
              <a:rPr sz="1000" b="1" i="0">
                <a:solidFill>
                  <a:srgbClr val="CCCCCC"/>
                </a:solidFill>
                <a:latin typeface="Menlo"/>
              </a:rPr>
              <a:t>2.</a:t>
            </a:r>
          </a:p>
        </p:txBody>
      </p:sp>
      <p:sp>
        <p:nvSpPr>
          <p:cNvPr id="27" name="TextBox 26"/>
          <p:cNvSpPr txBox="1"/>
          <p:nvPr/>
        </p:nvSpPr>
        <p:spPr>
          <a:xfrm>
            <a:off x="621792" y="4837176"/>
            <a:ext cx="4361688" cy="228600"/>
          </a:xfrm>
          <a:prstGeom prst="rect">
            <a:avLst/>
          </a:prstGeom>
          <a:noFill/>
        </p:spPr>
        <p:txBody>
          <a:bodyPr wrap="square" lIns="0" rIns="0" tIns="0" bIns="0" anchor="t">
            <a:spAutoFit/>
          </a:bodyPr>
          <a:lstStyle/>
          <a:p>
            <a:pPr algn="l"/>
            <a:r>
              <a:rPr sz="1000" b="0" i="0">
                <a:solidFill>
                  <a:srgbClr val="CCCCCC"/>
                </a:solidFill>
                <a:latin typeface="Helvetica Neue"/>
              </a:rPr>
              <a:t>Items per order</a:t>
            </a:r>
          </a:p>
        </p:txBody>
      </p:sp>
      <p:sp>
        <p:nvSpPr>
          <p:cNvPr id="28" name="TextBox 27"/>
          <p:cNvSpPr txBox="1"/>
          <p:nvPr/>
        </p:nvSpPr>
        <p:spPr>
          <a:xfrm>
            <a:off x="365760" y="5074920"/>
            <a:ext cx="201168" cy="228600"/>
          </a:xfrm>
          <a:prstGeom prst="rect">
            <a:avLst/>
          </a:prstGeom>
          <a:noFill/>
        </p:spPr>
        <p:txBody>
          <a:bodyPr wrap="square" lIns="0" rIns="0" tIns="0" bIns="0" anchor="t">
            <a:spAutoFit/>
          </a:bodyPr>
          <a:lstStyle/>
          <a:p>
            <a:pPr algn="l"/>
            <a:r>
              <a:rPr sz="1000" b="1" i="0">
                <a:solidFill>
                  <a:srgbClr val="CCCCCC"/>
                </a:solidFill>
                <a:latin typeface="Menlo"/>
              </a:rPr>
              <a:t>3.</a:t>
            </a:r>
          </a:p>
        </p:txBody>
      </p:sp>
      <p:sp>
        <p:nvSpPr>
          <p:cNvPr id="29" name="TextBox 28"/>
          <p:cNvSpPr txBox="1"/>
          <p:nvPr/>
        </p:nvSpPr>
        <p:spPr>
          <a:xfrm>
            <a:off x="621792" y="5074920"/>
            <a:ext cx="4361688" cy="228600"/>
          </a:xfrm>
          <a:prstGeom prst="rect">
            <a:avLst/>
          </a:prstGeom>
          <a:noFill/>
        </p:spPr>
        <p:txBody>
          <a:bodyPr wrap="square" lIns="0" rIns="0" tIns="0" bIns="0" anchor="t">
            <a:spAutoFit/>
          </a:bodyPr>
          <a:lstStyle/>
          <a:p>
            <a:pPr algn="l"/>
            <a:r>
              <a:rPr sz="1000" b="0" i="0">
                <a:solidFill>
                  <a:srgbClr val="CCCCCC"/>
                </a:solidFill>
                <a:latin typeface="Helvetica Neue"/>
              </a:rPr>
              <a:t>Cart to checkout completion rate</a:t>
            </a:r>
          </a:p>
        </p:txBody>
      </p:sp>
      <p:sp>
        <p:nvSpPr>
          <p:cNvPr id="30" name="Rounded Rectangle 29"/>
          <p:cNvSpPr/>
          <p:nvPr/>
        </p:nvSpPr>
        <p:spPr>
          <a:xfrm>
            <a:off x="365760" y="5897880"/>
            <a:ext cx="4617720" cy="59436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DURATION</a:t>
            </a:r>
          </a:p>
        </p:txBody>
      </p:sp>
      <p:sp>
        <p:nvSpPr>
          <p:cNvPr id="32" name="TextBox 31"/>
          <p:cNvSpPr txBox="1"/>
          <p:nvPr/>
        </p:nvSpPr>
        <p:spPr>
          <a:xfrm>
            <a:off x="45720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3 weeks</a:t>
            </a:r>
          </a:p>
        </p:txBody>
      </p:sp>
      <p:sp>
        <p:nvSpPr>
          <p:cNvPr id="33" name="TextBox 32"/>
          <p:cNvSpPr txBox="1"/>
          <p:nvPr/>
        </p:nvSpPr>
        <p:spPr>
          <a:xfrm>
            <a:off x="161163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AUDIENCE</a:t>
            </a:r>
          </a:p>
        </p:txBody>
      </p:sp>
      <p:sp>
        <p:nvSpPr>
          <p:cNvPr id="34" name="TextBox 33"/>
          <p:cNvSpPr txBox="1"/>
          <p:nvPr/>
        </p:nvSpPr>
        <p:spPr>
          <a:xfrm>
            <a:off x="161163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All ATC events</a:t>
            </a:r>
          </a:p>
        </p:txBody>
      </p:sp>
      <p:sp>
        <p:nvSpPr>
          <p:cNvPr id="35" name="TextBox 34"/>
          <p:cNvSpPr txBox="1"/>
          <p:nvPr/>
        </p:nvSpPr>
        <p:spPr>
          <a:xfrm>
            <a:off x="276606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MULTIPLIER</a:t>
            </a:r>
          </a:p>
        </p:txBody>
      </p:sp>
      <p:sp>
        <p:nvSpPr>
          <p:cNvPr id="36" name="TextBox 35"/>
          <p:cNvSpPr txBox="1"/>
          <p:nvPr/>
        </p:nvSpPr>
        <p:spPr>
          <a:xfrm>
            <a:off x="276606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100 %</a:t>
            </a:r>
          </a:p>
        </p:txBody>
      </p:sp>
      <p:sp>
        <p:nvSpPr>
          <p:cNvPr id="37" name="TextBox 36"/>
          <p:cNvSpPr txBox="1"/>
          <p:nvPr/>
        </p:nvSpPr>
        <p:spPr>
          <a:xfrm>
            <a:off x="3920490" y="5971032"/>
            <a:ext cx="971550" cy="182880"/>
          </a:xfrm>
          <a:prstGeom prst="rect">
            <a:avLst/>
          </a:prstGeom>
          <a:noFill/>
        </p:spPr>
        <p:txBody>
          <a:bodyPr wrap="square" lIns="0" rIns="0" tIns="0" bIns="0" anchor="t">
            <a:spAutoFit/>
          </a:bodyPr>
          <a:lstStyle/>
          <a:p>
            <a:pPr algn="l"/>
            <a:r>
              <a:rPr sz="800" b="1" i="0" spc="120">
                <a:solidFill>
                  <a:srgbClr val="F7D007"/>
                </a:solidFill>
                <a:latin typeface="Helvetica Neue"/>
              </a:rPr>
              <a:t>URL</a:t>
            </a:r>
          </a:p>
        </p:txBody>
      </p:sp>
      <p:sp>
        <p:nvSpPr>
          <p:cNvPr id="38" name="TextBox 37"/>
          <p:cNvSpPr txBox="1"/>
          <p:nvPr/>
        </p:nvSpPr>
        <p:spPr>
          <a:xfrm>
            <a:off x="3920490" y="6190488"/>
            <a:ext cx="971550" cy="274320"/>
          </a:xfrm>
          <a:prstGeom prst="rect">
            <a:avLst/>
          </a:prstGeom>
          <a:noFill/>
        </p:spPr>
        <p:txBody>
          <a:bodyPr wrap="square" lIns="0" rIns="0" tIns="0" bIns="0" anchor="t">
            <a:spAutoFit/>
          </a:bodyPr>
          <a:lstStyle/>
          <a:p>
            <a:pPr algn="l"/>
            <a:r>
              <a:rPr sz="950" b="1" i="0">
                <a:solidFill>
                  <a:srgbClr val="FFFFFF"/>
                </a:solidFill>
                <a:latin typeface="Helvetica Neue"/>
              </a:rPr>
              <a:t>Cart drawer (global)</a:t>
            </a:r>
          </a:p>
        </p:txBody>
      </p:sp>
      <p:sp>
        <p:nvSpPr>
          <p:cNvPr id="39" name="Rectangle 38"/>
          <p:cNvSpPr/>
          <p:nvPr/>
        </p:nvSpPr>
        <p:spPr>
          <a:xfrm>
            <a:off x="5349240" y="0"/>
            <a:ext cx="684245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777240"/>
            <a:ext cx="5928055" cy="457200"/>
          </a:xfrm>
          <a:prstGeom prst="rect">
            <a:avLst/>
          </a:prstGeom>
          <a:noFill/>
        </p:spPr>
        <p:txBody>
          <a:bodyPr wrap="square" lIns="0" rIns="0" tIns="0" bIns="0" anchor="t">
            <a:spAutoFit/>
          </a:bodyPr>
          <a:lstStyle/>
          <a:p>
            <a:pPr algn="l"/>
            <a:r>
              <a:rPr sz="1800" b="1" i="0" spc="-30">
                <a:solidFill>
                  <a:srgbClr val="111111"/>
                </a:solidFill>
                <a:latin typeface="Helvetica Neue"/>
              </a:rPr>
              <a:t>Cart drawer cross sell</a:t>
            </a:r>
          </a:p>
        </p:txBody>
      </p:sp>
      <p:sp>
        <p:nvSpPr>
          <p:cNvPr id="41" name="Rounded Rectangle 40"/>
          <p:cNvSpPr/>
          <p:nvPr/>
        </p:nvSpPr>
        <p:spPr>
          <a:xfrm>
            <a:off x="5806440" y="1325880"/>
            <a:ext cx="5928055" cy="365760"/>
          </a:xfrm>
          <a:prstGeom prst="roundRect">
            <a:avLst>
              <a:gd name="adj" fmla="val 15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0" y="1325880"/>
            <a:ext cx="640080" cy="365760"/>
          </a:xfrm>
          <a:prstGeom prst="rect">
            <a:avLst/>
          </a:prstGeom>
          <a:noFill/>
        </p:spPr>
        <p:txBody>
          <a:bodyPr wrap="square" lIns="0" rIns="0" tIns="0" bIns="0" anchor="ctr">
            <a:spAutoFit/>
          </a:bodyPr>
          <a:lstStyle/>
          <a:p>
            <a:pPr algn="l"/>
            <a:r>
              <a:rPr sz="1000" b="1" i="0">
                <a:solidFill>
                  <a:srgbClr val="111111"/>
                </a:solidFill>
                <a:latin typeface="Helvetica Neue"/>
              </a:rPr>
              <a:t>Tool:</a:t>
            </a:r>
          </a:p>
        </p:txBody>
      </p:sp>
      <p:sp>
        <p:nvSpPr>
          <p:cNvPr id="43" name="TextBox 42"/>
          <p:cNvSpPr txBox="1"/>
          <p:nvPr/>
        </p:nvSpPr>
        <p:spPr>
          <a:xfrm>
            <a:off x="6537960" y="1325880"/>
            <a:ext cx="1097280" cy="365760"/>
          </a:xfrm>
          <a:prstGeom prst="rect">
            <a:avLst/>
          </a:prstGeom>
          <a:noFill/>
        </p:spPr>
        <p:txBody>
          <a:bodyPr wrap="square" lIns="0" rIns="0" tIns="0" bIns="0" anchor="ctr">
            <a:spAutoFit/>
          </a:bodyPr>
          <a:lstStyle/>
          <a:p>
            <a:pPr algn="l"/>
            <a:r>
              <a:rPr sz="1000" b="0" i="0">
                <a:solidFill>
                  <a:srgbClr val="111111"/>
                </a:solidFill>
                <a:latin typeface="Menlo"/>
              </a:rPr>
              <a:t>IntelliGEMS</a:t>
            </a:r>
          </a:p>
        </p:txBody>
      </p:sp>
      <p:sp>
        <p:nvSpPr>
          <p:cNvPr id="44" name="TextBox 43"/>
          <p:cNvSpPr txBox="1"/>
          <p:nvPr/>
        </p:nvSpPr>
        <p:spPr>
          <a:xfrm>
            <a:off x="7726680" y="1325880"/>
            <a:ext cx="640080" cy="365760"/>
          </a:xfrm>
          <a:prstGeom prst="rect">
            <a:avLst/>
          </a:prstGeom>
          <a:noFill/>
        </p:spPr>
        <p:txBody>
          <a:bodyPr wrap="square" lIns="0" rIns="0" tIns="0" bIns="0" anchor="ctr">
            <a:spAutoFit/>
          </a:bodyPr>
          <a:lstStyle/>
          <a:p>
            <a:pPr algn="l"/>
            <a:r>
              <a:rPr sz="1000" b="1" i="0">
                <a:solidFill>
                  <a:srgbClr val="111111"/>
                </a:solidFill>
                <a:latin typeface="Helvetica Neue"/>
              </a:rPr>
              <a:t>Phase:</a:t>
            </a:r>
          </a:p>
        </p:txBody>
      </p:sp>
      <p:sp>
        <p:nvSpPr>
          <p:cNvPr id="45" name="TextBox 44"/>
          <p:cNvSpPr txBox="1"/>
          <p:nvPr/>
        </p:nvSpPr>
        <p:spPr>
          <a:xfrm>
            <a:off x="8321040" y="1325880"/>
            <a:ext cx="1097280" cy="365760"/>
          </a:xfrm>
          <a:prstGeom prst="rect">
            <a:avLst/>
          </a:prstGeom>
          <a:noFill/>
        </p:spPr>
        <p:txBody>
          <a:bodyPr wrap="square" lIns="0" rIns="0" tIns="0" bIns="0" anchor="ctr">
            <a:spAutoFit/>
          </a:bodyPr>
          <a:lstStyle/>
          <a:p>
            <a:pPr algn="l"/>
            <a:r>
              <a:rPr sz="1000" b="0" i="0">
                <a:solidFill>
                  <a:srgbClr val="111111"/>
                </a:solidFill>
                <a:latin typeface="Menlo"/>
              </a:rPr>
              <a:t>2 · W4-6</a:t>
            </a:r>
          </a:p>
        </p:txBody>
      </p:sp>
      <p:sp>
        <p:nvSpPr>
          <p:cNvPr id="46" name="Rounded Rectangle 45"/>
          <p:cNvSpPr/>
          <p:nvPr/>
        </p:nvSpPr>
        <p:spPr>
          <a:xfrm>
            <a:off x="10865815" y="1389888"/>
            <a:ext cx="777240" cy="237744"/>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65815" y="1389888"/>
            <a:ext cx="777240" cy="237744"/>
          </a:xfrm>
          <a:prstGeom prst="rect">
            <a:avLst/>
          </a:prstGeom>
          <a:noFill/>
        </p:spPr>
        <p:txBody>
          <a:bodyPr wrap="square" lIns="0" rIns="0" tIns="0" bIns="0" anchor="ctr">
            <a:spAutoFit/>
          </a:bodyPr>
          <a:lstStyle/>
          <a:p>
            <a:pPr algn="ctr"/>
            <a:r>
              <a:rPr sz="800" b="1" i="0" spc="100">
                <a:solidFill>
                  <a:srgbClr val="000000"/>
                </a:solidFill>
                <a:latin typeface="Helvetica Neue"/>
              </a:rPr>
              <a:t>A/B TEST</a:t>
            </a:r>
          </a:p>
        </p:txBody>
      </p:sp>
      <p:sp>
        <p:nvSpPr>
          <p:cNvPr id="48" name="Rounded Rectangle 47"/>
          <p:cNvSpPr/>
          <p:nvPr/>
        </p:nvSpPr>
        <p:spPr>
          <a:xfrm>
            <a:off x="6895947" y="2194560"/>
            <a:ext cx="1691640" cy="3200400"/>
          </a:xfrm>
          <a:prstGeom prst="roundRect">
            <a:avLst>
              <a:gd name="adj" fmla="val 4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33107" y="3520440"/>
            <a:ext cx="1417320" cy="548640"/>
          </a:xfrm>
          <a:prstGeom prst="rect">
            <a:avLst/>
          </a:prstGeom>
          <a:noFill/>
        </p:spPr>
        <p:txBody>
          <a:bodyPr wrap="square" lIns="0" rIns="0" tIns="0" bIns="0" anchor="ctr">
            <a:spAutoFit/>
          </a:bodyPr>
          <a:lstStyle/>
          <a:p>
            <a:pPr algn="ctr"/>
            <a:r>
              <a:rPr sz="1000" b="0" i="0">
                <a:solidFill>
                  <a:srgbClr val="555555"/>
                </a:solidFill>
                <a:latin typeface="Helvetica Neue"/>
              </a:rPr>
              <a:t>Cart drawer (current)
Product · qty · subtotal · checkout
No cross sell. No shipping progress. No trust row.</a:t>
            </a:r>
          </a:p>
        </p:txBody>
      </p:sp>
      <p:sp>
        <p:nvSpPr>
          <p:cNvPr id="50" name="TextBox 49"/>
          <p:cNvSpPr txBox="1"/>
          <p:nvPr/>
        </p:nvSpPr>
        <p:spPr>
          <a:xfrm>
            <a:off x="6895947" y="5468112"/>
            <a:ext cx="1691640" cy="274320"/>
          </a:xfrm>
          <a:prstGeom prst="rect">
            <a:avLst/>
          </a:prstGeom>
          <a:noFill/>
        </p:spPr>
        <p:txBody>
          <a:bodyPr wrap="square" lIns="0" rIns="0" tIns="0" bIns="0" anchor="t">
            <a:spAutoFit/>
          </a:bodyPr>
          <a:lstStyle/>
          <a:p>
            <a:pPr algn="ctr"/>
            <a:r>
              <a:rPr sz="1000" b="1" i="0" spc="200">
                <a:solidFill>
                  <a:srgbClr val="111111"/>
                </a:solidFill>
                <a:latin typeface="Helvetica Neue"/>
              </a:rPr>
              <a:t>CONTROL</a:t>
            </a:r>
          </a:p>
        </p:txBody>
      </p:sp>
      <p:sp>
        <p:nvSpPr>
          <p:cNvPr id="51" name="Rounded Rectangle 50"/>
          <p:cNvSpPr/>
          <p:nvPr/>
        </p:nvSpPr>
        <p:spPr>
          <a:xfrm>
            <a:off x="8953347" y="2194560"/>
            <a:ext cx="1691640" cy="3200400"/>
          </a:xfrm>
          <a:prstGeom prst="roundRect">
            <a:avLst>
              <a:gd name="adj" fmla="val 4000"/>
            </a:avLst>
          </a:prstGeom>
          <a:solidFill>
            <a:srgbClr val="FFFFFF"/>
          </a:solid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esign-cart.png"/>
          <p:cNvPicPr>
            <a:picLocks noChangeAspect="1"/>
          </p:cNvPicPr>
          <p:nvPr/>
        </p:nvPicPr>
        <p:blipFill>
          <a:blip r:embed="rId3"/>
          <a:stretch>
            <a:fillRect/>
          </a:stretch>
        </p:blipFill>
        <p:spPr>
          <a:xfrm>
            <a:off x="9165940" y="2194560"/>
            <a:ext cx="1266453" cy="3200400"/>
          </a:xfrm>
          <a:prstGeom prst="rect">
            <a:avLst/>
          </a:prstGeom>
        </p:spPr>
      </p:pic>
      <p:sp>
        <p:nvSpPr>
          <p:cNvPr id="53" name="Rounded Rectangle 52"/>
          <p:cNvSpPr/>
          <p:nvPr/>
        </p:nvSpPr>
        <p:spPr>
          <a:xfrm>
            <a:off x="9341967" y="5440680"/>
            <a:ext cx="914400" cy="274320"/>
          </a:xfrm>
          <a:prstGeom prst="roundRect">
            <a:avLst>
              <a:gd name="adj" fmla="val 50000"/>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41967" y="5440680"/>
            <a:ext cx="914400" cy="274320"/>
          </a:xfrm>
          <a:prstGeom prst="rect">
            <a:avLst/>
          </a:prstGeom>
          <a:noFill/>
        </p:spPr>
        <p:txBody>
          <a:bodyPr wrap="square" lIns="0" rIns="0" tIns="0" bIns="0" anchor="ctr">
            <a:spAutoFit/>
          </a:bodyPr>
          <a:lstStyle/>
          <a:p>
            <a:pPr algn="ctr"/>
            <a:r>
              <a:rPr sz="1000" b="1" i="0" spc="200">
                <a:solidFill>
                  <a:srgbClr val="F7D007"/>
                </a:solidFill>
                <a:latin typeface="Helvetica Neue"/>
              </a:rPr>
              <a:t>VARIANT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29</a:t>
            </a:r>
          </a:p>
        </p:txBody>
      </p:sp>
      <p:sp>
        <p:nvSpPr>
          <p:cNvPr id="7" name="Oval 6"/>
          <p:cNvSpPr/>
          <p:nvPr/>
        </p:nvSpPr>
        <p:spPr>
          <a:xfrm>
            <a:off x="-1828800" y="914400"/>
            <a:ext cx="9144000" cy="6858000"/>
          </a:xfrm>
          <a:prstGeom prst="ellipse">
            <a:avLst/>
          </a:prstGeom>
          <a:solidFill>
            <a:srgbClr val="3A3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7315200" cy="274320"/>
          </a:xfrm>
          <a:prstGeom prst="rect">
            <a:avLst/>
          </a:prstGeom>
          <a:noFill/>
        </p:spPr>
        <p:txBody>
          <a:bodyPr wrap="square" lIns="0" rIns="0" tIns="0" bIns="0" anchor="t">
            <a:spAutoFit/>
          </a:bodyPr>
          <a:lstStyle/>
          <a:p>
            <a:pPr algn="l"/>
            <a:r>
              <a:rPr sz="1100" b="1" i="0" spc="300">
                <a:solidFill>
                  <a:srgbClr val="F7D007"/>
                </a:solidFill>
                <a:latin typeface="Helvetica Neue"/>
              </a:rPr>
              <a:t>AUDIT CLOSE</a:t>
            </a:r>
          </a:p>
        </p:txBody>
      </p:sp>
      <p:sp>
        <p:nvSpPr>
          <p:cNvPr id="9" name="TextBox 8"/>
          <p:cNvSpPr txBox="1"/>
          <p:nvPr/>
        </p:nvSpPr>
        <p:spPr>
          <a:xfrm>
            <a:off x="777240" y="2194560"/>
            <a:ext cx="10058400" cy="868680"/>
          </a:xfrm>
          <a:prstGeom prst="rect">
            <a:avLst/>
          </a:prstGeom>
          <a:noFill/>
        </p:spPr>
        <p:txBody>
          <a:bodyPr wrap="square" lIns="0" rIns="0" tIns="0" bIns="0" anchor="t">
            <a:spAutoFit/>
          </a:bodyPr>
          <a:lstStyle/>
          <a:p>
            <a:pPr algn="l"/>
            <a:r>
              <a:rPr sz="4600" b="1" i="0" spc="-150">
                <a:solidFill>
                  <a:srgbClr val="FFFFFF"/>
                </a:solidFill>
                <a:latin typeface="Helvetica Neue"/>
              </a:rPr>
              <a:t>Ship Phase 1 this month.</a:t>
            </a:r>
          </a:p>
        </p:txBody>
      </p:sp>
      <p:sp>
        <p:nvSpPr>
          <p:cNvPr id="10" name="TextBox 9"/>
          <p:cNvSpPr txBox="1"/>
          <p:nvPr/>
        </p:nvSpPr>
        <p:spPr>
          <a:xfrm>
            <a:off x="777240" y="3383280"/>
            <a:ext cx="10058400" cy="822960"/>
          </a:xfrm>
          <a:prstGeom prst="rect">
            <a:avLst/>
          </a:prstGeom>
          <a:noFill/>
        </p:spPr>
        <p:txBody>
          <a:bodyPr wrap="square" lIns="0" rIns="0" tIns="0" bIns="0" anchor="t">
            <a:spAutoFit/>
          </a:bodyPr>
          <a:lstStyle/>
          <a:p>
            <a:pPr algn="l"/>
            <a:r>
              <a:rPr sz="1400" b="0" i="0">
                <a:solidFill>
                  <a:srgbClr val="CCCCCC"/>
                </a:solidFill>
                <a:latin typeface="Helvetica Neue"/>
              </a:rPr>
              <a:t>Three Phase 1 wins (financing, social proof, Meta fix) are all Low effort and shippable inside two weeks. None require a replatform.</a:t>
            </a:r>
          </a:p>
        </p:txBody>
      </p:sp>
      <p:sp>
        <p:nvSpPr>
          <p:cNvPr id="11" name="TextBox 10"/>
          <p:cNvSpPr txBox="1"/>
          <p:nvPr/>
        </p:nvSpPr>
        <p:spPr>
          <a:xfrm>
            <a:off x="777240" y="4297680"/>
            <a:ext cx="10058400" cy="548640"/>
          </a:xfrm>
          <a:prstGeom prst="rect">
            <a:avLst/>
          </a:prstGeom>
          <a:noFill/>
        </p:spPr>
        <p:txBody>
          <a:bodyPr wrap="square" lIns="0" rIns="0" tIns="0" bIns="0" anchor="t">
            <a:spAutoFit/>
          </a:bodyPr>
          <a:lstStyle/>
          <a:p>
            <a:pPr algn="l"/>
            <a:r>
              <a:rPr sz="1400" b="1" i="0">
                <a:solidFill>
                  <a:srgbClr val="F7D007"/>
                </a:solidFill>
                <a:latin typeface="Helvetica Neue"/>
              </a:rPr>
              <a:t>Expected impact within 30 days: 100.000 to 180.000 kr / month. Compounds into Phase 2 (PDP rebuild) at Week 3.</a:t>
            </a:r>
          </a:p>
        </p:txBody>
      </p:sp>
      <p:sp>
        <p:nvSpPr>
          <p:cNvPr id="12" name="TextBox 11"/>
          <p:cNvSpPr txBox="1"/>
          <p:nvPr/>
        </p:nvSpPr>
        <p:spPr>
          <a:xfrm>
            <a:off x="777240" y="5852160"/>
            <a:ext cx="10058400" cy="365760"/>
          </a:xfrm>
          <a:prstGeom prst="rect">
            <a:avLst/>
          </a:prstGeom>
          <a:noFill/>
        </p:spPr>
        <p:txBody>
          <a:bodyPr wrap="square" lIns="0" rIns="0" tIns="0" bIns="0" anchor="t">
            <a:spAutoFit/>
          </a:bodyPr>
          <a:lstStyle/>
          <a:p>
            <a:pPr algn="l"/>
            <a:r>
              <a:rPr sz="1000" b="0" i="0">
                <a:solidFill>
                  <a:srgbClr val="6B7C75"/>
                </a:solidFill>
                <a:latin typeface="Helvetica Neue"/>
              </a:rPr>
              <a:t>Powered by Shopify analytics (last 30 days) · live site capture 11. maj 2026 · Trustpilot · three Danish competitors · EcomHouse CRO team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30</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TRACK RECORD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Three winning EcomHouse tests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Real results from EcomHouse client engagements. Each test rolled out to 100 % of traffic after meeting the pre-approved confidence threshold. IntelliGEMS test tool.</a:t>
            </a:r>
          </a:p>
        </p:txBody>
      </p:sp>
      <p:sp>
        <p:nvSpPr>
          <p:cNvPr id="10" name="Rounded Rectangle 9"/>
          <p:cNvSpPr/>
          <p:nvPr/>
        </p:nvSpPr>
        <p:spPr>
          <a:xfrm>
            <a:off x="335129"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9"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Comforth · DK</a:t>
            </a:r>
          </a:p>
        </p:txBody>
      </p:sp>
      <p:sp>
        <p:nvSpPr>
          <p:cNvPr id="12" name="TextBox 11"/>
          <p:cNvSpPr txBox="1"/>
          <p:nvPr/>
        </p:nvSpPr>
        <p:spPr>
          <a:xfrm>
            <a:off x="609449"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Product tags on collection cards</a:t>
            </a:r>
          </a:p>
        </p:txBody>
      </p:sp>
      <p:sp>
        <p:nvSpPr>
          <p:cNvPr id="13" name="TextBox 12"/>
          <p:cNvSpPr txBox="1"/>
          <p:nvPr/>
        </p:nvSpPr>
        <p:spPr>
          <a:xfrm>
            <a:off x="609449"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PROFIT / VISITOR</a:t>
            </a:r>
          </a:p>
        </p:txBody>
      </p:sp>
      <p:sp>
        <p:nvSpPr>
          <p:cNvPr id="14" name="TextBox 13"/>
          <p:cNvSpPr txBox="1"/>
          <p:nvPr/>
        </p:nvSpPr>
        <p:spPr>
          <a:xfrm>
            <a:off x="609449"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+11,42%</a:t>
            </a:r>
          </a:p>
        </p:txBody>
      </p:sp>
      <p:sp>
        <p:nvSpPr>
          <p:cNvPr id="15" name="TextBox 14"/>
          <p:cNvSpPr txBox="1"/>
          <p:nvPr/>
        </p:nvSpPr>
        <p:spPr>
          <a:xfrm>
            <a:off x="609449"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-11 % to +39 %</a:t>
            </a:r>
          </a:p>
        </p:txBody>
      </p:sp>
      <p:sp>
        <p:nvSpPr>
          <p:cNvPr id="16" name="TextBox 15"/>
          <p:cNvSpPr txBox="1"/>
          <p:nvPr/>
        </p:nvSpPr>
        <p:spPr>
          <a:xfrm>
            <a:off x="609449"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+106.550 kr / mo</a:t>
            </a:r>
          </a:p>
        </p:txBody>
      </p:sp>
      <p:sp>
        <p:nvSpPr>
          <p:cNvPr id="17" name="Rectangle 16"/>
          <p:cNvSpPr/>
          <p:nvPr/>
        </p:nvSpPr>
        <p:spPr>
          <a:xfrm>
            <a:off x="609449"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449"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19" name="TextBox 18"/>
          <p:cNvSpPr txBox="1"/>
          <p:nvPr/>
        </p:nvSpPr>
        <p:spPr>
          <a:xfrm>
            <a:off x="1615289"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2,09% → 2,37%</a:t>
            </a:r>
          </a:p>
        </p:txBody>
      </p:sp>
      <p:sp>
        <p:nvSpPr>
          <p:cNvPr id="20" name="TextBox 19"/>
          <p:cNvSpPr txBox="1"/>
          <p:nvPr/>
        </p:nvSpPr>
        <p:spPr>
          <a:xfrm>
            <a:off x="609449"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+13,07%</a:t>
            </a:r>
          </a:p>
        </p:txBody>
      </p:sp>
      <p:sp>
        <p:nvSpPr>
          <p:cNvPr id="21" name="TextBox 20"/>
          <p:cNvSpPr txBox="1"/>
          <p:nvPr/>
        </p:nvSpPr>
        <p:spPr>
          <a:xfrm>
            <a:off x="609449"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22" name="TextBox 21"/>
          <p:cNvSpPr txBox="1"/>
          <p:nvPr/>
        </p:nvSpPr>
        <p:spPr>
          <a:xfrm>
            <a:off x="1615289"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26,88 → 29,87 kr</a:t>
            </a:r>
          </a:p>
        </p:txBody>
      </p:sp>
      <p:sp>
        <p:nvSpPr>
          <p:cNvPr id="23" name="TextBox 22"/>
          <p:cNvSpPr txBox="1"/>
          <p:nvPr/>
        </p:nvSpPr>
        <p:spPr>
          <a:xfrm>
            <a:off x="609449"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+11,13%</a:t>
            </a:r>
          </a:p>
        </p:txBody>
      </p:sp>
      <p:sp>
        <p:nvSpPr>
          <p:cNvPr id="24" name="TextBox 23"/>
          <p:cNvSpPr txBox="1"/>
          <p:nvPr/>
        </p:nvSpPr>
        <p:spPr>
          <a:xfrm>
            <a:off x="609449"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25" name="TextBox 24"/>
          <p:cNvSpPr txBox="1"/>
          <p:nvPr/>
        </p:nvSpPr>
        <p:spPr>
          <a:xfrm>
            <a:off x="1615289"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+169</a:t>
            </a:r>
          </a:p>
        </p:txBody>
      </p:sp>
      <p:sp>
        <p:nvSpPr>
          <p:cNvPr id="26" name="TextBox 25"/>
          <p:cNvSpPr txBox="1"/>
          <p:nvPr/>
        </p:nvSpPr>
        <p:spPr>
          <a:xfrm>
            <a:off x="609449"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Added trust + benefit tags to collection product cards. Lift compounded across all three metrics.</a:t>
            </a:r>
          </a:p>
        </p:txBody>
      </p:sp>
      <p:sp>
        <p:nvSpPr>
          <p:cNvPr id="27" name="Rounded Rectangle 26"/>
          <p:cNvSpPr/>
          <p:nvPr/>
        </p:nvSpPr>
        <p:spPr>
          <a:xfrm>
            <a:off x="4221328"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5648"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29" name="TextBox 28"/>
          <p:cNvSpPr txBox="1"/>
          <p:nvPr/>
        </p:nvSpPr>
        <p:spPr>
          <a:xfrm>
            <a:off x="4495648"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PDP volume discount tiers</a:t>
            </a:r>
          </a:p>
        </p:txBody>
      </p:sp>
      <p:sp>
        <p:nvSpPr>
          <p:cNvPr id="30" name="TextBox 29"/>
          <p:cNvSpPr txBox="1"/>
          <p:nvPr/>
        </p:nvSpPr>
        <p:spPr>
          <a:xfrm>
            <a:off x="4495648"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CONVERSION RATE</a:t>
            </a:r>
          </a:p>
        </p:txBody>
      </p:sp>
      <p:sp>
        <p:nvSpPr>
          <p:cNvPr id="31" name="TextBox 30"/>
          <p:cNvSpPr txBox="1"/>
          <p:nvPr/>
        </p:nvSpPr>
        <p:spPr>
          <a:xfrm>
            <a:off x="4495648"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+11,08%</a:t>
            </a:r>
          </a:p>
        </p:txBody>
      </p:sp>
      <p:sp>
        <p:nvSpPr>
          <p:cNvPr id="32" name="TextBox 31"/>
          <p:cNvSpPr txBox="1"/>
          <p:nvPr/>
        </p:nvSpPr>
        <p:spPr>
          <a:xfrm>
            <a:off x="4495648"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-3 % to +27 %</a:t>
            </a:r>
          </a:p>
        </p:txBody>
      </p:sp>
      <p:sp>
        <p:nvSpPr>
          <p:cNvPr id="33" name="TextBox 32"/>
          <p:cNvSpPr txBox="1"/>
          <p:nvPr/>
        </p:nvSpPr>
        <p:spPr>
          <a:xfrm>
            <a:off x="4495648"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+134.917 kr / mo (RPV)</a:t>
            </a:r>
          </a:p>
        </p:txBody>
      </p:sp>
      <p:sp>
        <p:nvSpPr>
          <p:cNvPr id="34" name="Rectangle 33"/>
          <p:cNvSpPr/>
          <p:nvPr/>
        </p:nvSpPr>
        <p:spPr>
          <a:xfrm>
            <a:off x="4495648"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5648"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36" name="TextBox 35"/>
          <p:cNvSpPr txBox="1"/>
          <p:nvPr/>
        </p:nvSpPr>
        <p:spPr>
          <a:xfrm>
            <a:off x="5501488"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20,36 → 23,84 kr</a:t>
            </a:r>
          </a:p>
        </p:txBody>
      </p:sp>
      <p:sp>
        <p:nvSpPr>
          <p:cNvPr id="37" name="TextBox 36"/>
          <p:cNvSpPr txBox="1"/>
          <p:nvPr/>
        </p:nvSpPr>
        <p:spPr>
          <a:xfrm>
            <a:off x="4495648"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+17,10%</a:t>
            </a:r>
          </a:p>
        </p:txBody>
      </p:sp>
      <p:sp>
        <p:nvSpPr>
          <p:cNvPr id="38" name="TextBox 37"/>
          <p:cNvSpPr txBox="1"/>
          <p:nvPr/>
        </p:nvSpPr>
        <p:spPr>
          <a:xfrm>
            <a:off x="4495648"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39" name="TextBox 38"/>
          <p:cNvSpPr txBox="1"/>
          <p:nvPr/>
        </p:nvSpPr>
        <p:spPr>
          <a:xfrm>
            <a:off x="5501488"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293,47 → 309,37 kr</a:t>
            </a:r>
          </a:p>
        </p:txBody>
      </p:sp>
      <p:sp>
        <p:nvSpPr>
          <p:cNvPr id="40" name="TextBox 39"/>
          <p:cNvSpPr txBox="1"/>
          <p:nvPr/>
        </p:nvSpPr>
        <p:spPr>
          <a:xfrm>
            <a:off x="4495648"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+5,42%</a:t>
            </a:r>
          </a:p>
        </p:txBody>
      </p:sp>
      <p:sp>
        <p:nvSpPr>
          <p:cNvPr id="41" name="TextBox 40"/>
          <p:cNvSpPr txBox="1"/>
          <p:nvPr/>
        </p:nvSpPr>
        <p:spPr>
          <a:xfrm>
            <a:off x="4495648"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42" name="TextBox 41"/>
          <p:cNvSpPr txBox="1"/>
          <p:nvPr/>
        </p:nvSpPr>
        <p:spPr>
          <a:xfrm>
            <a:off x="5501488"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+298</a:t>
            </a:r>
          </a:p>
        </p:txBody>
      </p:sp>
      <p:sp>
        <p:nvSpPr>
          <p:cNvPr id="43" name="TextBox 42"/>
          <p:cNvSpPr txBox="1"/>
          <p:nvPr/>
        </p:nvSpPr>
        <p:spPr>
          <a:xfrm>
            <a:off x="4495648"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Surfaced volume discount tiers directly on the PDP. CR was primary, RPV and AOV lifted simultaneously.</a:t>
            </a:r>
          </a:p>
        </p:txBody>
      </p:sp>
      <p:sp>
        <p:nvSpPr>
          <p:cNvPr id="44" name="Rounded Rectangle 43"/>
          <p:cNvSpPr/>
          <p:nvPr/>
        </p:nvSpPr>
        <p:spPr>
          <a:xfrm>
            <a:off x="8107527"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1847"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46" name="TextBox 45"/>
          <p:cNvSpPr txBox="1"/>
          <p:nvPr/>
        </p:nvSpPr>
        <p:spPr>
          <a:xfrm>
            <a:off x="8381847"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Homepage hero optimization</a:t>
            </a:r>
          </a:p>
        </p:txBody>
      </p:sp>
      <p:sp>
        <p:nvSpPr>
          <p:cNvPr id="47" name="TextBox 46"/>
          <p:cNvSpPr txBox="1"/>
          <p:nvPr/>
        </p:nvSpPr>
        <p:spPr>
          <a:xfrm>
            <a:off x="8381847"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REVENUE / VISITOR</a:t>
            </a:r>
          </a:p>
        </p:txBody>
      </p:sp>
      <p:sp>
        <p:nvSpPr>
          <p:cNvPr id="48" name="TextBox 47"/>
          <p:cNvSpPr txBox="1"/>
          <p:nvPr/>
        </p:nvSpPr>
        <p:spPr>
          <a:xfrm>
            <a:off x="8381847"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+20,87%</a:t>
            </a:r>
          </a:p>
        </p:txBody>
      </p:sp>
      <p:sp>
        <p:nvSpPr>
          <p:cNvPr id="49" name="TextBox 48"/>
          <p:cNvSpPr txBox="1"/>
          <p:nvPr/>
        </p:nvSpPr>
        <p:spPr>
          <a:xfrm>
            <a:off x="8381847"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-12 % to +67 %</a:t>
            </a:r>
          </a:p>
        </p:txBody>
      </p:sp>
      <p:sp>
        <p:nvSpPr>
          <p:cNvPr id="50" name="TextBox 49"/>
          <p:cNvSpPr txBox="1"/>
          <p:nvPr/>
        </p:nvSpPr>
        <p:spPr>
          <a:xfrm>
            <a:off x="8381847"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+272.913 kr / mo</a:t>
            </a:r>
          </a:p>
        </p:txBody>
      </p:sp>
      <p:sp>
        <p:nvSpPr>
          <p:cNvPr id="51" name="Rectangle 50"/>
          <p:cNvSpPr/>
          <p:nvPr/>
        </p:nvSpPr>
        <p:spPr>
          <a:xfrm>
            <a:off x="8381847"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1847"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53" name="TextBox 52"/>
          <p:cNvSpPr txBox="1"/>
          <p:nvPr/>
        </p:nvSpPr>
        <p:spPr>
          <a:xfrm>
            <a:off x="9387687"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16,3% → 17,6%</a:t>
            </a:r>
          </a:p>
        </p:txBody>
      </p:sp>
      <p:sp>
        <p:nvSpPr>
          <p:cNvPr id="54" name="TextBox 53"/>
          <p:cNvSpPr txBox="1"/>
          <p:nvPr/>
        </p:nvSpPr>
        <p:spPr>
          <a:xfrm>
            <a:off x="8381847"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+7,72%</a:t>
            </a:r>
          </a:p>
        </p:txBody>
      </p:sp>
      <p:sp>
        <p:nvSpPr>
          <p:cNvPr id="55" name="TextBox 54"/>
          <p:cNvSpPr txBox="1"/>
          <p:nvPr/>
        </p:nvSpPr>
        <p:spPr>
          <a:xfrm>
            <a:off x="8381847"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56" name="TextBox 55"/>
          <p:cNvSpPr txBox="1"/>
          <p:nvPr/>
        </p:nvSpPr>
        <p:spPr>
          <a:xfrm>
            <a:off x="9387687"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401,87 → 450,94 kr</a:t>
            </a:r>
          </a:p>
        </p:txBody>
      </p:sp>
      <p:sp>
        <p:nvSpPr>
          <p:cNvPr id="57" name="TextBox 56"/>
          <p:cNvSpPr txBox="1"/>
          <p:nvPr/>
        </p:nvSpPr>
        <p:spPr>
          <a:xfrm>
            <a:off x="8381847"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+12,21%</a:t>
            </a:r>
          </a:p>
        </p:txBody>
      </p:sp>
      <p:sp>
        <p:nvSpPr>
          <p:cNvPr id="58" name="TextBox 57"/>
          <p:cNvSpPr txBox="1"/>
          <p:nvPr/>
        </p:nvSpPr>
        <p:spPr>
          <a:xfrm>
            <a:off x="8381847"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PDP view rate</a:t>
            </a:r>
          </a:p>
        </p:txBody>
      </p:sp>
      <p:sp>
        <p:nvSpPr>
          <p:cNvPr id="59" name="TextBox 58"/>
          <p:cNvSpPr txBox="1"/>
          <p:nvPr/>
        </p:nvSpPr>
        <p:spPr>
          <a:xfrm>
            <a:off x="9387687"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56,6% → 61,8%</a:t>
            </a:r>
          </a:p>
        </p:txBody>
      </p:sp>
      <p:sp>
        <p:nvSpPr>
          <p:cNvPr id="60" name="TextBox 59"/>
          <p:cNvSpPr txBox="1"/>
          <p:nvPr/>
        </p:nvSpPr>
        <p:spPr>
          <a:xfrm>
            <a:off x="8381847" y="5568696"/>
            <a:ext cx="3200399" cy="228600"/>
          </a:xfrm>
          <a:prstGeom prst="rect">
            <a:avLst/>
          </a:prstGeom>
          <a:noFill/>
        </p:spPr>
        <p:txBody>
          <a:bodyPr wrap="square" lIns="0" rIns="0" tIns="0" bIns="0" anchor="t">
            <a:spAutoFit/>
          </a:bodyPr>
          <a:lstStyle/>
          <a:p>
            <a:pPr algn="r"/>
            <a:r>
              <a:rPr sz="900" b="1" i="0">
                <a:solidFill>
                  <a:srgbClr val="F7D007"/>
                </a:solidFill>
                <a:latin typeface="Menlo"/>
              </a:rPr>
              <a:t>+9,21%</a:t>
            </a:r>
          </a:p>
        </p:txBody>
      </p:sp>
      <p:sp>
        <p:nvSpPr>
          <p:cNvPr id="61" name="TextBox 60"/>
          <p:cNvSpPr txBox="1"/>
          <p:nvPr/>
        </p:nvSpPr>
        <p:spPr>
          <a:xfrm>
            <a:off x="8381847"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Reworked homepage hero with lighter background. Lifted the full funnel: more PDP views, higher AOV, more revenue.</a:t>
            </a:r>
          </a:p>
        </p:txBody>
      </p:sp>
      <p:sp>
        <p:nvSpPr>
          <p:cNvPr id="62" name="TextBox 61"/>
          <p:cNvSpPr txBox="1"/>
          <p:nvPr/>
        </p:nvSpPr>
        <p:spPr>
          <a:xfrm>
            <a:off x="0" y="6446520"/>
            <a:ext cx="12191695" cy="164592"/>
          </a:xfrm>
          <a:prstGeom prst="rect">
            <a:avLst/>
          </a:prstGeom>
          <a:noFill/>
        </p:spPr>
        <p:txBody>
          <a:bodyPr wrap="square" lIns="0" rIns="0" tIns="0" bIns="0" anchor="t">
            <a:spAutoFit/>
          </a:bodyPr>
          <a:lstStyle/>
          <a:p>
            <a:pPr algn="ctr"/>
            <a:r>
              <a:rPr sz="800" b="0" i="1">
                <a:solidFill>
                  <a:srgbClr val="6B7C75"/>
                </a:solidFill>
                <a:latin typeface="Helvetica Neue"/>
              </a:rPr>
              <a:t>Source: IntelliGEMS test reports. Confidence intervals shown reflect range of likely true effect. References available on request.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01</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Comforth · Product tags on collection cards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Added benefit and trust tags directly to product cards on collection pages. Variant lifted all three commercial metrics with no degradation in any guardrail.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forth | Product Tags Control.png"/>
          <p:cNvPicPr>
            <a:picLocks noChangeAspect="1"/>
          </p:cNvPicPr>
          <p:nvPr/>
        </p:nvPicPr>
        <p:blipFill>
          <a:blip r:embed="rId3"/>
          <a:stretch>
            <a:fillRect/>
          </a:stretch>
        </p:blipFill>
        <p:spPr>
          <a:xfrm>
            <a:off x="882127" y="2377440"/>
            <a:ext cx="1527586"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forth | Product Tags Variant.png"/>
          <p:cNvPicPr>
            <a:picLocks noChangeAspect="1"/>
          </p:cNvPicPr>
          <p:nvPr/>
        </p:nvPicPr>
        <p:blipFill>
          <a:blip r:embed="rId4"/>
          <a:stretch>
            <a:fillRect/>
          </a:stretch>
        </p:blipFill>
        <p:spPr>
          <a:xfrm>
            <a:off x="2990541" y="2377440"/>
            <a:ext cx="151699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PROFIT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+11,42%</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-11 % to +39 %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+106.550 kr / month projected</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2,09 %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2,37 %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+13,07%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26,88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29,87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+11,13%</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15,07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16,80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+11,42%</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Est. orders / mo</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+169</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02</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PDP volume discount tiers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Surfaced volume discount tiers directly on the PDP. The variant lifted purchase rate, AOV, and downstream profit simultaneously.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PDP Volume discount  control.jpg"/>
          <p:cNvPicPr>
            <a:picLocks noChangeAspect="1"/>
          </p:cNvPicPr>
          <p:nvPr/>
        </p:nvPicPr>
        <p:blipFill>
          <a:blip r:embed="rId3"/>
          <a:stretch>
            <a:fillRect/>
          </a:stretch>
        </p:blipFill>
        <p:spPr>
          <a:xfrm>
            <a:off x="1185109" y="2377440"/>
            <a:ext cx="921621"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PDP Volume discount  variant.jpg"/>
          <p:cNvPicPr>
            <a:picLocks noChangeAspect="1"/>
          </p:cNvPicPr>
          <p:nvPr/>
        </p:nvPicPr>
        <p:blipFill>
          <a:blip r:embed="rId4"/>
          <a:stretch>
            <a:fillRect/>
          </a:stretch>
        </p:blipFill>
        <p:spPr>
          <a:xfrm>
            <a:off x="3329492" y="2377440"/>
            <a:ext cx="839096"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CONVERSION RATE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+11,08%</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-3 % to +27 %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+298 orders / month · +134.917 kr / mo (RPV)</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6,94 %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7,71 %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+11,08%</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20,36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23,84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+17,10%</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10,49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12,25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+16,68%</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293,47 kr</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309,37 kr</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+5,42%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33</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03</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Homepage hero optimization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Reworked homepage hero with a lighter background and a sharper category-led layout. Lift compounded through PDP views, AOV, and revenue.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Homepage hero optimization control.jpg"/>
          <p:cNvPicPr>
            <a:picLocks noChangeAspect="1"/>
          </p:cNvPicPr>
          <p:nvPr/>
        </p:nvPicPr>
        <p:blipFill>
          <a:blip r:embed="rId3"/>
          <a:stretch>
            <a:fillRect/>
          </a:stretch>
        </p:blipFill>
        <p:spPr>
          <a:xfrm>
            <a:off x="932688" y="2377440"/>
            <a:ext cx="1426464"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Homepage hero optimization variant.jpg"/>
          <p:cNvPicPr>
            <a:picLocks noChangeAspect="1"/>
          </p:cNvPicPr>
          <p:nvPr/>
        </p:nvPicPr>
        <p:blipFill>
          <a:blip r:embed="rId4"/>
          <a:stretch>
            <a:fillRect/>
          </a:stretch>
        </p:blipFill>
        <p:spPr>
          <a:xfrm>
            <a:off x="3238596" y="2377440"/>
            <a:ext cx="102088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+20,87%</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-12 % to +67 %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+251 orders / month · +272.913 kr / mo</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65,50 kr</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79,17 kr</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+20,87%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34,78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42,35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+21,78%</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401,87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450,94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+12,21%</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PDP view rate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56,6 %</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61,8 %</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+9,21%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34</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05</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ECOMHOUSE METHOD</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How we work, test, and charge</a:t>
            </a:r>
          </a:p>
        </p:txBody>
      </p:sp>
      <p:sp>
        <p:nvSpPr>
          <p:cNvPr id="10" name="TextBox 9"/>
          <p:cNvSpPr txBox="1"/>
          <p:nvPr/>
        </p:nvSpPr>
        <p:spPr>
          <a:xfrm>
            <a:off x="2286000" y="4434840"/>
            <a:ext cx="7619695" cy="1097280"/>
          </a:xfrm>
          <a:prstGeom prst="rect">
            <a:avLst/>
          </a:prstGeom>
          <a:noFill/>
        </p:spPr>
        <p:txBody>
          <a:bodyPr wrap="square" lIns="0" rIns="0" tIns="0" bIns="0" anchor="t">
            <a:spAutoFit/>
          </a:bodyPr>
          <a:lstStyle/>
          <a:p>
            <a:pPr algn="ctr"/>
            <a:r>
              <a:rPr sz="1300" b="0" i="0">
                <a:solidFill>
                  <a:srgbClr val="999999"/>
                </a:solidFill>
                <a:latin typeface="Helvetica Neue"/>
              </a:rPr>
              <a:t>A zero-row CRO service: research, copy, design, build, QA, deploy, test, analyze, report. End to end, performance-priced.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THE ECOMHOUSE METHOD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Six steps, end to end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You approve. We execute. Every step is owned by us, including build, QA, and rollout. Client only approves the brief and rollout.</a:t>
            </a:r>
          </a:p>
        </p:txBody>
      </p:sp>
      <p:sp>
        <p:nvSpPr>
          <p:cNvPr id="10" name="Rounded Rectangle 9"/>
          <p:cNvSpPr/>
          <p:nvPr/>
        </p:nvSpPr>
        <p:spPr>
          <a:xfrm>
            <a:off x="44942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01</a:t>
            </a:r>
          </a:p>
        </p:txBody>
      </p:sp>
      <p:sp>
        <p:nvSpPr>
          <p:cNvPr id="12" name="TextBox 11"/>
          <p:cNvSpPr txBox="1"/>
          <p:nvPr/>
        </p:nvSpPr>
        <p:spPr>
          <a:xfrm>
            <a:off x="63230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Research</a:t>
            </a:r>
          </a:p>
        </p:txBody>
      </p:sp>
      <p:sp>
        <p:nvSpPr>
          <p:cNvPr id="13" name="TextBox 12"/>
          <p:cNvSpPr txBox="1"/>
          <p:nvPr/>
        </p:nvSpPr>
        <p:spPr>
          <a:xfrm>
            <a:off x="63230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GA4, Shopify, heatmaps, recordings, reviews, support.</a:t>
            </a:r>
          </a:p>
        </p:txBody>
      </p:sp>
      <p:sp>
        <p:nvSpPr>
          <p:cNvPr id="14" name="TextBox 13"/>
          <p:cNvSpPr txBox="1"/>
          <p:nvPr/>
        </p:nvSpPr>
        <p:spPr>
          <a:xfrm>
            <a:off x="2232507"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15" name="Rounded Rectangle 14"/>
          <p:cNvSpPr/>
          <p:nvPr/>
        </p:nvSpPr>
        <p:spPr>
          <a:xfrm>
            <a:off x="2351379"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4259"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02</a:t>
            </a:r>
          </a:p>
        </p:txBody>
      </p:sp>
      <p:sp>
        <p:nvSpPr>
          <p:cNvPr id="17" name="TextBox 16"/>
          <p:cNvSpPr txBox="1"/>
          <p:nvPr/>
        </p:nvSpPr>
        <p:spPr>
          <a:xfrm>
            <a:off x="2534259"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Ideate</a:t>
            </a:r>
          </a:p>
        </p:txBody>
      </p:sp>
      <p:sp>
        <p:nvSpPr>
          <p:cNvPr id="18" name="TextBox 17"/>
          <p:cNvSpPr txBox="1"/>
          <p:nvPr/>
        </p:nvSpPr>
        <p:spPr>
          <a:xfrm>
            <a:off x="2534259"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Hypothesis, variant concepts, copy, Figma prototype.</a:t>
            </a:r>
          </a:p>
        </p:txBody>
      </p:sp>
      <p:sp>
        <p:nvSpPr>
          <p:cNvPr id="19" name="TextBox 18"/>
          <p:cNvSpPr txBox="1"/>
          <p:nvPr/>
        </p:nvSpPr>
        <p:spPr>
          <a:xfrm>
            <a:off x="4134459"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0" name="Rounded Rectangle 19"/>
          <p:cNvSpPr/>
          <p:nvPr/>
        </p:nvSpPr>
        <p:spPr>
          <a:xfrm>
            <a:off x="4253331"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6211"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03</a:t>
            </a:r>
          </a:p>
        </p:txBody>
      </p:sp>
      <p:sp>
        <p:nvSpPr>
          <p:cNvPr id="22" name="TextBox 21"/>
          <p:cNvSpPr txBox="1"/>
          <p:nvPr/>
        </p:nvSpPr>
        <p:spPr>
          <a:xfrm>
            <a:off x="4436211"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Pre-test brief</a:t>
            </a:r>
          </a:p>
        </p:txBody>
      </p:sp>
      <p:sp>
        <p:nvSpPr>
          <p:cNvPr id="23" name="TextBox 22"/>
          <p:cNvSpPr txBox="1"/>
          <p:nvPr/>
        </p:nvSpPr>
        <p:spPr>
          <a:xfrm>
            <a:off x="4436211"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brief with metric, confidence, sample size.</a:t>
            </a:r>
          </a:p>
        </p:txBody>
      </p:sp>
      <p:sp>
        <p:nvSpPr>
          <p:cNvPr id="24" name="TextBox 23"/>
          <p:cNvSpPr txBox="1"/>
          <p:nvPr/>
        </p:nvSpPr>
        <p:spPr>
          <a:xfrm>
            <a:off x="6036411"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5" name="Rounded Rectangle 24"/>
          <p:cNvSpPr/>
          <p:nvPr/>
        </p:nvSpPr>
        <p:spPr>
          <a:xfrm>
            <a:off x="6155283"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38163"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04</a:t>
            </a:r>
          </a:p>
        </p:txBody>
      </p:sp>
      <p:sp>
        <p:nvSpPr>
          <p:cNvPr id="27" name="TextBox 26"/>
          <p:cNvSpPr txBox="1"/>
          <p:nvPr/>
        </p:nvSpPr>
        <p:spPr>
          <a:xfrm>
            <a:off x="6338163"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Build + QA</a:t>
            </a:r>
          </a:p>
        </p:txBody>
      </p:sp>
      <p:sp>
        <p:nvSpPr>
          <p:cNvPr id="28" name="TextBox 27"/>
          <p:cNvSpPr txBox="1"/>
          <p:nvPr/>
        </p:nvSpPr>
        <p:spPr>
          <a:xfrm>
            <a:off x="6338163"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Shopify or test tool variant, tracked, QA'd across devices.</a:t>
            </a:r>
          </a:p>
        </p:txBody>
      </p:sp>
      <p:sp>
        <p:nvSpPr>
          <p:cNvPr id="29" name="TextBox 28"/>
          <p:cNvSpPr txBox="1"/>
          <p:nvPr/>
        </p:nvSpPr>
        <p:spPr>
          <a:xfrm>
            <a:off x="7938363"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0" name="Rounded Rectangle 29"/>
          <p:cNvSpPr/>
          <p:nvPr/>
        </p:nvSpPr>
        <p:spPr>
          <a:xfrm>
            <a:off x="8057235"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0115"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05</a:t>
            </a:r>
          </a:p>
        </p:txBody>
      </p:sp>
      <p:sp>
        <p:nvSpPr>
          <p:cNvPr id="32" name="TextBox 31"/>
          <p:cNvSpPr txBox="1"/>
          <p:nvPr/>
        </p:nvSpPr>
        <p:spPr>
          <a:xfrm>
            <a:off x="8240115"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Run + monitor</a:t>
            </a:r>
          </a:p>
        </p:txBody>
      </p:sp>
      <p:sp>
        <p:nvSpPr>
          <p:cNvPr id="33" name="TextBox 32"/>
          <p:cNvSpPr txBox="1"/>
          <p:nvPr/>
        </p:nvSpPr>
        <p:spPr>
          <a:xfrm>
            <a:off x="8240115"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Live test with guardrail watch, weekly progress updates.</a:t>
            </a:r>
          </a:p>
        </p:txBody>
      </p:sp>
      <p:sp>
        <p:nvSpPr>
          <p:cNvPr id="34" name="TextBox 33"/>
          <p:cNvSpPr txBox="1"/>
          <p:nvPr/>
        </p:nvSpPr>
        <p:spPr>
          <a:xfrm>
            <a:off x="9840315"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5" name="Rounded Rectangle 34"/>
          <p:cNvSpPr/>
          <p:nvPr/>
        </p:nvSpPr>
        <p:spPr>
          <a:xfrm>
            <a:off x="995918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206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06</a:t>
            </a:r>
          </a:p>
        </p:txBody>
      </p:sp>
      <p:sp>
        <p:nvSpPr>
          <p:cNvPr id="37" name="TextBox 36"/>
          <p:cNvSpPr txBox="1"/>
          <p:nvPr/>
        </p:nvSpPr>
        <p:spPr>
          <a:xfrm>
            <a:off x="1014206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Analyze + roll out</a:t>
            </a:r>
          </a:p>
        </p:txBody>
      </p:sp>
      <p:sp>
        <p:nvSpPr>
          <p:cNvPr id="38" name="TextBox 37"/>
          <p:cNvSpPr txBox="1"/>
          <p:nvPr/>
        </p:nvSpPr>
        <p:spPr>
          <a:xfrm>
            <a:off x="1014206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verdict, fee invoiced on rollout to 100 % of traffic.</a:t>
            </a:r>
          </a:p>
        </p:txBody>
      </p:sp>
      <p:sp>
        <p:nvSpPr>
          <p:cNvPr id="39" name="Rounded Rectangle 38"/>
          <p:cNvSpPr/>
          <p:nvPr/>
        </p:nvSpPr>
        <p:spPr>
          <a:xfrm>
            <a:off x="914400" y="5029200"/>
            <a:ext cx="10360152"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5166360"/>
            <a:ext cx="9902952"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Zero-row service: </a:t>
            </a:r>
            <a:r>
              <a:rPr sz="1100" b="0" i="0">
                <a:solidFill>
                  <a:srgbClr val="CCCCCC"/>
                </a:solidFill>
                <a:latin typeface="Helvetica Neue"/>
              </a:rPr>
              <a:t>the client is not expected to do production work. We handle everything from research through analysis. The client approves the pre-test brief and the rollout decision in writing.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PRE-TEST ANALYSIS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Every test launches with a written brief</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No test starts without a documented, approved brief. This protects both sides: the client knows the rules, the agency knows the success criteria.</a:t>
            </a:r>
          </a:p>
        </p:txBody>
      </p:sp>
      <p:sp>
        <p:nvSpPr>
          <p:cNvPr id="10" name="Rounded Rectangle 9"/>
          <p:cNvSpPr/>
          <p:nvPr/>
        </p:nvSpPr>
        <p:spPr>
          <a:xfrm>
            <a:off x="746607" y="2606040"/>
            <a:ext cx="5212080" cy="3383280"/>
          </a:xfrm>
          <a:prstGeom prst="roundRect">
            <a:avLst>
              <a:gd name="adj" fmla="val 4000"/>
            </a:avLst>
          </a:prstGeom>
          <a:solidFill>
            <a:srgbClr val="101010"/>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880360"/>
            <a:ext cx="4663440" cy="274320"/>
          </a:xfrm>
          <a:prstGeom prst="rect">
            <a:avLst/>
          </a:prstGeom>
          <a:noFill/>
        </p:spPr>
        <p:txBody>
          <a:bodyPr wrap="square" lIns="0" rIns="0" tIns="0" bIns="0" anchor="t">
            <a:spAutoFit/>
          </a:bodyPr>
          <a:lstStyle/>
          <a:p>
            <a:pPr algn="l"/>
            <a:r>
              <a:rPr sz="1000" b="1" i="0" spc="150">
                <a:solidFill>
                  <a:srgbClr val="F7D007"/>
                </a:solidFill>
                <a:latin typeface="Menlo"/>
              </a:rPr>
              <a:t>// PART 1</a:t>
            </a:r>
          </a:p>
        </p:txBody>
      </p:sp>
      <p:sp>
        <p:nvSpPr>
          <p:cNvPr id="12" name="TextBox 11"/>
          <p:cNvSpPr txBox="1"/>
          <p:nvPr/>
        </p:nvSpPr>
        <p:spPr>
          <a:xfrm>
            <a:off x="1020927" y="3200400"/>
            <a:ext cx="4663440" cy="411480"/>
          </a:xfrm>
          <a:prstGeom prst="rect">
            <a:avLst/>
          </a:prstGeom>
          <a:noFill/>
        </p:spPr>
        <p:txBody>
          <a:bodyPr wrap="square" lIns="0" rIns="0" tIns="0" bIns="0" anchor="t">
            <a:spAutoFit/>
          </a:bodyPr>
          <a:lstStyle/>
          <a:p>
            <a:pPr algn="l"/>
            <a:r>
              <a:rPr sz="1800" b="1" i="0">
                <a:solidFill>
                  <a:srgbClr val="FFFFFF"/>
                </a:solidFill>
                <a:latin typeface="Helvetica Neue"/>
              </a:rPr>
              <a:t>Test setup</a:t>
            </a:r>
          </a:p>
        </p:txBody>
      </p:sp>
      <p:sp>
        <p:nvSpPr>
          <p:cNvPr id="13" name="TextBox 12"/>
          <p:cNvSpPr txBox="1"/>
          <p:nvPr/>
        </p:nvSpPr>
        <p:spPr>
          <a:xfrm>
            <a:off x="1020927" y="3749040"/>
            <a:ext cx="22860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14" name="TextBox 13"/>
          <p:cNvSpPr txBox="1"/>
          <p:nvPr/>
        </p:nvSpPr>
        <p:spPr>
          <a:xfrm>
            <a:off x="1295247" y="3749040"/>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Hypothesis and the Control vs Variant difference</a:t>
            </a:r>
          </a:p>
        </p:txBody>
      </p:sp>
      <p:sp>
        <p:nvSpPr>
          <p:cNvPr id="15" name="TextBox 14"/>
          <p:cNvSpPr txBox="1"/>
          <p:nvPr/>
        </p:nvSpPr>
        <p:spPr>
          <a:xfrm>
            <a:off x="1020927" y="4133088"/>
            <a:ext cx="22860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16" name="TextBox 15"/>
          <p:cNvSpPr txBox="1"/>
          <p:nvPr/>
        </p:nvSpPr>
        <p:spPr>
          <a:xfrm>
            <a:off x="1295247" y="4133088"/>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Audience and traffic filters (mobile only, returning, country)</a:t>
            </a:r>
          </a:p>
        </p:txBody>
      </p:sp>
      <p:sp>
        <p:nvSpPr>
          <p:cNvPr id="17" name="TextBox 16"/>
          <p:cNvSpPr txBox="1"/>
          <p:nvPr/>
        </p:nvSpPr>
        <p:spPr>
          <a:xfrm>
            <a:off x="1020927" y="4517136"/>
            <a:ext cx="22860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18" name="TextBox 17"/>
          <p:cNvSpPr txBox="1"/>
          <p:nvPr/>
        </p:nvSpPr>
        <p:spPr>
          <a:xfrm>
            <a:off x="1295247" y="4517136"/>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Funnel stage and stage multiplier</a:t>
            </a:r>
          </a:p>
        </p:txBody>
      </p:sp>
      <p:sp>
        <p:nvSpPr>
          <p:cNvPr id="19" name="TextBox 18"/>
          <p:cNvSpPr txBox="1"/>
          <p:nvPr/>
        </p:nvSpPr>
        <p:spPr>
          <a:xfrm>
            <a:off x="1020927" y="4901184"/>
            <a:ext cx="22860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0" name="TextBox 19"/>
          <p:cNvSpPr txBox="1"/>
          <p:nvPr/>
        </p:nvSpPr>
        <p:spPr>
          <a:xfrm>
            <a:off x="1295247" y="4901184"/>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URL targeting (homepage, PDP, cart, checkout)</a:t>
            </a:r>
          </a:p>
        </p:txBody>
      </p:sp>
      <p:sp>
        <p:nvSpPr>
          <p:cNvPr id="21" name="TextBox 20"/>
          <p:cNvSpPr txBox="1"/>
          <p:nvPr/>
        </p:nvSpPr>
        <p:spPr>
          <a:xfrm>
            <a:off x="1020927" y="5285232"/>
            <a:ext cx="228600" cy="274320"/>
          </a:xfrm>
          <a:prstGeom prst="rect">
            <a:avLst/>
          </a:prstGeom>
          <a:noFill/>
        </p:spPr>
        <p:txBody>
          <a:bodyPr wrap="square" lIns="0" rIns="0" tIns="0" bIns="0" anchor="t">
            <a:spAutoFit/>
          </a:bodyPr>
          <a:lstStyle/>
          <a:p>
            <a:pPr algn="l"/>
            <a:r>
              <a:rPr sz="1200" b="1" i="0">
                <a:solidFill>
                  <a:srgbClr val="F7D007"/>
                </a:solidFill>
                <a:latin typeface="Helvetica Neue"/>
              </a:rPr>
              <a:t>✓</a:t>
            </a:r>
          </a:p>
        </p:txBody>
      </p:sp>
      <p:sp>
        <p:nvSpPr>
          <p:cNvPr id="22" name="TextBox 21"/>
          <p:cNvSpPr txBox="1"/>
          <p:nvPr/>
        </p:nvSpPr>
        <p:spPr>
          <a:xfrm>
            <a:off x="1295247" y="5285232"/>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Frozen baselines for upper-funnel tests, pulled from trailing 30 days</a:t>
            </a:r>
          </a:p>
        </p:txBody>
      </p:sp>
      <p:sp>
        <p:nvSpPr>
          <p:cNvPr id="23" name="Rounded Rectangle 22"/>
          <p:cNvSpPr/>
          <p:nvPr/>
        </p:nvSpPr>
        <p:spPr>
          <a:xfrm>
            <a:off x="6233007" y="2606040"/>
            <a:ext cx="5212080" cy="3383280"/>
          </a:xfrm>
          <a:prstGeom prst="roundRect">
            <a:avLst>
              <a:gd name="adj" fmla="val 4000"/>
            </a:avLst>
          </a:prstGeom>
          <a:solidFill>
            <a:srgbClr val="101010"/>
          </a:solidFill>
          <a:ln w="19050">
            <a:solidFill>
              <a:srgbClr val="6AA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2880360"/>
            <a:ext cx="4663440" cy="274320"/>
          </a:xfrm>
          <a:prstGeom prst="rect">
            <a:avLst/>
          </a:prstGeom>
          <a:noFill/>
        </p:spPr>
        <p:txBody>
          <a:bodyPr wrap="square" lIns="0" rIns="0" tIns="0" bIns="0" anchor="t">
            <a:spAutoFit/>
          </a:bodyPr>
          <a:lstStyle/>
          <a:p>
            <a:pPr algn="l"/>
            <a:r>
              <a:rPr sz="1000" b="1" i="0" spc="150">
                <a:solidFill>
                  <a:srgbClr val="6AA9FF"/>
                </a:solidFill>
                <a:latin typeface="Menlo"/>
              </a:rPr>
              <a:t>// PART 2</a:t>
            </a:r>
          </a:p>
        </p:txBody>
      </p:sp>
      <p:sp>
        <p:nvSpPr>
          <p:cNvPr id="25" name="TextBox 24"/>
          <p:cNvSpPr txBox="1"/>
          <p:nvPr/>
        </p:nvSpPr>
        <p:spPr>
          <a:xfrm>
            <a:off x="6507327" y="3200400"/>
            <a:ext cx="4663440" cy="411480"/>
          </a:xfrm>
          <a:prstGeom prst="rect">
            <a:avLst/>
          </a:prstGeom>
          <a:noFill/>
        </p:spPr>
        <p:txBody>
          <a:bodyPr wrap="square" lIns="0" rIns="0" tIns="0" bIns="0" anchor="t">
            <a:spAutoFit/>
          </a:bodyPr>
          <a:lstStyle/>
          <a:p>
            <a:pPr algn="l"/>
            <a:r>
              <a:rPr sz="1800" b="1" i="0">
                <a:solidFill>
                  <a:srgbClr val="FFFFFF"/>
                </a:solidFill>
                <a:latin typeface="Helvetica Neue"/>
              </a:rPr>
              <a:t>Statistical parameters</a:t>
            </a:r>
          </a:p>
        </p:txBody>
      </p:sp>
      <p:sp>
        <p:nvSpPr>
          <p:cNvPr id="26" name="TextBox 25"/>
          <p:cNvSpPr txBox="1"/>
          <p:nvPr/>
        </p:nvSpPr>
        <p:spPr>
          <a:xfrm>
            <a:off x="6507327" y="3749040"/>
            <a:ext cx="228600" cy="274320"/>
          </a:xfrm>
          <a:prstGeom prst="rect">
            <a:avLst/>
          </a:prstGeom>
          <a:noFill/>
        </p:spPr>
        <p:txBody>
          <a:bodyPr wrap="square" lIns="0" rIns="0" tIns="0" bIns="0" anchor="t">
            <a:spAutoFit/>
          </a:bodyPr>
          <a:lstStyle/>
          <a:p>
            <a:pPr algn="l"/>
            <a:r>
              <a:rPr sz="1200" b="1" i="0">
                <a:solidFill>
                  <a:srgbClr val="6AA9FF"/>
                </a:solidFill>
                <a:latin typeface="Helvetica Neue"/>
              </a:rPr>
              <a:t>✓</a:t>
            </a:r>
          </a:p>
        </p:txBody>
      </p:sp>
      <p:sp>
        <p:nvSpPr>
          <p:cNvPr id="27" name="TextBox 26"/>
          <p:cNvSpPr txBox="1"/>
          <p:nvPr/>
        </p:nvSpPr>
        <p:spPr>
          <a:xfrm>
            <a:off x="6781647" y="3749040"/>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Primary metric (RPV or relevant funnel-stage metric)</a:t>
            </a:r>
          </a:p>
        </p:txBody>
      </p:sp>
      <p:sp>
        <p:nvSpPr>
          <p:cNvPr id="28" name="TextBox 27"/>
          <p:cNvSpPr txBox="1"/>
          <p:nvPr/>
        </p:nvSpPr>
        <p:spPr>
          <a:xfrm>
            <a:off x="6507327" y="4133088"/>
            <a:ext cx="228600" cy="274320"/>
          </a:xfrm>
          <a:prstGeom prst="rect">
            <a:avLst/>
          </a:prstGeom>
          <a:noFill/>
        </p:spPr>
        <p:txBody>
          <a:bodyPr wrap="square" lIns="0" rIns="0" tIns="0" bIns="0" anchor="t">
            <a:spAutoFit/>
          </a:bodyPr>
          <a:lstStyle/>
          <a:p>
            <a:pPr algn="l"/>
            <a:r>
              <a:rPr sz="1200" b="1" i="0">
                <a:solidFill>
                  <a:srgbClr val="6AA9FF"/>
                </a:solidFill>
                <a:latin typeface="Helvetica Neue"/>
              </a:rPr>
              <a:t>✓</a:t>
            </a:r>
          </a:p>
        </p:txBody>
      </p:sp>
      <p:sp>
        <p:nvSpPr>
          <p:cNvPr id="29" name="TextBox 28"/>
          <p:cNvSpPr txBox="1"/>
          <p:nvPr/>
        </p:nvSpPr>
        <p:spPr>
          <a:xfrm>
            <a:off x="6781647" y="4133088"/>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Statistical confidence (80 % by default)</a:t>
            </a:r>
          </a:p>
        </p:txBody>
      </p:sp>
      <p:sp>
        <p:nvSpPr>
          <p:cNvPr id="30" name="TextBox 29"/>
          <p:cNvSpPr txBox="1"/>
          <p:nvPr/>
        </p:nvSpPr>
        <p:spPr>
          <a:xfrm>
            <a:off x="6507327" y="4517136"/>
            <a:ext cx="228600" cy="274320"/>
          </a:xfrm>
          <a:prstGeom prst="rect">
            <a:avLst/>
          </a:prstGeom>
          <a:noFill/>
        </p:spPr>
        <p:txBody>
          <a:bodyPr wrap="square" lIns="0" rIns="0" tIns="0" bIns="0" anchor="t">
            <a:spAutoFit/>
          </a:bodyPr>
          <a:lstStyle/>
          <a:p>
            <a:pPr algn="l"/>
            <a:r>
              <a:rPr sz="1200" b="1" i="0">
                <a:solidFill>
                  <a:srgbClr val="6AA9FF"/>
                </a:solidFill>
                <a:latin typeface="Helvetica Neue"/>
              </a:rPr>
              <a:t>✓</a:t>
            </a:r>
          </a:p>
        </p:txBody>
      </p:sp>
      <p:sp>
        <p:nvSpPr>
          <p:cNvPr id="31" name="TextBox 30"/>
          <p:cNvSpPr txBox="1"/>
          <p:nvPr/>
        </p:nvSpPr>
        <p:spPr>
          <a:xfrm>
            <a:off x="6781647" y="4517136"/>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Minimum visitor and order count required before conclusion</a:t>
            </a:r>
          </a:p>
        </p:txBody>
      </p:sp>
      <p:sp>
        <p:nvSpPr>
          <p:cNvPr id="32" name="TextBox 31"/>
          <p:cNvSpPr txBox="1"/>
          <p:nvPr/>
        </p:nvSpPr>
        <p:spPr>
          <a:xfrm>
            <a:off x="6507327" y="4901184"/>
            <a:ext cx="228600" cy="274320"/>
          </a:xfrm>
          <a:prstGeom prst="rect">
            <a:avLst/>
          </a:prstGeom>
          <a:noFill/>
        </p:spPr>
        <p:txBody>
          <a:bodyPr wrap="square" lIns="0" rIns="0" tIns="0" bIns="0" anchor="t">
            <a:spAutoFit/>
          </a:bodyPr>
          <a:lstStyle/>
          <a:p>
            <a:pPr algn="l"/>
            <a:r>
              <a:rPr sz="1200" b="1" i="0">
                <a:solidFill>
                  <a:srgbClr val="6AA9FF"/>
                </a:solidFill>
                <a:latin typeface="Helvetica Neue"/>
              </a:rPr>
              <a:t>✓</a:t>
            </a:r>
          </a:p>
        </p:txBody>
      </p:sp>
      <p:sp>
        <p:nvSpPr>
          <p:cNvPr id="33" name="TextBox 32"/>
          <p:cNvSpPr txBox="1"/>
          <p:nvPr/>
        </p:nvSpPr>
        <p:spPr>
          <a:xfrm>
            <a:off x="6781647" y="4901184"/>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Worked fee range at +5 %, +10 %, +15 % scenarios</a:t>
            </a:r>
          </a:p>
        </p:txBody>
      </p:sp>
      <p:sp>
        <p:nvSpPr>
          <p:cNvPr id="34" name="TextBox 33"/>
          <p:cNvSpPr txBox="1"/>
          <p:nvPr/>
        </p:nvSpPr>
        <p:spPr>
          <a:xfrm>
            <a:off x="6507327" y="5285232"/>
            <a:ext cx="228600" cy="274320"/>
          </a:xfrm>
          <a:prstGeom prst="rect">
            <a:avLst/>
          </a:prstGeom>
          <a:noFill/>
        </p:spPr>
        <p:txBody>
          <a:bodyPr wrap="square" lIns="0" rIns="0" tIns="0" bIns="0" anchor="t">
            <a:spAutoFit/>
          </a:bodyPr>
          <a:lstStyle/>
          <a:p>
            <a:pPr algn="l"/>
            <a:r>
              <a:rPr sz="1200" b="1" i="0">
                <a:solidFill>
                  <a:srgbClr val="6AA9FF"/>
                </a:solidFill>
                <a:latin typeface="Helvetica Neue"/>
              </a:rPr>
              <a:t>✓</a:t>
            </a:r>
          </a:p>
        </p:txBody>
      </p:sp>
      <p:sp>
        <p:nvSpPr>
          <p:cNvPr id="35" name="TextBox 34"/>
          <p:cNvSpPr txBox="1"/>
          <p:nvPr/>
        </p:nvSpPr>
        <p:spPr>
          <a:xfrm>
            <a:off x="6781647" y="5285232"/>
            <a:ext cx="4389120" cy="365760"/>
          </a:xfrm>
          <a:prstGeom prst="rect">
            <a:avLst/>
          </a:prstGeom>
          <a:noFill/>
        </p:spPr>
        <p:txBody>
          <a:bodyPr wrap="square" lIns="0" rIns="0" tIns="0" bIns="0" anchor="t">
            <a:spAutoFit/>
          </a:bodyPr>
          <a:lstStyle/>
          <a:p>
            <a:pPr algn="l"/>
            <a:r>
              <a:rPr sz="1100" b="0" i="0">
                <a:solidFill>
                  <a:srgbClr val="CCCCCC"/>
                </a:solidFill>
                <a:latin typeface="Helvetica Neue"/>
              </a:rPr>
              <a:t>Data sources for every input figure, named explicitly</a:t>
            </a:r>
          </a:p>
        </p:txBody>
      </p:sp>
      <p:sp>
        <p:nvSpPr>
          <p:cNvPr id="36" name="Rounded Rectangle 35"/>
          <p:cNvSpPr/>
          <p:nvPr/>
        </p:nvSpPr>
        <p:spPr>
          <a:xfrm>
            <a:off x="640080" y="6172200"/>
            <a:ext cx="10911535" cy="41148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6309360"/>
            <a:ext cx="10454335" cy="13716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The test does not launch until the client approves the brief in writing. </a:t>
            </a:r>
            <a:r>
              <a:rPr sz="1100" b="0" i="0">
                <a:solidFill>
                  <a:srgbClr val="CCCCCC"/>
                </a:solidFill>
                <a:latin typeface="Helvetica Neue"/>
              </a:rPr>
              <a:t>Approved conditions govern the test and the fee.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TESTING PROTOCOL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How we run tests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Strict guardrails on tooling, statistical rigor, and conclusion. Tests only conclude when all approved conditions are met.</a:t>
            </a:r>
          </a:p>
        </p:txBody>
      </p:sp>
      <p:sp>
        <p:nvSpPr>
          <p:cNvPr id="10" name="Rounded Rectangle 9"/>
          <p:cNvSpPr/>
          <p:nvPr/>
        </p:nvSpPr>
        <p:spPr>
          <a:xfrm>
            <a:off x="586587" y="2651760"/>
            <a:ext cx="2651760" cy="28346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187" y="2926080"/>
            <a:ext cx="2194560" cy="274320"/>
          </a:xfrm>
          <a:prstGeom prst="rect">
            <a:avLst/>
          </a:prstGeom>
          <a:noFill/>
        </p:spPr>
        <p:txBody>
          <a:bodyPr wrap="square" lIns="0" rIns="0" tIns="0" bIns="0" anchor="t">
            <a:spAutoFit/>
          </a:bodyPr>
          <a:lstStyle/>
          <a:p>
            <a:pPr algn="l"/>
            <a:r>
              <a:rPr sz="1000" b="1" i="0" spc="150">
                <a:solidFill>
                  <a:srgbClr val="F7D007"/>
                </a:solidFill>
                <a:latin typeface="Menlo"/>
              </a:rPr>
              <a:t>DEFAULT TOOL</a:t>
            </a:r>
          </a:p>
        </p:txBody>
      </p:sp>
      <p:sp>
        <p:nvSpPr>
          <p:cNvPr id="12" name="TextBox 11"/>
          <p:cNvSpPr txBox="1"/>
          <p:nvPr/>
        </p:nvSpPr>
        <p:spPr>
          <a:xfrm>
            <a:off x="815187" y="3246120"/>
            <a:ext cx="2194560" cy="548640"/>
          </a:xfrm>
          <a:prstGeom prst="rect">
            <a:avLst/>
          </a:prstGeom>
          <a:noFill/>
        </p:spPr>
        <p:txBody>
          <a:bodyPr wrap="square" lIns="0" rIns="0" tIns="0" bIns="0" anchor="t">
            <a:spAutoFit/>
          </a:bodyPr>
          <a:lstStyle/>
          <a:p>
            <a:pPr algn="l"/>
            <a:r>
              <a:rPr sz="2000" b="1" i="0" spc="-30">
                <a:solidFill>
                  <a:srgbClr val="FFFFFF"/>
                </a:solidFill>
                <a:latin typeface="Helvetica Neue"/>
              </a:rPr>
              <a:t>IntelliGEMS</a:t>
            </a:r>
          </a:p>
        </p:txBody>
      </p:sp>
      <p:sp>
        <p:nvSpPr>
          <p:cNvPr id="13" name="TextBox 12"/>
          <p:cNvSpPr txBox="1"/>
          <p:nvPr/>
        </p:nvSpPr>
        <p:spPr>
          <a:xfrm>
            <a:off x="815187" y="3886200"/>
            <a:ext cx="2194560" cy="2194560"/>
          </a:xfrm>
          <a:prstGeom prst="rect">
            <a:avLst/>
          </a:prstGeom>
          <a:noFill/>
        </p:spPr>
        <p:txBody>
          <a:bodyPr wrap="square" lIns="0" rIns="0" tIns="0" bIns="0" anchor="t">
            <a:spAutoFit/>
          </a:bodyPr>
          <a:lstStyle/>
          <a:p>
            <a:pPr algn="l"/>
            <a:r>
              <a:rPr sz="1100" b="0" i="0">
                <a:solidFill>
                  <a:srgbClr val="CCCCCC"/>
                </a:solidFill>
                <a:latin typeface="Helvetica Neue"/>
              </a:rPr>
              <a:t>Or any other test tool you prefer (Convert, GrowthBook, Shopify-native), subject to written approval.</a:t>
            </a:r>
          </a:p>
        </p:txBody>
      </p:sp>
      <p:sp>
        <p:nvSpPr>
          <p:cNvPr id="14" name="Rounded Rectangle 13"/>
          <p:cNvSpPr/>
          <p:nvPr/>
        </p:nvSpPr>
        <p:spPr>
          <a:xfrm>
            <a:off x="3375507" y="2651760"/>
            <a:ext cx="2651760" cy="28346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4107" y="2926080"/>
            <a:ext cx="2194560" cy="274320"/>
          </a:xfrm>
          <a:prstGeom prst="rect">
            <a:avLst/>
          </a:prstGeom>
          <a:noFill/>
        </p:spPr>
        <p:txBody>
          <a:bodyPr wrap="square" lIns="0" rIns="0" tIns="0" bIns="0" anchor="t">
            <a:spAutoFit/>
          </a:bodyPr>
          <a:lstStyle/>
          <a:p>
            <a:pPr algn="l"/>
            <a:r>
              <a:rPr sz="1000" b="1" i="0" spc="150">
                <a:solidFill>
                  <a:srgbClr val="F7D007"/>
                </a:solidFill>
                <a:latin typeface="Menlo"/>
              </a:rPr>
              <a:t>CONFIDENCE</a:t>
            </a:r>
          </a:p>
        </p:txBody>
      </p:sp>
      <p:sp>
        <p:nvSpPr>
          <p:cNvPr id="16" name="TextBox 15"/>
          <p:cNvSpPr txBox="1"/>
          <p:nvPr/>
        </p:nvSpPr>
        <p:spPr>
          <a:xfrm>
            <a:off x="3604107" y="3246120"/>
            <a:ext cx="2194560" cy="548640"/>
          </a:xfrm>
          <a:prstGeom prst="rect">
            <a:avLst/>
          </a:prstGeom>
          <a:noFill/>
        </p:spPr>
        <p:txBody>
          <a:bodyPr wrap="square" lIns="0" rIns="0" tIns="0" bIns="0" anchor="t">
            <a:spAutoFit/>
          </a:bodyPr>
          <a:lstStyle/>
          <a:p>
            <a:pPr algn="l"/>
            <a:r>
              <a:rPr sz="2000" b="1" i="0" spc="-30">
                <a:solidFill>
                  <a:srgbClr val="FFFFFF"/>
                </a:solidFill>
                <a:latin typeface="Helvetica Neue"/>
              </a:rPr>
              <a:t>80 % minimum</a:t>
            </a:r>
          </a:p>
        </p:txBody>
      </p:sp>
      <p:sp>
        <p:nvSpPr>
          <p:cNvPr id="17" name="TextBox 16"/>
          <p:cNvSpPr txBox="1"/>
          <p:nvPr/>
        </p:nvSpPr>
        <p:spPr>
          <a:xfrm>
            <a:off x="3604107" y="3886200"/>
            <a:ext cx="2194560" cy="2194560"/>
          </a:xfrm>
          <a:prstGeom prst="rect">
            <a:avLst/>
          </a:prstGeom>
          <a:noFill/>
        </p:spPr>
        <p:txBody>
          <a:bodyPr wrap="square" lIns="0" rIns="0" tIns="0" bIns="0" anchor="t">
            <a:spAutoFit/>
          </a:bodyPr>
          <a:lstStyle/>
          <a:p>
            <a:pPr algn="l"/>
            <a:r>
              <a:rPr sz="1100" b="0" i="0">
                <a:solidFill>
                  <a:srgbClr val="CCCCCC"/>
                </a:solidFill>
                <a:latin typeface="Helvetica Neue"/>
              </a:rPr>
              <a:t>Statistical confidence threshold for declaring a winner. Higher thresholds set per test if you require it.</a:t>
            </a:r>
          </a:p>
        </p:txBody>
      </p:sp>
      <p:sp>
        <p:nvSpPr>
          <p:cNvPr id="18" name="Rounded Rectangle 17"/>
          <p:cNvSpPr/>
          <p:nvPr/>
        </p:nvSpPr>
        <p:spPr>
          <a:xfrm>
            <a:off x="6164427" y="2651760"/>
            <a:ext cx="2651760" cy="28346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3027" y="2926080"/>
            <a:ext cx="2194560" cy="274320"/>
          </a:xfrm>
          <a:prstGeom prst="rect">
            <a:avLst/>
          </a:prstGeom>
          <a:noFill/>
        </p:spPr>
        <p:txBody>
          <a:bodyPr wrap="square" lIns="0" rIns="0" tIns="0" bIns="0" anchor="t">
            <a:spAutoFit/>
          </a:bodyPr>
          <a:lstStyle/>
          <a:p>
            <a:pPr algn="l"/>
            <a:r>
              <a:rPr sz="1000" b="1" i="0" spc="150">
                <a:solidFill>
                  <a:srgbClr val="F7D007"/>
                </a:solidFill>
                <a:latin typeface="Menlo"/>
              </a:rPr>
              <a:t>CONCLUSION</a:t>
            </a:r>
          </a:p>
        </p:txBody>
      </p:sp>
      <p:sp>
        <p:nvSpPr>
          <p:cNvPr id="20" name="TextBox 19"/>
          <p:cNvSpPr txBox="1"/>
          <p:nvPr/>
        </p:nvSpPr>
        <p:spPr>
          <a:xfrm>
            <a:off x="6393027" y="3246120"/>
            <a:ext cx="2194560" cy="548640"/>
          </a:xfrm>
          <a:prstGeom prst="rect">
            <a:avLst/>
          </a:prstGeom>
          <a:noFill/>
        </p:spPr>
        <p:txBody>
          <a:bodyPr wrap="square" lIns="0" rIns="0" tIns="0" bIns="0" anchor="t">
            <a:spAutoFit/>
          </a:bodyPr>
          <a:lstStyle/>
          <a:p>
            <a:pPr algn="l"/>
            <a:r>
              <a:rPr sz="2000" b="1" i="0" spc="-30">
                <a:solidFill>
                  <a:srgbClr val="FFFFFF"/>
                </a:solidFill>
                <a:latin typeface="Helvetica Neue"/>
              </a:rPr>
              <a:t>All conditions met</a:t>
            </a:r>
          </a:p>
        </p:txBody>
      </p:sp>
      <p:sp>
        <p:nvSpPr>
          <p:cNvPr id="21" name="TextBox 20"/>
          <p:cNvSpPr txBox="1"/>
          <p:nvPr/>
        </p:nvSpPr>
        <p:spPr>
          <a:xfrm>
            <a:off x="6393027" y="3886200"/>
            <a:ext cx="2194560" cy="2194560"/>
          </a:xfrm>
          <a:prstGeom prst="rect">
            <a:avLst/>
          </a:prstGeom>
          <a:noFill/>
        </p:spPr>
        <p:txBody>
          <a:bodyPr wrap="square" lIns="0" rIns="0" tIns="0" bIns="0" anchor="t">
            <a:spAutoFit/>
          </a:bodyPr>
          <a:lstStyle/>
          <a:p>
            <a:pPr algn="l"/>
            <a:r>
              <a:rPr sz="1100" b="0" i="0">
                <a:solidFill>
                  <a:srgbClr val="CCCCCC"/>
                </a:solidFill>
                <a:latin typeface="Helvetica Neue"/>
              </a:rPr>
              <a:t>Tests only conclude when minimum visitors, orders, and confidence are reached. No early calls except for technical issues or clear-loser revenue protection.</a:t>
            </a:r>
          </a:p>
        </p:txBody>
      </p:sp>
      <p:sp>
        <p:nvSpPr>
          <p:cNvPr id="22" name="Rounded Rectangle 21"/>
          <p:cNvSpPr/>
          <p:nvPr/>
        </p:nvSpPr>
        <p:spPr>
          <a:xfrm>
            <a:off x="8953347" y="2651760"/>
            <a:ext cx="2651760" cy="28346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1947" y="2926080"/>
            <a:ext cx="2194560" cy="274320"/>
          </a:xfrm>
          <a:prstGeom prst="rect">
            <a:avLst/>
          </a:prstGeom>
          <a:noFill/>
        </p:spPr>
        <p:txBody>
          <a:bodyPr wrap="square" lIns="0" rIns="0" tIns="0" bIns="0" anchor="t">
            <a:spAutoFit/>
          </a:bodyPr>
          <a:lstStyle/>
          <a:p>
            <a:pPr algn="l"/>
            <a:r>
              <a:rPr sz="1000" b="1" i="0" spc="150">
                <a:solidFill>
                  <a:srgbClr val="F7D007"/>
                </a:solidFill>
                <a:latin typeface="Menlo"/>
              </a:rPr>
              <a:t>REPORTING</a:t>
            </a:r>
          </a:p>
        </p:txBody>
      </p:sp>
      <p:sp>
        <p:nvSpPr>
          <p:cNvPr id="24" name="TextBox 23"/>
          <p:cNvSpPr txBox="1"/>
          <p:nvPr/>
        </p:nvSpPr>
        <p:spPr>
          <a:xfrm>
            <a:off x="9181947" y="3246120"/>
            <a:ext cx="2194560" cy="548640"/>
          </a:xfrm>
          <a:prstGeom prst="rect">
            <a:avLst/>
          </a:prstGeom>
          <a:noFill/>
        </p:spPr>
        <p:txBody>
          <a:bodyPr wrap="square" lIns="0" rIns="0" tIns="0" bIns="0" anchor="t">
            <a:spAutoFit/>
          </a:bodyPr>
          <a:lstStyle/>
          <a:p>
            <a:pPr algn="l"/>
            <a:r>
              <a:rPr sz="2000" b="1" i="0" spc="-30">
                <a:solidFill>
                  <a:srgbClr val="FFFFFF"/>
                </a:solidFill>
                <a:latin typeface="Helvetica Neue"/>
              </a:rPr>
              <a:t>Weekly Loom</a:t>
            </a:r>
          </a:p>
        </p:txBody>
      </p:sp>
      <p:sp>
        <p:nvSpPr>
          <p:cNvPr id="25" name="TextBox 24"/>
          <p:cNvSpPr txBox="1"/>
          <p:nvPr/>
        </p:nvSpPr>
        <p:spPr>
          <a:xfrm>
            <a:off x="9181947" y="3886200"/>
            <a:ext cx="2194560" cy="2194560"/>
          </a:xfrm>
          <a:prstGeom prst="rect">
            <a:avLst/>
          </a:prstGeom>
          <a:noFill/>
        </p:spPr>
        <p:txBody>
          <a:bodyPr wrap="square" lIns="0" rIns="0" tIns="0" bIns="0" anchor="t">
            <a:spAutoFit/>
          </a:bodyPr>
          <a:lstStyle/>
          <a:p>
            <a:pPr algn="l"/>
            <a:r>
              <a:rPr sz="1100" b="0" i="0">
                <a:solidFill>
                  <a:srgbClr val="CCCCCC"/>
                </a:solidFill>
                <a:latin typeface="Helvetica Neue"/>
              </a:rPr>
              <a:t>Loom or written summary every week, plus a running test log with all hypotheses, results, and rollouts you can access anytime.</a:t>
            </a:r>
          </a:p>
        </p:txBody>
      </p:sp>
      <p:sp>
        <p:nvSpPr>
          <p:cNvPr id="26" name="Rounded Rectangle 25"/>
          <p:cNvSpPr/>
          <p:nvPr/>
        </p:nvSpPr>
        <p:spPr>
          <a:xfrm>
            <a:off x="640080" y="5852160"/>
            <a:ext cx="10911535"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989320"/>
            <a:ext cx="10454335" cy="3200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You have direct access to the testing software at all times. </a:t>
            </a:r>
            <a:r>
              <a:rPr sz="1100" b="0" i="0">
                <a:solidFill>
                  <a:srgbClr val="CCCCCC"/>
                </a:solidFill>
                <a:latin typeface="Helvetica Neue"/>
              </a:rPr>
              <a:t>Live results, traffic splits, and historical tests visible to your team without going through us.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COMPENSATION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We win when you win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Performance-based fee on every winning test rolled out to 100 % of traffic. One-time charge per test. No attribution window. No recurring tail.</a:t>
            </a:r>
          </a:p>
        </p:txBody>
      </p:sp>
      <p:sp>
        <p:nvSpPr>
          <p:cNvPr id="10" name="Rounded Rectangle 9"/>
          <p:cNvSpPr/>
          <p:nvPr/>
        </p:nvSpPr>
        <p:spPr>
          <a:xfrm>
            <a:off x="929487" y="2331720"/>
            <a:ext cx="5029200" cy="3200400"/>
          </a:xfrm>
          <a:prstGeom prst="roundRect">
            <a:avLst>
              <a:gd name="adj" fmla="val 4000"/>
            </a:avLst>
          </a:prstGeom>
          <a:solidFill>
            <a:srgbClr val="141002"/>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PERFORMANCE FEE</a:t>
            </a:r>
          </a:p>
        </p:txBody>
      </p:sp>
      <p:sp>
        <p:nvSpPr>
          <p:cNvPr id="12" name="TextBox 11"/>
          <p:cNvSpPr txBox="1"/>
          <p:nvPr/>
        </p:nvSpPr>
        <p:spPr>
          <a:xfrm>
            <a:off x="124952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 of estimated monthly revenue uplift</a:t>
            </a:r>
          </a:p>
        </p:txBody>
      </p:sp>
      <p:sp>
        <p:nvSpPr>
          <p:cNvPr id="13" name="TextBox 12"/>
          <p:cNvSpPr txBox="1"/>
          <p:nvPr/>
        </p:nvSpPr>
        <p:spPr>
          <a:xfrm>
            <a:off x="124952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Y %</a:t>
            </a:r>
          </a:p>
        </p:txBody>
      </p:sp>
      <p:sp>
        <p:nvSpPr>
          <p:cNvPr id="14" name="TextBox 13"/>
          <p:cNvSpPr txBox="1"/>
          <p:nvPr/>
        </p:nvSpPr>
        <p:spPr>
          <a:xfrm>
            <a:off x="124952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Charged once per winning test on rollout. Calculated from the test's measured uplift and the client's own data, with the agreed stage multiplier applied.</a:t>
            </a:r>
          </a:p>
        </p:txBody>
      </p:sp>
      <p:sp>
        <p:nvSpPr>
          <p:cNvPr id="15" name="TextBox 14"/>
          <p:cNvSpPr txBox="1"/>
          <p:nvPr/>
        </p:nvSpPr>
        <p:spPr>
          <a:xfrm>
            <a:off x="124952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143240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One time fee per winning test</a:t>
            </a:r>
          </a:p>
        </p:txBody>
      </p:sp>
      <p:sp>
        <p:nvSpPr>
          <p:cNvPr id="17" name="TextBox 16"/>
          <p:cNvSpPr txBox="1"/>
          <p:nvPr/>
        </p:nvSpPr>
        <p:spPr>
          <a:xfrm>
            <a:off x="124952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143240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No recurring tail, no attribution window</a:t>
            </a:r>
          </a:p>
        </p:txBody>
      </p:sp>
      <p:sp>
        <p:nvSpPr>
          <p:cNvPr id="19" name="TextBox 18"/>
          <p:cNvSpPr txBox="1"/>
          <p:nvPr/>
        </p:nvSpPr>
        <p:spPr>
          <a:xfrm>
            <a:off x="124952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0" name="TextBox 19"/>
          <p:cNvSpPr txBox="1"/>
          <p:nvPr/>
        </p:nvSpPr>
        <p:spPr>
          <a:xfrm>
            <a:off x="143240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Loser and inconclusive tests are free</a:t>
            </a:r>
          </a:p>
        </p:txBody>
      </p:sp>
      <p:sp>
        <p:nvSpPr>
          <p:cNvPr id="21" name="Rounded Rectangle 20"/>
          <p:cNvSpPr/>
          <p:nvPr/>
        </p:nvSpPr>
        <p:spPr>
          <a:xfrm>
            <a:off x="6233007" y="2331720"/>
            <a:ext cx="5029200" cy="32004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OPTIONAL RETAINER</a:t>
            </a:r>
          </a:p>
        </p:txBody>
      </p:sp>
      <p:sp>
        <p:nvSpPr>
          <p:cNvPr id="23" name="TextBox 22"/>
          <p:cNvSpPr txBox="1"/>
          <p:nvPr/>
        </p:nvSpPr>
        <p:spPr>
          <a:xfrm>
            <a:off x="655304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Fixed monthly fee</a:t>
            </a:r>
          </a:p>
        </p:txBody>
      </p:sp>
      <p:sp>
        <p:nvSpPr>
          <p:cNvPr id="24" name="TextBox 23"/>
          <p:cNvSpPr txBox="1"/>
          <p:nvPr/>
        </p:nvSpPr>
        <p:spPr>
          <a:xfrm>
            <a:off x="655304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X kr / month</a:t>
            </a:r>
          </a:p>
        </p:txBody>
      </p:sp>
      <p:sp>
        <p:nvSpPr>
          <p:cNvPr id="25" name="TextBox 24"/>
          <p:cNvSpPr txBox="1"/>
          <p:nvPr/>
        </p:nvSpPr>
        <p:spPr>
          <a:xfrm>
            <a:off x="655304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Optional. Predictable monthly cost on top of (or instead of) the performance fee. Some clients prefer this for budgeting.</a:t>
            </a:r>
          </a:p>
        </p:txBody>
      </p:sp>
      <p:sp>
        <p:nvSpPr>
          <p:cNvPr id="26" name="TextBox 25"/>
          <p:cNvSpPr txBox="1"/>
          <p:nvPr/>
        </p:nvSpPr>
        <p:spPr>
          <a:xfrm>
            <a:off x="655304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7" name="TextBox 26"/>
          <p:cNvSpPr txBox="1"/>
          <p:nvPr/>
        </p:nvSpPr>
        <p:spPr>
          <a:xfrm>
            <a:off x="673592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Billed on the 1st, in advance</a:t>
            </a:r>
          </a:p>
        </p:txBody>
      </p:sp>
      <p:sp>
        <p:nvSpPr>
          <p:cNvPr id="28" name="TextBox 27"/>
          <p:cNvSpPr txBox="1"/>
          <p:nvPr/>
        </p:nvSpPr>
        <p:spPr>
          <a:xfrm>
            <a:off x="655304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9" name="TextBox 28"/>
          <p:cNvSpPr txBox="1"/>
          <p:nvPr/>
        </p:nvSpPr>
        <p:spPr>
          <a:xfrm>
            <a:off x="673592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Void if not agreed</a:t>
            </a:r>
          </a:p>
        </p:txBody>
      </p:sp>
      <p:sp>
        <p:nvSpPr>
          <p:cNvPr id="30" name="TextBox 29"/>
          <p:cNvSpPr txBox="1"/>
          <p:nvPr/>
        </p:nvSpPr>
        <p:spPr>
          <a:xfrm>
            <a:off x="655304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1" name="TextBox 30"/>
          <p:cNvSpPr txBox="1"/>
          <p:nvPr/>
        </p:nvSpPr>
        <p:spPr>
          <a:xfrm>
            <a:off x="673592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Stackable with the performance fee</a:t>
            </a:r>
          </a:p>
        </p:txBody>
      </p:sp>
      <p:sp>
        <p:nvSpPr>
          <p:cNvPr id="32" name="Rounded Rectangle 31"/>
          <p:cNvSpPr/>
          <p:nvPr/>
        </p:nvSpPr>
        <p:spPr>
          <a:xfrm>
            <a:off x="822960" y="5760720"/>
            <a:ext cx="10543032"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897880"/>
            <a:ext cx="10085832" cy="3200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Billing: </a:t>
            </a:r>
            <a:r>
              <a:rPr sz="1100" b="0" i="0">
                <a:solidFill>
                  <a:srgbClr val="CCCCCC"/>
                </a:solidFill>
                <a:latin typeface="Helvetica Neue"/>
              </a:rPr>
              <a:t>one invoice on the 1st covering the retainer (if any) plus the performance fee for every winning test rolled out last month. 8 day payment terms. Third-party costs (test tools, apps) paid by the client.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SCHEDULE A · STAGE MULTIPLIERS</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400" b="1" i="0" spc="-50">
                <a:solidFill>
                  <a:srgbClr val="FFFFFF"/>
                </a:solidFill>
                <a:latin typeface="Helvetica Neue"/>
              </a:rPr>
              <a:t>Tests further from purchase carry more projection risk</a:t>
            </a:r>
          </a:p>
        </p:txBody>
      </p:sp>
      <p:sp>
        <p:nvSpPr>
          <p:cNvPr id="9" name="TextBox 8"/>
          <p:cNvSpPr txBox="1"/>
          <p:nvPr/>
        </p:nvSpPr>
        <p:spPr>
          <a:xfrm>
            <a:off x="2011680" y="128016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The stage multiplier discounts the performance fee for upper-funnel tests where revenue impact is estimated rather than directly measured. Approved in the pre-test brief, before the test runs.</a:t>
            </a:r>
          </a:p>
        </p:txBody>
      </p:sp>
      <p:sp>
        <p:nvSpPr>
          <p:cNvPr id="10" name="Rounded Rectangle 9"/>
          <p:cNvSpPr/>
          <p:nvPr/>
        </p:nvSpPr>
        <p:spPr>
          <a:xfrm>
            <a:off x="914400" y="2514600"/>
            <a:ext cx="10362895" cy="8229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651760"/>
            <a:ext cx="1097280" cy="548640"/>
          </a:xfrm>
          <a:prstGeom prst="rect">
            <a:avLst/>
          </a:prstGeom>
          <a:noFill/>
        </p:spPr>
        <p:txBody>
          <a:bodyPr wrap="square" lIns="0" rIns="0" tIns="0" bIns="0" anchor="ctr">
            <a:spAutoFit/>
          </a:bodyPr>
          <a:lstStyle/>
          <a:p>
            <a:pPr algn="l"/>
            <a:r>
              <a:rPr sz="2800" b="1" i="0">
                <a:solidFill>
                  <a:srgbClr val="F7D007"/>
                </a:solidFill>
                <a:latin typeface="Menlo"/>
              </a:rPr>
              <a:t>100 %</a:t>
            </a:r>
          </a:p>
        </p:txBody>
      </p:sp>
      <p:sp>
        <p:nvSpPr>
          <p:cNvPr id="12" name="TextBox 11"/>
          <p:cNvSpPr txBox="1"/>
          <p:nvPr/>
        </p:nvSpPr>
        <p:spPr>
          <a:xfrm>
            <a:off x="2377440" y="2651760"/>
            <a:ext cx="8534095" cy="292608"/>
          </a:xfrm>
          <a:prstGeom prst="rect">
            <a:avLst/>
          </a:prstGeom>
          <a:noFill/>
        </p:spPr>
        <p:txBody>
          <a:bodyPr wrap="square" lIns="0" rIns="0" tIns="0" bIns="0" anchor="t">
            <a:spAutoFit/>
          </a:bodyPr>
          <a:lstStyle/>
          <a:p>
            <a:pPr algn="l"/>
            <a:r>
              <a:rPr sz="1200" b="1" i="0">
                <a:solidFill>
                  <a:srgbClr val="FFFFFF"/>
                </a:solidFill>
                <a:latin typeface="Helvetica Neue"/>
              </a:rPr>
              <a:t>RPV · AOV · Purchase CVR · Checkout CVR · Post-purchase</a:t>
            </a:r>
          </a:p>
        </p:txBody>
      </p:sp>
      <p:sp>
        <p:nvSpPr>
          <p:cNvPr id="13" name="TextBox 12"/>
          <p:cNvSpPr txBox="1"/>
          <p:nvPr/>
        </p:nvSpPr>
        <p:spPr>
          <a:xfrm>
            <a:off x="2377440" y="2971800"/>
            <a:ext cx="8534095" cy="274320"/>
          </a:xfrm>
          <a:prstGeom prst="rect">
            <a:avLst/>
          </a:prstGeom>
          <a:noFill/>
        </p:spPr>
        <p:txBody>
          <a:bodyPr wrap="square" lIns="0" rIns="0" tIns="0" bIns="0" anchor="t">
            <a:spAutoFit/>
          </a:bodyPr>
          <a:lstStyle/>
          <a:p>
            <a:pPr algn="l"/>
            <a:r>
              <a:rPr sz="1050" b="0" i="0">
                <a:solidFill>
                  <a:srgbClr val="999999"/>
                </a:solidFill>
                <a:latin typeface="Helvetica Neue"/>
              </a:rPr>
              <a:t>Revenue measured directly by the testing software. No projection needed.</a:t>
            </a:r>
          </a:p>
        </p:txBody>
      </p:sp>
      <p:sp>
        <p:nvSpPr>
          <p:cNvPr id="14" name="Rounded Rectangle 13"/>
          <p:cNvSpPr/>
          <p:nvPr/>
        </p:nvSpPr>
        <p:spPr>
          <a:xfrm>
            <a:off x="9722815" y="3063240"/>
            <a:ext cx="1371600" cy="10972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22815" y="3063240"/>
            <a:ext cx="1371600" cy="109728"/>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3429000"/>
            <a:ext cx="10362895" cy="8229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566160"/>
            <a:ext cx="1097280" cy="548640"/>
          </a:xfrm>
          <a:prstGeom prst="rect">
            <a:avLst/>
          </a:prstGeom>
          <a:noFill/>
        </p:spPr>
        <p:txBody>
          <a:bodyPr wrap="square" lIns="0" rIns="0" tIns="0" bIns="0" anchor="ctr">
            <a:spAutoFit/>
          </a:bodyPr>
          <a:lstStyle/>
          <a:p>
            <a:pPr algn="l"/>
            <a:r>
              <a:rPr sz="2800" b="1" i="0">
                <a:solidFill>
                  <a:srgbClr val="6AA9FF"/>
                </a:solidFill>
                <a:latin typeface="Menlo"/>
              </a:rPr>
              <a:t>75 %</a:t>
            </a:r>
          </a:p>
        </p:txBody>
      </p:sp>
      <p:sp>
        <p:nvSpPr>
          <p:cNvPr id="18" name="TextBox 17"/>
          <p:cNvSpPr txBox="1"/>
          <p:nvPr/>
        </p:nvSpPr>
        <p:spPr>
          <a:xfrm>
            <a:off x="2377440" y="3566160"/>
            <a:ext cx="8534095" cy="292608"/>
          </a:xfrm>
          <a:prstGeom prst="rect">
            <a:avLst/>
          </a:prstGeom>
          <a:noFill/>
        </p:spPr>
        <p:txBody>
          <a:bodyPr wrap="square" lIns="0" rIns="0" tIns="0" bIns="0" anchor="t">
            <a:spAutoFit/>
          </a:bodyPr>
          <a:lstStyle/>
          <a:p>
            <a:pPr algn="l"/>
            <a:r>
              <a:rPr sz="1200" b="1" i="0">
                <a:solidFill>
                  <a:srgbClr val="FFFFFF"/>
                </a:solidFill>
                <a:latin typeface="Helvetica Neue"/>
              </a:rPr>
              <a:t>Cart to checkout · PDP add to cart</a:t>
            </a:r>
          </a:p>
        </p:txBody>
      </p:sp>
      <p:sp>
        <p:nvSpPr>
          <p:cNvPr id="19" name="TextBox 18"/>
          <p:cNvSpPr txBox="1"/>
          <p:nvPr/>
        </p:nvSpPr>
        <p:spPr>
          <a:xfrm>
            <a:off x="2377440" y="3886200"/>
            <a:ext cx="8534095" cy="274320"/>
          </a:xfrm>
          <a:prstGeom prst="rect">
            <a:avLst/>
          </a:prstGeom>
          <a:noFill/>
        </p:spPr>
        <p:txBody>
          <a:bodyPr wrap="square" lIns="0" rIns="0" tIns="0" bIns="0" anchor="t">
            <a:spAutoFit/>
          </a:bodyPr>
          <a:lstStyle/>
          <a:p>
            <a:pPr algn="l"/>
            <a:r>
              <a:rPr sz="1050" b="0" i="0">
                <a:solidFill>
                  <a:srgbClr val="999999"/>
                </a:solidFill>
                <a:latin typeface="Helvetica Neue"/>
              </a:rPr>
              <a:t>One step from purchase. Light projection of downstream behavior.</a:t>
            </a:r>
          </a:p>
        </p:txBody>
      </p:sp>
      <p:sp>
        <p:nvSpPr>
          <p:cNvPr id="20" name="Rounded Rectangle 19"/>
          <p:cNvSpPr/>
          <p:nvPr/>
        </p:nvSpPr>
        <p:spPr>
          <a:xfrm>
            <a:off x="9722815" y="3977640"/>
            <a:ext cx="1371600" cy="10972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22815" y="3977640"/>
            <a:ext cx="1028700" cy="109728"/>
          </a:xfrm>
          <a:prstGeom prst="roundRect">
            <a:avLst>
              <a:gd name="adj" fmla="val 50000"/>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4343400"/>
            <a:ext cx="10362895" cy="8229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480560"/>
            <a:ext cx="1097280" cy="548640"/>
          </a:xfrm>
          <a:prstGeom prst="rect">
            <a:avLst/>
          </a:prstGeom>
          <a:noFill/>
        </p:spPr>
        <p:txBody>
          <a:bodyPr wrap="square" lIns="0" rIns="0" tIns="0" bIns="0" anchor="ctr">
            <a:spAutoFit/>
          </a:bodyPr>
          <a:lstStyle/>
          <a:p>
            <a:pPr algn="l"/>
            <a:r>
              <a:rPr sz="2800" b="1" i="0">
                <a:solidFill>
                  <a:srgbClr val="F59E0B"/>
                </a:solidFill>
                <a:latin typeface="Menlo"/>
              </a:rPr>
              <a:t>50 %</a:t>
            </a:r>
          </a:p>
        </p:txBody>
      </p:sp>
      <p:sp>
        <p:nvSpPr>
          <p:cNvPr id="24" name="TextBox 23"/>
          <p:cNvSpPr txBox="1"/>
          <p:nvPr/>
        </p:nvSpPr>
        <p:spPr>
          <a:xfrm>
            <a:off x="2377440" y="4480560"/>
            <a:ext cx="8534095" cy="292608"/>
          </a:xfrm>
          <a:prstGeom prst="rect">
            <a:avLst/>
          </a:prstGeom>
          <a:noFill/>
        </p:spPr>
        <p:txBody>
          <a:bodyPr wrap="square" lIns="0" rIns="0" tIns="0" bIns="0" anchor="t">
            <a:spAutoFit/>
          </a:bodyPr>
          <a:lstStyle/>
          <a:p>
            <a:pPr algn="l"/>
            <a:r>
              <a:rPr sz="1200" b="1" i="0">
                <a:solidFill>
                  <a:srgbClr val="FFFFFF"/>
                </a:solidFill>
                <a:latin typeface="Helvetica Neue"/>
              </a:rPr>
              <a:t>Collection to PDP · PDP engagement</a:t>
            </a:r>
          </a:p>
        </p:txBody>
      </p:sp>
      <p:sp>
        <p:nvSpPr>
          <p:cNvPr id="25" name="TextBox 24"/>
          <p:cNvSpPr txBox="1"/>
          <p:nvPr/>
        </p:nvSpPr>
        <p:spPr>
          <a:xfrm>
            <a:off x="2377440" y="4800600"/>
            <a:ext cx="8534095" cy="274320"/>
          </a:xfrm>
          <a:prstGeom prst="rect">
            <a:avLst/>
          </a:prstGeom>
          <a:noFill/>
        </p:spPr>
        <p:txBody>
          <a:bodyPr wrap="square" lIns="0" rIns="0" tIns="0" bIns="0" anchor="t">
            <a:spAutoFit/>
          </a:bodyPr>
          <a:lstStyle/>
          <a:p>
            <a:pPr algn="l"/>
            <a:r>
              <a:rPr sz="1050" b="0" i="0">
                <a:solidFill>
                  <a:srgbClr val="999999"/>
                </a:solidFill>
                <a:latin typeface="Helvetica Neue"/>
              </a:rPr>
              <a:t>Two steps from purchase. Multiple downstream conversion rates to project.</a:t>
            </a:r>
          </a:p>
        </p:txBody>
      </p:sp>
      <p:sp>
        <p:nvSpPr>
          <p:cNvPr id="26" name="Rounded Rectangle 25"/>
          <p:cNvSpPr/>
          <p:nvPr/>
        </p:nvSpPr>
        <p:spPr>
          <a:xfrm>
            <a:off x="9722815" y="4892040"/>
            <a:ext cx="1371600" cy="10972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722815" y="4892040"/>
            <a:ext cx="685800" cy="109728"/>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4400" y="5257800"/>
            <a:ext cx="10362895" cy="82296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5394960"/>
            <a:ext cx="1097280" cy="548640"/>
          </a:xfrm>
          <a:prstGeom prst="rect">
            <a:avLst/>
          </a:prstGeom>
          <a:noFill/>
        </p:spPr>
        <p:txBody>
          <a:bodyPr wrap="square" lIns="0" rIns="0" tIns="0" bIns="0" anchor="ctr">
            <a:spAutoFit/>
          </a:bodyPr>
          <a:lstStyle/>
          <a:p>
            <a:pPr algn="l"/>
            <a:r>
              <a:rPr sz="2800" b="1" i="0">
                <a:solidFill>
                  <a:srgbClr val="EF4444"/>
                </a:solidFill>
                <a:latin typeface="Menlo"/>
              </a:rPr>
              <a:t>25 %</a:t>
            </a:r>
          </a:p>
        </p:txBody>
      </p:sp>
      <p:sp>
        <p:nvSpPr>
          <p:cNvPr id="30" name="TextBox 29"/>
          <p:cNvSpPr txBox="1"/>
          <p:nvPr/>
        </p:nvSpPr>
        <p:spPr>
          <a:xfrm>
            <a:off x="2377440" y="5394960"/>
            <a:ext cx="8534095" cy="292608"/>
          </a:xfrm>
          <a:prstGeom prst="rect">
            <a:avLst/>
          </a:prstGeom>
          <a:noFill/>
        </p:spPr>
        <p:txBody>
          <a:bodyPr wrap="square" lIns="0" rIns="0" tIns="0" bIns="0" anchor="t">
            <a:spAutoFit/>
          </a:bodyPr>
          <a:lstStyle/>
          <a:p>
            <a:pPr algn="l"/>
            <a:r>
              <a:rPr sz="1200" b="1" i="0">
                <a:solidFill>
                  <a:srgbClr val="FFFFFF"/>
                </a:solidFill>
                <a:latin typeface="Helvetica Neue"/>
              </a:rPr>
              <a:t>Homepage to collection · Navigation · Site search</a:t>
            </a:r>
          </a:p>
        </p:txBody>
      </p:sp>
      <p:sp>
        <p:nvSpPr>
          <p:cNvPr id="31" name="TextBox 30"/>
          <p:cNvSpPr txBox="1"/>
          <p:nvPr/>
        </p:nvSpPr>
        <p:spPr>
          <a:xfrm>
            <a:off x="2377440" y="5715000"/>
            <a:ext cx="8534095" cy="274320"/>
          </a:xfrm>
          <a:prstGeom prst="rect">
            <a:avLst/>
          </a:prstGeom>
          <a:noFill/>
        </p:spPr>
        <p:txBody>
          <a:bodyPr wrap="square" lIns="0" rIns="0" tIns="0" bIns="0" anchor="t">
            <a:spAutoFit/>
          </a:bodyPr>
          <a:lstStyle/>
          <a:p>
            <a:pPr algn="l"/>
            <a:r>
              <a:rPr sz="1050" b="0" i="0">
                <a:solidFill>
                  <a:srgbClr val="999999"/>
                </a:solidFill>
                <a:latin typeface="Helvetica Neue"/>
              </a:rPr>
              <a:t>Three or more steps from purchase. Heaviest projection assumptions.</a:t>
            </a:r>
          </a:p>
        </p:txBody>
      </p:sp>
      <p:sp>
        <p:nvSpPr>
          <p:cNvPr id="32" name="Rounded Rectangle 31"/>
          <p:cNvSpPr/>
          <p:nvPr/>
        </p:nvSpPr>
        <p:spPr>
          <a:xfrm>
            <a:off x="9722815" y="5806440"/>
            <a:ext cx="1371600" cy="109728"/>
          </a:xfrm>
          <a:prstGeom prst="roundRect">
            <a:avLst>
              <a:gd name="adj" fmla="val 50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722815" y="5806440"/>
            <a:ext cx="342900" cy="109728"/>
          </a:xfrm>
          <a:prstGeom prst="roundRect">
            <a:avLst>
              <a:gd name="adj" fmla="val 5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40</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WORKED EXAMPLE</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400" b="1" i="0" spc="-50">
                <a:solidFill>
                  <a:srgbClr val="FFFFFF"/>
                </a:solidFill>
                <a:latin typeface="Helvetica Neue"/>
              </a:rPr>
              <a:t>Two tests, two fee calculations</a:t>
            </a:r>
          </a:p>
        </p:txBody>
      </p:sp>
      <p:sp>
        <p:nvSpPr>
          <p:cNvPr id="9" name="TextBox 8"/>
          <p:cNvSpPr txBox="1"/>
          <p:nvPr/>
        </p:nvSpPr>
        <p:spPr>
          <a:xfrm>
            <a:off x="2011680" y="128016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How the same agency rate produces different fees depending on where the test sits in the funnel. Uses sportgym.dk's Shopify baseline (9.510 monthly sessions, 3.813 kr AOV, 1,77 % CR), 30 % performance rate.</a:t>
            </a:r>
          </a:p>
        </p:txBody>
      </p:sp>
      <p:sp>
        <p:nvSpPr>
          <p:cNvPr id="10" name="Rounded Rectangle 9"/>
          <p:cNvSpPr/>
          <p:nvPr/>
        </p:nvSpPr>
        <p:spPr>
          <a:xfrm>
            <a:off x="746607" y="2606040"/>
            <a:ext cx="5212080" cy="3703320"/>
          </a:xfrm>
          <a:prstGeom prst="roundRect">
            <a:avLst>
              <a:gd name="adj" fmla="val 4000"/>
            </a:avLst>
          </a:prstGeom>
          <a:solidFill>
            <a:srgbClr val="101010"/>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834640"/>
            <a:ext cx="4663440" cy="365760"/>
          </a:xfrm>
          <a:prstGeom prst="rect">
            <a:avLst/>
          </a:prstGeom>
          <a:noFill/>
        </p:spPr>
        <p:txBody>
          <a:bodyPr wrap="square" lIns="0" rIns="0" tIns="0" bIns="0" anchor="t">
            <a:spAutoFit/>
          </a:bodyPr>
          <a:lstStyle/>
          <a:p>
            <a:pPr algn="l"/>
            <a:r>
              <a:rPr sz="1500" b="1" i="0">
                <a:solidFill>
                  <a:srgbClr val="FFFFFF"/>
                </a:solidFill>
                <a:latin typeface="Helvetica Neue"/>
              </a:rPr>
              <a:t>Direct revenue test</a:t>
            </a:r>
          </a:p>
        </p:txBody>
      </p:sp>
      <p:sp>
        <p:nvSpPr>
          <p:cNvPr id="12" name="TextBox 11"/>
          <p:cNvSpPr txBox="1"/>
          <p:nvPr/>
        </p:nvSpPr>
        <p:spPr>
          <a:xfrm>
            <a:off x="1020927" y="3154680"/>
            <a:ext cx="4663440" cy="274320"/>
          </a:xfrm>
          <a:prstGeom prst="rect">
            <a:avLst/>
          </a:prstGeom>
          <a:noFill/>
        </p:spPr>
        <p:txBody>
          <a:bodyPr wrap="square" lIns="0" rIns="0" tIns="0" bIns="0" anchor="t">
            <a:spAutoFit/>
          </a:bodyPr>
          <a:lstStyle/>
          <a:p>
            <a:pPr algn="l"/>
            <a:r>
              <a:rPr sz="950" b="0" i="0" spc="100">
                <a:solidFill>
                  <a:srgbClr val="999999"/>
                </a:solidFill>
                <a:latin typeface="Menlo"/>
              </a:rPr>
              <a:t>// 100 % multiplier · PDP buy box test</a:t>
            </a:r>
          </a:p>
        </p:txBody>
      </p:sp>
      <p:sp>
        <p:nvSpPr>
          <p:cNvPr id="13" name="TextBox 12"/>
          <p:cNvSpPr txBox="1"/>
          <p:nvPr/>
        </p:nvSpPr>
        <p:spPr>
          <a:xfrm>
            <a:off x="1020927" y="3474720"/>
            <a:ext cx="228600" cy="228600"/>
          </a:xfrm>
          <a:prstGeom prst="rect">
            <a:avLst/>
          </a:prstGeom>
          <a:noFill/>
        </p:spPr>
        <p:txBody>
          <a:bodyPr wrap="square" lIns="0" rIns="0" tIns="0" bIns="0" anchor="t">
            <a:spAutoFit/>
          </a:bodyPr>
          <a:lstStyle/>
          <a:p>
            <a:pPr algn="l"/>
            <a:r>
              <a:rPr sz="1000" b="1" i="0">
                <a:solidFill>
                  <a:srgbClr val="F7D007"/>
                </a:solidFill>
                <a:latin typeface="Menlo"/>
              </a:rPr>
              <a:t>1</a:t>
            </a:r>
          </a:p>
        </p:txBody>
      </p:sp>
      <p:sp>
        <p:nvSpPr>
          <p:cNvPr id="14" name="TextBox 13"/>
          <p:cNvSpPr txBox="1"/>
          <p:nvPr/>
        </p:nvSpPr>
        <p:spPr>
          <a:xfrm>
            <a:off x="1295247" y="347472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Monthly sessions</a:t>
            </a:r>
          </a:p>
        </p:txBody>
      </p:sp>
      <p:sp>
        <p:nvSpPr>
          <p:cNvPr id="15" name="TextBox 14"/>
          <p:cNvSpPr txBox="1"/>
          <p:nvPr/>
        </p:nvSpPr>
        <p:spPr>
          <a:xfrm>
            <a:off x="3992727" y="3474720"/>
            <a:ext cx="1691640" cy="228600"/>
          </a:xfrm>
          <a:prstGeom prst="rect">
            <a:avLst/>
          </a:prstGeom>
          <a:noFill/>
        </p:spPr>
        <p:txBody>
          <a:bodyPr wrap="square" lIns="0" rIns="0" tIns="0" bIns="0" anchor="t">
            <a:spAutoFit/>
          </a:bodyPr>
          <a:lstStyle/>
          <a:p>
            <a:pPr algn="r"/>
            <a:r>
              <a:rPr sz="1000" b="1" i="0">
                <a:solidFill>
                  <a:srgbClr val="FFFFFF"/>
                </a:solidFill>
                <a:latin typeface="Menlo"/>
              </a:rPr>
              <a:t>9.510</a:t>
            </a:r>
          </a:p>
        </p:txBody>
      </p:sp>
      <p:sp>
        <p:nvSpPr>
          <p:cNvPr id="16" name="TextBox 15"/>
          <p:cNvSpPr txBox="1"/>
          <p:nvPr/>
        </p:nvSpPr>
        <p:spPr>
          <a:xfrm>
            <a:off x="1020927" y="3749040"/>
            <a:ext cx="228600" cy="228600"/>
          </a:xfrm>
          <a:prstGeom prst="rect">
            <a:avLst/>
          </a:prstGeom>
          <a:noFill/>
        </p:spPr>
        <p:txBody>
          <a:bodyPr wrap="square" lIns="0" rIns="0" tIns="0" bIns="0" anchor="t">
            <a:spAutoFit/>
          </a:bodyPr>
          <a:lstStyle/>
          <a:p>
            <a:pPr algn="l"/>
            <a:r>
              <a:rPr sz="1000" b="1" i="0">
                <a:solidFill>
                  <a:srgbClr val="F7D007"/>
                </a:solidFill>
                <a:latin typeface="Menlo"/>
              </a:rPr>
              <a:t>2</a:t>
            </a:r>
          </a:p>
        </p:txBody>
      </p:sp>
      <p:sp>
        <p:nvSpPr>
          <p:cNvPr id="17" name="TextBox 16"/>
          <p:cNvSpPr txBox="1"/>
          <p:nvPr/>
        </p:nvSpPr>
        <p:spPr>
          <a:xfrm>
            <a:off x="1295247" y="374904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Baseline purchase CVR</a:t>
            </a:r>
          </a:p>
        </p:txBody>
      </p:sp>
      <p:sp>
        <p:nvSpPr>
          <p:cNvPr id="18" name="TextBox 17"/>
          <p:cNvSpPr txBox="1"/>
          <p:nvPr/>
        </p:nvSpPr>
        <p:spPr>
          <a:xfrm>
            <a:off x="3992727" y="3749040"/>
            <a:ext cx="1691640" cy="228600"/>
          </a:xfrm>
          <a:prstGeom prst="rect">
            <a:avLst/>
          </a:prstGeom>
          <a:noFill/>
        </p:spPr>
        <p:txBody>
          <a:bodyPr wrap="square" lIns="0" rIns="0" tIns="0" bIns="0" anchor="t">
            <a:spAutoFit/>
          </a:bodyPr>
          <a:lstStyle/>
          <a:p>
            <a:pPr algn="r"/>
            <a:r>
              <a:rPr sz="1000" b="1" i="0">
                <a:solidFill>
                  <a:srgbClr val="FFFFFF"/>
                </a:solidFill>
                <a:latin typeface="Menlo"/>
              </a:rPr>
              <a:t>1,77 %</a:t>
            </a:r>
          </a:p>
        </p:txBody>
      </p:sp>
      <p:sp>
        <p:nvSpPr>
          <p:cNvPr id="19" name="TextBox 18"/>
          <p:cNvSpPr txBox="1"/>
          <p:nvPr/>
        </p:nvSpPr>
        <p:spPr>
          <a:xfrm>
            <a:off x="1020927" y="4023360"/>
            <a:ext cx="228600" cy="228600"/>
          </a:xfrm>
          <a:prstGeom prst="rect">
            <a:avLst/>
          </a:prstGeom>
          <a:noFill/>
        </p:spPr>
        <p:txBody>
          <a:bodyPr wrap="square" lIns="0" rIns="0" tIns="0" bIns="0" anchor="t">
            <a:spAutoFit/>
          </a:bodyPr>
          <a:lstStyle/>
          <a:p>
            <a:pPr algn="l"/>
            <a:r>
              <a:rPr sz="1000" b="1" i="0">
                <a:solidFill>
                  <a:srgbClr val="F7D007"/>
                </a:solidFill>
                <a:latin typeface="Menlo"/>
              </a:rPr>
              <a:t>3</a:t>
            </a:r>
          </a:p>
        </p:txBody>
      </p:sp>
      <p:sp>
        <p:nvSpPr>
          <p:cNvPr id="20" name="TextBox 19"/>
          <p:cNvSpPr txBox="1"/>
          <p:nvPr/>
        </p:nvSpPr>
        <p:spPr>
          <a:xfrm>
            <a:off x="1295247" y="402336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Test uplift (+15 % rel.)</a:t>
            </a:r>
          </a:p>
        </p:txBody>
      </p:sp>
      <p:sp>
        <p:nvSpPr>
          <p:cNvPr id="21" name="TextBox 20"/>
          <p:cNvSpPr txBox="1"/>
          <p:nvPr/>
        </p:nvSpPr>
        <p:spPr>
          <a:xfrm>
            <a:off x="3992727" y="4023360"/>
            <a:ext cx="1691640" cy="228600"/>
          </a:xfrm>
          <a:prstGeom prst="rect">
            <a:avLst/>
          </a:prstGeom>
          <a:noFill/>
        </p:spPr>
        <p:txBody>
          <a:bodyPr wrap="square" lIns="0" rIns="0" tIns="0" bIns="0" anchor="t">
            <a:spAutoFit/>
          </a:bodyPr>
          <a:lstStyle/>
          <a:p>
            <a:pPr algn="r"/>
            <a:r>
              <a:rPr sz="1000" b="1" i="0">
                <a:solidFill>
                  <a:srgbClr val="FFFFFF"/>
                </a:solidFill>
                <a:latin typeface="Menlo"/>
              </a:rPr>
              <a:t>+0,27pp → 2,04 %</a:t>
            </a:r>
          </a:p>
        </p:txBody>
      </p:sp>
      <p:sp>
        <p:nvSpPr>
          <p:cNvPr id="22" name="TextBox 21"/>
          <p:cNvSpPr txBox="1"/>
          <p:nvPr/>
        </p:nvSpPr>
        <p:spPr>
          <a:xfrm>
            <a:off x="1020927" y="4297680"/>
            <a:ext cx="228600" cy="228600"/>
          </a:xfrm>
          <a:prstGeom prst="rect">
            <a:avLst/>
          </a:prstGeom>
          <a:noFill/>
        </p:spPr>
        <p:txBody>
          <a:bodyPr wrap="square" lIns="0" rIns="0" tIns="0" bIns="0" anchor="t">
            <a:spAutoFit/>
          </a:bodyPr>
          <a:lstStyle/>
          <a:p>
            <a:pPr algn="l"/>
            <a:r>
              <a:rPr sz="1000" b="1" i="0">
                <a:solidFill>
                  <a:srgbClr val="F7D007"/>
                </a:solidFill>
                <a:latin typeface="Menlo"/>
              </a:rPr>
              <a:t>4</a:t>
            </a:r>
          </a:p>
        </p:txBody>
      </p:sp>
      <p:sp>
        <p:nvSpPr>
          <p:cNvPr id="23" name="TextBox 22"/>
          <p:cNvSpPr txBox="1"/>
          <p:nvPr/>
        </p:nvSpPr>
        <p:spPr>
          <a:xfrm>
            <a:off x="1295247" y="429768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Extra purchases / mo</a:t>
            </a:r>
          </a:p>
        </p:txBody>
      </p:sp>
      <p:sp>
        <p:nvSpPr>
          <p:cNvPr id="24" name="TextBox 23"/>
          <p:cNvSpPr txBox="1"/>
          <p:nvPr/>
        </p:nvSpPr>
        <p:spPr>
          <a:xfrm>
            <a:off x="3992727" y="4297680"/>
            <a:ext cx="1691640" cy="228600"/>
          </a:xfrm>
          <a:prstGeom prst="rect">
            <a:avLst/>
          </a:prstGeom>
          <a:noFill/>
        </p:spPr>
        <p:txBody>
          <a:bodyPr wrap="square" lIns="0" rIns="0" tIns="0" bIns="0" anchor="t">
            <a:spAutoFit/>
          </a:bodyPr>
          <a:lstStyle/>
          <a:p>
            <a:pPr algn="r"/>
            <a:r>
              <a:rPr sz="1000" b="1" i="0">
                <a:solidFill>
                  <a:srgbClr val="FFFFFF"/>
                </a:solidFill>
                <a:latin typeface="Menlo"/>
              </a:rPr>
              <a:t>~26</a:t>
            </a:r>
          </a:p>
        </p:txBody>
      </p:sp>
      <p:sp>
        <p:nvSpPr>
          <p:cNvPr id="25" name="TextBox 24"/>
          <p:cNvSpPr txBox="1"/>
          <p:nvPr/>
        </p:nvSpPr>
        <p:spPr>
          <a:xfrm>
            <a:off x="1020927" y="4572000"/>
            <a:ext cx="228600" cy="228600"/>
          </a:xfrm>
          <a:prstGeom prst="rect">
            <a:avLst/>
          </a:prstGeom>
          <a:noFill/>
        </p:spPr>
        <p:txBody>
          <a:bodyPr wrap="square" lIns="0" rIns="0" tIns="0" bIns="0" anchor="t">
            <a:spAutoFit/>
          </a:bodyPr>
          <a:lstStyle/>
          <a:p>
            <a:pPr algn="l"/>
            <a:r>
              <a:rPr sz="1000" b="1" i="0">
                <a:solidFill>
                  <a:srgbClr val="F7D007"/>
                </a:solidFill>
                <a:latin typeface="Menlo"/>
              </a:rPr>
              <a:t>5</a:t>
            </a:r>
          </a:p>
        </p:txBody>
      </p:sp>
      <p:sp>
        <p:nvSpPr>
          <p:cNvPr id="26" name="TextBox 25"/>
          <p:cNvSpPr txBox="1"/>
          <p:nvPr/>
        </p:nvSpPr>
        <p:spPr>
          <a:xfrm>
            <a:off x="1295247" y="457200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3.813 kr AOV</a:t>
            </a:r>
          </a:p>
        </p:txBody>
      </p:sp>
      <p:sp>
        <p:nvSpPr>
          <p:cNvPr id="27" name="TextBox 26"/>
          <p:cNvSpPr txBox="1"/>
          <p:nvPr/>
        </p:nvSpPr>
        <p:spPr>
          <a:xfrm>
            <a:off x="3992727" y="4572000"/>
            <a:ext cx="1691640" cy="228600"/>
          </a:xfrm>
          <a:prstGeom prst="rect">
            <a:avLst/>
          </a:prstGeom>
          <a:noFill/>
        </p:spPr>
        <p:txBody>
          <a:bodyPr wrap="square" lIns="0" rIns="0" tIns="0" bIns="0" anchor="t">
            <a:spAutoFit/>
          </a:bodyPr>
          <a:lstStyle/>
          <a:p>
            <a:pPr algn="r"/>
            <a:r>
              <a:rPr sz="1000" b="1" i="0">
                <a:solidFill>
                  <a:srgbClr val="FFFFFF"/>
                </a:solidFill>
                <a:latin typeface="Menlo"/>
              </a:rPr>
              <a:t>99.138 kr</a:t>
            </a:r>
          </a:p>
        </p:txBody>
      </p:sp>
      <p:sp>
        <p:nvSpPr>
          <p:cNvPr id="28" name="TextBox 27"/>
          <p:cNvSpPr txBox="1"/>
          <p:nvPr/>
        </p:nvSpPr>
        <p:spPr>
          <a:xfrm>
            <a:off x="1020927" y="4846320"/>
            <a:ext cx="228600" cy="228600"/>
          </a:xfrm>
          <a:prstGeom prst="rect">
            <a:avLst/>
          </a:prstGeom>
          <a:noFill/>
        </p:spPr>
        <p:txBody>
          <a:bodyPr wrap="square" lIns="0" rIns="0" tIns="0" bIns="0" anchor="t">
            <a:spAutoFit/>
          </a:bodyPr>
          <a:lstStyle/>
          <a:p>
            <a:pPr algn="l"/>
            <a:r>
              <a:rPr sz="1000" b="1" i="0">
                <a:solidFill>
                  <a:srgbClr val="F7D007"/>
                </a:solidFill>
                <a:latin typeface="Menlo"/>
              </a:rPr>
              <a:t>6</a:t>
            </a:r>
          </a:p>
        </p:txBody>
      </p:sp>
      <p:sp>
        <p:nvSpPr>
          <p:cNvPr id="29" name="TextBox 28"/>
          <p:cNvSpPr txBox="1"/>
          <p:nvPr/>
        </p:nvSpPr>
        <p:spPr>
          <a:xfrm>
            <a:off x="1295247" y="484632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100 % stage multiplier</a:t>
            </a:r>
          </a:p>
        </p:txBody>
      </p:sp>
      <p:sp>
        <p:nvSpPr>
          <p:cNvPr id="30" name="TextBox 29"/>
          <p:cNvSpPr txBox="1"/>
          <p:nvPr/>
        </p:nvSpPr>
        <p:spPr>
          <a:xfrm>
            <a:off x="3992727" y="4846320"/>
            <a:ext cx="1691640" cy="228600"/>
          </a:xfrm>
          <a:prstGeom prst="rect">
            <a:avLst/>
          </a:prstGeom>
          <a:noFill/>
        </p:spPr>
        <p:txBody>
          <a:bodyPr wrap="square" lIns="0" rIns="0" tIns="0" bIns="0" anchor="t">
            <a:spAutoFit/>
          </a:bodyPr>
          <a:lstStyle/>
          <a:p>
            <a:pPr algn="r"/>
            <a:r>
              <a:rPr sz="1000" b="1" i="0">
                <a:solidFill>
                  <a:srgbClr val="FFFFFF"/>
                </a:solidFill>
                <a:latin typeface="Menlo"/>
              </a:rPr>
              <a:t>99.138 kr</a:t>
            </a:r>
          </a:p>
        </p:txBody>
      </p:sp>
      <p:sp>
        <p:nvSpPr>
          <p:cNvPr id="31" name="TextBox 30"/>
          <p:cNvSpPr txBox="1"/>
          <p:nvPr/>
        </p:nvSpPr>
        <p:spPr>
          <a:xfrm>
            <a:off x="1020927" y="5120640"/>
            <a:ext cx="228600" cy="228600"/>
          </a:xfrm>
          <a:prstGeom prst="rect">
            <a:avLst/>
          </a:prstGeom>
          <a:noFill/>
        </p:spPr>
        <p:txBody>
          <a:bodyPr wrap="square" lIns="0" rIns="0" tIns="0" bIns="0" anchor="t">
            <a:spAutoFit/>
          </a:bodyPr>
          <a:lstStyle/>
          <a:p>
            <a:pPr algn="l"/>
            <a:r>
              <a:rPr sz="1000" b="1" i="0">
                <a:solidFill>
                  <a:srgbClr val="F7D007"/>
                </a:solidFill>
                <a:latin typeface="Menlo"/>
              </a:rPr>
              <a:t>7</a:t>
            </a:r>
          </a:p>
        </p:txBody>
      </p:sp>
      <p:sp>
        <p:nvSpPr>
          <p:cNvPr id="32" name="TextBox 31"/>
          <p:cNvSpPr txBox="1"/>
          <p:nvPr/>
        </p:nvSpPr>
        <p:spPr>
          <a:xfrm>
            <a:off x="1295247" y="512064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30 % agency rate</a:t>
            </a:r>
          </a:p>
        </p:txBody>
      </p:sp>
      <p:sp>
        <p:nvSpPr>
          <p:cNvPr id="33" name="TextBox 32"/>
          <p:cNvSpPr txBox="1"/>
          <p:nvPr/>
        </p:nvSpPr>
        <p:spPr>
          <a:xfrm>
            <a:off x="3992727" y="5120640"/>
            <a:ext cx="1691640" cy="228600"/>
          </a:xfrm>
          <a:prstGeom prst="rect">
            <a:avLst/>
          </a:prstGeom>
          <a:noFill/>
        </p:spPr>
        <p:txBody>
          <a:bodyPr wrap="square" lIns="0" rIns="0" tIns="0" bIns="0" anchor="t">
            <a:spAutoFit/>
          </a:bodyPr>
          <a:lstStyle/>
          <a:p>
            <a:pPr algn="r"/>
            <a:r>
              <a:rPr sz="1000" b="1" i="0">
                <a:solidFill>
                  <a:srgbClr val="FFFFFF"/>
                </a:solidFill>
                <a:latin typeface="Menlo"/>
              </a:rPr>
              <a:t>→</a:t>
            </a:r>
          </a:p>
        </p:txBody>
      </p:sp>
      <p:sp>
        <p:nvSpPr>
          <p:cNvPr id="34" name="Rectangle 33"/>
          <p:cNvSpPr/>
          <p:nvPr/>
        </p:nvSpPr>
        <p:spPr>
          <a:xfrm>
            <a:off x="1020927" y="5623560"/>
            <a:ext cx="4663440"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0927" y="5715000"/>
            <a:ext cx="2286000" cy="274320"/>
          </a:xfrm>
          <a:prstGeom prst="rect">
            <a:avLst/>
          </a:prstGeom>
          <a:noFill/>
        </p:spPr>
        <p:txBody>
          <a:bodyPr wrap="square" lIns="0" rIns="0" tIns="0" bIns="0" anchor="t">
            <a:spAutoFit/>
          </a:bodyPr>
          <a:lstStyle/>
          <a:p>
            <a:pPr algn="l"/>
            <a:r>
              <a:rPr sz="1000" b="1" i="0" spc="150">
                <a:solidFill>
                  <a:srgbClr val="999999"/>
                </a:solidFill>
                <a:latin typeface="Helvetica Neue"/>
              </a:rPr>
              <a:t>ONE TIME FEE</a:t>
            </a:r>
          </a:p>
        </p:txBody>
      </p:sp>
      <p:sp>
        <p:nvSpPr>
          <p:cNvPr id="36" name="TextBox 35"/>
          <p:cNvSpPr txBox="1"/>
          <p:nvPr/>
        </p:nvSpPr>
        <p:spPr>
          <a:xfrm>
            <a:off x="1020927" y="5669280"/>
            <a:ext cx="4663440" cy="411480"/>
          </a:xfrm>
          <a:prstGeom prst="rect">
            <a:avLst/>
          </a:prstGeom>
          <a:noFill/>
        </p:spPr>
        <p:txBody>
          <a:bodyPr wrap="square" lIns="0" rIns="0" tIns="0" bIns="0" anchor="t">
            <a:spAutoFit/>
          </a:bodyPr>
          <a:lstStyle/>
          <a:p>
            <a:pPr algn="r"/>
            <a:r>
              <a:rPr sz="2200" b="1" i="0">
                <a:solidFill>
                  <a:srgbClr val="F7D007"/>
                </a:solidFill>
                <a:latin typeface="Menlo"/>
              </a:rPr>
              <a:t>29.741 kr</a:t>
            </a:r>
          </a:p>
        </p:txBody>
      </p:sp>
      <p:sp>
        <p:nvSpPr>
          <p:cNvPr id="37" name="Rounded Rectangle 36"/>
          <p:cNvSpPr/>
          <p:nvPr/>
        </p:nvSpPr>
        <p:spPr>
          <a:xfrm>
            <a:off x="6233007" y="2606040"/>
            <a:ext cx="5212080" cy="3703320"/>
          </a:xfrm>
          <a:prstGeom prst="roundRect">
            <a:avLst>
              <a:gd name="adj" fmla="val 4000"/>
            </a:avLst>
          </a:prstGeom>
          <a:solidFill>
            <a:srgbClr val="101010"/>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7327" y="2834640"/>
            <a:ext cx="4663440" cy="365760"/>
          </a:xfrm>
          <a:prstGeom prst="rect">
            <a:avLst/>
          </a:prstGeom>
          <a:noFill/>
        </p:spPr>
        <p:txBody>
          <a:bodyPr wrap="square" lIns="0" rIns="0" tIns="0" bIns="0" anchor="t">
            <a:spAutoFit/>
          </a:bodyPr>
          <a:lstStyle/>
          <a:p>
            <a:pPr algn="l"/>
            <a:r>
              <a:rPr sz="1500" b="1" i="0">
                <a:solidFill>
                  <a:srgbClr val="FFFFFF"/>
                </a:solidFill>
                <a:latin typeface="Helvetica Neue"/>
              </a:rPr>
              <a:t>Upper-funnel test</a:t>
            </a:r>
          </a:p>
        </p:txBody>
      </p:sp>
      <p:sp>
        <p:nvSpPr>
          <p:cNvPr id="39" name="TextBox 38"/>
          <p:cNvSpPr txBox="1"/>
          <p:nvPr/>
        </p:nvSpPr>
        <p:spPr>
          <a:xfrm>
            <a:off x="6507327" y="3154680"/>
            <a:ext cx="4663440" cy="274320"/>
          </a:xfrm>
          <a:prstGeom prst="rect">
            <a:avLst/>
          </a:prstGeom>
          <a:noFill/>
        </p:spPr>
        <p:txBody>
          <a:bodyPr wrap="square" lIns="0" rIns="0" tIns="0" bIns="0" anchor="t">
            <a:spAutoFit/>
          </a:bodyPr>
          <a:lstStyle/>
          <a:p>
            <a:pPr algn="l"/>
            <a:r>
              <a:rPr sz="950" b="0" i="0" spc="100">
                <a:solidFill>
                  <a:srgbClr val="999999"/>
                </a:solidFill>
                <a:latin typeface="Menlo"/>
              </a:rPr>
              <a:t>// 25 % multiplier · Homepage hero test</a:t>
            </a:r>
          </a:p>
        </p:txBody>
      </p:sp>
      <p:sp>
        <p:nvSpPr>
          <p:cNvPr id="40" name="TextBox 39"/>
          <p:cNvSpPr txBox="1"/>
          <p:nvPr/>
        </p:nvSpPr>
        <p:spPr>
          <a:xfrm>
            <a:off x="6507327" y="3474720"/>
            <a:ext cx="228600" cy="228600"/>
          </a:xfrm>
          <a:prstGeom prst="rect">
            <a:avLst/>
          </a:prstGeom>
          <a:noFill/>
        </p:spPr>
        <p:txBody>
          <a:bodyPr wrap="square" lIns="0" rIns="0" tIns="0" bIns="0" anchor="t">
            <a:spAutoFit/>
          </a:bodyPr>
          <a:lstStyle/>
          <a:p>
            <a:pPr algn="l"/>
            <a:r>
              <a:rPr sz="1000" b="1" i="0">
                <a:solidFill>
                  <a:srgbClr val="F7D007"/>
                </a:solidFill>
                <a:latin typeface="Menlo"/>
              </a:rPr>
              <a:t>1</a:t>
            </a:r>
          </a:p>
        </p:txBody>
      </p:sp>
      <p:sp>
        <p:nvSpPr>
          <p:cNvPr id="41" name="TextBox 40"/>
          <p:cNvSpPr txBox="1"/>
          <p:nvPr/>
        </p:nvSpPr>
        <p:spPr>
          <a:xfrm>
            <a:off x="6781647" y="347472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Monthly homepage sessions</a:t>
            </a:r>
          </a:p>
        </p:txBody>
      </p:sp>
      <p:sp>
        <p:nvSpPr>
          <p:cNvPr id="42" name="TextBox 41"/>
          <p:cNvSpPr txBox="1"/>
          <p:nvPr/>
        </p:nvSpPr>
        <p:spPr>
          <a:xfrm>
            <a:off x="9479127" y="3474720"/>
            <a:ext cx="1691640" cy="228600"/>
          </a:xfrm>
          <a:prstGeom prst="rect">
            <a:avLst/>
          </a:prstGeom>
          <a:noFill/>
        </p:spPr>
        <p:txBody>
          <a:bodyPr wrap="square" lIns="0" rIns="0" tIns="0" bIns="0" anchor="t">
            <a:spAutoFit/>
          </a:bodyPr>
          <a:lstStyle/>
          <a:p>
            <a:pPr algn="r"/>
            <a:r>
              <a:rPr sz="1000" b="1" i="0">
                <a:solidFill>
                  <a:srgbClr val="FFFFFF"/>
                </a:solidFill>
                <a:latin typeface="Menlo"/>
              </a:rPr>
              <a:t>~2.380</a:t>
            </a:r>
          </a:p>
        </p:txBody>
      </p:sp>
      <p:sp>
        <p:nvSpPr>
          <p:cNvPr id="43" name="TextBox 42"/>
          <p:cNvSpPr txBox="1"/>
          <p:nvPr/>
        </p:nvSpPr>
        <p:spPr>
          <a:xfrm>
            <a:off x="6507327" y="3749040"/>
            <a:ext cx="228600" cy="228600"/>
          </a:xfrm>
          <a:prstGeom prst="rect">
            <a:avLst/>
          </a:prstGeom>
          <a:noFill/>
        </p:spPr>
        <p:txBody>
          <a:bodyPr wrap="square" lIns="0" rIns="0" tIns="0" bIns="0" anchor="t">
            <a:spAutoFit/>
          </a:bodyPr>
          <a:lstStyle/>
          <a:p>
            <a:pPr algn="l"/>
            <a:r>
              <a:rPr sz="1000" b="1" i="0">
                <a:solidFill>
                  <a:srgbClr val="F7D007"/>
                </a:solidFill>
                <a:latin typeface="Menlo"/>
              </a:rPr>
              <a:t>2</a:t>
            </a:r>
          </a:p>
        </p:txBody>
      </p:sp>
      <p:sp>
        <p:nvSpPr>
          <p:cNvPr id="44" name="TextBox 43"/>
          <p:cNvSpPr txBox="1"/>
          <p:nvPr/>
        </p:nvSpPr>
        <p:spPr>
          <a:xfrm>
            <a:off x="6781647" y="374904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Baseline HP to PDP rate</a:t>
            </a:r>
          </a:p>
        </p:txBody>
      </p:sp>
      <p:sp>
        <p:nvSpPr>
          <p:cNvPr id="45" name="TextBox 44"/>
          <p:cNvSpPr txBox="1"/>
          <p:nvPr/>
        </p:nvSpPr>
        <p:spPr>
          <a:xfrm>
            <a:off x="9479127" y="3749040"/>
            <a:ext cx="1691640" cy="228600"/>
          </a:xfrm>
          <a:prstGeom prst="rect">
            <a:avLst/>
          </a:prstGeom>
          <a:noFill/>
        </p:spPr>
        <p:txBody>
          <a:bodyPr wrap="square" lIns="0" rIns="0" tIns="0" bIns="0" anchor="t">
            <a:spAutoFit/>
          </a:bodyPr>
          <a:lstStyle/>
          <a:p>
            <a:pPr algn="r"/>
            <a:r>
              <a:rPr sz="1000" b="1" i="0">
                <a:solidFill>
                  <a:srgbClr val="FFFFFF"/>
                </a:solidFill>
                <a:latin typeface="Menlo"/>
              </a:rPr>
              <a:t>62 %</a:t>
            </a:r>
          </a:p>
        </p:txBody>
      </p:sp>
      <p:sp>
        <p:nvSpPr>
          <p:cNvPr id="46" name="TextBox 45"/>
          <p:cNvSpPr txBox="1"/>
          <p:nvPr/>
        </p:nvSpPr>
        <p:spPr>
          <a:xfrm>
            <a:off x="6507327" y="4023360"/>
            <a:ext cx="228600" cy="228600"/>
          </a:xfrm>
          <a:prstGeom prst="rect">
            <a:avLst/>
          </a:prstGeom>
          <a:noFill/>
        </p:spPr>
        <p:txBody>
          <a:bodyPr wrap="square" lIns="0" rIns="0" tIns="0" bIns="0" anchor="t">
            <a:spAutoFit/>
          </a:bodyPr>
          <a:lstStyle/>
          <a:p>
            <a:pPr algn="l"/>
            <a:r>
              <a:rPr sz="1000" b="1" i="0">
                <a:solidFill>
                  <a:srgbClr val="F7D007"/>
                </a:solidFill>
                <a:latin typeface="Menlo"/>
              </a:rPr>
              <a:t>3</a:t>
            </a:r>
          </a:p>
        </p:txBody>
      </p:sp>
      <p:sp>
        <p:nvSpPr>
          <p:cNvPr id="47" name="TextBox 46"/>
          <p:cNvSpPr txBox="1"/>
          <p:nvPr/>
        </p:nvSpPr>
        <p:spPr>
          <a:xfrm>
            <a:off x="6781647" y="402336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Test uplift (+12 % rel.)</a:t>
            </a:r>
          </a:p>
        </p:txBody>
      </p:sp>
      <p:sp>
        <p:nvSpPr>
          <p:cNvPr id="48" name="TextBox 47"/>
          <p:cNvSpPr txBox="1"/>
          <p:nvPr/>
        </p:nvSpPr>
        <p:spPr>
          <a:xfrm>
            <a:off x="9479127" y="4023360"/>
            <a:ext cx="1691640" cy="228600"/>
          </a:xfrm>
          <a:prstGeom prst="rect">
            <a:avLst/>
          </a:prstGeom>
          <a:noFill/>
        </p:spPr>
        <p:txBody>
          <a:bodyPr wrap="square" lIns="0" rIns="0" tIns="0" bIns="0" anchor="t">
            <a:spAutoFit/>
          </a:bodyPr>
          <a:lstStyle/>
          <a:p>
            <a:pPr algn="r"/>
            <a:r>
              <a:rPr sz="1000" b="1" i="0">
                <a:solidFill>
                  <a:srgbClr val="FFFFFF"/>
                </a:solidFill>
                <a:latin typeface="Menlo"/>
              </a:rPr>
              <a:t>+176 visits</a:t>
            </a:r>
          </a:p>
        </p:txBody>
      </p:sp>
      <p:sp>
        <p:nvSpPr>
          <p:cNvPr id="49" name="TextBox 48"/>
          <p:cNvSpPr txBox="1"/>
          <p:nvPr/>
        </p:nvSpPr>
        <p:spPr>
          <a:xfrm>
            <a:off x="6507327" y="4297680"/>
            <a:ext cx="228600" cy="228600"/>
          </a:xfrm>
          <a:prstGeom prst="rect">
            <a:avLst/>
          </a:prstGeom>
          <a:noFill/>
        </p:spPr>
        <p:txBody>
          <a:bodyPr wrap="square" lIns="0" rIns="0" tIns="0" bIns="0" anchor="t">
            <a:spAutoFit/>
          </a:bodyPr>
          <a:lstStyle/>
          <a:p>
            <a:pPr algn="l"/>
            <a:r>
              <a:rPr sz="1000" b="1" i="0">
                <a:solidFill>
                  <a:srgbClr val="F7D007"/>
                </a:solidFill>
                <a:latin typeface="Menlo"/>
              </a:rPr>
              <a:t>4</a:t>
            </a:r>
          </a:p>
        </p:txBody>
      </p:sp>
      <p:sp>
        <p:nvSpPr>
          <p:cNvPr id="50" name="TextBox 49"/>
          <p:cNvSpPr txBox="1"/>
          <p:nvPr/>
        </p:nvSpPr>
        <p:spPr>
          <a:xfrm>
            <a:off x="6781647" y="429768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4,7 % downstream CVR</a:t>
            </a:r>
          </a:p>
        </p:txBody>
      </p:sp>
      <p:sp>
        <p:nvSpPr>
          <p:cNvPr id="51" name="TextBox 50"/>
          <p:cNvSpPr txBox="1"/>
          <p:nvPr/>
        </p:nvSpPr>
        <p:spPr>
          <a:xfrm>
            <a:off x="9479127" y="4297680"/>
            <a:ext cx="1691640" cy="228600"/>
          </a:xfrm>
          <a:prstGeom prst="rect">
            <a:avLst/>
          </a:prstGeom>
          <a:noFill/>
        </p:spPr>
        <p:txBody>
          <a:bodyPr wrap="square" lIns="0" rIns="0" tIns="0" bIns="0" anchor="t">
            <a:spAutoFit/>
          </a:bodyPr>
          <a:lstStyle/>
          <a:p>
            <a:pPr algn="r"/>
            <a:r>
              <a:rPr sz="1000" b="1" i="0">
                <a:solidFill>
                  <a:srgbClr val="FFFFFF"/>
                </a:solidFill>
                <a:latin typeface="Menlo"/>
              </a:rPr>
              <a:t>~8 purchases</a:t>
            </a:r>
          </a:p>
        </p:txBody>
      </p:sp>
      <p:sp>
        <p:nvSpPr>
          <p:cNvPr id="52" name="TextBox 51"/>
          <p:cNvSpPr txBox="1"/>
          <p:nvPr/>
        </p:nvSpPr>
        <p:spPr>
          <a:xfrm>
            <a:off x="6507327" y="4572000"/>
            <a:ext cx="228600" cy="228600"/>
          </a:xfrm>
          <a:prstGeom prst="rect">
            <a:avLst/>
          </a:prstGeom>
          <a:noFill/>
        </p:spPr>
        <p:txBody>
          <a:bodyPr wrap="square" lIns="0" rIns="0" tIns="0" bIns="0" anchor="t">
            <a:spAutoFit/>
          </a:bodyPr>
          <a:lstStyle/>
          <a:p>
            <a:pPr algn="l"/>
            <a:r>
              <a:rPr sz="1000" b="1" i="0">
                <a:solidFill>
                  <a:srgbClr val="F7D007"/>
                </a:solidFill>
                <a:latin typeface="Menlo"/>
              </a:rPr>
              <a:t>5</a:t>
            </a:r>
          </a:p>
        </p:txBody>
      </p:sp>
      <p:sp>
        <p:nvSpPr>
          <p:cNvPr id="53" name="TextBox 52"/>
          <p:cNvSpPr txBox="1"/>
          <p:nvPr/>
        </p:nvSpPr>
        <p:spPr>
          <a:xfrm>
            <a:off x="6781647" y="457200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3.813 kr AOV</a:t>
            </a:r>
          </a:p>
        </p:txBody>
      </p:sp>
      <p:sp>
        <p:nvSpPr>
          <p:cNvPr id="54" name="TextBox 53"/>
          <p:cNvSpPr txBox="1"/>
          <p:nvPr/>
        </p:nvSpPr>
        <p:spPr>
          <a:xfrm>
            <a:off x="9479127" y="4572000"/>
            <a:ext cx="1691640" cy="228600"/>
          </a:xfrm>
          <a:prstGeom prst="rect">
            <a:avLst/>
          </a:prstGeom>
          <a:noFill/>
        </p:spPr>
        <p:txBody>
          <a:bodyPr wrap="square" lIns="0" rIns="0" tIns="0" bIns="0" anchor="t">
            <a:spAutoFit/>
          </a:bodyPr>
          <a:lstStyle/>
          <a:p>
            <a:pPr algn="r"/>
            <a:r>
              <a:rPr sz="1000" b="1" i="0">
                <a:solidFill>
                  <a:srgbClr val="FFFFFF"/>
                </a:solidFill>
                <a:latin typeface="Menlo"/>
              </a:rPr>
              <a:t>30.504 kr</a:t>
            </a:r>
          </a:p>
        </p:txBody>
      </p:sp>
      <p:sp>
        <p:nvSpPr>
          <p:cNvPr id="55" name="TextBox 54"/>
          <p:cNvSpPr txBox="1"/>
          <p:nvPr/>
        </p:nvSpPr>
        <p:spPr>
          <a:xfrm>
            <a:off x="6507327" y="4846320"/>
            <a:ext cx="228600" cy="228600"/>
          </a:xfrm>
          <a:prstGeom prst="rect">
            <a:avLst/>
          </a:prstGeom>
          <a:noFill/>
        </p:spPr>
        <p:txBody>
          <a:bodyPr wrap="square" lIns="0" rIns="0" tIns="0" bIns="0" anchor="t">
            <a:spAutoFit/>
          </a:bodyPr>
          <a:lstStyle/>
          <a:p>
            <a:pPr algn="l"/>
            <a:r>
              <a:rPr sz="1000" b="1" i="0">
                <a:solidFill>
                  <a:srgbClr val="F7D007"/>
                </a:solidFill>
                <a:latin typeface="Menlo"/>
              </a:rPr>
              <a:t>6</a:t>
            </a:r>
          </a:p>
        </p:txBody>
      </p:sp>
      <p:sp>
        <p:nvSpPr>
          <p:cNvPr id="56" name="TextBox 55"/>
          <p:cNvSpPr txBox="1"/>
          <p:nvPr/>
        </p:nvSpPr>
        <p:spPr>
          <a:xfrm>
            <a:off x="6781647" y="484632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25 % stage multiplier</a:t>
            </a:r>
          </a:p>
        </p:txBody>
      </p:sp>
      <p:sp>
        <p:nvSpPr>
          <p:cNvPr id="57" name="TextBox 56"/>
          <p:cNvSpPr txBox="1"/>
          <p:nvPr/>
        </p:nvSpPr>
        <p:spPr>
          <a:xfrm>
            <a:off x="9479127" y="4846320"/>
            <a:ext cx="1691640" cy="228600"/>
          </a:xfrm>
          <a:prstGeom prst="rect">
            <a:avLst/>
          </a:prstGeom>
          <a:noFill/>
        </p:spPr>
        <p:txBody>
          <a:bodyPr wrap="square" lIns="0" rIns="0" tIns="0" bIns="0" anchor="t">
            <a:spAutoFit/>
          </a:bodyPr>
          <a:lstStyle/>
          <a:p>
            <a:pPr algn="r"/>
            <a:r>
              <a:rPr sz="1000" b="1" i="0">
                <a:solidFill>
                  <a:srgbClr val="FFFFFF"/>
                </a:solidFill>
                <a:latin typeface="Menlo"/>
              </a:rPr>
              <a:t>7.626 kr</a:t>
            </a:r>
          </a:p>
        </p:txBody>
      </p:sp>
      <p:sp>
        <p:nvSpPr>
          <p:cNvPr id="58" name="TextBox 57"/>
          <p:cNvSpPr txBox="1"/>
          <p:nvPr/>
        </p:nvSpPr>
        <p:spPr>
          <a:xfrm>
            <a:off x="6507327" y="5120640"/>
            <a:ext cx="228600" cy="228600"/>
          </a:xfrm>
          <a:prstGeom prst="rect">
            <a:avLst/>
          </a:prstGeom>
          <a:noFill/>
        </p:spPr>
        <p:txBody>
          <a:bodyPr wrap="square" lIns="0" rIns="0" tIns="0" bIns="0" anchor="t">
            <a:spAutoFit/>
          </a:bodyPr>
          <a:lstStyle/>
          <a:p>
            <a:pPr algn="l"/>
            <a:r>
              <a:rPr sz="1000" b="1" i="0">
                <a:solidFill>
                  <a:srgbClr val="F7D007"/>
                </a:solidFill>
                <a:latin typeface="Menlo"/>
              </a:rPr>
              <a:t>7</a:t>
            </a:r>
          </a:p>
        </p:txBody>
      </p:sp>
      <p:sp>
        <p:nvSpPr>
          <p:cNvPr id="59" name="TextBox 58"/>
          <p:cNvSpPr txBox="1"/>
          <p:nvPr/>
        </p:nvSpPr>
        <p:spPr>
          <a:xfrm>
            <a:off x="6781647" y="5120640"/>
            <a:ext cx="2743200" cy="228600"/>
          </a:xfrm>
          <a:prstGeom prst="rect">
            <a:avLst/>
          </a:prstGeom>
          <a:noFill/>
        </p:spPr>
        <p:txBody>
          <a:bodyPr wrap="square" lIns="0" rIns="0" tIns="0" bIns="0" anchor="t">
            <a:spAutoFit/>
          </a:bodyPr>
          <a:lstStyle/>
          <a:p>
            <a:pPr algn="l"/>
            <a:r>
              <a:rPr sz="1000" b="0" i="0">
                <a:solidFill>
                  <a:srgbClr val="CCCCCC"/>
                </a:solidFill>
                <a:latin typeface="Helvetica Neue"/>
              </a:rPr>
              <a:t>× 30 % agency rate</a:t>
            </a:r>
          </a:p>
        </p:txBody>
      </p:sp>
      <p:sp>
        <p:nvSpPr>
          <p:cNvPr id="60" name="TextBox 59"/>
          <p:cNvSpPr txBox="1"/>
          <p:nvPr/>
        </p:nvSpPr>
        <p:spPr>
          <a:xfrm>
            <a:off x="9479127" y="5120640"/>
            <a:ext cx="1691640" cy="228600"/>
          </a:xfrm>
          <a:prstGeom prst="rect">
            <a:avLst/>
          </a:prstGeom>
          <a:noFill/>
        </p:spPr>
        <p:txBody>
          <a:bodyPr wrap="square" lIns="0" rIns="0" tIns="0" bIns="0" anchor="t">
            <a:spAutoFit/>
          </a:bodyPr>
          <a:lstStyle/>
          <a:p>
            <a:pPr algn="r"/>
            <a:r>
              <a:rPr sz="1000" b="1" i="0">
                <a:solidFill>
                  <a:srgbClr val="FFFFFF"/>
                </a:solidFill>
                <a:latin typeface="Menlo"/>
              </a:rPr>
              <a:t>→</a:t>
            </a:r>
          </a:p>
        </p:txBody>
      </p:sp>
      <p:sp>
        <p:nvSpPr>
          <p:cNvPr id="61" name="Rectangle 60"/>
          <p:cNvSpPr/>
          <p:nvPr/>
        </p:nvSpPr>
        <p:spPr>
          <a:xfrm>
            <a:off x="6507327" y="5623560"/>
            <a:ext cx="4663440"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07327" y="5715000"/>
            <a:ext cx="2286000" cy="274320"/>
          </a:xfrm>
          <a:prstGeom prst="rect">
            <a:avLst/>
          </a:prstGeom>
          <a:noFill/>
        </p:spPr>
        <p:txBody>
          <a:bodyPr wrap="square" lIns="0" rIns="0" tIns="0" bIns="0" anchor="t">
            <a:spAutoFit/>
          </a:bodyPr>
          <a:lstStyle/>
          <a:p>
            <a:pPr algn="l"/>
            <a:r>
              <a:rPr sz="1000" b="1" i="0" spc="150">
                <a:solidFill>
                  <a:srgbClr val="999999"/>
                </a:solidFill>
                <a:latin typeface="Helvetica Neue"/>
              </a:rPr>
              <a:t>ONE TIME FEE</a:t>
            </a:r>
          </a:p>
        </p:txBody>
      </p:sp>
      <p:sp>
        <p:nvSpPr>
          <p:cNvPr id="63" name="TextBox 62"/>
          <p:cNvSpPr txBox="1"/>
          <p:nvPr/>
        </p:nvSpPr>
        <p:spPr>
          <a:xfrm>
            <a:off x="6507327" y="5669280"/>
            <a:ext cx="4663440" cy="411480"/>
          </a:xfrm>
          <a:prstGeom prst="rect">
            <a:avLst/>
          </a:prstGeom>
          <a:noFill/>
        </p:spPr>
        <p:txBody>
          <a:bodyPr wrap="square" lIns="0" rIns="0" tIns="0" bIns="0" anchor="t">
            <a:spAutoFit/>
          </a:bodyPr>
          <a:lstStyle/>
          <a:p>
            <a:pPr algn="r"/>
            <a:r>
              <a:rPr sz="2200" b="1" i="0">
                <a:solidFill>
                  <a:srgbClr val="EF4444"/>
                </a:solidFill>
                <a:latin typeface="Menlo"/>
              </a:rPr>
              <a:t>2.288 kr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41</a:t>
            </a:r>
          </a:p>
        </p:txBody>
      </p:sp>
      <p:sp>
        <p:nvSpPr>
          <p:cNvPr id="7" name="Oval 6"/>
          <p:cNvSpPr/>
          <p:nvPr/>
        </p:nvSpPr>
        <p:spPr>
          <a:xfrm>
            <a:off x="-2286000" y="457200"/>
            <a:ext cx="9144000" cy="6400800"/>
          </a:xfrm>
          <a:prstGeom prst="ellipse">
            <a:avLst/>
          </a:prstGeom>
          <a:solidFill>
            <a:srgbClr val="3A30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7315200" cy="274320"/>
          </a:xfrm>
          <a:prstGeom prst="rect">
            <a:avLst/>
          </a:prstGeom>
          <a:noFill/>
        </p:spPr>
        <p:txBody>
          <a:bodyPr wrap="square" lIns="0" rIns="0" tIns="0" bIns="0" anchor="t">
            <a:spAutoFit/>
          </a:bodyPr>
          <a:lstStyle/>
          <a:p>
            <a:pPr algn="l"/>
            <a:r>
              <a:rPr sz="1100" b="1" i="0" spc="300">
                <a:solidFill>
                  <a:srgbClr val="F7D007"/>
                </a:solidFill>
                <a:latin typeface="Helvetica Neue"/>
              </a:rPr>
              <a:t>NEXT STEP</a:t>
            </a:r>
          </a:p>
        </p:txBody>
      </p:sp>
      <p:sp>
        <p:nvSpPr>
          <p:cNvPr id="9" name="TextBox 8"/>
          <p:cNvSpPr txBox="1"/>
          <p:nvPr/>
        </p:nvSpPr>
        <p:spPr>
          <a:xfrm>
            <a:off x="777240" y="2194560"/>
            <a:ext cx="10058400" cy="777240"/>
          </a:xfrm>
          <a:prstGeom prst="rect">
            <a:avLst/>
          </a:prstGeom>
          <a:noFill/>
        </p:spPr>
        <p:txBody>
          <a:bodyPr wrap="square" lIns="0" rIns="0" tIns="0" bIns="0" anchor="t">
            <a:spAutoFit/>
          </a:bodyPr>
          <a:lstStyle/>
          <a:p>
            <a:pPr algn="l"/>
            <a:r>
              <a:rPr sz="4800" b="1" i="0" spc="-200">
                <a:solidFill>
                  <a:srgbClr val="FFFFFF"/>
                </a:solidFill>
                <a:latin typeface="Helvetica Neue"/>
              </a:rPr>
              <a:t>Approve Phase 1 brief.</a:t>
            </a:r>
          </a:p>
        </p:txBody>
      </p:sp>
      <p:sp>
        <p:nvSpPr>
          <p:cNvPr id="10" name="TextBox 9"/>
          <p:cNvSpPr txBox="1"/>
          <p:nvPr/>
        </p:nvSpPr>
        <p:spPr>
          <a:xfrm>
            <a:off x="777240" y="2971800"/>
            <a:ext cx="10058400" cy="777240"/>
          </a:xfrm>
          <a:prstGeom prst="rect">
            <a:avLst/>
          </a:prstGeom>
          <a:noFill/>
        </p:spPr>
        <p:txBody>
          <a:bodyPr wrap="square" lIns="0" rIns="0" tIns="0" bIns="0" anchor="t">
            <a:spAutoFit/>
          </a:bodyPr>
          <a:lstStyle/>
          <a:p>
            <a:pPr algn="l"/>
            <a:r>
              <a:rPr sz="4800" b="1" i="0" spc="-200">
                <a:solidFill>
                  <a:srgbClr val="F7D007"/>
                </a:solidFill>
                <a:latin typeface="Helvetica Neue"/>
              </a:rPr>
              <a:t>We ship in 14 days.</a:t>
            </a:r>
          </a:p>
        </p:txBody>
      </p:sp>
      <p:sp>
        <p:nvSpPr>
          <p:cNvPr id="11" name="TextBox 10"/>
          <p:cNvSpPr txBox="1"/>
          <p:nvPr/>
        </p:nvSpPr>
        <p:spPr>
          <a:xfrm>
            <a:off x="777240" y="3977639"/>
            <a:ext cx="10058400" cy="822960"/>
          </a:xfrm>
          <a:prstGeom prst="rect">
            <a:avLst/>
          </a:prstGeom>
          <a:noFill/>
        </p:spPr>
        <p:txBody>
          <a:bodyPr wrap="square" lIns="0" rIns="0" tIns="0" bIns="0" anchor="t">
            <a:spAutoFit/>
          </a:bodyPr>
          <a:lstStyle/>
          <a:p>
            <a:pPr algn="l"/>
            <a:r>
              <a:rPr sz="1400" b="0" i="0">
                <a:solidFill>
                  <a:srgbClr val="CCCCCC"/>
                </a:solidFill>
                <a:latin typeface="Helvetica Neue"/>
              </a:rPr>
              <a:t>Three Phase 1 tests have a worked pre-brief ready: ViaBill on PDP (55-100K kr / mo), Trustpilot Trustbox under hero (45-80K kr / mo), Meta Pixel + CAPI fix (data quality unlock). Approve in writing, work begins next business day.</a:t>
            </a:r>
          </a:p>
        </p:txBody>
      </p:sp>
      <p:sp>
        <p:nvSpPr>
          <p:cNvPr id="12" name="TextBox 11"/>
          <p:cNvSpPr txBox="1"/>
          <p:nvPr/>
        </p:nvSpPr>
        <p:spPr>
          <a:xfrm>
            <a:off x="777240" y="4800600"/>
            <a:ext cx="10058400" cy="457200"/>
          </a:xfrm>
          <a:prstGeom prst="rect">
            <a:avLst/>
          </a:prstGeom>
          <a:noFill/>
        </p:spPr>
        <p:txBody>
          <a:bodyPr wrap="square" lIns="0" rIns="0" tIns="0" bIns="0" anchor="t">
            <a:spAutoFit/>
          </a:bodyPr>
          <a:lstStyle/>
          <a:p>
            <a:pPr algn="l"/>
            <a:r>
              <a:rPr sz="1300" b="1" i="0">
                <a:solidFill>
                  <a:srgbClr val="F7D007"/>
                </a:solidFill>
                <a:latin typeface="Helvetica Neue"/>
              </a:rPr>
              <a:t>Performance-priced. No fee on losing or inconclusive tests. First invoice issues only after the first winning rollout.</a:t>
            </a:r>
          </a:p>
        </p:txBody>
      </p:sp>
      <p:sp>
        <p:nvSpPr>
          <p:cNvPr id="13" name="TextBox 12"/>
          <p:cNvSpPr txBox="1"/>
          <p:nvPr/>
        </p:nvSpPr>
        <p:spPr>
          <a:xfrm>
            <a:off x="777240" y="5532120"/>
            <a:ext cx="10058400" cy="274320"/>
          </a:xfrm>
          <a:prstGeom prst="rect">
            <a:avLst/>
          </a:prstGeom>
          <a:noFill/>
        </p:spPr>
        <p:txBody>
          <a:bodyPr wrap="square" lIns="0" rIns="0" tIns="0" bIns="0" anchor="t">
            <a:spAutoFit/>
          </a:bodyPr>
          <a:lstStyle/>
          <a:p>
            <a:pPr algn="l"/>
            <a:r>
              <a:rPr sz="1200" b="0" i="0">
                <a:solidFill>
                  <a:srgbClr val="EFEEEE"/>
                </a:solidFill>
                <a:latin typeface="Helvetica Neue"/>
              </a:rPr>
              <a:t>Bhaskar Roy  ·  bhaskar@ecomhouse.dk  ·  ecomhouse.design</a:t>
            </a:r>
          </a:p>
        </p:txBody>
      </p:sp>
      <p:sp>
        <p:nvSpPr>
          <p:cNvPr id="14" name="Rounded Rectangle 13"/>
          <p:cNvSpPr/>
          <p:nvPr/>
        </p:nvSpPr>
        <p:spPr>
          <a:xfrm>
            <a:off x="777240" y="5989320"/>
            <a:ext cx="2286000" cy="411480"/>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989320"/>
            <a:ext cx="2286000" cy="411480"/>
          </a:xfrm>
          <a:prstGeom prst="rect">
            <a:avLst/>
          </a:prstGeom>
          <a:noFill/>
        </p:spPr>
        <p:txBody>
          <a:bodyPr wrap="square" lIns="0" rIns="0" tIns="0" bIns="0" anchor="ctr">
            <a:spAutoFit/>
          </a:bodyPr>
          <a:lstStyle/>
          <a:p>
            <a:pPr algn="ctr"/>
            <a:r>
              <a:rPr sz="1100" b="1" i="0" spc="200">
                <a:solidFill>
                  <a:srgbClr val="000000"/>
                </a:solidFill>
                <a:latin typeface="Helvetica Neue"/>
              </a:rPr>
              <a:t>APPROVE PHASE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