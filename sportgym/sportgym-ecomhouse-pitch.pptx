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00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-2286000"/>
            <a:ext cx="7772400" cy="6400800"/>
          </a:xfrm>
          <a:prstGeom prst="ellipse">
            <a:avLst/>
          </a:prstGeom>
          <a:solidFill>
            <a:srgbClr val="3A3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ortgy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2675106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300">
                <a:solidFill>
                  <a:srgbClr val="F7D007"/>
                </a:solidFill>
                <a:latin typeface="Helvetica Neue"/>
              </a:rPr>
              <a:t>sportgym.dk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 spc="-200">
                <a:solidFill>
                  <a:srgbClr val="FFFFFF"/>
                </a:solidFill>
                <a:latin typeface="Helvetica Neue"/>
              </a:rPr>
              <a:t>5 changes that pay for themselves.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CRO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128016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59" y="40690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59" y="406908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A/B Test Roadmap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59" y="4069080"/>
            <a:ext cx="178308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799" y="406908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406908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Performance-priced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799" y="4069080"/>
            <a:ext cx="1874519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Last 30 days (Shopify) · 9.510 sessions · 252 orders · 1.002.672 kr gross sales · 1,77 % site CR.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Prepared by EcomHouse for sportgym.dk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Where sportgym.dk stands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Shopify analytics · Last 30 days (Apr 21 to May 21, 2026). Re-baselined from Shopify after GA4 was found to underreport sessions by ~85 % and orders by ~90 %.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7D007"/>
                </a:solidFill>
                <a:latin typeface="Menlo"/>
              </a:rPr>
              <a:t>1.002.672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GROSS SALES · 30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5679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5679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enlo"/>
              </a:rPr>
              <a:t>252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2839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ORDERS · 30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1911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1911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enlo"/>
              </a:rPr>
              <a:t>3.813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9071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8143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enlo"/>
              </a:rPr>
              <a:t>1,77 %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SITE CONVERSION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4375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4375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Menlo"/>
              </a:rPr>
              <a:t>96 %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1535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SESSIONS TO ATC DROP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90607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0607" y="27432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enlo"/>
              </a:rPr>
              <a:t>9.510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7767" y="33375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50">
                <a:solidFill>
                  <a:srgbClr val="999999"/>
                </a:solidFill>
                <a:latin typeface="Helvetica Neue"/>
              </a:rPr>
              <a:t>SESSIONS · 30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1605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999999"/>
                </a:solidFill>
                <a:latin typeface="Helvetica Neue"/>
              </a:rPr>
              <a:t>MONTHLY UPLIFT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53128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7D007"/>
                </a:solidFill>
                <a:latin typeface="Menlo"/>
              </a:rPr>
              <a:t>253.000 to 469.000 kr / month  ·  +25 % to +47 %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440680"/>
            <a:ext cx="9418320" cy="77724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557784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The leak is on the PDP.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Over 30 days, 9.151 sessions hit the site and never added to cart (96 % drop). Three of the top five opportunities target that exact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What the data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Funnel decomposition, device split, traffic acquisition. Every step in the audit comes from these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707" y="2194560"/>
            <a:ext cx="3703320" cy="42976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07" y="237744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01  FUNNEL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2651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Sessions → ATC drops 96 %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31546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1.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347" y="31546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enlo"/>
              </a:rPr>
              <a:t>9.510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9747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Menlo"/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" y="36576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2. Added to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347" y="36576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enlo"/>
              </a:rPr>
              <a:t>359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9747" y="3657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Menlo"/>
              </a:rPr>
              <a:t>3,77 %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07" y="41605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3. Reached 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5347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enlo"/>
              </a:rPr>
              <a:t>246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9747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Menlo"/>
              </a:rPr>
              <a:t>68,5 %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307" y="46634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4. Completed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5347" y="46634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enlo"/>
              </a:rPr>
              <a:t>169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9747" y="4663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Menlo"/>
              </a:rPr>
              <a:t>68,7 %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" y="51663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5. All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5347" y="51663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enlo"/>
              </a:rPr>
              <a:t>252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9747" y="5166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Menlo"/>
              </a:rPr>
              <a:t>incl. Shop Pay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4187" y="2194560"/>
            <a:ext cx="3703320" cy="42976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2787" y="237744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02  DEVICE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2787" y="26517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Mobile carries traffic, desktop converts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7067" y="342900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70707"/>
          </a:solidFill>
          <a:ln w="9525">
            <a:solidFill>
              <a:srgbClr val="4A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9947" y="35661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Helvetica Neue"/>
              </a:rPr>
              <a:t>Mobile · ~83 %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9947" y="3931920"/>
            <a:ext cx="1577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00">
                <a:solidFill>
                  <a:srgbClr val="999999"/>
                </a:solidFill>
                <a:latin typeface="Helvetica Neue"/>
              </a:rPr>
              <a:t>Conversion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9947" y="4142232"/>
            <a:ext cx="15773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nlo"/>
              </a:rPr>
              <a:t>~1,6 %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3931920"/>
            <a:ext cx="1577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00">
                <a:solidFill>
                  <a:srgbClr val="999999"/>
                </a:solidFill>
                <a:latin typeface="Helvetica Neue"/>
              </a:rPr>
              <a:t>AOV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4142232"/>
            <a:ext cx="15773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nlo"/>
              </a:rPr>
              <a:t>~3.500 kr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7067" y="489204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70707"/>
          </a:solidFill>
          <a:ln w="9525">
            <a:solidFill>
              <a:srgbClr val="332D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9947" y="50292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Desktop · ~15 %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9947" y="5394960"/>
            <a:ext cx="1577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00">
                <a:solidFill>
                  <a:srgbClr val="999999"/>
                </a:solidFill>
                <a:latin typeface="Helvetica Neue"/>
              </a:rPr>
              <a:t>Conversion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9947" y="5605272"/>
            <a:ext cx="15773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nlo"/>
              </a:rPr>
              <a:t>~2,8 %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847" y="5394960"/>
            <a:ext cx="1577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00">
                <a:solidFill>
                  <a:srgbClr val="999999"/>
                </a:solidFill>
                <a:latin typeface="Helvetica Neue"/>
              </a:rPr>
              <a:t>AOV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5605272"/>
            <a:ext cx="15773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enlo"/>
              </a:rPr>
              <a:t>~5.800 kr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84667" y="2194560"/>
            <a:ext cx="3703320" cy="42976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3267" y="237744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03  TRAFFIC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3267" y="26517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Facebook spends 46 % on zero tracked revenue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3267" y="347472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Online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3467" y="34747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9.510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53547" y="34747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1,18M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3267" y="3858768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Helvetica Neue"/>
              </a:rPr>
              <a:t>facebook / paid (GA4)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3467" y="38587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1.797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3547" y="385876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Menlo"/>
              </a:rPr>
              <a:t>0 kr 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3267" y="4242816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Helvetica Neue"/>
              </a:rPr>
              <a:t>google / cpc (GA4)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13467" y="424281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1.023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3547" y="42428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Menlo"/>
              </a:rPr>
              <a:t>82.687 kr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3267" y="4626864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(direct) / (none)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13467" y="462686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379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3547" y="46268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126.715 kr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3267" y="501091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partnerads / affiliate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3467" y="50109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228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3547" y="5010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8.175 kr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3267" y="539496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google / organic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3467" y="539496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81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53547" y="53949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16.367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QUICK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Five conversion blockers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Ranked by leverage, not effort. None require a replatform. All five are sourced from the live site and the GA4 funnel.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863" y="2240280"/>
            <a:ext cx="2103120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031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7D007"/>
                </a:solidFill>
                <a:latin typeface="Menl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031" y="295351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HERO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31" y="3200400"/>
            <a:ext cx="17007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30">
                <a:solidFill>
                  <a:srgbClr val="FFFFFF"/>
                </a:solidFill>
                <a:latin typeface="Helvetica Neue"/>
              </a:rPr>
              <a:t>Sells one Saturday, not a fitness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31" y="4434840"/>
            <a:ext cx="1700784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Homepage as a landing page converts at 2,26 %. Top three PDP landings at 0,18 to 0,31 %. The category navigation is hidden behind a hamburger on mobile.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6575" y="2240280"/>
            <a:ext cx="2103120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7743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7D007"/>
                </a:solidFill>
                <a:latin typeface="Menl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743" y="295351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7743" y="3200400"/>
            <a:ext cx="17007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30">
                <a:solidFill>
                  <a:srgbClr val="FFFFFF"/>
                </a:solidFill>
                <a:latin typeface="Helvetica Neue"/>
              </a:rPr>
              <a:t>4,5 / 5 Trustpilot. Invisible on the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7743" y="4434840"/>
            <a:ext cx="1700784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15 reviews, 'Fremragende' on Trustpilot. Zero stars on collection cards. No PDP reviews block. The single biggest social-proof asset is unused.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4287" y="2240280"/>
            <a:ext cx="2103120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5455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7D007"/>
                </a:solidFill>
                <a:latin typeface="Menl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5455" y="295351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FINANCING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5455" y="3200400"/>
            <a:ext cx="17007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30">
                <a:solidFill>
                  <a:srgbClr val="FFFFFF"/>
                </a:solidFill>
                <a:latin typeface="Helvetica Neue"/>
              </a:rPr>
              <a:t>13.900 kr product, no Klarna or ViaBill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5455" y="4434840"/>
            <a:ext cx="1700784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Pay-later is a default expectation in Denmark above 2.000 kr. Fitshop shows both. sportgym shows neither, on or under the price.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1999" y="2240280"/>
            <a:ext cx="2103120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3167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7D007"/>
                </a:solidFill>
                <a:latin typeface="Menl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3167" y="295351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3167" y="3200400"/>
            <a:ext cx="17007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30">
                <a:solidFill>
                  <a:srgbClr val="FFFFFF"/>
                </a:solidFill>
                <a:latin typeface="Helvetica Neue"/>
              </a:rPr>
              <a:t>13 treadmills, 2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4434840"/>
            <a:ext cx="1700784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Stock and price only. No brand, motor HP, max user weight, foldable, smart, or incline. 12x price range across the same category with no way to narrow.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79711" y="2240280"/>
            <a:ext cx="2103120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0879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7D007"/>
                </a:solidFill>
                <a:latin typeface="Menl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0879" y="295351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BUY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0879" y="3200400"/>
            <a:ext cx="17007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30">
                <a:solidFill>
                  <a:srgbClr val="FFFFFF"/>
                </a:solidFill>
                <a:latin typeface="Helvetica Neue"/>
              </a:rPr>
              <a:t>Built for a 200 kr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0879" y="4434840"/>
            <a:ext cx="1700784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SKU, name, price, qty, CTA, two collapsed accordions. No spec chips, no save badge, no trust badges, no financing line, no demo video. PDP view → ATC drops 95 %.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TEST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Nine opportunities, ranked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Three phases. Sized in DKK / month, tagged by effort. All shippable on the existing Shopify theme.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14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999999"/>
                </a:solidFill>
                <a:latin typeface="Helvetica Neue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8127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Helvetica Neue"/>
              </a:rPr>
              <a:t>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148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999999"/>
                </a:solidFill>
                <a:latin typeface="Helvetica Neue"/>
              </a:rPr>
              <a:t>MONTHLY DKK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6207" y="21488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Helvetica Neue"/>
              </a:rPr>
              <a:t>EFFORT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9207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Helvetica Neue"/>
              </a:rPr>
              <a:t>PHASE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047" y="2441448"/>
            <a:ext cx="10515600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047" y="2478024"/>
            <a:ext cx="10515600" cy="38404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207" y="253288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8127" y="25328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PDP buy box rebuild  ·  SG-02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25328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65.000 to 120.000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6207" y="256946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6207" y="2569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F59E0B"/>
                </a:solidFill>
                <a:latin typeface="Menlo"/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9207" y="2532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07" y="29443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8127" y="29443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Hero rebuild · category led  ·  SG-01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2944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28.000 to 55.000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6207" y="298094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6207" y="298094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F59E0B"/>
                </a:solidFill>
                <a:latin typeface="Menlo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9207" y="2944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047" y="3300984"/>
            <a:ext cx="10515600" cy="38404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207" y="335584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8127" y="3355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Accessories cross sell  ·  SG-03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8767" y="3355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18.000 to 35.000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6207" y="339242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6207" y="339242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22C55E"/>
                </a:solidFill>
                <a:latin typeface="Menlo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9207" y="3355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207" y="37673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8127" y="3767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Klarna or ViaBill financing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8767" y="37673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55.000 to 100.000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6207" y="380390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6207" y="380390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22C55E"/>
                </a:solidFill>
                <a:latin typeface="Menlo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9207" y="37673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047" y="4123944"/>
            <a:ext cx="10515600" cy="38404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207" y="41788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78127" y="4178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Trustpilot social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8767" y="41788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45.000 to 80.000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6207" y="421538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6207" y="4215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22C55E"/>
                </a:solidFill>
                <a:latin typeface="Menlo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9207" y="4178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207" y="459028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78127" y="45902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Collection filters + chips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8767" y="4590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18.000 to 35.000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6207" y="462686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6207" y="46268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Menlo"/>
              </a:rP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9207" y="4590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047" y="4946904"/>
            <a:ext cx="10515600" cy="38404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207" y="5001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8127" y="5001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Post purchase review 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8767" y="5001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12.000 to 22.000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6207" y="503834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6207" y="503834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22C55E"/>
                </a:solidFill>
                <a:latin typeface="Menlo"/>
              </a:rPr>
              <a:t>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19207" y="5001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207" y="541324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78127" y="5413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Buying guides + quiz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98767" y="54132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D007"/>
                </a:solidFill>
                <a:latin typeface="Menlo"/>
              </a:rPr>
              <a:t>12.000 to 22.000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76207" y="544982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76207" y="544982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Menlo"/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19207" y="5413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8047" y="5769864"/>
            <a:ext cx="10515600" cy="38404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5207" y="58247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7D007"/>
                </a:solidFill>
                <a:latin typeface="Menlo"/>
              </a:rPr>
              <a:t>09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78127" y="5824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Meta Pixel + CAPI 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98767" y="58247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999999"/>
                </a:solidFill>
                <a:latin typeface="Helvetica Neue"/>
              </a:rPr>
              <a:t>Data quality unlock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76207" y="586130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8080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76207" y="586130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22C55E"/>
                </a:solidFill>
                <a:latin typeface="Menlo"/>
              </a:rPr>
              <a:t>Low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19207" y="5824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Menlo"/>
              </a:rPr>
              <a:t>Phase 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8047" y="6345936"/>
            <a:ext cx="10515600" cy="457200"/>
          </a:xfrm>
          <a:prstGeom prst="roundRect">
            <a:avLst>
              <a:gd name="adj" fmla="val 20000"/>
            </a:avLst>
          </a:prstGeom>
          <a:solidFill>
            <a:srgbClr val="1410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2367" y="634593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Helvetica Neue"/>
              </a:rPr>
              <a:t>TOTAL ADDRESSABLE UPLIFT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52847" y="6345936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7D007"/>
                </a:solidFill>
                <a:latin typeface="Menlo"/>
              </a:rPr>
              <a:t>253.000 to 469.000 kr / month  ·  +25 % to +47 %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7772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30">
                <a:solidFill>
                  <a:srgbClr val="000000"/>
                </a:solidFill>
                <a:latin typeface="Helvetica Neue"/>
              </a:rPr>
              <a:t>SG-01 ·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40">
                <a:solidFill>
                  <a:srgbClr val="FFFFFF"/>
                </a:solidFill>
                <a:latin typeface="Helvetica Neue"/>
              </a:rPr>
              <a:t>Category led 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848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84832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Homepage hero is occupied by a one-day family event banner. New visitors get no signal this is a fitness equipment store.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Homepage as landing page converts at 2,26 % (6 / 265). Paid PDP landing pages convert at 0,18 to 0,31 %.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529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52928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Brand promise and category nav never appear above the fold on mobile.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546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HYPOTHESIS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5643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Replacing the event hero with a category-led layout (lifestyle visual, brand promise, six category tiles, four trust USPs) lifts homepage to PDP CTR and downstream site CR for paid social and direct traffic.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169664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KEY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98264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7141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471416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Homepage to PDP 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70916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709160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Bounce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4690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946904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Site 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97880"/>
            <a:ext cx="4617720" cy="59436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4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163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AUDIENCE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163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All visitors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606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MULTIPLIER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606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25 %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049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049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/ (homepage)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0"/>
            <a:ext cx="684245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777240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111111"/>
                </a:solidFill>
                <a:latin typeface="Helvetica Neue"/>
              </a:rPr>
              <a:t>Category led hero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1325880"/>
            <a:ext cx="59280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Tool: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IntelliGEMS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Phase: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2 · W1-2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5815" y="138988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5815" y="13898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2194560"/>
            <a:ext cx="278114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1-home-desktop-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925651"/>
            <a:ext cx="2781147" cy="17382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806440" y="5468112"/>
            <a:ext cx="2781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11111"/>
                </a:solidFill>
                <a:latin typeface="Helvetica Neue"/>
              </a:rPr>
              <a:t>CONTROL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347" y="2194560"/>
            <a:ext cx="278114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esign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347" y="2899315"/>
            <a:ext cx="2781147" cy="179089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886720" y="5440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672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7772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30">
                <a:solidFill>
                  <a:srgbClr val="000000"/>
                </a:solidFill>
                <a:latin typeface="Helvetica Neue"/>
              </a:rPr>
              <a:t>SG-02 · PDP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40">
                <a:solidFill>
                  <a:srgbClr val="FFFFFF"/>
                </a:solidFill>
                <a:latin typeface="Helvetica Neue"/>
              </a:rPr>
              <a:t>PDP buy box 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848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84832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95 % of PDP viewers never add to cart. 2.535 missed ATCs over 90 days. Mobile drops 96,2 %, desktop 86,1 %.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TR600i PDP at 13.900 kr shows no financing, no save badge, no spec chips, no trust badges, no demo video.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529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52928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Cross sell module surfaces 4 competing treadmills instead of accessories.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82696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HYPOTHESIS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11296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84448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Rebuilding the PDP fold with spec chips, a save badge, a financing line, four trust badges, and a sticky add-to-cart on mobile lifts PDP add-to-cart rate without changing price or product range.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KEY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9943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599432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PDP to add-to-cart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3717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837176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Revenue per visitor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07492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074920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Average order 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97880"/>
            <a:ext cx="4617720" cy="59436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4-6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163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AUDIENCE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163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PDP visitors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606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MULTIPLIER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606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75 %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049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049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/products/*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0"/>
            <a:ext cx="684245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777240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111111"/>
                </a:solidFill>
                <a:latin typeface="Helvetica Neue"/>
              </a:rPr>
              <a:t>PDP buy box rebuild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1325880"/>
            <a:ext cx="59280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Tool: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IntelliGEMS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Phase: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2 · W3-6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5815" y="138988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5815" y="13898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2194560"/>
            <a:ext cx="278114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6-pdp-desktop-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925651"/>
            <a:ext cx="2781147" cy="17382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806440" y="5468112"/>
            <a:ext cx="2781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11111"/>
                </a:solidFill>
                <a:latin typeface="Helvetica Neue"/>
              </a:rPr>
              <a:t>CONTROL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347" y="2194560"/>
            <a:ext cx="278114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esign-p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347" y="2899315"/>
            <a:ext cx="2781147" cy="179089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886720" y="5440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672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7772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30">
                <a:solidFill>
                  <a:srgbClr val="000000"/>
                </a:solidFill>
                <a:latin typeface="Helvetica Neue"/>
              </a:rPr>
              <a:t>SG-03 · 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40">
                <a:solidFill>
                  <a:srgbClr val="FFFFFF"/>
                </a:solidFill>
                <a:latin typeface="Helvetica Neue"/>
              </a:rPr>
              <a:t>Cart drawer cross sell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848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84832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ATC to begin-checkout is 65 % (45 carts abandoned at the ATC step per quarter).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Current cart shows product, qty, total. No cross sell, no shipping progress, no financing reminder.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529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52928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5.015 kr AOV. Floor mat, lubricant, heart rate strap are obvious accessory adds.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82696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HYPOTHESIS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11296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84448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Upgrading the cart drawer with a 'Komplet dit setup' accessory module, free-shipping progress bar, financing reminder, and trust row lifts AOV and cart-to-checkout completion without slowing the primary purchase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KEY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4617720" cy="9144"/>
          </a:xfrm>
          <a:prstGeom prst="rect">
            <a:avLst/>
          </a:prstGeom>
          <a:solidFill>
            <a:srgbClr val="574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9943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599432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Average order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3717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837176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Items per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07492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  <a:latin typeface="Menlo"/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074920"/>
            <a:ext cx="4361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Cart to checkout completion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97880"/>
            <a:ext cx="4617720" cy="59436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3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163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AUDIENCE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163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All ATC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606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MULTIPLIER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606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100 %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0490" y="5971032"/>
            <a:ext cx="9715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2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0490" y="6190488"/>
            <a:ext cx="9715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Helvetica Neue"/>
              </a:rPr>
              <a:t>Cart drawer (global)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0"/>
            <a:ext cx="684245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777240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111111"/>
                </a:solidFill>
                <a:latin typeface="Helvetica Neue"/>
              </a:rPr>
              <a:t>Cart drawer cross sell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1325880"/>
            <a:ext cx="59280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Tool: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IntelliGEMS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1325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Helvetica Neue"/>
              </a:rPr>
              <a:t>Phase: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Menlo"/>
              </a:rPr>
              <a:t>2 · W4-6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5815" y="138988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5815" y="13898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95947" y="2194560"/>
            <a:ext cx="1691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33107" y="35204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Helvetica Neue"/>
              </a:rPr>
              <a:t>Cart drawer (current)
Product · qty · subtotal · checkout
No cross sell. No shipping progress. No trust row.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5947" y="5468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11111"/>
                </a:solidFill>
                <a:latin typeface="Helvetica Neue"/>
              </a:rPr>
              <a:t>CONTROL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347" y="2194560"/>
            <a:ext cx="1691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esign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940" y="2194560"/>
            <a:ext cx="1266453" cy="32004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341967" y="5440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1967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How three Danish competitors handle the same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Fitshop is the scale player. Fitness Engros is the content brand. Træningspartner is the Trustpilot volume leader. Each solves at least three of the five blockers.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2240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Helvetica Neue"/>
              </a:rP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687" y="2240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sportgym.dk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2240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Helvetica Neue"/>
              </a:rPr>
              <a:t>fitshop.dk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4607" y="2240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Helvetica Neue"/>
              </a:rPr>
              <a:t>fitnessengros.dk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0567" y="2240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Helvetica Neue"/>
              </a:rPr>
              <a:t>træningspartner.dk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327" y="2532888"/>
            <a:ext cx="10607040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327" y="2569464"/>
            <a:ext cx="10607040" cy="43891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487" y="26243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Hero sells the category</a:t>
            </a:r>
          </a:p>
        </p:txBody>
      </p:sp>
      <p:sp>
        <p:nvSpPr>
          <p:cNvPr id="18" name="Oval 17"/>
          <p:cNvSpPr/>
          <p:nvPr/>
        </p:nvSpPr>
        <p:spPr>
          <a:xfrm>
            <a:off x="3672687" y="27157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5567" y="2624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 · event banner</a:t>
            </a:r>
          </a:p>
        </p:txBody>
      </p:sp>
      <p:sp>
        <p:nvSpPr>
          <p:cNvPr id="20" name="Oval 19"/>
          <p:cNvSpPr/>
          <p:nvPr/>
        </p:nvSpPr>
        <p:spPr>
          <a:xfrm>
            <a:off x="5638647" y="27157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2624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Yes · categories</a:t>
            </a:r>
          </a:p>
        </p:txBody>
      </p:sp>
      <p:sp>
        <p:nvSpPr>
          <p:cNvPr id="22" name="Oval 21"/>
          <p:cNvSpPr/>
          <p:nvPr/>
        </p:nvSpPr>
        <p:spPr>
          <a:xfrm>
            <a:off x="7604607" y="27157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7487" y="2624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Yes · categories</a:t>
            </a:r>
          </a:p>
        </p:txBody>
      </p:sp>
      <p:sp>
        <p:nvSpPr>
          <p:cNvPr id="24" name="Oval 23"/>
          <p:cNvSpPr/>
          <p:nvPr/>
        </p:nvSpPr>
        <p:spPr>
          <a:xfrm>
            <a:off x="9570567" y="27157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3447" y="2624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Partial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87" y="30815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Trustpilot widget on home</a:t>
            </a:r>
          </a:p>
        </p:txBody>
      </p:sp>
      <p:sp>
        <p:nvSpPr>
          <p:cNvPr id="27" name="Oval 26"/>
          <p:cNvSpPr/>
          <p:nvPr/>
        </p:nvSpPr>
        <p:spPr>
          <a:xfrm>
            <a:off x="3672687" y="31729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567" y="3081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Not visible</a:t>
            </a:r>
          </a:p>
        </p:txBody>
      </p:sp>
      <p:sp>
        <p:nvSpPr>
          <p:cNvPr id="29" name="Oval 28"/>
          <p:cNvSpPr/>
          <p:nvPr/>
        </p:nvSpPr>
        <p:spPr>
          <a:xfrm>
            <a:off x="5638647" y="31729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1527" y="3081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Google 4,84 / 41k</a:t>
            </a:r>
          </a:p>
        </p:txBody>
      </p:sp>
      <p:sp>
        <p:nvSpPr>
          <p:cNvPr id="31" name="Oval 30"/>
          <p:cNvSpPr/>
          <p:nvPr/>
        </p:nvSpPr>
        <p:spPr>
          <a:xfrm>
            <a:off x="7604607" y="31729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7487" y="3081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Static stars</a:t>
            </a:r>
          </a:p>
        </p:txBody>
      </p:sp>
      <p:sp>
        <p:nvSpPr>
          <p:cNvPr id="33" name="Oval 32"/>
          <p:cNvSpPr/>
          <p:nvPr/>
        </p:nvSpPr>
        <p:spPr>
          <a:xfrm>
            <a:off x="9570567" y="31729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3447" y="3081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807 reviews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327" y="3483864"/>
            <a:ext cx="10607040" cy="43891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487" y="35387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Reviews on PDP</a:t>
            </a:r>
          </a:p>
        </p:txBody>
      </p:sp>
      <p:sp>
        <p:nvSpPr>
          <p:cNvPr id="37" name="Oval 36"/>
          <p:cNvSpPr/>
          <p:nvPr/>
        </p:nvSpPr>
        <p:spPr>
          <a:xfrm>
            <a:off x="3672687" y="36301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55567" y="35387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None</a:t>
            </a:r>
          </a:p>
        </p:txBody>
      </p:sp>
      <p:sp>
        <p:nvSpPr>
          <p:cNvPr id="39" name="Oval 38"/>
          <p:cNvSpPr/>
          <p:nvPr/>
        </p:nvSpPr>
        <p:spPr>
          <a:xfrm>
            <a:off x="5638647" y="36301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1527" y="35387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Limited</a:t>
            </a:r>
          </a:p>
        </p:txBody>
      </p:sp>
      <p:sp>
        <p:nvSpPr>
          <p:cNvPr id="41" name="Oval 40"/>
          <p:cNvSpPr/>
          <p:nvPr/>
        </p:nvSpPr>
        <p:spPr>
          <a:xfrm>
            <a:off x="7604607" y="36301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87487" y="35387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None</a:t>
            </a:r>
          </a:p>
        </p:txBody>
      </p:sp>
      <p:sp>
        <p:nvSpPr>
          <p:cNvPr id="43" name="Oval 42"/>
          <p:cNvSpPr/>
          <p:nvPr/>
        </p:nvSpPr>
        <p:spPr>
          <a:xfrm>
            <a:off x="9570567" y="36301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3447" y="35387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Stars + 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487" y="39959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Financing on PDP</a:t>
            </a:r>
          </a:p>
        </p:txBody>
      </p:sp>
      <p:sp>
        <p:nvSpPr>
          <p:cNvPr id="46" name="Oval 45"/>
          <p:cNvSpPr/>
          <p:nvPr/>
        </p:nvSpPr>
        <p:spPr>
          <a:xfrm>
            <a:off x="3672687" y="40873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5567" y="39959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None</a:t>
            </a:r>
          </a:p>
        </p:txBody>
      </p:sp>
      <p:sp>
        <p:nvSpPr>
          <p:cNvPr id="48" name="Oval 47"/>
          <p:cNvSpPr/>
          <p:nvPr/>
        </p:nvSpPr>
        <p:spPr>
          <a:xfrm>
            <a:off x="5638647" y="40873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21527" y="39959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Klarna + ViaBill</a:t>
            </a:r>
          </a:p>
        </p:txBody>
      </p:sp>
      <p:sp>
        <p:nvSpPr>
          <p:cNvPr id="50" name="Oval 49"/>
          <p:cNvSpPr/>
          <p:nvPr/>
        </p:nvSpPr>
        <p:spPr>
          <a:xfrm>
            <a:off x="7604607" y="40873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87487" y="39959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Not visible</a:t>
            </a:r>
          </a:p>
        </p:txBody>
      </p:sp>
      <p:sp>
        <p:nvSpPr>
          <p:cNvPr id="52" name="Oval 51"/>
          <p:cNvSpPr/>
          <p:nvPr/>
        </p:nvSpPr>
        <p:spPr>
          <a:xfrm>
            <a:off x="9570567" y="40873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53447" y="39959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2327" y="4398264"/>
            <a:ext cx="10607040" cy="43891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487" y="44531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Structured filters</a:t>
            </a:r>
          </a:p>
        </p:txBody>
      </p:sp>
      <p:sp>
        <p:nvSpPr>
          <p:cNvPr id="56" name="Oval 55"/>
          <p:cNvSpPr/>
          <p:nvPr/>
        </p:nvSpPr>
        <p:spPr>
          <a:xfrm>
            <a:off x="3672687" y="45445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55567" y="44531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Stock + price only</a:t>
            </a:r>
          </a:p>
        </p:txBody>
      </p:sp>
      <p:sp>
        <p:nvSpPr>
          <p:cNvPr id="58" name="Oval 57"/>
          <p:cNvSpPr/>
          <p:nvPr/>
        </p:nvSpPr>
        <p:spPr>
          <a:xfrm>
            <a:off x="5638647" y="45445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21527" y="44531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Some brand filters</a:t>
            </a:r>
          </a:p>
        </p:txBody>
      </p:sp>
      <p:sp>
        <p:nvSpPr>
          <p:cNvPr id="60" name="Oval 59"/>
          <p:cNvSpPr/>
          <p:nvPr/>
        </p:nvSpPr>
        <p:spPr>
          <a:xfrm>
            <a:off x="7604607" y="45445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87487" y="44531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Category subnav</a:t>
            </a:r>
          </a:p>
        </p:txBody>
      </p:sp>
      <p:sp>
        <p:nvSpPr>
          <p:cNvPr id="62" name="Oval 61"/>
          <p:cNvSpPr/>
          <p:nvPr/>
        </p:nvSpPr>
        <p:spPr>
          <a:xfrm>
            <a:off x="9570567" y="45445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447" y="44531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Multi facet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487" y="49103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Cross sell = accessories</a:t>
            </a:r>
          </a:p>
        </p:txBody>
      </p:sp>
      <p:sp>
        <p:nvSpPr>
          <p:cNvPr id="65" name="Oval 64"/>
          <p:cNvSpPr/>
          <p:nvPr/>
        </p:nvSpPr>
        <p:spPr>
          <a:xfrm>
            <a:off x="3672687" y="500176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55567" y="4910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Competing models</a:t>
            </a:r>
          </a:p>
        </p:txBody>
      </p:sp>
      <p:sp>
        <p:nvSpPr>
          <p:cNvPr id="67" name="Oval 66"/>
          <p:cNvSpPr/>
          <p:nvPr/>
        </p:nvSpPr>
        <p:spPr>
          <a:xfrm>
            <a:off x="5638647" y="50017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21527" y="4910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Mixed</a:t>
            </a:r>
          </a:p>
        </p:txBody>
      </p:sp>
      <p:sp>
        <p:nvSpPr>
          <p:cNvPr id="69" name="Oval 68"/>
          <p:cNvSpPr/>
          <p:nvPr/>
        </p:nvSpPr>
        <p:spPr>
          <a:xfrm>
            <a:off x="7604607" y="50017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87487" y="4910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Accessory bundles</a:t>
            </a:r>
          </a:p>
        </p:txBody>
      </p:sp>
      <p:sp>
        <p:nvSpPr>
          <p:cNvPr id="71" name="Oval 70"/>
          <p:cNvSpPr/>
          <p:nvPr/>
        </p:nvSpPr>
        <p:spPr>
          <a:xfrm>
            <a:off x="9570567" y="50017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53447" y="49103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Mixed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2327" y="5312664"/>
            <a:ext cx="10607040" cy="43891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9487" y="536752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Showroom / pickup</a:t>
            </a:r>
          </a:p>
        </p:txBody>
      </p:sp>
      <p:sp>
        <p:nvSpPr>
          <p:cNvPr id="75" name="Oval 74"/>
          <p:cNvSpPr/>
          <p:nvPr/>
        </p:nvSpPr>
        <p:spPr>
          <a:xfrm>
            <a:off x="3672687" y="54589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55567" y="5367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Aarhus + PDP pickup</a:t>
            </a:r>
          </a:p>
        </p:txBody>
      </p:sp>
      <p:sp>
        <p:nvSpPr>
          <p:cNvPr id="77" name="Oval 76"/>
          <p:cNvSpPr/>
          <p:nvPr/>
        </p:nvSpPr>
        <p:spPr>
          <a:xfrm>
            <a:off x="5638647" y="54589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21527" y="5367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69 EU stores</a:t>
            </a:r>
          </a:p>
        </p:txBody>
      </p:sp>
      <p:sp>
        <p:nvSpPr>
          <p:cNvPr id="79" name="Oval 78"/>
          <p:cNvSpPr/>
          <p:nvPr/>
        </p:nvSpPr>
        <p:spPr>
          <a:xfrm>
            <a:off x="7604607" y="54589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87487" y="5367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Taastrup showroom</a:t>
            </a:r>
          </a:p>
        </p:txBody>
      </p:sp>
      <p:sp>
        <p:nvSpPr>
          <p:cNvPr id="81" name="Oval 80"/>
          <p:cNvSpPr/>
          <p:nvPr/>
        </p:nvSpPr>
        <p:spPr>
          <a:xfrm>
            <a:off x="9570567" y="54589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53447" y="536752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Limited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90 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Three phases. Compounding impact across the quarter. None require a replatform.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129" y="2194560"/>
            <a:ext cx="3749039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729" y="2423160"/>
            <a:ext cx="3291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Menlo"/>
              </a:rPr>
              <a:t>// 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9" y="269748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9" y="30632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Helvetica Neue"/>
              </a:rPr>
              <a:t>Week 1 to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729" y="3429000"/>
            <a:ext cx="3291839" cy="502920"/>
          </a:xfrm>
          <a:prstGeom prst="roundRect">
            <a:avLst>
              <a:gd name="adj" fmla="val 15000"/>
            </a:avLst>
          </a:prstGeom>
          <a:solidFill>
            <a:srgbClr val="141002"/>
          </a:solidFill>
          <a:ln w="6350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889" y="34472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999999"/>
                </a:solidFill>
                <a:latin typeface="Helvetica Neue"/>
              </a:rPr>
              <a:t>EXPECTED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9" y="3657600"/>
            <a:ext cx="3017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D007"/>
                </a:solidFill>
                <a:latin typeface="Menlo"/>
              </a:rPr>
              <a:t>100K to 180K kr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729" y="41148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609" y="4114800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Embed Trustpilot Trustbox under hero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729" y="4425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9" y="4425696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Install ViaBill or Klarna on PDP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729" y="47365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609" y="4736592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Reviews app: stars on cards + PDP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729" y="5047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09" y="5047488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Verify Meta Pixel + CAPI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9" y="53583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09" y="5358384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Trust USP strip under hero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729" y="56692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609" y="5669280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Compress event into thin strip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21328" y="2194560"/>
            <a:ext cx="3749039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9928" y="2423160"/>
            <a:ext cx="3291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Menlo"/>
              </a:rPr>
              <a:t>// 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9928" y="269748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Core optimizations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9928" y="30632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Helvetica Neue"/>
              </a:rPr>
              <a:t>Week 3 to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8" y="3429000"/>
            <a:ext cx="3291839" cy="502920"/>
          </a:xfrm>
          <a:prstGeom prst="roundRect">
            <a:avLst>
              <a:gd name="adj" fmla="val 15000"/>
            </a:avLst>
          </a:prstGeom>
          <a:solidFill>
            <a:srgbClr val="141002"/>
          </a:solidFill>
          <a:ln w="6350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7088" y="34472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999999"/>
                </a:solidFill>
                <a:latin typeface="Helvetica Neue"/>
              </a:rPr>
              <a:t>EXPECTED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7088" y="3657600"/>
            <a:ext cx="3017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D007"/>
                </a:solidFill>
                <a:latin typeface="Menlo"/>
              </a:rPr>
              <a:t>123K to 232K kr / 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9928" y="41148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2808" y="4114800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PDP buy box rebuild (chips, badges, financing, trust, sticky ATC, video)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9928" y="4425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808" y="4425696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Hero rebuild: category grid + brand promise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9928" y="47365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2808" y="4736592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Accessories cross sell ('Komplet dit setup')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9928" y="5047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808" y="5047488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Klaviyo post purchase review flow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7527" y="2194560"/>
            <a:ext cx="3749039" cy="425196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6127" y="2423160"/>
            <a:ext cx="3291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99999"/>
                </a:solidFill>
                <a:latin typeface="Menlo"/>
              </a:rPr>
              <a:t>// PHASE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6127" y="269748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Growth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6127" y="30632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Helvetica Neue"/>
              </a:rPr>
              <a:t>Week 7 to 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6127" y="3429000"/>
            <a:ext cx="3291839" cy="502920"/>
          </a:xfrm>
          <a:prstGeom prst="roundRect">
            <a:avLst>
              <a:gd name="adj" fmla="val 15000"/>
            </a:avLst>
          </a:prstGeom>
          <a:solidFill>
            <a:srgbClr val="141002"/>
          </a:solidFill>
          <a:ln w="6350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73287" y="34472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999999"/>
                </a:solidFill>
                <a:latin typeface="Helvetica Neue"/>
              </a:rPr>
              <a:t>EXPECTED IMPACT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3287" y="3657600"/>
            <a:ext cx="3017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D007"/>
                </a:solidFill>
                <a:latin typeface="Menlo"/>
              </a:rPr>
              <a:t>30K to 57K kr / 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6127" y="41148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9007" y="4114800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Collection filters + spec chips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6127" y="4425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9007" y="4425696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'Find dit løbebånd' quiz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6127" y="47365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9007" y="4736592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Buying guides per category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6127" y="5047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9007" y="5047488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PDP comparison table + FAQ block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6127" y="53583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19007" y="5358384"/>
            <a:ext cx="3108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Re-baseline attribution post Meta fix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TRACK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Three winning EcomHouse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Real results from EcomHouse client engagements. Each test rolled out to 100 % of traffic after meeting the pre-approved confidence threshold. IntelliGEMS test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129" y="2194560"/>
            <a:ext cx="3749039" cy="41605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9" y="242316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Comforth · 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9" y="26517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20">
                <a:solidFill>
                  <a:srgbClr val="FFFFFF"/>
                </a:solidFill>
                <a:latin typeface="Helvetica Neue"/>
              </a:rPr>
              <a:t>Product tags on collection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9" y="32918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Menlo"/>
              </a:rPr>
              <a:t>PROFIT / VISITOR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9" y="3520440"/>
            <a:ext cx="320039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7D007"/>
                </a:solidFill>
                <a:latin typeface="Menlo"/>
              </a:rPr>
              <a:t>+11,42%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9" y="42976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Menlo"/>
              </a:rPr>
              <a:t>-11 % to +39 %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9" y="45262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+106.550 kr /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9" y="4892040"/>
            <a:ext cx="3200399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449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5289" y="4983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2,09% → 2,37%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9" y="49834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+13,07%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449" y="527608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RPV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5289" y="5276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26,88 → 29,87 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9" y="5276088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+11,13%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9" y="5568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Orders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5289" y="55686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+169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9" y="589788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999999"/>
                </a:solidFill>
                <a:latin typeface="Helvetica Neue"/>
              </a:rPr>
              <a:t>Added trust + benefit tags to collection product cards. Lift compounded across all three metrics.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1328" y="2194560"/>
            <a:ext cx="3749039" cy="41605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648" y="242316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PH Import · 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8" y="26517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20">
                <a:solidFill>
                  <a:srgbClr val="FFFFFF"/>
                </a:solidFill>
                <a:latin typeface="Helvetica Neue"/>
              </a:rPr>
              <a:t>PDP volume discount tiers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648" y="32918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Menlo"/>
              </a:rPr>
              <a:t>CONVERSION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648" y="3520440"/>
            <a:ext cx="320039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7D007"/>
                </a:solidFill>
                <a:latin typeface="Menlo"/>
              </a:rPr>
              <a:t>+11,08%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5648" y="42976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Menlo"/>
              </a:rPr>
              <a:t>-3 % to +27 %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5648" y="45262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+134.917 kr / mo (RPV)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5648" y="4892040"/>
            <a:ext cx="3200399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5648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RPV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1488" y="4983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20,36 → 23,84 kr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5648" y="49834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+17,10%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5648" y="527608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AOV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1488" y="5276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293,47 → 309,37 kr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5648" y="5276088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+5,42%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5648" y="5568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Orders / 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1488" y="55686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+298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5648" y="589788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999999"/>
                </a:solidFill>
                <a:latin typeface="Helvetica Neue"/>
              </a:rPr>
              <a:t>Surfaced volume discount tiers directly on the PDP. CR was primary, RPV and AOV lifted simultaneously.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7527" y="2194560"/>
            <a:ext cx="3749039" cy="41605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1847" y="242316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PH Import · DK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1847" y="2651760"/>
            <a:ext cx="3200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20">
                <a:solidFill>
                  <a:srgbClr val="FFFFFF"/>
                </a:solidFill>
                <a:latin typeface="Helvetica Neue"/>
              </a:rPr>
              <a:t>Homepage hero optimization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1847" y="32918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Menlo"/>
              </a:rPr>
              <a:t>REVENUE / VISITOR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1847" y="3520440"/>
            <a:ext cx="320039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7D007"/>
                </a:solidFill>
                <a:latin typeface="Menlo"/>
              </a:rPr>
              <a:t>+20,87%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1847" y="42976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Menlo"/>
              </a:rPr>
              <a:t>-12 % to +67 %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847" y="45262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+272.913 kr / 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81847" y="4892040"/>
            <a:ext cx="3200399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1847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CR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7687" y="4983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16,3% → 17,6%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1847" y="49834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+7,72%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1847" y="527608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AOV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7687" y="5276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401,87 → 450,94 kr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1847" y="5276088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+12,21%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1847" y="5568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999999"/>
                </a:solidFill>
                <a:latin typeface="Helvetica Neue"/>
              </a:rPr>
              <a:t>PDP view 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7687" y="55686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Menlo"/>
              </a:rPr>
              <a:t>56,6% → 61,8%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1847" y="5568696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7D007"/>
                </a:solidFill>
                <a:latin typeface="Menlo"/>
              </a:rPr>
              <a:t>+9,21%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1847" y="589788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999999"/>
                </a:solidFill>
                <a:latin typeface="Helvetica Neue"/>
              </a:rPr>
              <a:t>Reworked homepage hero with lighter background. Lifted the full funnel: more PDP views, higher AOV, more revenue.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644652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6B7C75"/>
                </a:solidFill>
                <a:latin typeface="Helvetica Neue"/>
              </a:rPr>
              <a:t>Source: IntelliGEMS test reports. Confidence intervals shown reflect range of likely true effect. References available on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CASE STUDY ·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Comforth · Product tags on collection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Added benefit and trust tags directly to product cards on collection pages. Variant lifted all three commercial metrics with no degradation in any guardrail. IntelliGEMS, 100 %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forth | Product Tags 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27" y="2377440"/>
            <a:ext cx="1527586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forth | Product Tags Vari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541" y="2377440"/>
            <a:ext cx="1516997" cy="3291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464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377440"/>
            <a:ext cx="6339535" cy="3611880"/>
          </a:xfrm>
          <a:prstGeom prst="roundRect">
            <a:avLst>
              <a:gd name="adj" fmla="val 3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5608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PROFIT PER VISITOR (PRIMARY)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88036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7D007"/>
                </a:solidFill>
                <a:latin typeface="Menlo"/>
              </a:rPr>
              <a:t>+11,42%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4904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Menlo"/>
              </a:rPr>
              <a:t>-11 % to +39 %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023360"/>
            <a:ext cx="5608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nlo"/>
              </a:rPr>
              <a:t>+106.550 kr / month projected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434840"/>
            <a:ext cx="5608015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5720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999999"/>
                </a:solidFill>
                <a:latin typeface="Helvetica Neue"/>
              </a:rPr>
              <a:t>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720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846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Conversion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2,09 %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2,37 %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8463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+13,07%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206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Revenue / visitor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26,88 kr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29,87 kr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206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+11,13%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394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Profit / visitor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15,07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16,80 kr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3949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+11,42%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6692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Est. orders /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+169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6692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CASE STUDY ·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PH Import · PDP volume discount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Surfaced volume discount tiers directly on the PDP. The variant lifted purchase rate, AOV, and downstream profit simultaneously. IntelliGEMS, 100 %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 Import _ PDP Volume discount  cont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109" y="2377440"/>
            <a:ext cx="921621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H Import _ PDP Volume discount  varia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492" y="2377440"/>
            <a:ext cx="839096" cy="3291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464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377440"/>
            <a:ext cx="6339535" cy="3611880"/>
          </a:xfrm>
          <a:prstGeom prst="roundRect">
            <a:avLst>
              <a:gd name="adj" fmla="val 3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5608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CONVERSION RATE (PRIMARY)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88036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7D007"/>
                </a:solidFill>
                <a:latin typeface="Menlo"/>
              </a:rPr>
              <a:t>+11,08%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4904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Menlo"/>
              </a:rPr>
              <a:t>-3 % to +27 %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023360"/>
            <a:ext cx="5608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nlo"/>
              </a:rPr>
              <a:t>+298 orders / month · +134.917 kr / mo (RPV)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434840"/>
            <a:ext cx="5608015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5720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999999"/>
                </a:solidFill>
                <a:latin typeface="Helvetica Neue"/>
              </a:rPr>
              <a:t>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720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846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Conversion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6,94 %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7,71 %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8463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+11,08%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206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Revenue / visitor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20,36 kr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23,84 kr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206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+17,10%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394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Profit / visitor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10,49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12,25 kr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3949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+16,68%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6692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Avg order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293,47 kr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309,37 kr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6692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+5,42%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CASE STUDY ·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PH Import · Homepage hero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Reworked homepage hero with a lighter background and a sharper category-led layout. Lift compounded through PDP views, AOV, and revenue. IntelliGEMS, 100 %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 Import _ Homepage hero optimization cont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77440"/>
            <a:ext cx="1426464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7744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H Import _ Homepage hero optimization varia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96" y="2377440"/>
            <a:ext cx="1020887" cy="3291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464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377440"/>
            <a:ext cx="6339535" cy="3611880"/>
          </a:xfrm>
          <a:prstGeom prst="roundRect">
            <a:avLst>
              <a:gd name="adj" fmla="val 3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5608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REVENUE PER VISITOR (PRIMARY)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88036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7D007"/>
                </a:solidFill>
                <a:latin typeface="Menlo"/>
              </a:rPr>
              <a:t>+20,87%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4904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Menlo"/>
              </a:rPr>
              <a:t>-12 % to +67 %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023360"/>
            <a:ext cx="5608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nlo"/>
              </a:rPr>
              <a:t>+251 orders / month · +272.913 kr / 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434840"/>
            <a:ext cx="5608015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5720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999999"/>
                </a:solidFill>
                <a:latin typeface="Helvetica Neue"/>
              </a:rPr>
              <a:t>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F7D007"/>
                </a:solidFill>
                <a:latin typeface="Helvetica Neue"/>
              </a:rPr>
              <a:t>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720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150">
                <a:solidFill>
                  <a:srgbClr val="999999"/>
                </a:solidFill>
                <a:latin typeface="Helvetica Neue"/>
              </a:rPr>
              <a:t>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846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Revenue / visitor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65,50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79,17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8463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+20,87%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206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Profit / visitor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34,78 kr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42,35 kr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206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+21,78%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394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Avg order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401,87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450,94 kr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3949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+12,21%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6692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PDP view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  <a:latin typeface="Menlo"/>
              </a:rPr>
              <a:t>56,6 %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669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enlo"/>
              </a:rPr>
              <a:t>61,8 %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6692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7D007"/>
                </a:solidFill>
                <a:latin typeface="Menlo"/>
              </a:rPr>
              <a:t>+9,21%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THE ECOMHOUSE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Six steps,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You approve. We execute. Every step is owned by us, including build, QA, and rollout. Client only approves the brief and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427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07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GA4, Shopify, heatmaps, recordings, reviews,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507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1379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4259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4259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Ideate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4259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Hypothesis, variant concepts, copy, Figma prototype.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4459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3331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6211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211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Pre-test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6211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Written brief with metric, confidence, sample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6411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5283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8163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8163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Build +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8163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Shopify or test tool variant, tracked, QA'd across devices.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363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7235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0115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0115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Run + 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0115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Live test with guardrail watch, weekly progress updates.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0315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9187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2067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206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Analyze + roll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2067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Written verdict, fee invoiced on rollout to 100 % of traffic.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02920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5166360"/>
            <a:ext cx="9902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Zero-row service: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 client is not expected to do production work. We handle everything from research through analysis. The client approves the pre-test brief and the rollout decision in writing.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BRIEF +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How every test launches and concludes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No test starts without a written, approved brief. Tests only conclude when all approved conditions are 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6858000" cy="420624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PRE-TEST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Every test launches with a written, approved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PART 1   Test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Hypothesis and Control vs Variant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Audience and traffic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Funnel stage and stage multiplier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URL targeting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Frozen baselines from trailing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337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PART 2   Statistical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Primary metric (RPV or funnel metric)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60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Statistical confidence (80 % default)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617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Minimum visitor and order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74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Worked fee range at +5 / +10 / +15 %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532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532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Data sources named explicitly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286000"/>
            <a:ext cx="3886200" cy="420624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6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5146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A9FF"/>
                </a:solidFill>
                <a:latin typeface="Helvetica Neue"/>
              </a:rPr>
              <a:t>TESTING 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788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Guardrails on tooling, rigor, 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338328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DEFAULT TOOL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61188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IntelliGEMS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397764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Or Convert, GrowthBook, Shopify-native with written approval.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1220" y="338328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1220" y="361188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80 %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1220" y="397764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Higher per test if you require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89204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512064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All conditions met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548640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Min visitors, orders, and confidence reached.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1220" y="489204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REPORTING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1220" y="512064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Weekly Loom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1220" y="548640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Plus a running test log you can access anytime.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COMPENSATION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We win when you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Performance-based fee on every winning test rolled out to 100 % of traffic. One-time charge per test. No attribution window. No recurring 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487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41002"/>
          </a:solidFill>
          <a:ln w="1905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// PERFORMANCE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2880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% of estimated monthly revenue 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527" y="33832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7D007"/>
                </a:solidFill>
                <a:latin typeface="Menlo"/>
              </a:rPr>
              <a:t>Y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527" y="416052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Charged once per winning test on rollout. Calculated from the test's measured uplift and the client's own data, with the agreed stage multiplier applied.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9527" y="48006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2407" y="48006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One time fee per winning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527" y="50292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2407" y="50292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 recurring tail, no attribution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9527" y="52578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2407" y="52578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Loser and inconclusive tests are free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047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// OPTIONAL RETAINER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2880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Fixed monthly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3832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7D007"/>
                </a:solidFill>
                <a:latin typeface="Menlo"/>
              </a:rPr>
              <a:t>X kr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052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Optional. Predictable monthly cost on top of (or instead of) the performance fee. Some clients prefer this for budgeting.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8006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48006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Billed on the 1st, in advance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50292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5927" y="50292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Void if not agreed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47" y="52578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5927" y="52578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Stackable with the performance fee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60720"/>
            <a:ext cx="10543032" cy="5943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897880"/>
            <a:ext cx="1008583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Billing: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one invoice on the 1st covering the retainer (if any) plus the performance fee for every winning test rolled out last month. 8 day payment terms. Third-party costs (test tools, apps) paid by the client.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SCHEDULE A · STAGE MULTIPLIERS + 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 spc="-50">
                <a:solidFill>
                  <a:srgbClr val="FFFFFF"/>
                </a:solidFill>
                <a:latin typeface="Helvetica Neue"/>
              </a:rPr>
              <a:t>Tests further from purchase carry more projection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28016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The multiplier discounts upper-funnel tests where revenue is estimated rather than directly measured. Approved in the pre-test brief, before the test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760720" cy="41605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STAGE MULTIPLIERS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7D007"/>
                </a:solidFill>
                <a:latin typeface="Menlo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815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Helvetica Neue"/>
              </a:rPr>
              <a:t>RPV · AOV · Purchase CVR · Checkout CVR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558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Revenue measured directly. No projection.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8620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6AA9FF"/>
                </a:solidFill>
                <a:latin typeface="Menlo"/>
              </a:rPr>
              <a:t>75 %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9959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Helvetica Neue"/>
              </a:rPr>
              <a:t>Cart to checkout · PDP add to 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702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One step from purchase.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Menlo"/>
              </a:rPr>
              <a:t>50 %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910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Helvetica Neue"/>
              </a:rPr>
              <a:t>Collection to PDP · PDP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846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Two steps from purchase.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71500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070707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  <a:latin typeface="Menlo"/>
              </a:rPr>
              <a:t>25 %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8247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Helvetica Neue"/>
              </a:rPr>
              <a:t>Homepage to collection · 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60990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Three or more steps from purchase.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331720"/>
            <a:ext cx="4983480" cy="41605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56032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WORKED EXAMPLES · 30 % AGENCY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97180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F7D007"/>
                </a:solidFill>
                <a:latin typeface="Menlo"/>
              </a:rPr>
              <a:t>DIRECT TEST · PDP CVR · 100 % multiplier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4612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24612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Monthly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24612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1.305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447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4472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Test uplift (+15 %)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44728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+0,28pp → 2,14 %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648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64845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Extra orders × 5.015 kr AOV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64845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18.054 kr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8496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849624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× 100 % multiplier × 30 %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84962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069080"/>
            <a:ext cx="4434840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1239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Helvetica Neue"/>
              </a:rPr>
              <a:t>ONE TIME FEE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1148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F7D007"/>
                </a:solidFill>
                <a:latin typeface="Menlo"/>
              </a:rPr>
              <a:t>5.416 kr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75488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EF4444"/>
                </a:solidFill>
                <a:latin typeface="Menlo"/>
              </a:rPr>
              <a:t>UPPER FUNNEL · Homepage hero · 25 % multiplier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292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1.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02920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Monthly homepage sessions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02920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23036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2.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23036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Uplift (+12 %)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23036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+6 visits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43153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3.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4315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× downstream CVR × AOV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543153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1.504 kr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6327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4.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5632704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Helvetica Neue"/>
              </a:rPr>
              <a:t>× 25 % multiplier × 30 %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563270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enlo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5852160"/>
            <a:ext cx="4434840" cy="109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59070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Helvetica Neue"/>
              </a:rPr>
              <a:t>ONE TIME FEE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589788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EF4444"/>
                </a:solidFill>
                <a:latin typeface="Menlo"/>
              </a:rPr>
              <a:t>113 kr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-2286000" y="457200"/>
            <a:ext cx="9144000" cy="6400800"/>
          </a:xfrm>
          <a:prstGeom prst="ellipse">
            <a:avLst/>
          </a:prstGeom>
          <a:solidFill>
            <a:srgbClr val="3A3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7D007"/>
                </a:solidFill>
                <a:latin typeface="Helvetica Neue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 spc="-200">
                <a:solidFill>
                  <a:srgbClr val="FFFFFF"/>
                </a:solidFill>
                <a:latin typeface="Helvetica Neue"/>
              </a:rPr>
              <a:t>Approve Phase 1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 spc="-200">
                <a:solidFill>
                  <a:srgbClr val="F7D007"/>
                </a:solidFill>
                <a:latin typeface="Helvetica Neue"/>
              </a:rPr>
              <a:t>We ship in 14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Helvetica Neue"/>
              </a:rPr>
              <a:t>Three Phase 1 tests have a worked pre-brief ready: ViaBill on PDP (55-100K kr / mo), Trustpilot Trustbox under hero (45-80K kr / mo), Meta Pixel + CAPI fix (data quality unlock). Approve in writing, work begins next business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D007"/>
                </a:solidFill>
                <a:latin typeface="Helvetica Neue"/>
              </a:rPr>
              <a:t>Performance-priced. No fee on losing or inconclusive tests. First invoice issues only after the first winning rollout.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FEEEE"/>
                </a:solidFill>
                <a:latin typeface="Helvetica Neue"/>
              </a:rPr>
              <a:t>Bhaskar Roy  ·  bhaskar@ecomhouse.dk  ·  ecomhouse.design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8932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000000"/>
                </a:solidFill>
                <a:latin typeface="Helvetica Neue"/>
              </a:rPr>
              <a:t>APPROVE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