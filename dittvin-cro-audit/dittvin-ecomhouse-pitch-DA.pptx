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 Id="rId4" Type="http://schemas.openxmlformats.org/officeDocument/2006/relationships/image" Target="../media/image1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00</a:t>
            </a:r>
          </a:p>
        </p:txBody>
      </p:sp>
      <p:sp>
        <p:nvSpPr>
          <p:cNvPr id="7" name="Oval 6"/>
          <p:cNvSpPr/>
          <p:nvPr/>
        </p:nvSpPr>
        <p:spPr>
          <a:xfrm>
            <a:off x="6583680" y="-2011680"/>
            <a:ext cx="7315200" cy="5943600"/>
          </a:xfrm>
          <a:prstGeom prst="ellipse">
            <a:avLst/>
          </a:prstGeom>
          <a:solidFill>
            <a:srgbClr val="2C25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234440"/>
            <a:ext cx="1965960" cy="640080"/>
          </a:xfrm>
          <a:prstGeom prst="rect">
            <a:avLst/>
          </a:prstGeom>
          <a:solidFill>
            <a:srgbClr val="0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1965960" cy="640080"/>
          </a:xfrm>
          <a:prstGeom prst="rect">
            <a:avLst/>
          </a:prstGeom>
          <a:noFill/>
        </p:spPr>
        <p:txBody>
          <a:bodyPr wrap="square" lIns="0" rIns="0" tIns="0" bIns="0" anchor="ctr">
            <a:spAutoFit/>
          </a:bodyPr>
          <a:lstStyle/>
          <a:p>
            <a:pPr algn="ctr"/>
            <a:r>
              <a:rPr sz="2000" b="1" i="0" spc="400">
                <a:solidFill>
                  <a:srgbClr val="FFFFFF"/>
                </a:solidFill>
                <a:latin typeface="Helvetica Neue"/>
              </a:rPr>
              <a:t>DITT VIN</a:t>
            </a:r>
          </a:p>
        </p:txBody>
      </p:sp>
      <p:sp>
        <p:nvSpPr>
          <p:cNvPr id="10" name="TextBox 9"/>
          <p:cNvSpPr txBox="1"/>
          <p:nvPr/>
        </p:nvSpPr>
        <p:spPr>
          <a:xfrm>
            <a:off x="777240" y="2148840"/>
            <a:ext cx="10515600" cy="1920240"/>
          </a:xfrm>
          <a:prstGeom prst="rect">
            <a:avLst/>
          </a:prstGeom>
          <a:noFill/>
        </p:spPr>
        <p:txBody>
          <a:bodyPr wrap="square" lIns="0" rIns="0" tIns="0" bIns="0" anchor="t">
            <a:spAutoFit/>
          </a:bodyPr>
          <a:lstStyle/>
          <a:p>
            <a:pPr algn="l">
              <a:lnSpc>
                <a:spcPct val="100000"/>
              </a:lnSpc>
            </a:pPr>
            <a:r>
              <a:rPr sz="6200" b="1" i="0">
                <a:solidFill>
                  <a:srgbClr val="F7D007"/>
                </a:solidFill>
                <a:latin typeface="Helvetica Neue"/>
              </a:rPr>
              <a:t>dittvin.se</a:t>
            </a:r>
          </a:p>
          <a:p>
            <a:pPr algn="l">
              <a:lnSpc>
                <a:spcPct val="100000"/>
              </a:lnSpc>
            </a:pPr>
            <a:r>
              <a:rPr sz="6200" b="1" i="0">
                <a:solidFill>
                  <a:srgbClr val="FFFFFF"/>
                </a:solidFill>
                <a:latin typeface="Helvetica Neue"/>
              </a:rPr>
              <a:t>CRO-audit</a:t>
            </a:r>
          </a:p>
        </p:txBody>
      </p:sp>
      <p:sp>
        <p:nvSpPr>
          <p:cNvPr id="11" name="Rounded Rectangle 10"/>
          <p:cNvSpPr/>
          <p:nvPr/>
        </p:nvSpPr>
        <p:spPr>
          <a:xfrm>
            <a:off x="777240" y="4160520"/>
            <a:ext cx="1357884"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160520"/>
            <a:ext cx="1357884" cy="402336"/>
          </a:xfrm>
          <a:prstGeom prst="rect">
            <a:avLst/>
          </a:prstGeom>
          <a:noFill/>
        </p:spPr>
        <p:txBody>
          <a:bodyPr wrap="square" lIns="0" rIns="0" tIns="0" bIns="0" anchor="ctr">
            <a:spAutoFit/>
          </a:bodyPr>
          <a:lstStyle/>
          <a:p>
            <a:pPr algn="ctr"/>
            <a:r>
              <a:rPr sz="1000" b="1" i="0" spc="100">
                <a:solidFill>
                  <a:srgbClr val="EFEEEE"/>
                </a:solidFill>
                <a:latin typeface="Helvetica Neue"/>
              </a:rPr>
              <a:t>CRO-audit</a:t>
            </a:r>
          </a:p>
        </p:txBody>
      </p:sp>
      <p:sp>
        <p:nvSpPr>
          <p:cNvPr id="13" name="Rounded Rectangle 12"/>
          <p:cNvSpPr/>
          <p:nvPr/>
        </p:nvSpPr>
        <p:spPr>
          <a:xfrm>
            <a:off x="777240" y="4160520"/>
            <a:ext cx="1357884"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99716" y="4160520"/>
            <a:ext cx="1988820"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99716" y="4160520"/>
            <a:ext cx="1988820" cy="402336"/>
          </a:xfrm>
          <a:prstGeom prst="rect">
            <a:avLst/>
          </a:prstGeom>
          <a:noFill/>
        </p:spPr>
        <p:txBody>
          <a:bodyPr wrap="square" lIns="0" rIns="0" tIns="0" bIns="0" anchor="ctr">
            <a:spAutoFit/>
          </a:bodyPr>
          <a:lstStyle/>
          <a:p>
            <a:pPr algn="ctr"/>
            <a:r>
              <a:rPr sz="1000" b="1" i="0" spc="100">
                <a:solidFill>
                  <a:srgbClr val="EFEEEE"/>
                </a:solidFill>
                <a:latin typeface="Helvetica Neue"/>
              </a:rPr>
              <a:t>RPV-nordstjerne</a:t>
            </a:r>
          </a:p>
        </p:txBody>
      </p:sp>
      <p:sp>
        <p:nvSpPr>
          <p:cNvPr id="16" name="Rounded Rectangle 15"/>
          <p:cNvSpPr/>
          <p:nvPr/>
        </p:nvSpPr>
        <p:spPr>
          <a:xfrm>
            <a:off x="2299716" y="4160520"/>
            <a:ext cx="1988820"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53128" y="4160520"/>
            <a:ext cx="1568196"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3128" y="4160520"/>
            <a:ext cx="1568196" cy="402336"/>
          </a:xfrm>
          <a:prstGeom prst="rect">
            <a:avLst/>
          </a:prstGeom>
          <a:noFill/>
        </p:spPr>
        <p:txBody>
          <a:bodyPr wrap="square" lIns="0" rIns="0" tIns="0" bIns="0" anchor="ctr">
            <a:spAutoFit/>
          </a:bodyPr>
          <a:lstStyle/>
          <a:p>
            <a:pPr algn="ctr"/>
            <a:r>
              <a:rPr sz="1000" b="1" i="0" spc="100">
                <a:solidFill>
                  <a:srgbClr val="EFEEEE"/>
                </a:solidFill>
                <a:latin typeface="Helvetica Neue"/>
              </a:rPr>
              <a:t>Benchmarket</a:t>
            </a:r>
          </a:p>
        </p:txBody>
      </p:sp>
      <p:sp>
        <p:nvSpPr>
          <p:cNvPr id="19" name="Rounded Rectangle 18"/>
          <p:cNvSpPr/>
          <p:nvPr/>
        </p:nvSpPr>
        <p:spPr>
          <a:xfrm>
            <a:off x="4453128" y="4160520"/>
            <a:ext cx="1568196"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85916" y="4160520"/>
            <a:ext cx="1568196"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5916" y="4160520"/>
            <a:ext cx="1568196" cy="402336"/>
          </a:xfrm>
          <a:prstGeom prst="rect">
            <a:avLst/>
          </a:prstGeom>
          <a:noFill/>
        </p:spPr>
        <p:txBody>
          <a:bodyPr wrap="square" lIns="0" rIns="0" tIns="0" bIns="0" anchor="ctr">
            <a:spAutoFit/>
          </a:bodyPr>
          <a:lstStyle/>
          <a:p>
            <a:pPr algn="ctr"/>
            <a:r>
              <a:rPr sz="1000" b="1" i="0" spc="100">
                <a:solidFill>
                  <a:srgbClr val="EFEEEE"/>
                </a:solidFill>
                <a:latin typeface="Helvetica Neue"/>
              </a:rPr>
              <a:t>A/B-roadmap</a:t>
            </a:r>
          </a:p>
        </p:txBody>
      </p:sp>
      <p:sp>
        <p:nvSpPr>
          <p:cNvPr id="22" name="Rounded Rectangle 21"/>
          <p:cNvSpPr/>
          <p:nvPr/>
        </p:nvSpPr>
        <p:spPr>
          <a:xfrm>
            <a:off x="6185916" y="4160520"/>
            <a:ext cx="1568196"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Baseret på Shopify (facit). 90 dage, 25. april til 23. juli 2026: 38.306 ordrer, 33,3M SEK brutto, 868 SEK AOV. GA4 registrerede kun ~31%.</a:t>
            </a:r>
          </a:p>
        </p:txBody>
      </p:sp>
      <p:sp>
        <p:nvSpPr>
          <p:cNvPr id="24" name="TextBox 23"/>
          <p:cNvSpPr txBox="1"/>
          <p:nvPr/>
        </p:nvSpPr>
        <p:spPr>
          <a:xfrm>
            <a:off x="777240" y="5340096"/>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Udarbejdet af EcomHouse for dittvin.se. Juli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Omfang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Hvad vi analyserede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Hvert tal i dette deck kan spores til en kilde. Hvor en måling er estimeret, er den markeret med "Est."</a:t>
            </a:r>
          </a:p>
        </p:txBody>
      </p:sp>
      <p:sp>
        <p:nvSpPr>
          <p:cNvPr id="10" name="Rounded Rectangle 9"/>
          <p:cNvSpPr/>
          <p:nvPr/>
        </p:nvSpPr>
        <p:spPr>
          <a:xfrm>
            <a:off x="609447"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01</a:t>
            </a:r>
          </a:p>
        </p:txBody>
      </p:sp>
      <p:sp>
        <p:nvSpPr>
          <p:cNvPr id="12" name="TextBox 11"/>
          <p:cNvSpPr txBox="1"/>
          <p:nvPr/>
        </p:nvSpPr>
        <p:spPr>
          <a:xfrm>
            <a:off x="792327"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GA4-analyse</a:t>
            </a:r>
          </a:p>
        </p:txBody>
      </p:sp>
      <p:sp>
        <p:nvSpPr>
          <p:cNvPr id="13" name="TextBox 12"/>
          <p:cNvSpPr txBox="1"/>
          <p:nvPr/>
        </p:nvSpPr>
        <p:spPr>
          <a:xfrm>
            <a:off x="792327"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90 dage, egenskab 461839723. 452,552 sessioner, sekventiel tragt, kanaler, enheder, landingssider.</a:t>
            </a:r>
          </a:p>
        </p:txBody>
      </p:sp>
      <p:sp>
        <p:nvSpPr>
          <p:cNvPr id="14" name="Rounded Rectangle 13"/>
          <p:cNvSpPr/>
          <p:nvPr/>
        </p:nvSpPr>
        <p:spPr>
          <a:xfrm>
            <a:off x="3407511"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0391"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02</a:t>
            </a:r>
          </a:p>
        </p:txBody>
      </p:sp>
      <p:sp>
        <p:nvSpPr>
          <p:cNvPr id="16" name="TextBox 15"/>
          <p:cNvSpPr txBox="1"/>
          <p:nvPr/>
        </p:nvSpPr>
        <p:spPr>
          <a:xfrm>
            <a:off x="3590391"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Kundens stemme</a:t>
            </a:r>
          </a:p>
        </p:txBody>
      </p:sp>
      <p:sp>
        <p:nvSpPr>
          <p:cNvPr id="17" name="TextBox 16"/>
          <p:cNvSpPr txBox="1"/>
          <p:nvPr/>
        </p:nvSpPr>
        <p:spPr>
          <a:xfrm>
            <a:off x="3590391"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5,985 Trustpilot-anmeldelser (4.7/5). 300 ordrette anmeldelser udtrukket via widgettens data-API.</a:t>
            </a:r>
          </a:p>
        </p:txBody>
      </p:sp>
      <p:sp>
        <p:nvSpPr>
          <p:cNvPr id="18" name="Rounded Rectangle 17"/>
          <p:cNvSpPr/>
          <p:nvPr/>
        </p:nvSpPr>
        <p:spPr>
          <a:xfrm>
            <a:off x="6205575"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03</a:t>
            </a:r>
          </a:p>
        </p:txBody>
      </p:sp>
      <p:sp>
        <p:nvSpPr>
          <p:cNvPr id="20" name="TextBox 19"/>
          <p:cNvSpPr txBox="1"/>
          <p:nvPr/>
        </p:nvSpPr>
        <p:spPr>
          <a:xfrm>
            <a:off x="6388455"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Konkurrentsæt</a:t>
            </a:r>
          </a:p>
        </p:txBody>
      </p:sp>
      <p:sp>
        <p:nvSpPr>
          <p:cNvPr id="21" name="TextBox 20"/>
          <p:cNvSpPr txBox="1"/>
          <p:nvPr/>
        </p:nvSpPr>
        <p:spPr>
          <a:xfrm>
            <a:off x="6388455"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5 verificerede konkurrenter: Winefinder, Winefamly, KRAN, Supervin, plus Systembolaget som benchmark.</a:t>
            </a:r>
          </a:p>
        </p:txBody>
      </p:sp>
      <p:sp>
        <p:nvSpPr>
          <p:cNvPr id="22" name="Rounded Rectangle 21"/>
          <p:cNvSpPr/>
          <p:nvPr/>
        </p:nvSpPr>
        <p:spPr>
          <a:xfrm>
            <a:off x="9003639"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6519"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04</a:t>
            </a:r>
          </a:p>
        </p:txBody>
      </p:sp>
      <p:sp>
        <p:nvSpPr>
          <p:cNvPr id="24" name="TextBox 23"/>
          <p:cNvSpPr txBox="1"/>
          <p:nvPr/>
        </p:nvSpPr>
        <p:spPr>
          <a:xfrm>
            <a:off x="9186519"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Ekspertgennemgang</a:t>
            </a:r>
          </a:p>
        </p:txBody>
      </p:sp>
      <p:sp>
        <p:nvSpPr>
          <p:cNvPr id="25" name="TextBox 24"/>
          <p:cNvSpPr txBox="1"/>
          <p:nvPr/>
        </p:nvSpPr>
        <p:spPr>
          <a:xfrm>
            <a:off x="9186519"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4 sidetyper på desktop og mobil: indgang, forside, kollektion, produktside. Verificeret med screenshot.</a:t>
            </a:r>
          </a:p>
        </p:txBody>
      </p:sp>
      <p:sp>
        <p:nvSpPr>
          <p:cNvPr id="26" name="Rounded Rectangle 25"/>
          <p:cNvSpPr/>
          <p:nvPr/>
        </p:nvSpPr>
        <p:spPr>
          <a:xfrm>
            <a:off x="609447"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327"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05</a:t>
            </a:r>
          </a:p>
        </p:txBody>
      </p:sp>
      <p:sp>
        <p:nvSpPr>
          <p:cNvPr id="28" name="TextBox 27"/>
          <p:cNvSpPr txBox="1"/>
          <p:nvPr/>
        </p:nvSpPr>
        <p:spPr>
          <a:xfrm>
            <a:off x="792327"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Tag- og teknik-audit</a:t>
            </a:r>
          </a:p>
        </p:txBody>
      </p:sp>
      <p:sp>
        <p:nvSpPr>
          <p:cNvPr id="29" name="TextBox 28"/>
          <p:cNvSpPr txBox="1"/>
          <p:nvPr/>
        </p:nvSpPr>
        <p:spPr>
          <a:xfrm>
            <a:off x="792327"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Live netværksopsamling af hvert tracking-tag, samtykke og konsolfejl. Ikke et HTML-gæt.</a:t>
            </a:r>
          </a:p>
        </p:txBody>
      </p:sp>
      <p:sp>
        <p:nvSpPr>
          <p:cNvPr id="30" name="Rounded Rectangle 29"/>
          <p:cNvSpPr/>
          <p:nvPr/>
        </p:nvSpPr>
        <p:spPr>
          <a:xfrm>
            <a:off x="3407511"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90391"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06</a:t>
            </a:r>
          </a:p>
        </p:txBody>
      </p:sp>
      <p:sp>
        <p:nvSpPr>
          <p:cNvPr id="32" name="TextBox 31"/>
          <p:cNvSpPr txBox="1"/>
          <p:nvPr/>
        </p:nvSpPr>
        <p:spPr>
          <a:xfrm>
            <a:off x="3590391"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Shopify-salgsdata</a:t>
            </a:r>
          </a:p>
        </p:txBody>
      </p:sp>
      <p:sp>
        <p:nvSpPr>
          <p:cNvPr id="33" name="TextBox 32"/>
          <p:cNvSpPr txBox="1"/>
          <p:nvPr/>
        </p:nvSpPr>
        <p:spPr>
          <a:xfrm>
            <a:off x="3590391"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91 dage af ordre-, produkt- og AOV-eksporter. Facit for RPV, afstemt mod GA4.</a:t>
            </a:r>
          </a:p>
        </p:txBody>
      </p:sp>
      <p:sp>
        <p:nvSpPr>
          <p:cNvPr id="34" name="Rounded Rectangle 33"/>
          <p:cNvSpPr/>
          <p:nvPr/>
        </p:nvSpPr>
        <p:spPr>
          <a:xfrm>
            <a:off x="6205575"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8455"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07</a:t>
            </a:r>
          </a:p>
        </p:txBody>
      </p:sp>
      <p:sp>
        <p:nvSpPr>
          <p:cNvPr id="36" name="TextBox 35"/>
          <p:cNvSpPr txBox="1"/>
          <p:nvPr/>
        </p:nvSpPr>
        <p:spPr>
          <a:xfrm>
            <a:off x="6388455"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Branchebenchmarks</a:t>
            </a:r>
          </a:p>
        </p:txBody>
      </p:sp>
      <p:sp>
        <p:nvSpPr>
          <p:cNvPr id="37" name="TextBox 36"/>
          <p:cNvSpPr txBox="1"/>
          <p:nvPr/>
        </p:nvSpPr>
        <p:spPr>
          <a:xfrm>
            <a:off x="6388455"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Navngivne kilder: Littledata, Baymard, Sovos, SVB, Omnisend. Generel e-handel + vin-DtC, RPV-nordstjerne.</a:t>
            </a:r>
          </a:p>
        </p:txBody>
      </p:sp>
      <p:sp>
        <p:nvSpPr>
          <p:cNvPr id="38" name="Rounded Rectangle 37"/>
          <p:cNvSpPr/>
          <p:nvPr/>
        </p:nvSpPr>
        <p:spPr>
          <a:xfrm>
            <a:off x="9003639"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6519"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08</a:t>
            </a:r>
          </a:p>
        </p:txBody>
      </p:sp>
      <p:sp>
        <p:nvSpPr>
          <p:cNvPr id="40" name="TextBox 39"/>
          <p:cNvSpPr txBox="1"/>
          <p:nvPr/>
        </p:nvSpPr>
        <p:spPr>
          <a:xfrm>
            <a:off x="9186519"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Uden for omfang</a:t>
            </a:r>
          </a:p>
        </p:txBody>
      </p:sp>
      <p:sp>
        <p:nvSpPr>
          <p:cNvPr id="41" name="TextBox 40"/>
          <p:cNvSpPr txBox="1"/>
          <p:nvPr/>
        </p:nvSpPr>
        <p:spPr>
          <a:xfrm>
            <a:off x="9186519"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Microsoft Clarity er installeret og indsamler, men vi havde ingen dashboardadgang. Giv adgang for dybde i session replay.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Ledelsesresumé</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Syv fund der flytter omsætning</a:t>
            </a:r>
          </a:p>
        </p:txBody>
      </p:sp>
      <p:sp>
        <p:nvSpPr>
          <p:cNvPr id="9" name="Oval 8"/>
          <p:cNvSpPr/>
          <p:nvPr/>
        </p:nvSpPr>
        <p:spPr>
          <a:xfrm>
            <a:off x="777240" y="182880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783080"/>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Levering er det største tillidssår. </a:t>
            </a:r>
            <a:r>
              <a:rPr sz="1050" b="0" i="0">
                <a:solidFill>
                  <a:srgbClr val="CCCCCC"/>
                </a:solidFill>
                <a:latin typeface="Helvetica Neue"/>
              </a:rPr>
              <a:t>Sitet lover "1-3 dagar", men 31% af anmeldelserne med få stjerner rapporterer 7 til 16 dage. 86% af klagerne handler om levering, og loyale genkøbere falder fra på grund af det.</a:t>
            </a:r>
          </a:p>
        </p:txBody>
      </p:sp>
      <p:sp>
        <p:nvSpPr>
          <p:cNvPr id="11" name="TextBox 10"/>
          <p:cNvSpPr txBox="1"/>
          <p:nvPr/>
        </p:nvSpPr>
        <p:spPr>
          <a:xfrm>
            <a:off x="1051560" y="2176272"/>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Ret løftet, ikke vinen. Dette er et fastholdelseslæk, ikke bare anskaffelse.</a:t>
            </a:r>
          </a:p>
        </p:txBody>
      </p:sp>
      <p:sp>
        <p:nvSpPr>
          <p:cNvPr id="12" name="Oval 11"/>
          <p:cNvSpPr/>
          <p:nvPr/>
        </p:nvSpPr>
        <p:spPr>
          <a:xfrm>
            <a:off x="777240" y="24871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441448"/>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Lovlighedsspørgsmålet er ubesvaret. </a:t>
            </a:r>
            <a:r>
              <a:rPr sz="1050" b="0" i="0">
                <a:solidFill>
                  <a:srgbClr val="CCCCCC"/>
                </a:solidFill>
                <a:latin typeface="Helvetica Neue"/>
              </a:rPr>
              <a:t>På et monopolmarked har en svensk førstegangskøber brug for at vide, at dette er lovligt. dittvin forklarer intet, mens KRAN og Winefamly skaber tryghed direkte. Frygten tipper over i "Tror detta r bedrägeri".</a:t>
            </a:r>
          </a:p>
        </p:txBody>
      </p:sp>
      <p:sp>
        <p:nvSpPr>
          <p:cNvPr id="14" name="TextBox 13"/>
          <p:cNvSpPr txBox="1"/>
          <p:nvPr/>
        </p:nvSpPr>
        <p:spPr>
          <a:xfrm>
            <a:off x="1051560" y="2834640"/>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De fleste købere er førstegangsbesøgende, og de har brug for denne tryghed.</a:t>
            </a:r>
          </a:p>
        </p:txBody>
      </p:sp>
      <p:sp>
        <p:nvSpPr>
          <p:cNvPr id="15" name="Oval 14"/>
          <p:cNvSpPr/>
          <p:nvPr/>
        </p:nvSpPr>
        <p:spPr>
          <a:xfrm>
            <a:off x="777240" y="3145536"/>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099816"/>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Smag er usynlig online. </a:t>
            </a:r>
            <a:r>
              <a:rPr sz="1050" b="0" i="0">
                <a:solidFill>
                  <a:srgbClr val="CCCCCC"/>
                </a:solidFill>
                <a:latin typeface="Helvetica Neue"/>
              </a:rPr>
              <a:t>Den største barriere i onlinevin er ikke at vide, hvordan den smager. dittvins kasser angiver region og drue, men oversætter dem sjældent til sødme, fylde og madmatchning, som en butiksassistent ville, så køberne tøver.</a:t>
            </a:r>
          </a:p>
        </p:txBody>
      </p:sp>
      <p:sp>
        <p:nvSpPr>
          <p:cNvPr id="17" name="TextBox 16"/>
          <p:cNvSpPr txBox="1"/>
          <p:nvPr/>
        </p:nvSpPr>
        <p:spPr>
          <a:xfrm>
            <a:off x="1051560" y="3493008"/>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Gør smag læselig på hver kasse: smagsprofiler, madmatchninger og Vivino-scorer.</a:t>
            </a:r>
          </a:p>
        </p:txBody>
      </p:sp>
      <p:sp>
        <p:nvSpPr>
          <p:cNvPr id="18" name="Oval 17"/>
          <p:cNvSpPr/>
          <p:nvPr/>
        </p:nvSpPr>
        <p:spPr>
          <a:xfrm>
            <a:off x="777240" y="3803904"/>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758184"/>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Afbrudt checkout er den største lækage. </a:t>
            </a:r>
            <a:r>
              <a:rPr sz="1050" b="0" i="0">
                <a:solidFill>
                  <a:srgbClr val="CCCCCC"/>
                </a:solidFill>
                <a:latin typeface="Helvetica Neue"/>
              </a:rPr>
              <a:t>58.9% af de sessioner, der når frem til checkout, gennemfører ikke (17,785 af 30,200). Leveringstvivl, løftet "1-3 dagar", og 90+ websitefejl er hovedmistænkte.</a:t>
            </a:r>
          </a:p>
        </p:txBody>
      </p:sp>
      <p:sp>
        <p:nvSpPr>
          <p:cNvPr id="20" name="TextBox 19"/>
          <p:cNvSpPr txBox="1"/>
          <p:nvPr/>
        </p:nvSpPr>
        <p:spPr>
          <a:xfrm>
            <a:off x="1051560" y="4151376"/>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Højeste intention, billigst at genvinde. Est. 3 til 5M SEK/kvartal.</a:t>
            </a:r>
          </a:p>
        </p:txBody>
      </p:sp>
      <p:sp>
        <p:nvSpPr>
          <p:cNvPr id="21" name="Oval 20"/>
          <p:cNvSpPr/>
          <p:nvPr/>
        </p:nvSpPr>
        <p:spPr>
          <a:xfrm>
            <a:off x="777240" y="4462272"/>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416552"/>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Nye kunder konverterer langt under tilbagevendende. </a:t>
            </a:r>
            <a:r>
              <a:rPr sz="1050" b="0" i="0">
                <a:solidFill>
                  <a:srgbClr val="CCCCCC"/>
                </a:solidFill>
                <a:latin typeface="Helvetica Neue"/>
              </a:rPr>
              <a:t>GA4 viser, at nye besøgende konverterer ved 2.62% mod 3.42% for tilbagevendende, og de udgør størstedelen af trafikken, men kun en fjerdedel af omsætningen. At lukke det gab er den største vækstløftestang.</a:t>
            </a:r>
          </a:p>
        </p:txBody>
      </p:sp>
      <p:sp>
        <p:nvSpPr>
          <p:cNvPr id="23" name="TextBox 22"/>
          <p:cNvSpPr txBox="1"/>
          <p:nvPr/>
        </p:nvSpPr>
        <p:spPr>
          <a:xfrm>
            <a:off x="1051560" y="4809744"/>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Smagsklarhed og tillid løfter nye kunders konvertering. Est. +3,3M SEK pr. kvartal.</a:t>
            </a:r>
          </a:p>
        </p:txBody>
      </p:sp>
      <p:sp>
        <p:nvSpPr>
          <p:cNvPr id="24" name="Oval 23"/>
          <p:cNvSpPr/>
          <p:nvPr/>
        </p:nvSpPr>
        <p:spPr>
          <a:xfrm>
            <a:off x="777240" y="5120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74920"/>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Fastholdelse er stærk, men abonnementet er uudnyttet. </a:t>
            </a:r>
            <a:r>
              <a:rPr sz="1050" b="0" i="0">
                <a:solidFill>
                  <a:srgbClr val="CCCCCC"/>
                </a:solidFill>
                <a:latin typeface="Helvetica Neue"/>
              </a:rPr>
              <a:t>66% af køberne vender tilbage, men abonnementet (Vin, Gin, Champagne, 749 til 849 SEK) er kun 0.2% af salget. Motoren findes, men er knap nok slået til.</a:t>
            </a:r>
          </a:p>
        </p:txBody>
      </p:sp>
      <p:sp>
        <p:nvSpPr>
          <p:cNvPr id="26" name="TextBox 25"/>
          <p:cNvSpPr txBox="1"/>
          <p:nvPr/>
        </p:nvSpPr>
        <p:spPr>
          <a:xfrm>
            <a:off x="1051560" y="5468112"/>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Udbyg det mod 3 til 5% for ~1 til 1,8M SEK i tilbagevendende omsætning, og gør det synligt på flere produktsider.</a:t>
            </a:r>
          </a:p>
        </p:txBody>
      </p:sp>
      <p:sp>
        <p:nvSpPr>
          <p:cNvPr id="27" name="Oval 26"/>
          <p:cNvSpPr/>
          <p:nvPr/>
        </p:nvSpPr>
        <p:spPr>
          <a:xfrm>
            <a:off x="777240" y="577900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733288"/>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GA4 sporer ikke korrekt. </a:t>
            </a:r>
            <a:r>
              <a:rPr sz="1050" b="0" i="0">
                <a:solidFill>
                  <a:srgbClr val="CCCCCC"/>
                </a:solidFill>
                <a:latin typeface="Helvetica Neue"/>
              </a:rPr>
              <a:t>Den registrerer kun 31% af ordrerne (11,689 mod 38,306) og oppuster sessioner med skrald. En Google Ads-konvertering udløses også på forsiden. Beslutninger skal køre på Shopify, indtil den er bygget om.</a:t>
            </a:r>
          </a:p>
        </p:txBody>
      </p:sp>
      <p:sp>
        <p:nvSpPr>
          <p:cNvPr id="29" name="TextBox 28"/>
          <p:cNvSpPr txBox="1"/>
          <p:nvPr/>
        </p:nvSpPr>
        <p:spPr>
          <a:xfrm>
            <a:off x="1051560" y="6126480"/>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Ret målingen med server side-sporing (Meta), så annonceplatformene byder på det fulde signal.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Shopify Analytics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90 dage, 25. april til 23. juli 2026. De rigtige tal: 336,855 sessioner, 38,306 ordrer, 33.3M SEK. Hvor trafikken kommer fra, hvor den konverterer, og hvor den lækker. GA4 dækkes på ét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Performance-dashboard</a:t>
            </a:r>
          </a:p>
        </p:txBody>
      </p:sp>
      <p:sp>
        <p:nvSpPr>
          <p:cNvPr id="9" name="Rounded Rectangle 8"/>
          <p:cNvSpPr/>
          <p:nvPr/>
        </p:nvSpPr>
        <p:spPr>
          <a:xfrm>
            <a:off x="79232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327" y="2450592"/>
            <a:ext cx="1539240" cy="502920"/>
          </a:xfrm>
          <a:prstGeom prst="rect">
            <a:avLst/>
          </a:prstGeom>
          <a:noFill/>
        </p:spPr>
        <p:txBody>
          <a:bodyPr wrap="square" lIns="0" rIns="0" tIns="0" bIns="0" anchor="t">
            <a:spAutoFit/>
          </a:bodyPr>
          <a:lstStyle/>
          <a:p>
            <a:pPr algn="ctr"/>
            <a:r>
              <a:rPr sz="3000" b="1" i="0">
                <a:solidFill>
                  <a:srgbClr val="FFFFFF"/>
                </a:solidFill>
                <a:latin typeface="Menlo"/>
              </a:rPr>
              <a:t>336,855</a:t>
            </a:r>
          </a:p>
        </p:txBody>
      </p:sp>
      <p:sp>
        <p:nvSpPr>
          <p:cNvPr id="11" name="TextBox 10"/>
          <p:cNvSpPr txBox="1"/>
          <p:nvPr/>
        </p:nvSpPr>
        <p:spPr>
          <a:xfrm>
            <a:off x="79232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Sessioner</a:t>
            </a:r>
          </a:p>
        </p:txBody>
      </p:sp>
      <p:sp>
        <p:nvSpPr>
          <p:cNvPr id="12" name="TextBox 11"/>
          <p:cNvSpPr txBox="1"/>
          <p:nvPr/>
        </p:nvSpPr>
        <p:spPr>
          <a:xfrm>
            <a:off x="79232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Shopify, ~95% Sverige</a:t>
            </a:r>
          </a:p>
        </p:txBody>
      </p:sp>
      <p:sp>
        <p:nvSpPr>
          <p:cNvPr id="13" name="Rounded Rectangle 12"/>
          <p:cNvSpPr/>
          <p:nvPr/>
        </p:nvSpPr>
        <p:spPr>
          <a:xfrm>
            <a:off x="260588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588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38,306</a:t>
            </a:r>
          </a:p>
        </p:txBody>
      </p:sp>
      <p:sp>
        <p:nvSpPr>
          <p:cNvPr id="15" name="TextBox 14"/>
          <p:cNvSpPr txBox="1"/>
          <p:nvPr/>
        </p:nvSpPr>
        <p:spPr>
          <a:xfrm>
            <a:off x="260588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Ordrer</a:t>
            </a:r>
          </a:p>
        </p:txBody>
      </p:sp>
      <p:sp>
        <p:nvSpPr>
          <p:cNvPr id="16" name="TextBox 15"/>
          <p:cNvSpPr txBox="1"/>
          <p:nvPr/>
        </p:nvSpPr>
        <p:spPr>
          <a:xfrm>
            <a:off x="260588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31,860 kunder</a:t>
            </a:r>
          </a:p>
        </p:txBody>
      </p:sp>
      <p:sp>
        <p:nvSpPr>
          <p:cNvPr id="17" name="Rounded Rectangle 16"/>
          <p:cNvSpPr/>
          <p:nvPr/>
        </p:nvSpPr>
        <p:spPr>
          <a:xfrm>
            <a:off x="441944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9447" y="2450592"/>
            <a:ext cx="1539240" cy="502920"/>
          </a:xfrm>
          <a:prstGeom prst="rect">
            <a:avLst/>
          </a:prstGeom>
          <a:noFill/>
        </p:spPr>
        <p:txBody>
          <a:bodyPr wrap="square" lIns="0" rIns="0" tIns="0" bIns="0" anchor="t">
            <a:spAutoFit/>
          </a:bodyPr>
          <a:lstStyle/>
          <a:p>
            <a:pPr algn="ctr"/>
            <a:r>
              <a:rPr sz="3000" b="1" i="0">
                <a:solidFill>
                  <a:srgbClr val="22C55E"/>
                </a:solidFill>
                <a:latin typeface="Menlo"/>
              </a:rPr>
              <a:t>33.3M</a:t>
            </a:r>
          </a:p>
        </p:txBody>
      </p:sp>
      <p:sp>
        <p:nvSpPr>
          <p:cNvPr id="19" name="TextBox 18"/>
          <p:cNvSpPr txBox="1"/>
          <p:nvPr/>
        </p:nvSpPr>
        <p:spPr>
          <a:xfrm>
            <a:off x="441944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Bruttosalg (SEK)</a:t>
            </a:r>
          </a:p>
        </p:txBody>
      </p:sp>
      <p:sp>
        <p:nvSpPr>
          <p:cNvPr id="20" name="TextBox 19"/>
          <p:cNvSpPr txBox="1"/>
          <p:nvPr/>
        </p:nvSpPr>
        <p:spPr>
          <a:xfrm>
            <a:off x="441944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41,5M inkl. moms</a:t>
            </a:r>
          </a:p>
        </p:txBody>
      </p:sp>
      <p:sp>
        <p:nvSpPr>
          <p:cNvPr id="21" name="Rounded Rectangle 20"/>
          <p:cNvSpPr/>
          <p:nvPr/>
        </p:nvSpPr>
        <p:spPr>
          <a:xfrm>
            <a:off x="623300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007" y="2450592"/>
            <a:ext cx="1539240" cy="502920"/>
          </a:xfrm>
          <a:prstGeom prst="rect">
            <a:avLst/>
          </a:prstGeom>
          <a:noFill/>
        </p:spPr>
        <p:txBody>
          <a:bodyPr wrap="square" lIns="0" rIns="0" tIns="0" bIns="0" anchor="t">
            <a:spAutoFit/>
          </a:bodyPr>
          <a:lstStyle/>
          <a:p>
            <a:pPr algn="ctr"/>
            <a:r>
              <a:rPr sz="3000" b="1" i="0">
                <a:solidFill>
                  <a:srgbClr val="22C55E"/>
                </a:solidFill>
                <a:latin typeface="Menlo"/>
              </a:rPr>
              <a:t>3.69%</a:t>
            </a:r>
          </a:p>
        </p:txBody>
      </p:sp>
      <p:sp>
        <p:nvSpPr>
          <p:cNvPr id="23" name="TextBox 22"/>
          <p:cNvSpPr txBox="1"/>
          <p:nvPr/>
        </p:nvSpPr>
        <p:spPr>
          <a:xfrm>
            <a:off x="623300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Konverteringsrate</a:t>
            </a:r>
          </a:p>
        </p:txBody>
      </p:sp>
      <p:sp>
        <p:nvSpPr>
          <p:cNvPr id="24" name="TextBox 23"/>
          <p:cNvSpPr txBox="1"/>
          <p:nvPr/>
        </p:nvSpPr>
        <p:spPr>
          <a:xfrm>
            <a:off x="623300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Shopify reel CVR</a:t>
            </a:r>
          </a:p>
        </p:txBody>
      </p:sp>
      <p:sp>
        <p:nvSpPr>
          <p:cNvPr id="25" name="Rounded Rectangle 24"/>
          <p:cNvSpPr/>
          <p:nvPr/>
        </p:nvSpPr>
        <p:spPr>
          <a:xfrm>
            <a:off x="804656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56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66%</a:t>
            </a:r>
          </a:p>
        </p:txBody>
      </p:sp>
      <p:sp>
        <p:nvSpPr>
          <p:cNvPr id="27" name="TextBox 26"/>
          <p:cNvSpPr txBox="1"/>
          <p:nvPr/>
        </p:nvSpPr>
        <p:spPr>
          <a:xfrm>
            <a:off x="804656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Tilbagevendende købere</a:t>
            </a:r>
          </a:p>
        </p:txBody>
      </p:sp>
      <p:sp>
        <p:nvSpPr>
          <p:cNvPr id="28" name="TextBox 27"/>
          <p:cNvSpPr txBox="1"/>
          <p:nvPr/>
        </p:nvSpPr>
        <p:spPr>
          <a:xfrm>
            <a:off x="804656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stærkt genkøbsgrundlag</a:t>
            </a:r>
          </a:p>
        </p:txBody>
      </p:sp>
      <p:sp>
        <p:nvSpPr>
          <p:cNvPr id="29" name="Rounded Rectangle 28"/>
          <p:cNvSpPr/>
          <p:nvPr/>
        </p:nvSpPr>
        <p:spPr>
          <a:xfrm>
            <a:off x="986012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6012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868 SEK</a:t>
            </a:r>
          </a:p>
        </p:txBody>
      </p:sp>
      <p:sp>
        <p:nvSpPr>
          <p:cNvPr id="31" name="TextBox 30"/>
          <p:cNvSpPr txBox="1"/>
          <p:nvPr/>
        </p:nvSpPr>
        <p:spPr>
          <a:xfrm>
            <a:off x="986012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Gennemsnitlig ordreværdi</a:t>
            </a:r>
          </a:p>
        </p:txBody>
      </p:sp>
      <p:sp>
        <p:nvSpPr>
          <p:cNvPr id="32" name="TextBox 31"/>
          <p:cNvSpPr txBox="1"/>
          <p:nvPr/>
        </p:nvSpPr>
        <p:spPr>
          <a:xfrm>
            <a:off x="986012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stabil over 90 dage</a:t>
            </a:r>
          </a:p>
        </p:txBody>
      </p:sp>
      <p:sp>
        <p:nvSpPr>
          <p:cNvPr id="33" name="TextBox 32"/>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Kilde: Shopify Total sales + Conversion rate-rapporter, 90 dage (25. april til 23. juli 2026). Bruttosalg ekskluderer moms, rabatter og refunderinger; samlet salg 41.5M inkluderer moms (8.34M) og fragt. AOV er brutto divideret med ordrer.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 · Sessioner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Konverteringstragten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Shopifys egen sessionstragt. To lækager skiller sig ud: kun 12.6% af sessionerne lægger i kurv, og 58.9% af dem, der når frem til checkout, gennemfører aldrig.</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sp>
        <p:nvSpPr>
          <p:cNvPr id="11" name="TextBox 10"/>
          <p:cNvSpPr txBox="1"/>
          <p:nvPr/>
        </p:nvSpPr>
        <p:spPr>
          <a:xfrm>
            <a:off x="1280160" y="2377440"/>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Sessions</a:t>
            </a:r>
          </a:p>
        </p:txBody>
      </p:sp>
      <p:sp>
        <p:nvSpPr>
          <p:cNvPr id="12" name="Rounded Rectangle 11"/>
          <p:cNvSpPr/>
          <p:nvPr/>
        </p:nvSpPr>
        <p:spPr>
          <a:xfrm>
            <a:off x="3154679" y="2377440"/>
            <a:ext cx="6035040" cy="457200"/>
          </a:xfrm>
          <a:prstGeom prst="roundRect">
            <a:avLst>
              <a:gd name="adj" fmla="val 12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5" y="2377440"/>
            <a:ext cx="6035040" cy="457200"/>
          </a:xfrm>
          <a:prstGeom prst="rect">
            <a:avLst/>
          </a:prstGeom>
          <a:noFill/>
        </p:spPr>
        <p:txBody>
          <a:bodyPr wrap="square" lIns="0" rIns="0" tIns="0" bIns="0" anchor="ctr">
            <a:spAutoFit/>
          </a:bodyPr>
          <a:lstStyle/>
          <a:p>
            <a:pPr algn="l"/>
            <a:r>
              <a:rPr sz="1200" b="1" i="0">
                <a:solidFill>
                  <a:srgbClr val="000000"/>
                </a:solidFill>
                <a:latin typeface="Menlo"/>
              </a:rPr>
              <a:t>336,855   100%</a:t>
            </a:r>
          </a:p>
        </p:txBody>
      </p:sp>
      <p:sp>
        <p:nvSpPr>
          <p:cNvPr id="14" name="TextBox 13"/>
          <p:cNvSpPr txBox="1"/>
          <p:nvPr/>
        </p:nvSpPr>
        <p:spPr>
          <a:xfrm>
            <a:off x="1280160" y="3090672"/>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Added to Cart</a:t>
            </a:r>
          </a:p>
        </p:txBody>
      </p:sp>
      <p:sp>
        <p:nvSpPr>
          <p:cNvPr id="15" name="Rounded Rectangle 14"/>
          <p:cNvSpPr/>
          <p:nvPr/>
        </p:nvSpPr>
        <p:spPr>
          <a:xfrm>
            <a:off x="3154679" y="3090672"/>
            <a:ext cx="2112264" cy="457200"/>
          </a:xfrm>
          <a:prstGeom prst="roundRect">
            <a:avLst>
              <a:gd name="adj" fmla="val 12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2695" y="3090672"/>
            <a:ext cx="2112264" cy="457200"/>
          </a:xfrm>
          <a:prstGeom prst="rect">
            <a:avLst/>
          </a:prstGeom>
          <a:noFill/>
        </p:spPr>
        <p:txBody>
          <a:bodyPr wrap="square" lIns="0" rIns="0" tIns="0" bIns="0" anchor="ctr">
            <a:spAutoFit/>
          </a:bodyPr>
          <a:lstStyle/>
          <a:p>
            <a:pPr algn="l"/>
            <a:r>
              <a:rPr sz="1200" b="1" i="0">
                <a:solidFill>
                  <a:srgbClr val="000000"/>
                </a:solidFill>
                <a:latin typeface="Menlo"/>
              </a:rPr>
              <a:t>42,513   12.6%</a:t>
            </a:r>
          </a:p>
        </p:txBody>
      </p:sp>
      <p:sp>
        <p:nvSpPr>
          <p:cNvPr id="17" name="TextBox 16"/>
          <p:cNvSpPr txBox="1"/>
          <p:nvPr/>
        </p:nvSpPr>
        <p:spPr>
          <a:xfrm>
            <a:off x="9418319" y="3090672"/>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87.4% do not add</a:t>
            </a:r>
          </a:p>
        </p:txBody>
      </p:sp>
      <p:sp>
        <p:nvSpPr>
          <p:cNvPr id="18" name="TextBox 17"/>
          <p:cNvSpPr txBox="1"/>
          <p:nvPr/>
        </p:nvSpPr>
        <p:spPr>
          <a:xfrm>
            <a:off x="1280160" y="3803904"/>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Reached Checkout</a:t>
            </a:r>
          </a:p>
        </p:txBody>
      </p:sp>
      <p:sp>
        <p:nvSpPr>
          <p:cNvPr id="19" name="Rounded Rectangle 18"/>
          <p:cNvSpPr/>
          <p:nvPr/>
        </p:nvSpPr>
        <p:spPr>
          <a:xfrm>
            <a:off x="3154679" y="3803904"/>
            <a:ext cx="1508760" cy="457200"/>
          </a:xfrm>
          <a:prstGeom prst="roundRect">
            <a:avLst>
              <a:gd name="adj" fmla="val 12000"/>
            </a:avLst>
          </a:prstGeom>
          <a:solidFill>
            <a:srgbClr val="A3C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5" y="3803904"/>
            <a:ext cx="1508760" cy="457200"/>
          </a:xfrm>
          <a:prstGeom prst="rect">
            <a:avLst/>
          </a:prstGeom>
          <a:noFill/>
        </p:spPr>
        <p:txBody>
          <a:bodyPr wrap="square" lIns="0" rIns="0" tIns="0" bIns="0" anchor="ctr">
            <a:spAutoFit/>
          </a:bodyPr>
          <a:lstStyle/>
          <a:p>
            <a:pPr algn="l"/>
            <a:r>
              <a:rPr sz="1200" b="1" i="0">
                <a:solidFill>
                  <a:srgbClr val="000000"/>
                </a:solidFill>
                <a:latin typeface="Menlo"/>
              </a:rPr>
              <a:t>30,200   9.0%</a:t>
            </a:r>
          </a:p>
        </p:txBody>
      </p:sp>
      <p:sp>
        <p:nvSpPr>
          <p:cNvPr id="21" name="TextBox 20"/>
          <p:cNvSpPr txBox="1"/>
          <p:nvPr/>
        </p:nvSpPr>
        <p:spPr>
          <a:xfrm>
            <a:off x="9418319" y="3803904"/>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29% of carts drop</a:t>
            </a:r>
          </a:p>
        </p:txBody>
      </p:sp>
      <p:sp>
        <p:nvSpPr>
          <p:cNvPr id="22" name="TextBox 21"/>
          <p:cNvSpPr txBox="1"/>
          <p:nvPr/>
        </p:nvSpPr>
        <p:spPr>
          <a:xfrm>
            <a:off x="1280160" y="4517136"/>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Completed</a:t>
            </a:r>
          </a:p>
        </p:txBody>
      </p:sp>
      <p:sp>
        <p:nvSpPr>
          <p:cNvPr id="23" name="Rounded Rectangle 22"/>
          <p:cNvSpPr/>
          <p:nvPr/>
        </p:nvSpPr>
        <p:spPr>
          <a:xfrm>
            <a:off x="3154679" y="4517136"/>
            <a:ext cx="724204" cy="457200"/>
          </a:xfrm>
          <a:prstGeom prst="roundRect">
            <a:avLst>
              <a:gd name="adj" fmla="val 12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5" y="4517136"/>
            <a:ext cx="724204" cy="457200"/>
          </a:xfrm>
          <a:prstGeom prst="rect">
            <a:avLst/>
          </a:prstGeom>
          <a:noFill/>
        </p:spPr>
        <p:txBody>
          <a:bodyPr wrap="square" lIns="0" rIns="0" tIns="0" bIns="0" anchor="ctr">
            <a:spAutoFit/>
          </a:bodyPr>
          <a:lstStyle/>
          <a:p>
            <a:pPr algn="l"/>
            <a:r>
              <a:rPr sz="1200" b="1" i="0">
                <a:solidFill>
                  <a:srgbClr val="000000"/>
                </a:solidFill>
                <a:latin typeface="Menlo"/>
              </a:rPr>
              <a:t>12,415   3.69%</a:t>
            </a:r>
          </a:p>
        </p:txBody>
      </p:sp>
      <p:sp>
        <p:nvSpPr>
          <p:cNvPr id="25" name="TextBox 24"/>
          <p:cNvSpPr txBox="1"/>
          <p:nvPr/>
        </p:nvSpPr>
        <p:spPr>
          <a:xfrm>
            <a:off x="9418319" y="4517136"/>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58.9% abandon checkout</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Conversion rate-rapport. Session-attribuerede gennemførelser (12,415) er en delmængde af de 38,306 rigtige ordrer, fordi ~2/3 af ordrerne ikke har nogen sporbar session (samtykke, in-app-browsere). Det er raterne, der betyder noget: butikken taber mest ved læg i kurv og ved checkout.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Verificerede kilder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Hvor dittvin står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Foran på konvertering, ordreværdi og genkøbsrate; opsiden er abonnementstilmeldinger og e-mail. Dette er generelle ecom-benchmarks, den retfærdige sammenligning for en nordisk forhandler, fordi der ikke findes en offentliggjort vinspecifik benchmark for Danmark eller Europa.</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graphicFrame>
        <p:nvGraphicFramePr>
          <p:cNvPr id="11" name="Table 10"/>
          <p:cNvGraphicFramePr>
            <a:graphicFrameLocks noGrp="1"/>
          </p:cNvGraphicFramePr>
          <p:nvPr/>
        </p:nvGraphicFramePr>
        <p:xfrm>
          <a:off x="883767" y="2596896"/>
          <a:ext cx="10424158" cy="2999232"/>
        </p:xfrm>
        <a:graphic>
          <a:graphicData uri="http://schemas.openxmlformats.org/drawingml/2006/table">
            <a:tbl>
              <a:tblPr>
                <a:tableStyleId>{2D5ABB26-0587-4C30-8999-92F81FD0307C}</a:tableStyleId>
              </a:tblPr>
              <a:tblGrid>
                <a:gridCol w="2956105"/>
                <a:gridCol w="1555844"/>
                <a:gridCol w="4356365"/>
                <a:gridCol w="1555844"/>
              </a:tblGrid>
              <a:tr h="365760">
                <a:tc>
                  <a:txBody>
                    <a:bodyPr wrap="square"/>
                    <a:lstStyle/>
                    <a:p>
                      <a:pPr algn="l"/>
                      <a:r>
                        <a:rPr sz="900" b="1" spc="100">
                          <a:solidFill>
                            <a:srgbClr val="999999"/>
                          </a:solidFill>
                          <a:latin typeface="Helvetica Neue"/>
                        </a:rPr>
                        <a:t>METRIK</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ECOM-BENCHMARK (KILDE)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DOM</a:t>
                      </a:r>
                    </a:p>
                  </a:txBody>
                  <a:tcPr marL="73152" marR="73152" marT="18288" marB="18288" anchor="ctr">
                    <a:solidFill>
                      <a:srgbClr val="0A0A0A"/>
                    </a:solidFill>
                  </a:tcPr>
                </a:tc>
              </a:tr>
              <a:tr h="329184">
                <a:tc>
                  <a:txBody>
                    <a:bodyPr wrap="square"/>
                    <a:lstStyle/>
                    <a:p>
                      <a:pPr algn="l"/>
                      <a:r>
                        <a:rPr sz="1100" b="1">
                          <a:solidFill>
                            <a:srgbClr val="EFEEEE"/>
                          </a:solidFill>
                          <a:latin typeface="Helvetica Neue"/>
                        </a:rPr>
                        <a:t>Konverteringsrate</a:t>
                      </a:r>
                    </a:p>
                  </a:txBody>
                  <a:tcPr marL="73152" marR="73152" marT="18288" marB="18288" anchor="ctr">
                    <a:solidFill>
                      <a:srgbClr val="000000"/>
                    </a:solidFill>
                  </a:tcPr>
                </a:tc>
                <a:tc>
                  <a:txBody>
                    <a:bodyPr wrap="square"/>
                    <a:lstStyle/>
                    <a:p>
                      <a:pPr algn="l"/>
                      <a:r>
                        <a:rPr sz="1100" b="0">
                          <a:solidFill>
                            <a:srgbClr val="F7D007"/>
                          </a:solidFill>
                          <a:latin typeface="Helvetica Neue"/>
                        </a:rPr>
                        <a:t>3.69%</a:t>
                      </a:r>
                    </a:p>
                  </a:txBody>
                  <a:tcPr marL="73152" marR="73152" marT="18288" marB="18288" anchor="ctr">
                    <a:solidFill>
                      <a:srgbClr val="000000"/>
                    </a:solidFill>
                  </a:tcPr>
                </a:tc>
                <a:tc>
                  <a:txBody>
                    <a:bodyPr wrap="square"/>
                    <a:lstStyle/>
                    <a:p>
                      <a:pPr algn="l"/>
                      <a:r>
                        <a:rPr sz="1100" b="0">
                          <a:solidFill>
                            <a:srgbClr val="EFEEEE"/>
                          </a:solidFill>
                          <a:latin typeface="Helvetica Neue"/>
                        </a:rPr>
                        <a:t>1.4% gns., 3.2% top 20% (Littledata)</a:t>
                      </a:r>
                    </a:p>
                  </a:txBody>
                  <a:tcPr marL="73152" marR="73152" marT="18288" marB="18288" anchor="ctr">
                    <a:solidFill>
                      <a:srgbClr val="000000"/>
                    </a:solidFill>
                  </a:tcPr>
                </a:tc>
                <a:tc>
                  <a:txBody>
                    <a:bodyPr wrap="square"/>
                    <a:lstStyle/>
                    <a:p>
                      <a:pPr algn="l"/>
                      <a:r>
                        <a:rPr sz="1100" b="0">
                          <a:solidFill>
                            <a:srgbClr val="22C55E"/>
                          </a:solidFill>
                          <a:latin typeface="Helvetica Neue"/>
                        </a:rPr>
                        <a:t>Foran</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Gennemsnitlig ordreværdi</a:t>
                      </a:r>
                    </a:p>
                  </a:txBody>
                  <a:tcPr marL="73152" marR="73152" marT="18288" marB="18288" anchor="ctr">
                    <a:solidFill>
                      <a:srgbClr val="0B0B0B"/>
                    </a:solidFill>
                  </a:tcPr>
                </a:tc>
                <a:tc>
                  <a:txBody>
                    <a:bodyPr wrap="square"/>
                    <a:lstStyle/>
                    <a:p>
                      <a:pPr algn="l"/>
                      <a:r>
                        <a:rPr sz="1100" b="0">
                          <a:solidFill>
                            <a:srgbClr val="F7D007"/>
                          </a:solidFill>
                          <a:latin typeface="Helvetica Neue"/>
                        </a:rPr>
                        <a:t>868 SEK (~$82)</a:t>
                      </a:r>
                    </a:p>
                  </a:txBody>
                  <a:tcPr marL="73152" marR="73152" marT="18288" marB="18288" anchor="ctr">
                    <a:solidFill>
                      <a:srgbClr val="0B0B0B"/>
                    </a:solidFill>
                  </a:tcPr>
                </a:tc>
                <a:tc>
                  <a:txBody>
                    <a:bodyPr wrap="square"/>
                    <a:lstStyle/>
                    <a:p>
                      <a:pPr algn="l"/>
                      <a:r>
                        <a:rPr sz="1100" b="0">
                          <a:solidFill>
                            <a:srgbClr val="EFEEEE"/>
                          </a:solidFill>
                          <a:latin typeface="Helvetica Neue"/>
                        </a:rPr>
                        <a:t>~$85 gns., $101 ecom (Littledata)</a:t>
                      </a:r>
                    </a:p>
                  </a:txBody>
                  <a:tcPr marL="73152" marR="73152" marT="18288" marB="18288" anchor="ctr">
                    <a:solidFill>
                      <a:srgbClr val="0B0B0B"/>
                    </a:solidFill>
                  </a:tcPr>
                </a:tc>
                <a:tc>
                  <a:txBody>
                    <a:bodyPr wrap="square"/>
                    <a:lstStyle/>
                    <a:p>
                      <a:pPr algn="l"/>
                      <a:r>
                        <a:rPr sz="1100" b="0">
                          <a:solidFill>
                            <a:srgbClr val="22C55E"/>
                          </a:solidFill>
                          <a:latin typeface="Helvetica Neue"/>
                        </a:rPr>
                        <a:t>På niveau</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RPV pr. session</a:t>
                      </a:r>
                    </a:p>
                  </a:txBody>
                  <a:tcPr marL="73152" marR="73152" marT="18288" marB="18288" anchor="ctr">
                    <a:solidFill>
                      <a:srgbClr val="000000"/>
                    </a:solidFill>
                  </a:tcPr>
                </a:tc>
                <a:tc>
                  <a:txBody>
                    <a:bodyPr wrap="square"/>
                    <a:lstStyle/>
                    <a:p>
                      <a:pPr algn="l"/>
                      <a:r>
                        <a:rPr sz="1100" b="0">
                          <a:solidFill>
                            <a:srgbClr val="F7D007"/>
                          </a:solidFill>
                          <a:latin typeface="Helvetica Neue"/>
                        </a:rPr>
                        <a:t>26 SEK GA4, ~99 reelt</a:t>
                      </a:r>
                    </a:p>
                  </a:txBody>
                  <a:tcPr marL="73152" marR="73152" marT="18288" marB="18288" anchor="ctr">
                    <a:solidFill>
                      <a:srgbClr val="000000"/>
                    </a:solidFill>
                  </a:tcPr>
                </a:tc>
                <a:tc>
                  <a:txBody>
                    <a:bodyPr wrap="square"/>
                    <a:lstStyle/>
                    <a:p>
                      <a:pPr algn="l"/>
                      <a:r>
                        <a:rPr sz="1100" b="0">
                          <a:solidFill>
                            <a:srgbClr val="EFEEEE"/>
                          </a:solidFill>
                          <a:latin typeface="Helvetica Neue"/>
                        </a:rPr>
                        <a:t>~$1.19 Est. (AOV x CVR)</a:t>
                      </a:r>
                    </a:p>
                  </a:txBody>
                  <a:tcPr marL="73152" marR="73152" marT="18288" marB="18288" anchor="ctr">
                    <a:solidFill>
                      <a:srgbClr val="000000"/>
                    </a:solidFill>
                  </a:tcPr>
                </a:tc>
                <a:tc>
                  <a:txBody>
                    <a:bodyPr wrap="square"/>
                    <a:lstStyle/>
                    <a:p>
                      <a:pPr algn="l"/>
                      <a:r>
                        <a:rPr sz="1100" b="0">
                          <a:solidFill>
                            <a:srgbClr val="22C55E"/>
                          </a:solidFill>
                          <a:latin typeface="Helvetica Neue"/>
                        </a:rPr>
                        <a:t>Foran</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Kurvafbrydelse</a:t>
                      </a:r>
                    </a:p>
                  </a:txBody>
                  <a:tcPr marL="73152" marR="73152" marT="18288" marB="18288" anchor="ctr">
                    <a:solidFill>
                      <a:srgbClr val="0B0B0B"/>
                    </a:solidFill>
                  </a:tcPr>
                </a:tc>
                <a:tc>
                  <a:txBody>
                    <a:bodyPr wrap="square"/>
                    <a:lstStyle/>
                    <a:p>
                      <a:pPr algn="l"/>
                      <a:r>
                        <a:rPr sz="1100" b="0">
                          <a:solidFill>
                            <a:srgbClr val="F7D007"/>
                          </a:solidFill>
                          <a:latin typeface="Helvetica Neue"/>
                        </a:rPr>
                        <a:t>60%</a:t>
                      </a:r>
                    </a:p>
                  </a:txBody>
                  <a:tcPr marL="73152" marR="73152" marT="18288" marB="18288" anchor="ctr">
                    <a:solidFill>
                      <a:srgbClr val="0B0B0B"/>
                    </a:solidFill>
                  </a:tcPr>
                </a:tc>
                <a:tc>
                  <a:txBody>
                    <a:bodyPr wrap="square"/>
                    <a:lstStyle/>
                    <a:p>
                      <a:pPr algn="l"/>
                      <a:r>
                        <a:rPr sz="1100" b="0">
                          <a:solidFill>
                            <a:srgbClr val="EFEEEE"/>
                          </a:solidFill>
                          <a:latin typeface="Helvetica Neue"/>
                        </a:rPr>
                        <a:t>70.2% af 50 studier (Baymard)</a:t>
                      </a:r>
                    </a:p>
                  </a:txBody>
                  <a:tcPr marL="73152" marR="73152" marT="18288" marB="18288" anchor="ctr">
                    <a:solidFill>
                      <a:srgbClr val="0B0B0B"/>
                    </a:solidFill>
                  </a:tcPr>
                </a:tc>
                <a:tc>
                  <a:txBody>
                    <a:bodyPr wrap="square"/>
                    <a:lstStyle/>
                    <a:p>
                      <a:pPr algn="l"/>
                      <a:r>
                        <a:rPr sz="1100" b="0">
                          <a:solidFill>
                            <a:srgbClr val="22C55E"/>
                          </a:solidFill>
                          <a:latin typeface="Helvetica Neue"/>
                        </a:rPr>
                        <a:t>Foran</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Andel af tilbagevendende kunder</a:t>
                      </a:r>
                    </a:p>
                  </a:txBody>
                  <a:tcPr marL="73152" marR="73152" marT="18288" marB="18288" anchor="ctr">
                    <a:solidFill>
                      <a:srgbClr val="000000"/>
                    </a:solidFill>
                  </a:tcPr>
                </a:tc>
                <a:tc>
                  <a:txBody>
                    <a:bodyPr wrap="square"/>
                    <a:lstStyle/>
                    <a:p>
                      <a:pPr algn="l"/>
                      <a:r>
                        <a:rPr sz="1100" b="0">
                          <a:solidFill>
                            <a:srgbClr val="F7D007"/>
                          </a:solidFill>
                          <a:latin typeface="Helvetica Neue"/>
                        </a:rPr>
                        <a:t>66%</a:t>
                      </a:r>
                    </a:p>
                  </a:txBody>
                  <a:tcPr marL="73152" marR="73152" marT="18288" marB="18288" anchor="ctr">
                    <a:solidFill>
                      <a:srgbClr val="000000"/>
                    </a:solidFill>
                  </a:tcPr>
                </a:tc>
                <a:tc>
                  <a:txBody>
                    <a:bodyPr wrap="square"/>
                    <a:lstStyle/>
                    <a:p>
                      <a:pPr algn="l"/>
                      <a:r>
                        <a:rPr sz="1100" b="0">
                          <a:solidFill>
                            <a:srgbClr val="EFEEEE"/>
                          </a:solidFill>
                          <a:latin typeface="Helvetica Neue"/>
                        </a:rPr>
                        <a:t>15 til 30% typisk (OpenSend)</a:t>
                      </a:r>
                    </a:p>
                  </a:txBody>
                  <a:tcPr marL="73152" marR="73152" marT="18288" marB="18288" anchor="ctr">
                    <a:solidFill>
                      <a:srgbClr val="000000"/>
                    </a:solidFill>
                  </a:tcPr>
                </a:tc>
                <a:tc>
                  <a:txBody>
                    <a:bodyPr wrap="square"/>
                    <a:lstStyle/>
                    <a:p>
                      <a:pPr algn="l"/>
                      <a:r>
                        <a:rPr sz="1100" b="0">
                          <a:solidFill>
                            <a:srgbClr val="22C55E"/>
                          </a:solidFill>
                          <a:latin typeface="Helvetica Neue"/>
                        </a:rPr>
                        <a:t>Foran</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E-mailandel af ordrer</a:t>
                      </a:r>
                    </a:p>
                  </a:txBody>
                  <a:tcPr marL="73152" marR="73152" marT="18288" marB="18288" anchor="ctr">
                    <a:solidFill>
                      <a:srgbClr val="0B0B0B"/>
                    </a:solidFill>
                  </a:tcPr>
                </a:tc>
                <a:tc>
                  <a:txBody>
                    <a:bodyPr wrap="square"/>
                    <a:lstStyle/>
                    <a:p>
                      <a:pPr algn="l"/>
                      <a:r>
                        <a:rPr sz="1100" b="0">
                          <a:solidFill>
                            <a:srgbClr val="F59E0B"/>
                          </a:solidFill>
                          <a:latin typeface="Helvetica Neue"/>
                        </a:rPr>
                        <a:t>16%</a:t>
                      </a:r>
                    </a:p>
                  </a:txBody>
                  <a:tcPr marL="73152" marR="73152" marT="18288" marB="18288" anchor="ctr">
                    <a:solidFill>
                      <a:srgbClr val="0B0B0B"/>
                    </a:solidFill>
                  </a:tcPr>
                </a:tc>
                <a:tc>
                  <a:txBody>
                    <a:bodyPr wrap="square"/>
                    <a:lstStyle/>
                    <a:p>
                      <a:pPr algn="l"/>
                      <a:r>
                        <a:rPr sz="1100" b="0">
                          <a:solidFill>
                            <a:srgbClr val="EFEEEE"/>
                          </a:solidFill>
                          <a:latin typeface="Helvetica Neue"/>
                        </a:rPr>
                        <a:t>~20 til 30% af DTC-omsætning (Omnisend)</a:t>
                      </a:r>
                    </a:p>
                  </a:txBody>
                  <a:tcPr marL="73152" marR="73152" marT="18288" marB="18288" anchor="ctr">
                    <a:solidFill>
                      <a:srgbClr val="0B0B0B"/>
                    </a:solidFill>
                  </a:tcPr>
                </a:tc>
                <a:tc>
                  <a:txBody>
                    <a:bodyPr wrap="square"/>
                    <a:lstStyle/>
                    <a:p>
                      <a:pPr algn="l"/>
                      <a:r>
                        <a:rPr sz="1100" b="0">
                          <a:solidFill>
                            <a:srgbClr val="F59E0B"/>
                          </a:solidFill>
                          <a:latin typeface="Helvetica Neue"/>
                        </a:rPr>
                        <a:t>Bagud</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Abonnementstilmeldinger</a:t>
                      </a:r>
                    </a:p>
                  </a:txBody>
                  <a:tcPr marL="73152" marR="73152" marT="18288" marB="18288" anchor="ctr">
                    <a:solidFill>
                      <a:srgbClr val="000000"/>
                    </a:solidFill>
                  </a:tcPr>
                </a:tc>
                <a:tc>
                  <a:txBody>
                    <a:bodyPr wrap="square"/>
                    <a:lstStyle/>
                    <a:p>
                      <a:pPr algn="l"/>
                      <a:r>
                        <a:rPr sz="1100" b="0">
                          <a:solidFill>
                            <a:srgbClr val="F59E0B"/>
                          </a:solidFill>
                          <a:latin typeface="Helvetica Neue"/>
                        </a:rPr>
                        <a:t>101 ordrer, 0.2% af salget</a:t>
                      </a:r>
                    </a:p>
                  </a:txBody>
                  <a:tcPr marL="73152" marR="73152" marT="18288" marB="18288" anchor="ctr">
                    <a:solidFill>
                      <a:srgbClr val="000000"/>
                    </a:solidFill>
                  </a:tcPr>
                </a:tc>
                <a:tc>
                  <a:txBody>
                    <a:bodyPr wrap="square"/>
                    <a:lstStyle/>
                    <a:p>
                      <a:pPr algn="l"/>
                      <a:r>
                        <a:rPr sz="1100" b="0">
                          <a:solidFill>
                            <a:srgbClr val="EFEEEE"/>
                          </a:solidFill>
                          <a:latin typeface="Helvetica Neue"/>
                        </a:rPr>
                        <a:t>Ingen standard ecom-benchmark</a:t>
                      </a:r>
                    </a:p>
                  </a:txBody>
                  <a:tcPr marL="73152" marR="73152" marT="18288" marB="18288" anchor="ctr">
                    <a:solidFill>
                      <a:srgbClr val="000000"/>
                    </a:solidFill>
                  </a:tcPr>
                </a:tc>
                <a:tc>
                  <a:txBody>
                    <a:bodyPr wrap="square"/>
                    <a:lstStyle/>
                    <a:p>
                      <a:pPr algn="l"/>
                      <a:r>
                        <a:rPr sz="1100" b="0">
                          <a:solidFill>
                            <a:srgbClr val="F59E0B"/>
                          </a:solidFill>
                          <a:latin typeface="Helvetica Neue"/>
                        </a:rPr>
                        <a:t>Potentiale</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Mobilandel af trafik</a:t>
                      </a:r>
                    </a:p>
                  </a:txBody>
                  <a:tcPr marL="73152" marR="73152" marT="18288" marB="18288" anchor="ctr">
                    <a:solidFill>
                      <a:srgbClr val="0B0B0B"/>
                    </a:solidFill>
                  </a:tcPr>
                </a:tc>
                <a:tc>
                  <a:txBody>
                    <a:bodyPr wrap="square"/>
                    <a:lstStyle/>
                    <a:p>
                      <a:pPr algn="l"/>
                      <a:r>
                        <a:rPr sz="1100" b="0">
                          <a:solidFill>
                            <a:srgbClr val="EFEEEE"/>
                          </a:solidFill>
                          <a:latin typeface="Helvetica Neue"/>
                        </a:rPr>
                        <a:t>86%</a:t>
                      </a:r>
                    </a:p>
                  </a:txBody>
                  <a:tcPr marL="73152" marR="73152" marT="18288" marB="18288" anchor="ctr">
                    <a:solidFill>
                      <a:srgbClr val="0B0B0B"/>
                    </a:solidFill>
                  </a:tcPr>
                </a:tc>
                <a:tc>
                  <a:txBody>
                    <a:bodyPr wrap="square"/>
                    <a:lstStyle/>
                    <a:p>
                      <a:pPr algn="l"/>
                      <a:r>
                        <a:rPr sz="1100" b="0">
                          <a:solidFill>
                            <a:srgbClr val="EFEEEE"/>
                          </a:solidFill>
                          <a:latin typeface="Helvetica Neue"/>
                        </a:rPr>
                        <a:t>Mobil ~37% under desktop (Littledata)</a:t>
                      </a:r>
                    </a:p>
                  </a:txBody>
                  <a:tcPr marL="73152" marR="73152" marT="18288" marB="18288" anchor="ctr">
                    <a:solidFill>
                      <a:srgbClr val="0B0B0B"/>
                    </a:solidFill>
                  </a:tcPr>
                </a:tc>
                <a:tc>
                  <a:txBody>
                    <a:bodyPr wrap="square"/>
                    <a:lstStyle/>
                    <a:p>
                      <a:pPr algn="l"/>
                      <a:r>
                        <a:rPr sz="1100" b="0">
                          <a:solidFill>
                            <a:srgbClr val="F59E0B"/>
                          </a:solidFill>
                          <a:latin typeface="Helvetica Neue"/>
                        </a:rPr>
                        <a:t>Potentiale</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Kilder: Littledata (2.800 Shopify-sider, 2023), Baymard Institute (2025), OpenSend og MetricUno (2024), Omnisend (2024), Klaviyo (2025). Dette er generelle ecom-benchmarks; der findes ingen offentliggjort vinspecifik benchmark for Danmark eller Europa, så de er de nærmeste retfærdige sammenligninger for en nordisk forhandler. RPV er afledt (AOV x CVR); ingen udgiver rapporterer en vin-RPV.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Fortolkningen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Stærk i toppen, svag hvor det akkumulerer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Tragten og ordreværdien er ægte styrker. RPV-potentialet handler ikke om at reparere en ødelagt butik, men om at tjene på fastholdelse i den kategori, der er bygget til det.</a:t>
            </a:r>
          </a:p>
        </p:txBody>
      </p:sp>
      <p:sp>
        <p:nvSpPr>
          <p:cNvPr id="10" name="Rounded Rectangle 9"/>
          <p:cNvSpPr/>
          <p:nvPr/>
        </p:nvSpPr>
        <p:spPr>
          <a:xfrm>
            <a:off x="975207" y="2066544"/>
            <a:ext cx="4892040" cy="3657600"/>
          </a:xfrm>
          <a:prstGeom prst="roundRect">
            <a:avLst>
              <a:gd name="adj" fmla="val 4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295144"/>
            <a:ext cx="4343400" cy="274320"/>
          </a:xfrm>
          <a:prstGeom prst="rect">
            <a:avLst/>
          </a:prstGeom>
          <a:noFill/>
        </p:spPr>
        <p:txBody>
          <a:bodyPr wrap="square" lIns="0" rIns="0" tIns="0" bIns="0" anchor="t">
            <a:spAutoFit/>
          </a:bodyPr>
          <a:lstStyle/>
          <a:p>
            <a:pPr algn="l"/>
            <a:r>
              <a:rPr sz="1000" b="1" i="0" spc="150">
                <a:solidFill>
                  <a:srgbClr val="22C55E"/>
                </a:solidFill>
                <a:latin typeface="Helvetica Neue"/>
              </a:rPr>
              <a:t>Allerede foran</a:t>
            </a:r>
          </a:p>
        </p:txBody>
      </p:sp>
      <p:sp>
        <p:nvSpPr>
          <p:cNvPr id="12" name="Oval 11"/>
          <p:cNvSpPr/>
          <p:nvPr/>
        </p:nvSpPr>
        <p:spPr>
          <a:xfrm>
            <a:off x="1203807" y="2798064"/>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78127" y="275234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Konvertering 3.69%, ~2.7x Shopify-gennemsnittet </a:t>
            </a:r>
            <a:r>
              <a:rPr sz="1100" b="0" i="0">
                <a:solidFill>
                  <a:srgbClr val="CCCCCC"/>
                </a:solidFill>
                <a:latin typeface="Helvetica Neue"/>
              </a:rPr>
              <a:t>, og det er på ~86% mobil, den lavest konverterende enhed.</a:t>
            </a:r>
          </a:p>
        </p:txBody>
      </p:sp>
      <p:sp>
        <p:nvSpPr>
          <p:cNvPr id="14" name="Oval 13"/>
          <p:cNvSpPr/>
          <p:nvPr/>
        </p:nvSpPr>
        <p:spPr>
          <a:xfrm>
            <a:off x="1203807" y="345186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78127" y="3406140"/>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AOV over Shopify-linjen </a:t>
            </a:r>
            <a:r>
              <a:rPr sz="1100" b="0" i="0">
                <a:solidFill>
                  <a:srgbClr val="CCCCCC"/>
                </a:solidFill>
                <a:latin typeface="Helvetica Neue"/>
              </a:rPr>
              <a:t>ved ~2 flasker pr. ordre, drevet af kasseformatet.</a:t>
            </a:r>
          </a:p>
        </p:txBody>
      </p:sp>
      <p:sp>
        <p:nvSpPr>
          <p:cNvPr id="16" name="Oval 15"/>
          <p:cNvSpPr/>
          <p:nvPr/>
        </p:nvSpPr>
        <p:spPr>
          <a:xfrm>
            <a:off x="1203807" y="3918204"/>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8127" y="387248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66% tilbagevendende kunder </a:t>
            </a:r>
            <a:r>
              <a:rPr sz="1100" b="0" i="0">
                <a:solidFill>
                  <a:srgbClr val="CCCCCC"/>
                </a:solidFill>
                <a:latin typeface="Helvetica Neue"/>
              </a:rPr>
              <a:t>, langt over det typiske e-com-genkøbsinterval. Fastholdelse er en ægte styrke.</a:t>
            </a:r>
          </a:p>
        </p:txBody>
      </p:sp>
      <p:sp>
        <p:nvSpPr>
          <p:cNvPr id="18" name="Oval 17"/>
          <p:cNvSpPr/>
          <p:nvPr/>
        </p:nvSpPr>
        <p:spPr>
          <a:xfrm>
            <a:off x="1203807" y="457200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78127" y="4526280"/>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Kurvafbrydelse 10 point bedre </a:t>
            </a:r>
            <a:r>
              <a:rPr sz="1100" b="0" i="0">
                <a:solidFill>
                  <a:srgbClr val="CCCCCC"/>
                </a:solidFill>
                <a:latin typeface="Helvetica Neue"/>
              </a:rPr>
              <a:t>end Baymard, på trods af aldersbekræftelsen og alkoholfriktionen.</a:t>
            </a:r>
          </a:p>
        </p:txBody>
      </p:sp>
      <p:sp>
        <p:nvSpPr>
          <p:cNvPr id="20" name="Rounded Rectangle 19"/>
          <p:cNvSpPr/>
          <p:nvPr/>
        </p:nvSpPr>
        <p:spPr>
          <a:xfrm>
            <a:off x="6324447" y="2066544"/>
            <a:ext cx="4892040" cy="3657600"/>
          </a:xfrm>
          <a:prstGeom prst="roundRect">
            <a:avLst>
              <a:gd name="adj" fmla="val 4000"/>
            </a:avLst>
          </a:prstGeom>
          <a:solidFill>
            <a:srgbClr val="101010"/>
          </a:solidFill>
          <a:ln w="9525">
            <a:solidFill>
              <a:srgbClr val="4A3A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8767" y="2295144"/>
            <a:ext cx="4343400" cy="274320"/>
          </a:xfrm>
          <a:prstGeom prst="rect">
            <a:avLst/>
          </a:prstGeom>
          <a:noFill/>
        </p:spPr>
        <p:txBody>
          <a:bodyPr wrap="square" lIns="0" rIns="0" tIns="0" bIns="0" anchor="t">
            <a:spAutoFit/>
          </a:bodyPr>
          <a:lstStyle/>
          <a:p>
            <a:pPr algn="l"/>
            <a:r>
              <a:rPr sz="1000" b="1" i="0" spc="150">
                <a:solidFill>
                  <a:srgbClr val="F59E0B"/>
                </a:solidFill>
                <a:latin typeface="Helvetica Neue"/>
              </a:rPr>
              <a:t>Væksthullerne</a:t>
            </a:r>
          </a:p>
        </p:txBody>
      </p:sp>
      <p:sp>
        <p:nvSpPr>
          <p:cNvPr id="22" name="Oval 21"/>
          <p:cNvSpPr/>
          <p:nvPr/>
        </p:nvSpPr>
        <p:spPr>
          <a:xfrm>
            <a:off x="6553047" y="2798064"/>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27367" y="275234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Afbrudt checkout 58.9% </a:t>
            </a:r>
            <a:r>
              <a:rPr sz="1100" b="0" i="0">
                <a:solidFill>
                  <a:srgbClr val="CCCCCC"/>
                </a:solidFill>
                <a:latin typeface="Helvetica Neue"/>
              </a:rPr>
              <a:t>er den største lækage, der kan genvindes, og den billigste at vinde tilbage.</a:t>
            </a:r>
          </a:p>
        </p:txBody>
      </p:sp>
      <p:sp>
        <p:nvSpPr>
          <p:cNvPr id="24" name="Oval 23"/>
          <p:cNvSpPr/>
          <p:nvPr/>
        </p:nvSpPr>
        <p:spPr>
          <a:xfrm>
            <a:off x="6553047" y="326440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3218688"/>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E-mail 16% af ordrerne </a:t>
            </a:r>
            <a:r>
              <a:rPr sz="1100" b="0" i="0">
                <a:solidFill>
                  <a:srgbClr val="CCCCCC"/>
                </a:solidFill>
                <a:latin typeface="Helvetica Neue"/>
              </a:rPr>
              <a:t>mod en ejet norm på ~20 til 30%. Automatiseringer er den urørte del med højest ROI.</a:t>
            </a:r>
          </a:p>
        </p:txBody>
      </p:sp>
      <p:sp>
        <p:nvSpPr>
          <p:cNvPr id="26" name="Oval 25"/>
          <p:cNvSpPr/>
          <p:nvPr/>
        </p:nvSpPr>
        <p:spPr>
          <a:xfrm>
            <a:off x="6553047" y="3918204"/>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387248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Abonnementstilmeldinger er lave. </a:t>
            </a:r>
            <a:r>
              <a:rPr sz="1100" b="0" i="0">
                <a:solidFill>
                  <a:srgbClr val="CCCCCC"/>
                </a:solidFill>
                <a:latin typeface="Helvetica Neue"/>
              </a:rPr>
              <a:t>Klubben med 3 niveauer findes, men fremhæves næsten ikke. Vinklubber er 39% af winery DtC.</a:t>
            </a:r>
          </a:p>
        </p:txBody>
      </p:sp>
      <p:sp>
        <p:nvSpPr>
          <p:cNvPr id="28" name="Oval 27"/>
          <p:cNvSpPr/>
          <p:nvPr/>
        </p:nvSpPr>
        <p:spPr>
          <a:xfrm>
            <a:off x="6553047" y="4572000"/>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4526280"/>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Mobil er 86% af trafikken </a:t>
            </a:r>
            <a:r>
              <a:rPr sz="1100" b="0" i="0">
                <a:solidFill>
                  <a:srgbClr val="CCCCCC"/>
                </a:solidFill>
                <a:latin typeface="Helvetica Neue"/>
              </a:rPr>
              <a:t>på den lavest konverterende enhed. At lukke gabet flytter flest sessioner.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De tre største læk</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Rangeret efter, hvor billigt omsætningen kan vindes tilbage, ikke kun efter størrelse.</a:t>
            </a:r>
          </a:p>
        </p:txBody>
      </p:sp>
      <p:sp>
        <p:nvSpPr>
          <p:cNvPr id="10" name="TextBox 9"/>
          <p:cNvSpPr txBox="1"/>
          <p:nvPr/>
        </p:nvSpPr>
        <p:spPr>
          <a:xfrm>
            <a:off x="640080" y="1847088"/>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sp>
        <p:nvSpPr>
          <p:cNvPr id="11" name="Rounded Rectangle 10"/>
          <p:cNvSpPr/>
          <p:nvPr/>
        </p:nvSpPr>
        <p:spPr>
          <a:xfrm>
            <a:off x="79232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64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1</a:t>
            </a:r>
          </a:p>
        </p:txBody>
      </p:sp>
      <p:sp>
        <p:nvSpPr>
          <p:cNvPr id="13" name="TextBox 12"/>
          <p:cNvSpPr txBox="1"/>
          <p:nvPr/>
        </p:nvSpPr>
        <p:spPr>
          <a:xfrm>
            <a:off x="106664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Checkout til køb</a:t>
            </a:r>
          </a:p>
        </p:txBody>
      </p:sp>
      <p:sp>
        <p:nvSpPr>
          <p:cNvPr id="14" name="TextBox 13"/>
          <p:cNvSpPr txBox="1"/>
          <p:nvPr/>
        </p:nvSpPr>
        <p:spPr>
          <a:xfrm>
            <a:off x="106664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58.9%</a:t>
            </a:r>
          </a:p>
        </p:txBody>
      </p:sp>
      <p:sp>
        <p:nvSpPr>
          <p:cNvPr id="15" name="TextBox 14"/>
          <p:cNvSpPr txBox="1"/>
          <p:nvPr/>
        </p:nvSpPr>
        <p:spPr>
          <a:xfrm>
            <a:off x="106664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17,785 af 30,200 sessioner, der når frem til checkout, gennemfører aldrig. Den målgruppe med højeste intention og laveste omkostning at genvinde. Leveringstvivl, løftet "1-3 dagar" og 90+ websitefejl er hovedmistænkte.</a:t>
            </a:r>
          </a:p>
        </p:txBody>
      </p:sp>
      <p:sp>
        <p:nvSpPr>
          <p:cNvPr id="16" name="TextBox 15"/>
          <p:cNvSpPr txBox="1"/>
          <p:nvPr/>
        </p:nvSpPr>
        <p:spPr>
          <a:xfrm>
            <a:off x="106664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Højeste intention. Billigste gevinst. Est. 3 til 5M SEK/kvt</a:t>
            </a:r>
          </a:p>
        </p:txBody>
      </p:sp>
      <p:sp>
        <p:nvSpPr>
          <p:cNvPr id="17" name="Rounded Rectangle 16"/>
          <p:cNvSpPr/>
          <p:nvPr/>
        </p:nvSpPr>
        <p:spPr>
          <a:xfrm>
            <a:off x="441944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9376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2</a:t>
            </a:r>
          </a:p>
        </p:txBody>
      </p:sp>
      <p:sp>
        <p:nvSpPr>
          <p:cNvPr id="19" name="TextBox 18"/>
          <p:cNvSpPr txBox="1"/>
          <p:nvPr/>
        </p:nvSpPr>
        <p:spPr>
          <a:xfrm>
            <a:off x="469376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Session til læg i kurv</a:t>
            </a:r>
          </a:p>
        </p:txBody>
      </p:sp>
      <p:sp>
        <p:nvSpPr>
          <p:cNvPr id="20" name="TextBox 19"/>
          <p:cNvSpPr txBox="1"/>
          <p:nvPr/>
        </p:nvSpPr>
        <p:spPr>
          <a:xfrm>
            <a:off x="469376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87.3%</a:t>
            </a:r>
          </a:p>
        </p:txBody>
      </p:sp>
      <p:sp>
        <p:nvSpPr>
          <p:cNvPr id="21" name="TextBox 20"/>
          <p:cNvSpPr txBox="1"/>
          <p:nvPr/>
        </p:nvSpPr>
        <p:spPr>
          <a:xfrm>
            <a:off x="469376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Kun 12.6% af sessionerne lægger i kurv. Box-produktsider ligger allerede på 18 til 20%, men forsiden (12%) og kollektionen (10%) trækker det ned. Tillidshuller på produktsiden og svag produktpræsentation dæmper læg i kurv.</a:t>
            </a:r>
          </a:p>
        </p:txBody>
      </p:sp>
      <p:sp>
        <p:nvSpPr>
          <p:cNvPr id="22" name="TextBox 21"/>
          <p:cNvSpPr txBox="1"/>
          <p:nvPr/>
        </p:nvSpPr>
        <p:spPr>
          <a:xfrm>
            <a:off x="469376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Lovlighedsbevis, detalje pr. vin, kollektion med vinkasser først</a:t>
            </a:r>
          </a:p>
        </p:txBody>
      </p:sp>
      <p:sp>
        <p:nvSpPr>
          <p:cNvPr id="23" name="Rounded Rectangle 22"/>
          <p:cNvSpPr/>
          <p:nvPr/>
        </p:nvSpPr>
        <p:spPr>
          <a:xfrm>
            <a:off x="804656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088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3</a:t>
            </a:r>
          </a:p>
        </p:txBody>
      </p:sp>
      <p:sp>
        <p:nvSpPr>
          <p:cNvPr id="25" name="TextBox 24"/>
          <p:cNvSpPr txBox="1"/>
          <p:nvPr/>
        </p:nvSpPr>
        <p:spPr>
          <a:xfrm>
            <a:off x="832088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Kurv til checkout</a:t>
            </a:r>
          </a:p>
        </p:txBody>
      </p:sp>
      <p:sp>
        <p:nvSpPr>
          <p:cNvPr id="26" name="TextBox 25"/>
          <p:cNvSpPr txBox="1"/>
          <p:nvPr/>
        </p:nvSpPr>
        <p:spPr>
          <a:xfrm>
            <a:off x="832088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29%</a:t>
            </a:r>
          </a:p>
        </p:txBody>
      </p:sp>
      <p:sp>
        <p:nvSpPr>
          <p:cNvPr id="27" name="TextBox 26"/>
          <p:cNvSpPr txBox="1"/>
          <p:nvPr/>
        </p:nvSpPr>
        <p:spPr>
          <a:xfrm>
            <a:off x="832088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29% af kurvene når aldrig frem til checkout. Fragtoverraskelse (695 SEK-grænse, kun Airmee) og intet klart skub til at fortsætte. Mindre end de to andre, men en hurtig gevinst i kurv-drawer.</a:t>
            </a:r>
          </a:p>
        </p:txBody>
      </p:sp>
      <p:sp>
        <p:nvSpPr>
          <p:cNvPr id="28" name="TextBox 27"/>
          <p:cNvSpPr txBox="1"/>
          <p:nvPr/>
        </p:nvSpPr>
        <p:spPr>
          <a:xfrm>
            <a:off x="832088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Klarhed om fragt i kurven + fortsæt-trin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Enhed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Mobil er butikken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Næsten 9 ud af 10 Shopify-sessioner er mobil (88%), men mobil konverterer under tablet (3.71% mod 4.66%). Hver rettelse i dette deck er en mobilrettelse først.</a:t>
            </a:r>
          </a:p>
        </p:txBody>
      </p:sp>
      <p:graphicFrame>
        <p:nvGraphicFramePr>
          <p:cNvPr id="10" name="Table 9"/>
          <p:cNvGraphicFramePr>
            <a:graphicFrameLocks noGrp="1"/>
          </p:cNvGraphicFramePr>
          <p:nvPr/>
        </p:nvGraphicFramePr>
        <p:xfrm>
          <a:off x="883767" y="2103120"/>
          <a:ext cx="10424156" cy="146304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ENHED</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ANDEL</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LÆG I KURV</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Mobil</a:t>
                      </a:r>
                    </a:p>
                  </a:txBody>
                  <a:tcPr marL="73152" marR="73152" marT="18288" marB="18288" anchor="ctr">
                    <a:solidFill>
                      <a:srgbClr val="000000"/>
                    </a:solidFill>
                  </a:tcPr>
                </a:tc>
                <a:tc>
                  <a:txBody>
                    <a:bodyPr wrap="square"/>
                    <a:lstStyle/>
                    <a:p>
                      <a:pPr algn="r"/>
                      <a:r>
                        <a:rPr sz="1100" b="0">
                          <a:solidFill>
                            <a:srgbClr val="EFEEEE"/>
                          </a:solidFill>
                          <a:latin typeface="Menlo"/>
                        </a:rPr>
                        <a:t>296,510</a:t>
                      </a:r>
                    </a:p>
                  </a:txBody>
                  <a:tcPr marL="73152" marR="73152" marT="18288" marB="18288" anchor="ctr">
                    <a:solidFill>
                      <a:srgbClr val="000000"/>
                    </a:solidFill>
                  </a:tcPr>
                </a:tc>
                <a:tc>
                  <a:txBody>
                    <a:bodyPr wrap="square"/>
                    <a:lstStyle/>
                    <a:p>
                      <a:pPr algn="r"/>
                      <a:r>
                        <a:rPr sz="1100" b="0">
                          <a:solidFill>
                            <a:srgbClr val="EFEEEE"/>
                          </a:solidFill>
                          <a:latin typeface="Menlo"/>
                        </a:rPr>
                        <a:t>88.0%</a:t>
                      </a:r>
                    </a:p>
                  </a:txBody>
                  <a:tcPr marL="73152" marR="73152" marT="18288" marB="18288" anchor="ctr">
                    <a:solidFill>
                      <a:srgbClr val="000000"/>
                    </a:solidFill>
                  </a:tcPr>
                </a:tc>
                <a:tc>
                  <a:txBody>
                    <a:bodyPr wrap="square"/>
                    <a:lstStyle/>
                    <a:p>
                      <a:pPr algn="r"/>
                      <a:r>
                        <a:rPr sz="1100" b="0">
                          <a:solidFill>
                            <a:srgbClr val="EFEEEE"/>
                          </a:solidFill>
                          <a:latin typeface="Menlo"/>
                        </a:rPr>
                        <a:t>12.9%</a:t>
                      </a:r>
                    </a:p>
                  </a:txBody>
                  <a:tcPr marL="73152" marR="73152" marT="18288" marB="18288" anchor="ctr">
                    <a:solidFill>
                      <a:srgbClr val="000000"/>
                    </a:solidFill>
                  </a:tcPr>
                </a:tc>
                <a:tc>
                  <a:txBody>
                    <a:bodyPr wrap="square"/>
                    <a:lstStyle/>
                    <a:p>
                      <a:pPr algn="r"/>
                      <a:r>
                        <a:rPr sz="1100" b="0">
                          <a:solidFill>
                            <a:srgbClr val="EFEEEE"/>
                          </a:solidFill>
                          <a:latin typeface="Menlo"/>
                        </a:rPr>
                        <a:t>3.71%</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Desktop</a:t>
                      </a:r>
                    </a:p>
                  </a:txBody>
                  <a:tcPr marL="73152" marR="73152" marT="18288" marB="18288" anchor="ctr">
                    <a:solidFill>
                      <a:srgbClr val="0B0B0B"/>
                    </a:solidFill>
                  </a:tcPr>
                </a:tc>
                <a:tc>
                  <a:txBody>
                    <a:bodyPr wrap="square"/>
                    <a:lstStyle/>
                    <a:p>
                      <a:pPr algn="r"/>
                      <a:r>
                        <a:rPr sz="1100" b="0">
                          <a:solidFill>
                            <a:srgbClr val="EFEEEE"/>
                          </a:solidFill>
                          <a:latin typeface="Menlo"/>
                        </a:rPr>
                        <a:t>30,726</a:t>
                      </a:r>
                    </a:p>
                  </a:txBody>
                  <a:tcPr marL="73152" marR="73152" marT="18288" marB="18288" anchor="ctr">
                    <a:solidFill>
                      <a:srgbClr val="0B0B0B"/>
                    </a:solidFill>
                  </a:tcPr>
                </a:tc>
                <a:tc>
                  <a:txBody>
                    <a:bodyPr wrap="square"/>
                    <a:lstStyle/>
                    <a:p>
                      <a:pPr algn="r"/>
                      <a:r>
                        <a:rPr sz="1100" b="0">
                          <a:solidFill>
                            <a:srgbClr val="EFEEEE"/>
                          </a:solidFill>
                          <a:latin typeface="Menlo"/>
                        </a:rPr>
                        <a:t>9.1%</a:t>
                      </a:r>
                    </a:p>
                  </a:txBody>
                  <a:tcPr marL="73152" marR="73152" marT="18288" marB="18288" anchor="ctr">
                    <a:solidFill>
                      <a:srgbClr val="0B0B0B"/>
                    </a:solidFill>
                  </a:tcPr>
                </a:tc>
                <a:tc>
                  <a:txBody>
                    <a:bodyPr wrap="square"/>
                    <a:lstStyle/>
                    <a:p>
                      <a:pPr algn="r"/>
                      <a:r>
                        <a:rPr sz="1100" b="0">
                          <a:solidFill>
                            <a:srgbClr val="EFEEEE"/>
                          </a:solidFill>
                          <a:latin typeface="Menlo"/>
                        </a:rPr>
                        <a:t>10.2%</a:t>
                      </a:r>
                    </a:p>
                  </a:txBody>
                  <a:tcPr marL="73152" marR="73152" marT="18288" marB="18288" anchor="ctr">
                    <a:solidFill>
                      <a:srgbClr val="0B0B0B"/>
                    </a:solidFill>
                  </a:tcPr>
                </a:tc>
                <a:tc>
                  <a:txBody>
                    <a:bodyPr wrap="square"/>
                    <a:lstStyle/>
                    <a:p>
                      <a:pPr algn="r"/>
                      <a:r>
                        <a:rPr sz="1100" b="0">
                          <a:solidFill>
                            <a:srgbClr val="EFEEEE"/>
                          </a:solidFill>
                          <a:latin typeface="Menlo"/>
                        </a:rPr>
                        <a:t>3.56%</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Tablet</a:t>
                      </a:r>
                    </a:p>
                  </a:txBody>
                  <a:tcPr marL="73152" marR="73152" marT="18288" marB="18288" anchor="ctr">
                    <a:solidFill>
                      <a:srgbClr val="000000"/>
                    </a:solidFill>
                  </a:tcPr>
                </a:tc>
                <a:tc>
                  <a:txBody>
                    <a:bodyPr wrap="square"/>
                    <a:lstStyle/>
                    <a:p>
                      <a:pPr algn="r"/>
                      <a:r>
                        <a:rPr sz="1100" b="0">
                          <a:solidFill>
                            <a:srgbClr val="EFEEEE"/>
                          </a:solidFill>
                          <a:latin typeface="Menlo"/>
                        </a:rPr>
                        <a:t>9,619</a:t>
                      </a:r>
                    </a:p>
                  </a:txBody>
                  <a:tcPr marL="73152" marR="73152" marT="18288" marB="18288" anchor="ctr">
                    <a:solidFill>
                      <a:srgbClr val="000000"/>
                    </a:solidFill>
                  </a:tcPr>
                </a:tc>
                <a:tc>
                  <a:txBody>
                    <a:bodyPr wrap="square"/>
                    <a:lstStyle/>
                    <a:p>
                      <a:pPr algn="r"/>
                      <a:r>
                        <a:rPr sz="1100" b="0">
                          <a:solidFill>
                            <a:srgbClr val="EFEEEE"/>
                          </a:solidFill>
                          <a:latin typeface="Menlo"/>
                        </a:rPr>
                        <a:t>2.9%</a:t>
                      </a:r>
                    </a:p>
                  </a:txBody>
                  <a:tcPr marL="73152" marR="73152" marT="18288" marB="18288" anchor="ctr">
                    <a:solidFill>
                      <a:srgbClr val="000000"/>
                    </a:solidFill>
                  </a:tcPr>
                </a:tc>
                <a:tc>
                  <a:txBody>
                    <a:bodyPr wrap="square"/>
                    <a:lstStyle/>
                    <a:p>
                      <a:pPr algn="r"/>
                      <a:r>
                        <a:rPr sz="1100" b="0">
                          <a:solidFill>
                            <a:srgbClr val="EFEEEE"/>
                          </a:solidFill>
                          <a:latin typeface="Menlo"/>
                        </a:rPr>
                        <a:t>15.1%</a:t>
                      </a:r>
                    </a:p>
                  </a:txBody>
                  <a:tcPr marL="73152" marR="73152" marT="18288" marB="18288" anchor="ctr">
                    <a:solidFill>
                      <a:srgbClr val="000000"/>
                    </a:solidFill>
                  </a:tcPr>
                </a:tc>
                <a:tc>
                  <a:txBody>
                    <a:bodyPr wrap="square"/>
                    <a:lstStyle/>
                    <a:p>
                      <a:pPr algn="r"/>
                      <a:r>
                        <a:rPr sz="1100" b="0">
                          <a:solidFill>
                            <a:srgbClr val="22C55E"/>
                          </a:solidFill>
                          <a:latin typeface="Menlo"/>
                        </a:rPr>
                        <a:t>4.66%</a:t>
                      </a:r>
                    </a:p>
                  </a:txBody>
                  <a:tcPr marL="73152" marR="73152" marT="18288" marB="18288" anchor="ctr">
                    <a:solidFill>
                      <a:srgbClr val="000000"/>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Kilde: Shopify Sessions by device-rapporten. Andele og rater er faktiske Shopify-tal; sessionsantal er indekseret til 90-dages-vinduet (25. april til 23. juli 2026). Mobil ejer volumen, men er den svageste konverter, så rettelser i checkout og produktside skal valideres på mobil Safari først.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 · Henvisninger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Direkte og Meta bærer butikken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Direkte (49%) og Meta (Facebook og Instagram, 33%) driver fire ud af fem sessioner. Google bidrager med 16%. Tagget e-mail er kun 1%, det tydeligste hul for en butik med 66% tilbagevendende kunder.</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graphicFrame>
        <p:nvGraphicFramePr>
          <p:cNvPr id="11" name="Table 10"/>
          <p:cNvGraphicFramePr>
            <a:graphicFrameLocks noGrp="1"/>
          </p:cNvGraphicFramePr>
          <p:nvPr/>
        </p:nvGraphicFramePr>
        <p:xfrm>
          <a:off x="883767" y="2596896"/>
          <a:ext cx="10424158" cy="2194560"/>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KANAL (REFERRER)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ANDEL</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r>
              <a:tr h="365760">
                <a:tc>
                  <a:txBody>
                    <a:bodyPr wrap="square"/>
                    <a:lstStyle/>
                    <a:p>
                      <a:pPr algn="l"/>
                      <a:r>
                        <a:rPr sz="1100" b="1">
                          <a:solidFill>
                            <a:srgbClr val="EFEEEE"/>
                          </a:solidFill>
                          <a:latin typeface="Helvetica Neue"/>
                        </a:rPr>
                        <a:t>Direkte</a:t>
                      </a:r>
                    </a:p>
                  </a:txBody>
                  <a:tcPr marL="73152" marR="73152" marT="18288" marB="18288" anchor="ctr">
                    <a:solidFill>
                      <a:srgbClr val="000000"/>
                    </a:solidFill>
                  </a:tcPr>
                </a:tc>
                <a:tc>
                  <a:txBody>
                    <a:bodyPr wrap="square"/>
                    <a:lstStyle/>
                    <a:p>
                      <a:pPr algn="r"/>
                      <a:r>
                        <a:rPr sz="1100" b="0">
                          <a:solidFill>
                            <a:srgbClr val="EFEEEE"/>
                          </a:solidFill>
                          <a:latin typeface="Menlo"/>
                        </a:rPr>
                        <a:t>164,633</a:t>
                      </a:r>
                    </a:p>
                  </a:txBody>
                  <a:tcPr marL="73152" marR="73152" marT="18288" marB="18288" anchor="ctr">
                    <a:solidFill>
                      <a:srgbClr val="000000"/>
                    </a:solidFill>
                  </a:tcPr>
                </a:tc>
                <a:tc>
                  <a:txBody>
                    <a:bodyPr wrap="square"/>
                    <a:lstStyle/>
                    <a:p>
                      <a:pPr algn="r"/>
                      <a:r>
                        <a:rPr sz="1100" b="0">
                          <a:solidFill>
                            <a:srgbClr val="EFEEEE"/>
                          </a:solidFill>
                          <a:latin typeface="Menlo"/>
                        </a:rPr>
                        <a:t>48.9%</a:t>
                      </a:r>
                    </a:p>
                  </a:txBody>
                  <a:tcPr marL="73152" marR="73152" marT="18288" marB="18288" anchor="ctr">
                    <a:solidFill>
                      <a:srgbClr val="000000"/>
                    </a:solidFill>
                  </a:tcPr>
                </a:tc>
                <a:tc>
                  <a:txBody>
                    <a:bodyPr wrap="square"/>
                    <a:lstStyle/>
                    <a:p>
                      <a:pPr algn="r"/>
                      <a:r>
                        <a:rPr sz="1100" b="0">
                          <a:solidFill>
                            <a:srgbClr val="EFEEEE"/>
                          </a:solidFill>
                          <a:latin typeface="Menlo"/>
                        </a:rPr>
                        <a:t>3.36%</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Facebook</a:t>
                      </a:r>
                    </a:p>
                  </a:txBody>
                  <a:tcPr marL="73152" marR="73152" marT="18288" marB="18288" anchor="ctr">
                    <a:solidFill>
                      <a:srgbClr val="0B0B0B"/>
                    </a:solidFill>
                  </a:tcPr>
                </a:tc>
                <a:tc>
                  <a:txBody>
                    <a:bodyPr wrap="square"/>
                    <a:lstStyle/>
                    <a:p>
                      <a:pPr algn="r"/>
                      <a:r>
                        <a:rPr sz="1100" b="0">
                          <a:solidFill>
                            <a:srgbClr val="EFEEEE"/>
                          </a:solidFill>
                          <a:latin typeface="Menlo"/>
                        </a:rPr>
                        <a:t>82,992</a:t>
                      </a:r>
                    </a:p>
                  </a:txBody>
                  <a:tcPr marL="73152" marR="73152" marT="18288" marB="18288" anchor="ctr">
                    <a:solidFill>
                      <a:srgbClr val="0B0B0B"/>
                    </a:solidFill>
                  </a:tcPr>
                </a:tc>
                <a:tc>
                  <a:txBody>
                    <a:bodyPr wrap="square"/>
                    <a:lstStyle/>
                    <a:p>
                      <a:pPr algn="r"/>
                      <a:r>
                        <a:rPr sz="1100" b="0">
                          <a:solidFill>
                            <a:srgbClr val="EFEEEE"/>
                          </a:solidFill>
                          <a:latin typeface="Menlo"/>
                        </a:rPr>
                        <a:t>24.6%</a:t>
                      </a:r>
                    </a:p>
                  </a:txBody>
                  <a:tcPr marL="73152" marR="73152" marT="18288" marB="18288" anchor="ctr">
                    <a:solidFill>
                      <a:srgbClr val="0B0B0B"/>
                    </a:solidFill>
                  </a:tcPr>
                </a:tc>
                <a:tc>
                  <a:txBody>
                    <a:bodyPr wrap="square"/>
                    <a:lstStyle/>
                    <a:p>
                      <a:pPr algn="r"/>
                      <a:r>
                        <a:rPr sz="1100" b="0">
                          <a:solidFill>
                            <a:srgbClr val="22C55E"/>
                          </a:solidFill>
                          <a:latin typeface="Menlo"/>
                        </a:rPr>
                        <a:t>4.13%</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Google</a:t>
                      </a:r>
                    </a:p>
                  </a:txBody>
                  <a:tcPr marL="73152" marR="73152" marT="18288" marB="18288" anchor="ctr">
                    <a:solidFill>
                      <a:srgbClr val="000000"/>
                    </a:solidFill>
                  </a:tcPr>
                </a:tc>
                <a:tc>
                  <a:txBody>
                    <a:bodyPr wrap="square"/>
                    <a:lstStyle/>
                    <a:p>
                      <a:pPr algn="r"/>
                      <a:r>
                        <a:rPr sz="1100" b="0">
                          <a:solidFill>
                            <a:srgbClr val="EFEEEE"/>
                          </a:solidFill>
                          <a:latin typeface="Menlo"/>
                        </a:rPr>
                        <a:t>55,148</a:t>
                      </a:r>
                    </a:p>
                  </a:txBody>
                  <a:tcPr marL="73152" marR="73152" marT="18288" marB="18288" anchor="ctr">
                    <a:solidFill>
                      <a:srgbClr val="000000"/>
                    </a:solidFill>
                  </a:tcPr>
                </a:tc>
                <a:tc>
                  <a:txBody>
                    <a:bodyPr wrap="square"/>
                    <a:lstStyle/>
                    <a:p>
                      <a:pPr algn="r"/>
                      <a:r>
                        <a:rPr sz="1100" b="0">
                          <a:solidFill>
                            <a:srgbClr val="EFEEEE"/>
                          </a:solidFill>
                          <a:latin typeface="Menlo"/>
                        </a:rPr>
                        <a:t>16.4%</a:t>
                      </a:r>
                    </a:p>
                  </a:txBody>
                  <a:tcPr marL="73152" marR="73152" marT="18288" marB="18288" anchor="ctr">
                    <a:solidFill>
                      <a:srgbClr val="000000"/>
                    </a:solidFill>
                  </a:tcPr>
                </a:tc>
                <a:tc>
                  <a:txBody>
                    <a:bodyPr wrap="square"/>
                    <a:lstStyle/>
                    <a:p>
                      <a:pPr algn="r"/>
                      <a:r>
                        <a:rPr sz="1100" b="0">
                          <a:solidFill>
                            <a:srgbClr val="EFEEEE"/>
                          </a:solidFill>
                          <a:latin typeface="Menlo"/>
                        </a:rPr>
                        <a:t>3.83%</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Instagram</a:t>
                      </a:r>
                    </a:p>
                  </a:txBody>
                  <a:tcPr marL="73152" marR="73152" marT="18288" marB="18288" anchor="ctr">
                    <a:solidFill>
                      <a:srgbClr val="0B0B0B"/>
                    </a:solidFill>
                  </a:tcPr>
                </a:tc>
                <a:tc>
                  <a:txBody>
                    <a:bodyPr wrap="square"/>
                    <a:lstStyle/>
                    <a:p>
                      <a:pPr algn="r"/>
                      <a:r>
                        <a:rPr sz="1100" b="0">
                          <a:solidFill>
                            <a:srgbClr val="EFEEEE"/>
                          </a:solidFill>
                          <a:latin typeface="Menlo"/>
                        </a:rPr>
                        <a:t>27,967</a:t>
                      </a:r>
                    </a:p>
                  </a:txBody>
                  <a:tcPr marL="73152" marR="73152" marT="18288" marB="18288" anchor="ctr">
                    <a:solidFill>
                      <a:srgbClr val="0B0B0B"/>
                    </a:solidFill>
                  </a:tcPr>
                </a:tc>
                <a:tc>
                  <a:txBody>
                    <a:bodyPr wrap="square"/>
                    <a:lstStyle/>
                    <a:p>
                      <a:pPr algn="r"/>
                      <a:r>
                        <a:rPr sz="1100" b="0">
                          <a:solidFill>
                            <a:srgbClr val="EFEEEE"/>
                          </a:solidFill>
                          <a:latin typeface="Menlo"/>
                        </a:rPr>
                        <a:t>8.3%</a:t>
                      </a:r>
                    </a:p>
                  </a:txBody>
                  <a:tcPr marL="73152" marR="73152" marT="18288" marB="18288" anchor="ctr">
                    <a:solidFill>
                      <a:srgbClr val="0B0B0B"/>
                    </a:solidFill>
                  </a:tcPr>
                </a:tc>
                <a:tc>
                  <a:txBody>
                    <a:bodyPr wrap="square"/>
                    <a:lstStyle/>
                    <a:p>
                      <a:pPr algn="r"/>
                      <a:r>
                        <a:rPr sz="1100" b="0">
                          <a:solidFill>
                            <a:srgbClr val="22C55E"/>
                          </a:solidFill>
                          <a:latin typeface="Menlo"/>
                        </a:rPr>
                        <a:t>4.33%</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E-mail</a:t>
                      </a:r>
                    </a:p>
                  </a:txBody>
                  <a:tcPr marL="73152" marR="73152" marT="18288" marB="18288" anchor="ctr">
                    <a:solidFill>
                      <a:srgbClr val="000000"/>
                    </a:solidFill>
                  </a:tcPr>
                </a:tc>
                <a:tc>
                  <a:txBody>
                    <a:bodyPr wrap="square"/>
                    <a:lstStyle/>
                    <a:p>
                      <a:pPr algn="r"/>
                      <a:r>
                        <a:rPr sz="1100" b="0">
                          <a:solidFill>
                            <a:srgbClr val="EFEEEE"/>
                          </a:solidFill>
                          <a:latin typeface="Menlo"/>
                        </a:rPr>
                        <a:t>3,632</a:t>
                      </a:r>
                    </a:p>
                  </a:txBody>
                  <a:tcPr marL="73152" marR="73152" marT="18288" marB="18288" anchor="ctr">
                    <a:solidFill>
                      <a:srgbClr val="000000"/>
                    </a:solidFill>
                  </a:tcPr>
                </a:tc>
                <a:tc>
                  <a:txBody>
                    <a:bodyPr wrap="square"/>
                    <a:lstStyle/>
                    <a:p>
                      <a:pPr algn="r"/>
                      <a:r>
                        <a:rPr sz="1100" b="0">
                          <a:solidFill>
                            <a:srgbClr val="EFEEEE"/>
                          </a:solidFill>
                          <a:latin typeface="Menlo"/>
                        </a:rPr>
                        <a:t>1.1%</a:t>
                      </a:r>
                    </a:p>
                  </a:txBody>
                  <a:tcPr marL="73152" marR="73152" marT="18288" marB="18288" anchor="ctr">
                    <a:solidFill>
                      <a:srgbClr val="000000"/>
                    </a:solidFill>
                  </a:tcPr>
                </a:tc>
                <a:tc>
                  <a:txBody>
                    <a:bodyPr wrap="square"/>
                    <a:lstStyle/>
                    <a:p>
                      <a:pPr algn="r"/>
                      <a:r>
                        <a:rPr sz="1100" b="0">
                          <a:solidFill>
                            <a:srgbClr val="EFEEEE"/>
                          </a:solidFill>
                          <a:latin typeface="Menlo"/>
                        </a:rPr>
                        <a:t>4.10%</a:t>
                      </a:r>
                    </a:p>
                  </a:txBody>
                  <a:tcPr marL="73152" marR="73152" marT="18288" marB="18288" anchor="ctr">
                    <a:solidFill>
                      <a:srgbClr val="000000"/>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Kilde: Shopify Sessions by referrer-rapport (top 5 kanaler = 99% af sessionerne). Andele og CVR er Shopify-faktiske; sessionstal er indekseret til 90-dages vinduet. "Direkte" samler tilbagevendende besøgende og utaggede e-mails eller SMS, så betalt social er den største sporbare anskaffelseskilde. Social konverterer bedst (4.1 til 4.3%). Klaviyo tilskriver ~16% af ordrerne, selvom taggede e-mail-sessioner er ~1%, så ejet e-mail er knap nok instrumenteret, ikke uden betydning.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Fastholdelse er en styrke, der skal skaleres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To tredjedele af køberne er tilbagevendende kunder, og dittvin driver allerede et rigtigt abonnement. Opgaven er at vokse det, ikke at bygge det.</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sp>
        <p:nvSpPr>
          <p:cNvPr id="11" name="Rounded Rectangle 10"/>
          <p:cNvSpPr/>
          <p:nvPr/>
        </p:nvSpPr>
        <p:spPr>
          <a:xfrm>
            <a:off x="79232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66%</a:t>
            </a:r>
          </a:p>
        </p:txBody>
      </p:sp>
      <p:sp>
        <p:nvSpPr>
          <p:cNvPr id="13" name="TextBox 12"/>
          <p:cNvSpPr txBox="1"/>
          <p:nvPr/>
        </p:nvSpPr>
        <p:spPr>
          <a:xfrm>
            <a:off x="79232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Tilbagevendende kunder</a:t>
            </a:r>
          </a:p>
        </p:txBody>
      </p:sp>
      <p:sp>
        <p:nvSpPr>
          <p:cNvPr id="14" name="TextBox 13"/>
          <p:cNvSpPr txBox="1"/>
          <p:nvPr/>
        </p:nvSpPr>
        <p:spPr>
          <a:xfrm>
            <a:off x="79232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21,130 af 31,860 købere</a:t>
            </a:r>
          </a:p>
        </p:txBody>
      </p:sp>
      <p:sp>
        <p:nvSpPr>
          <p:cNvPr id="15" name="Rounded Rectangle 14"/>
          <p:cNvSpPr/>
          <p:nvPr/>
        </p:nvSpPr>
        <p:spPr>
          <a:xfrm>
            <a:off x="351266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633472"/>
            <a:ext cx="2446020" cy="502920"/>
          </a:xfrm>
          <a:prstGeom prst="rect">
            <a:avLst/>
          </a:prstGeom>
          <a:noFill/>
        </p:spPr>
        <p:txBody>
          <a:bodyPr wrap="square" lIns="0" rIns="0" tIns="0" bIns="0" anchor="t">
            <a:spAutoFit/>
          </a:bodyPr>
          <a:lstStyle/>
          <a:p>
            <a:pPr algn="ctr"/>
            <a:r>
              <a:rPr sz="3000" b="1" i="0">
                <a:solidFill>
                  <a:srgbClr val="FFFFFF"/>
                </a:solidFill>
                <a:latin typeface="Menlo"/>
              </a:rPr>
              <a:t>10,730</a:t>
            </a:r>
          </a:p>
        </p:txBody>
      </p:sp>
      <p:sp>
        <p:nvSpPr>
          <p:cNvPr id="17" name="TextBox 16"/>
          <p:cNvSpPr txBox="1"/>
          <p:nvPr/>
        </p:nvSpPr>
        <p:spPr>
          <a:xfrm>
            <a:off x="351266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Nye kunder</a:t>
            </a:r>
          </a:p>
        </p:txBody>
      </p:sp>
      <p:sp>
        <p:nvSpPr>
          <p:cNvPr id="18" name="TextBox 17"/>
          <p:cNvSpPr txBox="1"/>
          <p:nvPr/>
        </p:nvSpPr>
        <p:spPr>
          <a:xfrm>
            <a:off x="351266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34% af køberne</a:t>
            </a:r>
          </a:p>
        </p:txBody>
      </p:sp>
      <p:sp>
        <p:nvSpPr>
          <p:cNvPr id="19" name="Rounded Rectangle 18"/>
          <p:cNvSpPr/>
          <p:nvPr/>
        </p:nvSpPr>
        <p:spPr>
          <a:xfrm>
            <a:off x="623300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3 tiers</a:t>
            </a:r>
          </a:p>
        </p:txBody>
      </p:sp>
      <p:sp>
        <p:nvSpPr>
          <p:cNvPr id="21" name="TextBox 20"/>
          <p:cNvSpPr txBox="1"/>
          <p:nvPr/>
        </p:nvSpPr>
        <p:spPr>
          <a:xfrm>
            <a:off x="623300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Abonnement</a:t>
            </a:r>
          </a:p>
        </p:txBody>
      </p:sp>
      <p:sp>
        <p:nvSpPr>
          <p:cNvPr id="22" name="TextBox 21"/>
          <p:cNvSpPr txBox="1"/>
          <p:nvPr/>
        </p:nvSpPr>
        <p:spPr>
          <a:xfrm>
            <a:off x="623300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Wine, Gin, Champagne</a:t>
            </a:r>
          </a:p>
        </p:txBody>
      </p:sp>
      <p:sp>
        <p:nvSpPr>
          <p:cNvPr id="23" name="Rounded Rectangle 22"/>
          <p:cNvSpPr/>
          <p:nvPr/>
        </p:nvSpPr>
        <p:spPr>
          <a:xfrm>
            <a:off x="895334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~9%</a:t>
            </a:r>
          </a:p>
        </p:txBody>
      </p:sp>
      <p:sp>
        <p:nvSpPr>
          <p:cNvPr id="25" name="TextBox 24"/>
          <p:cNvSpPr txBox="1"/>
          <p:nvPr/>
        </p:nvSpPr>
        <p:spPr>
          <a:xfrm>
            <a:off x="895334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6-måneders fastholdelse</a:t>
            </a:r>
          </a:p>
        </p:txBody>
      </p:sp>
      <p:sp>
        <p:nvSpPr>
          <p:cNvPr id="26" name="TextBox 25"/>
          <p:cNvSpPr txBox="1"/>
          <p:nvPr/>
        </p:nvSpPr>
        <p:spPr>
          <a:xfrm>
            <a:off x="895334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stabil cohort-hale</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New vs returning customers + cohort-rapport. Abonnementet koster 749 til 849 SEK pr. kasse (månedligt, med en introkasse først). Muligheden er at gøre det mere synligt og placere det på flere produktsider, så flere købere ser og vælger det. Dette vender den tidligere GA4-læsning om, at fastholdelse var svag.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Fastholdelse · Abonnement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Abonnement er den effektive LTV-løftestang</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66% af køberne vender allerede tilbage, men det genkøb tjenes hjem med e-mail, retargeting og kampagner hver gang. Abonnement gør det automatisk: højere livstidsværdi, lavere marketingomkostning, forudsigelig omsætning. I dag er det 0.2% af salget, den tydeligste uudnyttede løftestang.</a:t>
            </a:r>
          </a:p>
        </p:txBody>
      </p:sp>
      <p:sp>
        <p:nvSpPr>
          <p:cNvPr id="10" name="TextBox 9"/>
          <p:cNvSpPr txBox="1"/>
          <p:nvPr/>
        </p:nvSpPr>
        <p:spPr>
          <a:xfrm>
            <a:off x="640080" y="2505456"/>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sp>
        <p:nvSpPr>
          <p:cNvPr id="11" name="Rounded Rectangle 10"/>
          <p:cNvSpPr/>
          <p:nvPr/>
        </p:nvSpPr>
        <p:spPr>
          <a:xfrm>
            <a:off x="792327" y="2816352"/>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3072384"/>
            <a:ext cx="2446020" cy="502920"/>
          </a:xfrm>
          <a:prstGeom prst="rect">
            <a:avLst/>
          </a:prstGeom>
          <a:noFill/>
        </p:spPr>
        <p:txBody>
          <a:bodyPr wrap="square" lIns="0" rIns="0" tIns="0" bIns="0" anchor="t">
            <a:spAutoFit/>
          </a:bodyPr>
          <a:lstStyle/>
          <a:p>
            <a:pPr algn="ctr"/>
            <a:r>
              <a:rPr sz="3000" b="1" i="0">
                <a:solidFill>
                  <a:srgbClr val="F59E0B"/>
                </a:solidFill>
                <a:latin typeface="Menlo"/>
              </a:rPr>
              <a:t>0.2%</a:t>
            </a:r>
          </a:p>
        </p:txBody>
      </p:sp>
      <p:sp>
        <p:nvSpPr>
          <p:cNvPr id="13" name="TextBox 12"/>
          <p:cNvSpPr txBox="1"/>
          <p:nvPr/>
        </p:nvSpPr>
        <p:spPr>
          <a:xfrm>
            <a:off x="79232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Abonnementets andel af salget</a:t>
            </a:r>
          </a:p>
        </p:txBody>
      </p:sp>
      <p:sp>
        <p:nvSpPr>
          <p:cNvPr id="14" name="TextBox 13"/>
          <p:cNvSpPr txBox="1"/>
          <p:nvPr/>
        </p:nvSpPr>
        <p:spPr>
          <a:xfrm>
            <a:off x="79232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101 ordrer, 66k SEK på 90 dage</a:t>
            </a:r>
          </a:p>
        </p:txBody>
      </p:sp>
      <p:sp>
        <p:nvSpPr>
          <p:cNvPr id="15" name="Rounded Rectangle 14"/>
          <p:cNvSpPr/>
          <p:nvPr/>
        </p:nvSpPr>
        <p:spPr>
          <a:xfrm>
            <a:off x="3512667" y="2816352"/>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3072384"/>
            <a:ext cx="2446020" cy="502920"/>
          </a:xfrm>
          <a:prstGeom prst="rect">
            <a:avLst/>
          </a:prstGeom>
          <a:noFill/>
        </p:spPr>
        <p:txBody>
          <a:bodyPr wrap="square" lIns="0" rIns="0" tIns="0" bIns="0" anchor="t">
            <a:spAutoFit/>
          </a:bodyPr>
          <a:lstStyle/>
          <a:p>
            <a:pPr algn="ctr"/>
            <a:r>
              <a:rPr sz="3000" b="1" i="0">
                <a:solidFill>
                  <a:srgbClr val="FFFFFF"/>
                </a:solidFill>
                <a:latin typeface="Menlo"/>
              </a:rPr>
              <a:t>3</a:t>
            </a:r>
          </a:p>
        </p:txBody>
      </p:sp>
      <p:sp>
        <p:nvSpPr>
          <p:cNvPr id="17" name="TextBox 16"/>
          <p:cNvSpPr txBox="1"/>
          <p:nvPr/>
        </p:nvSpPr>
        <p:spPr>
          <a:xfrm>
            <a:off x="351266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Abonnementsprodukter</a:t>
            </a:r>
          </a:p>
        </p:txBody>
      </p:sp>
      <p:sp>
        <p:nvSpPr>
          <p:cNvPr id="18" name="TextBox 17"/>
          <p:cNvSpPr txBox="1"/>
          <p:nvPr/>
        </p:nvSpPr>
        <p:spPr>
          <a:xfrm>
            <a:off x="351266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Vin-, Gin-, Champagnekasser</a:t>
            </a:r>
          </a:p>
        </p:txBody>
      </p:sp>
      <p:sp>
        <p:nvSpPr>
          <p:cNvPr id="19" name="Rounded Rectangle 18"/>
          <p:cNvSpPr/>
          <p:nvPr/>
        </p:nvSpPr>
        <p:spPr>
          <a:xfrm>
            <a:off x="6233007" y="2816352"/>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3072384"/>
            <a:ext cx="2446020" cy="502920"/>
          </a:xfrm>
          <a:prstGeom prst="rect">
            <a:avLst/>
          </a:prstGeom>
          <a:noFill/>
        </p:spPr>
        <p:txBody>
          <a:bodyPr wrap="square" lIns="0" rIns="0" tIns="0" bIns="0" anchor="t">
            <a:spAutoFit/>
          </a:bodyPr>
          <a:lstStyle/>
          <a:p>
            <a:pPr algn="ctr"/>
            <a:r>
              <a:rPr sz="3000" b="1" i="0">
                <a:solidFill>
                  <a:srgbClr val="F59E0B"/>
                </a:solidFill>
                <a:latin typeface="Menlo"/>
              </a:rPr>
              <a:t>0</a:t>
            </a:r>
          </a:p>
        </p:txBody>
      </p:sp>
      <p:sp>
        <p:nvSpPr>
          <p:cNvPr id="21" name="TextBox 20"/>
          <p:cNvSpPr txBox="1"/>
          <p:nvPr/>
        </p:nvSpPr>
        <p:spPr>
          <a:xfrm>
            <a:off x="623300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Topkasser med abonnementsmulighed</a:t>
            </a:r>
          </a:p>
        </p:txBody>
      </p:sp>
      <p:sp>
        <p:nvSpPr>
          <p:cNvPr id="22" name="TextBox 21"/>
          <p:cNvSpPr txBox="1"/>
          <p:nvPr/>
        </p:nvSpPr>
        <p:spPr>
          <a:xfrm>
            <a:off x="623300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kun 3 nicheprodukter har den</a:t>
            </a:r>
          </a:p>
        </p:txBody>
      </p:sp>
      <p:sp>
        <p:nvSpPr>
          <p:cNvPr id="23" name="Rounded Rectangle 22"/>
          <p:cNvSpPr/>
          <p:nvPr/>
        </p:nvSpPr>
        <p:spPr>
          <a:xfrm>
            <a:off x="8953347" y="2816352"/>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3072384"/>
            <a:ext cx="2446020" cy="502920"/>
          </a:xfrm>
          <a:prstGeom prst="rect">
            <a:avLst/>
          </a:prstGeom>
          <a:noFill/>
        </p:spPr>
        <p:txBody>
          <a:bodyPr wrap="square" lIns="0" rIns="0" tIns="0" bIns="0" anchor="t">
            <a:spAutoFit/>
          </a:bodyPr>
          <a:lstStyle/>
          <a:p>
            <a:pPr algn="ctr"/>
            <a:r>
              <a:rPr sz="3000" b="1" i="0">
                <a:solidFill>
                  <a:srgbClr val="22C55E"/>
                </a:solidFill>
                <a:latin typeface="Menlo"/>
              </a:rPr>
              <a:t>~1 to 1.8M SEK</a:t>
            </a:r>
          </a:p>
        </p:txBody>
      </p:sp>
      <p:sp>
        <p:nvSpPr>
          <p:cNvPr id="25" name="TextBox 24"/>
          <p:cNvSpPr txBox="1"/>
          <p:nvPr/>
        </p:nvSpPr>
        <p:spPr>
          <a:xfrm>
            <a:off x="895334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Tilbagevendende ved 3 til 5% (Est.)</a:t>
            </a:r>
          </a:p>
        </p:txBody>
      </p:sp>
      <p:sp>
        <p:nvSpPr>
          <p:cNvPr id="26" name="TextBox 25"/>
          <p:cNvSpPr txBox="1"/>
          <p:nvPr/>
        </p:nvSpPr>
        <p:spPr>
          <a:xfrm>
            <a:off x="895334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mod 66k SEK i dag</a:t>
            </a:r>
          </a:p>
        </p:txBody>
      </p:sp>
      <p:graphicFrame>
        <p:nvGraphicFramePr>
          <p:cNvPr id="27" name="Table 26"/>
          <p:cNvGraphicFramePr>
            <a:graphicFrameLocks noGrp="1"/>
          </p:cNvGraphicFramePr>
          <p:nvPr/>
        </p:nvGraphicFramePr>
        <p:xfrm>
          <a:off x="883767" y="4233672"/>
          <a:ext cx="10424158" cy="1682496"/>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ASPEKT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GENKØB I DAG (MARKETINGDREVET)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PÅ ABONNEMENT</a:t>
                      </a:r>
                    </a:p>
                  </a:txBody>
                  <a:tcPr marL="73152" marR="73152" marT="18288" marB="18288" anchor="ctr">
                    <a:solidFill>
                      <a:srgbClr val="0A0A0A"/>
                    </a:solidFill>
                  </a:tcPr>
                </a:tc>
              </a:tr>
              <a:tr h="329184">
                <a:tc>
                  <a:txBody>
                    <a:bodyPr wrap="square"/>
                    <a:lstStyle/>
                    <a:p>
                      <a:pPr algn="l"/>
                      <a:r>
                        <a:rPr sz="1000" b="1">
                          <a:solidFill>
                            <a:srgbClr val="F7D007"/>
                          </a:solidFill>
                          <a:latin typeface="Helvetica Neue"/>
                        </a:rPr>
                        <a:t>Genbestillingsudløser</a:t>
                      </a:r>
                    </a:p>
                  </a:txBody>
                  <a:tcPr marL="73152" marR="73152" marT="18288" marB="18288" anchor="ctr">
                    <a:solidFill>
                      <a:srgbClr val="000000"/>
                    </a:solidFill>
                  </a:tcPr>
                </a:tc>
                <a:tc>
                  <a:txBody>
                    <a:bodyPr wrap="square"/>
                    <a:lstStyle/>
                    <a:p>
                      <a:pPr algn="l"/>
                      <a:r>
                        <a:rPr sz="1000" b="0">
                          <a:solidFill>
                            <a:srgbClr val="EFEEEE"/>
                          </a:solidFill>
                          <a:latin typeface="Helvetica Neue"/>
                        </a:rPr>
                        <a:t>E-mail, retargeting, kampagne hver gang</a:t>
                      </a:r>
                    </a:p>
                  </a:txBody>
                  <a:tcPr marL="73152" marR="73152" marT="18288" marB="18288" anchor="ctr">
                    <a:solidFill>
                      <a:srgbClr val="000000"/>
                    </a:solidFill>
                  </a:tcPr>
                </a:tc>
                <a:tc>
                  <a:txBody>
                    <a:bodyPr wrap="square"/>
                    <a:lstStyle/>
                    <a:p>
                      <a:pPr algn="l"/>
                      <a:r>
                        <a:rPr sz="1000" b="0">
                          <a:solidFill>
                            <a:srgbClr val="22C55E"/>
                          </a:solidFill>
                          <a:latin typeface="Helvetica Neue"/>
                        </a:rPr>
                        <a:t>Automatisk, tilbagevendende</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Frekvens</a:t>
                      </a:r>
                    </a:p>
                  </a:txBody>
                  <a:tcPr marL="73152" marR="73152" marT="18288" marB="18288" anchor="ctr">
                    <a:solidFill>
                      <a:srgbClr val="0B0B0B"/>
                    </a:solidFill>
                  </a:tcPr>
                </a:tc>
                <a:tc>
                  <a:txBody>
                    <a:bodyPr wrap="square"/>
                    <a:lstStyle/>
                    <a:p>
                      <a:pPr algn="l"/>
                      <a:r>
                        <a:rPr sz="1000" b="0">
                          <a:solidFill>
                            <a:srgbClr val="EFEEEE"/>
                          </a:solidFill>
                          <a:latin typeface="Helvetica Neue"/>
                        </a:rPr>
                        <a:t>Sporadisk, kampagnedrevet</a:t>
                      </a:r>
                    </a:p>
                  </a:txBody>
                  <a:tcPr marL="73152" marR="73152" marT="18288" marB="18288" anchor="ctr">
                    <a:solidFill>
                      <a:srgbClr val="0B0B0B"/>
                    </a:solidFill>
                  </a:tcPr>
                </a:tc>
                <a:tc>
                  <a:txBody>
                    <a:bodyPr wrap="square"/>
                    <a:lstStyle/>
                    <a:p>
                      <a:pPr algn="l"/>
                      <a:r>
                        <a:rPr sz="1000" b="0">
                          <a:solidFill>
                            <a:srgbClr val="22C55E"/>
                          </a:solidFill>
                          <a:latin typeface="Helvetica Neue"/>
                        </a:rPr>
                        <a:t>Fast kadence, månedligt eller oftere</a:t>
                      </a:r>
                    </a:p>
                  </a:txBody>
                  <a:tcPr marL="73152" marR="73152" marT="18288" marB="18288" anchor="ctr">
                    <a:solidFill>
                      <a:srgbClr val="0B0B0B"/>
                    </a:solidFill>
                  </a:tcPr>
                </a:tc>
              </a:tr>
              <a:tr h="329184">
                <a:tc>
                  <a:txBody>
                    <a:bodyPr wrap="square"/>
                    <a:lstStyle/>
                    <a:p>
                      <a:pPr algn="l"/>
                      <a:r>
                        <a:rPr sz="1000" b="1">
                          <a:solidFill>
                            <a:srgbClr val="F7D007"/>
                          </a:solidFill>
                          <a:latin typeface="Helvetica Neue"/>
                        </a:rPr>
                        <a:t>Marketingomkostning pr. genbestilling</a:t>
                      </a:r>
                    </a:p>
                  </a:txBody>
                  <a:tcPr marL="73152" marR="73152" marT="18288" marB="18288" anchor="ctr">
                    <a:solidFill>
                      <a:srgbClr val="000000"/>
                    </a:solidFill>
                  </a:tcPr>
                </a:tc>
                <a:tc>
                  <a:txBody>
                    <a:bodyPr wrap="square"/>
                    <a:lstStyle/>
                    <a:p>
                      <a:pPr algn="l"/>
                      <a:r>
                        <a:rPr sz="1000" b="0">
                          <a:solidFill>
                            <a:srgbClr val="F59E0B"/>
                          </a:solidFill>
                          <a:latin typeface="Helvetica Neue"/>
                        </a:rPr>
                        <a:t>Høj</a:t>
                      </a:r>
                    </a:p>
                  </a:txBody>
                  <a:tcPr marL="73152" marR="73152" marT="18288" marB="18288" anchor="ctr">
                    <a:solidFill>
                      <a:srgbClr val="000000"/>
                    </a:solidFill>
                  </a:tcPr>
                </a:tc>
                <a:tc>
                  <a:txBody>
                    <a:bodyPr wrap="square"/>
                    <a:lstStyle/>
                    <a:p>
                      <a:pPr algn="l"/>
                      <a:r>
                        <a:rPr sz="1000" b="0">
                          <a:solidFill>
                            <a:srgbClr val="22C55E"/>
                          </a:solidFill>
                          <a:latin typeface="Helvetica Neue"/>
                        </a:rPr>
                        <a:t>Nær nul</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Forudsigelig omsætning</a:t>
                      </a:r>
                    </a:p>
                  </a:txBody>
                  <a:tcPr marL="73152" marR="73152" marT="18288" marB="18288" anchor="ctr">
                    <a:solidFill>
                      <a:srgbClr val="0B0B0B"/>
                    </a:solidFill>
                  </a:tcPr>
                </a:tc>
                <a:tc>
                  <a:txBody>
                    <a:bodyPr wrap="square"/>
                    <a:lstStyle/>
                    <a:p>
                      <a:pPr algn="l"/>
                      <a:r>
                        <a:rPr sz="1000" b="0">
                          <a:solidFill>
                            <a:srgbClr val="F59E0B"/>
                          </a:solidFill>
                          <a:latin typeface="Helvetica Neue"/>
                        </a:rPr>
                        <a:t>Lav</a:t>
                      </a:r>
                    </a:p>
                  </a:txBody>
                  <a:tcPr marL="73152" marR="73152" marT="18288" marB="18288" anchor="ctr">
                    <a:solidFill>
                      <a:srgbClr val="0B0B0B"/>
                    </a:solidFill>
                  </a:tcPr>
                </a:tc>
                <a:tc>
                  <a:txBody>
                    <a:bodyPr wrap="square"/>
                    <a:lstStyle/>
                    <a:p>
                      <a:pPr algn="l"/>
                      <a:r>
                        <a:rPr sz="1000" b="0">
                          <a:solidFill>
                            <a:srgbClr val="22C55E"/>
                          </a:solidFill>
                          <a:latin typeface="Helvetica Neue"/>
                        </a:rPr>
                        <a:t>Høj</a:t>
                      </a:r>
                    </a:p>
                  </a:txBody>
                  <a:tcPr marL="73152" marR="73152" marT="18288" marB="18288" anchor="ctr">
                    <a:solidFill>
                      <a:srgbClr val="0B0B0B"/>
                    </a:solidFill>
                  </a:tcPr>
                </a:tc>
              </a:tr>
            </a:tbl>
          </a:graphicData>
        </a:graphic>
      </p:graphicFrame>
      <p:sp>
        <p:nvSpPr>
          <p:cNvPr id="28" name="TextBox 27"/>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Sådan har vi målt: fra Shopifys Subscription vs one-time sales-rapport, 101 abonnementsordrer til en værdi af 66,033 SEK på 90 dage (0.2% af salget). Vi har ikke Recharge-adgang, så aktive abonnenter, churn og MRR er ikke synlige. Mulighed: ved beskedne 3 til 5% af salget ville abonnementet være ~1,0 til 1,8M SEK i tilbagevendende omsætning pr. kvartal. Løftestangen: føj en abonnementsmulighed til de bedst sælgende kasser og gør den synlig på flere produktsider.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dage · Produktsider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Kassesider slår enkeltvinssider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Sammenlignet side for side lægger kasseproduktsider i kurv ved 16.4% og giver anslået ~80 SEK pr. besøg, et godt stykke over enkeltvinssider (13.3%, ~62 SEK). En mere retfærdig test end forside eller kollektion, og den favoriserer stadig kassen som det bedre første køb.</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graphicFrame>
        <p:nvGraphicFramePr>
          <p:cNvPr id="11" name="Table 10"/>
          <p:cNvGraphicFramePr>
            <a:graphicFrameLocks noGrp="1"/>
          </p:cNvGraphicFramePr>
          <p:nvPr/>
        </p:nvGraphicFramePr>
        <p:xfrm>
          <a:off x="883767" y="2596896"/>
          <a:ext cx="10424156" cy="182880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PRODUKTSIDE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LÆG I KURV</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NÅEDE CHECKOUT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ANSLÅET RPV / BESØG</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Kassesider (gennemsnit af 336)</a:t>
                      </a:r>
                    </a:p>
                  </a:txBody>
                  <a:tcPr marL="73152" marR="73152" marT="18288" marB="18288" anchor="ctr">
                    <a:solidFill>
                      <a:srgbClr val="000000"/>
                    </a:solidFill>
                  </a:tcPr>
                </a:tc>
                <a:tc>
                  <a:txBody>
                    <a:bodyPr wrap="square"/>
                    <a:lstStyle/>
                    <a:p>
                      <a:pPr algn="r"/>
                      <a:r>
                        <a:rPr sz="1100" b="0">
                          <a:solidFill>
                            <a:srgbClr val="EFEEEE"/>
                          </a:solidFill>
                          <a:latin typeface="Menlo"/>
                        </a:rPr>
                        <a:t>120,678</a:t>
                      </a:r>
                    </a:p>
                  </a:txBody>
                  <a:tcPr marL="73152" marR="73152" marT="18288" marB="18288" anchor="ctr">
                    <a:solidFill>
                      <a:srgbClr val="000000"/>
                    </a:solidFill>
                  </a:tcPr>
                </a:tc>
                <a:tc>
                  <a:txBody>
                    <a:bodyPr wrap="square"/>
                    <a:lstStyle/>
                    <a:p>
                      <a:pPr algn="r"/>
                      <a:r>
                        <a:rPr sz="1100" b="0">
                          <a:solidFill>
                            <a:srgbClr val="22C55E"/>
                          </a:solidFill>
                          <a:latin typeface="Menlo"/>
                        </a:rPr>
                        <a:t>16.4%</a:t>
                      </a:r>
                    </a:p>
                  </a:txBody>
                  <a:tcPr marL="73152" marR="73152" marT="18288" marB="18288" anchor="ctr">
                    <a:solidFill>
                      <a:srgbClr val="000000"/>
                    </a:solidFill>
                  </a:tcPr>
                </a:tc>
                <a:tc>
                  <a:txBody>
                    <a:bodyPr wrap="square"/>
                    <a:lstStyle/>
                    <a:p>
                      <a:pPr algn="r"/>
                      <a:r>
                        <a:rPr sz="1100" b="0">
                          <a:solidFill>
                            <a:srgbClr val="22C55E"/>
                          </a:solidFill>
                          <a:latin typeface="Menlo"/>
                        </a:rPr>
                        <a:t>7.3%</a:t>
                      </a:r>
                    </a:p>
                  </a:txBody>
                  <a:tcPr marL="73152" marR="73152" marT="18288" marB="18288" anchor="ctr">
                    <a:solidFill>
                      <a:srgbClr val="000000"/>
                    </a:solidFill>
                  </a:tcPr>
                </a:tc>
                <a:tc>
                  <a:txBody>
                    <a:bodyPr wrap="square"/>
                    <a:lstStyle/>
                    <a:p>
                      <a:pPr algn="r"/>
                      <a:r>
                        <a:rPr sz="1100" b="0">
                          <a:solidFill>
                            <a:srgbClr val="22C55E"/>
                          </a:solidFill>
                          <a:latin typeface="Menlo"/>
                        </a:rPr>
                        <a:t>~80 SEK</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eksempel: XL Introlåda</a:t>
                      </a:r>
                    </a:p>
                  </a:txBody>
                  <a:tcPr marL="73152" marR="73152" marT="18288" marB="18288" anchor="ctr">
                    <a:solidFill>
                      <a:srgbClr val="0B0B0B"/>
                    </a:solidFill>
                  </a:tcPr>
                </a:tc>
                <a:tc>
                  <a:txBody>
                    <a:bodyPr wrap="square"/>
                    <a:lstStyle/>
                    <a:p>
                      <a:pPr algn="r"/>
                      <a:r>
                        <a:rPr sz="1100" b="0">
                          <a:solidFill>
                            <a:srgbClr val="EFEEEE"/>
                          </a:solidFill>
                          <a:latin typeface="Menlo"/>
                        </a:rPr>
                        <a:t>25,917</a:t>
                      </a:r>
                    </a:p>
                  </a:txBody>
                  <a:tcPr marL="73152" marR="73152" marT="18288" marB="18288" anchor="ctr">
                    <a:solidFill>
                      <a:srgbClr val="0B0B0B"/>
                    </a:solidFill>
                  </a:tcPr>
                </a:tc>
                <a:tc>
                  <a:txBody>
                    <a:bodyPr wrap="square"/>
                    <a:lstStyle/>
                    <a:p>
                      <a:pPr algn="r"/>
                      <a:r>
                        <a:rPr sz="1100" b="0">
                          <a:solidFill>
                            <a:srgbClr val="EFEEEE"/>
                          </a:solidFill>
                          <a:latin typeface="Menlo"/>
                        </a:rPr>
                        <a:t>19.9%</a:t>
                      </a:r>
                    </a:p>
                  </a:txBody>
                  <a:tcPr marL="73152" marR="73152" marT="18288" marB="18288" anchor="ctr">
                    <a:solidFill>
                      <a:srgbClr val="0B0B0B"/>
                    </a:solidFill>
                  </a:tcPr>
                </a:tc>
                <a:tc>
                  <a:txBody>
                    <a:bodyPr wrap="square"/>
                    <a:lstStyle/>
                    <a:p>
                      <a:pPr algn="r"/>
                      <a:r>
                        <a:rPr sz="1100" b="0">
                          <a:solidFill>
                            <a:srgbClr val="EFEEEE"/>
                          </a:solidFill>
                          <a:latin typeface="Menlo"/>
                        </a:rPr>
                        <a:t>8.5%</a:t>
                      </a:r>
                    </a:p>
                  </a:txBody>
                  <a:tcPr marL="73152" marR="73152" marT="18288" marB="18288" anchor="ctr">
                    <a:solidFill>
                      <a:srgbClr val="0B0B0B"/>
                    </a:solidFill>
                  </a:tcPr>
                </a:tc>
                <a:tc>
                  <a:txBody>
                    <a:bodyPr wrap="square"/>
                    <a:lstStyle/>
                    <a:p>
                      <a:pPr algn="r"/>
                      <a:r>
                        <a:rPr sz="1100" b="0">
                          <a:solidFill>
                            <a:srgbClr val="EFEEEE"/>
                          </a:solidFill>
                          <a:latin typeface="Menlo"/>
                        </a:rPr>
                        <a:t>~94 SEK</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Enkeltvinssider (gennemsnit af 1,894)</a:t>
                      </a:r>
                    </a:p>
                  </a:txBody>
                  <a:tcPr marL="73152" marR="73152" marT="18288" marB="18288" anchor="ctr">
                    <a:solidFill>
                      <a:srgbClr val="000000"/>
                    </a:solidFill>
                  </a:tcPr>
                </a:tc>
                <a:tc>
                  <a:txBody>
                    <a:bodyPr wrap="square"/>
                    <a:lstStyle/>
                    <a:p>
                      <a:pPr algn="r"/>
                      <a:r>
                        <a:rPr sz="1100" b="0">
                          <a:solidFill>
                            <a:srgbClr val="EFEEEE"/>
                          </a:solidFill>
                          <a:latin typeface="Menlo"/>
                        </a:rPr>
                        <a:t>81,055</a:t>
                      </a:r>
                    </a:p>
                  </a:txBody>
                  <a:tcPr marL="73152" marR="73152" marT="18288" marB="18288" anchor="ctr">
                    <a:solidFill>
                      <a:srgbClr val="000000"/>
                    </a:solidFill>
                  </a:tcPr>
                </a:tc>
                <a:tc>
                  <a:txBody>
                    <a:bodyPr wrap="square"/>
                    <a:lstStyle/>
                    <a:p>
                      <a:pPr algn="r"/>
                      <a:r>
                        <a:rPr sz="1100" b="0">
                          <a:solidFill>
                            <a:srgbClr val="F59E0B"/>
                          </a:solidFill>
                          <a:latin typeface="Menlo"/>
                        </a:rPr>
                        <a:t>13.3%</a:t>
                      </a:r>
                    </a:p>
                  </a:txBody>
                  <a:tcPr marL="73152" marR="73152" marT="18288" marB="18288" anchor="ctr">
                    <a:solidFill>
                      <a:srgbClr val="000000"/>
                    </a:solidFill>
                  </a:tcPr>
                </a:tc>
                <a:tc>
                  <a:txBody>
                    <a:bodyPr wrap="square"/>
                    <a:lstStyle/>
                    <a:p>
                      <a:pPr algn="r"/>
                      <a:r>
                        <a:rPr sz="1100" b="0">
                          <a:solidFill>
                            <a:srgbClr val="F59E0B"/>
                          </a:solidFill>
                          <a:latin typeface="Menlo"/>
                        </a:rPr>
                        <a:t>5.6%</a:t>
                      </a:r>
                    </a:p>
                  </a:txBody>
                  <a:tcPr marL="73152" marR="73152" marT="18288" marB="18288" anchor="ctr">
                    <a:solidFill>
                      <a:srgbClr val="000000"/>
                    </a:solidFill>
                  </a:tcPr>
                </a:tc>
                <a:tc>
                  <a:txBody>
                    <a:bodyPr wrap="square"/>
                    <a:lstStyle/>
                    <a:p>
                      <a:pPr algn="r"/>
                      <a:r>
                        <a:rPr sz="1100" b="0">
                          <a:solidFill>
                            <a:srgbClr val="F59E0B"/>
                          </a:solidFill>
                          <a:latin typeface="Menlo"/>
                        </a:rPr>
                        <a:t>~62 SEK</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eksempel: Carapaia Magnum</a:t>
                      </a:r>
                    </a:p>
                  </a:txBody>
                  <a:tcPr marL="73152" marR="73152" marT="18288" marB="18288" anchor="ctr">
                    <a:solidFill>
                      <a:srgbClr val="0B0B0B"/>
                    </a:solidFill>
                  </a:tcPr>
                </a:tc>
                <a:tc>
                  <a:txBody>
                    <a:bodyPr wrap="square"/>
                    <a:lstStyle/>
                    <a:p>
                      <a:pPr algn="r"/>
                      <a:r>
                        <a:rPr sz="1100" b="0">
                          <a:solidFill>
                            <a:srgbClr val="EFEEEE"/>
                          </a:solidFill>
                          <a:latin typeface="Menlo"/>
                        </a:rPr>
                        <a:t>2,545</a:t>
                      </a:r>
                    </a:p>
                  </a:txBody>
                  <a:tcPr marL="73152" marR="73152" marT="18288" marB="18288" anchor="ctr">
                    <a:solidFill>
                      <a:srgbClr val="0B0B0B"/>
                    </a:solidFill>
                  </a:tcPr>
                </a:tc>
                <a:tc>
                  <a:txBody>
                    <a:bodyPr wrap="square"/>
                    <a:lstStyle/>
                    <a:p>
                      <a:pPr algn="r"/>
                      <a:r>
                        <a:rPr sz="1100" b="0">
                          <a:solidFill>
                            <a:srgbClr val="EFEEEE"/>
                          </a:solidFill>
                          <a:latin typeface="Menlo"/>
                        </a:rPr>
                        <a:t>21.3%</a:t>
                      </a:r>
                    </a:p>
                  </a:txBody>
                  <a:tcPr marL="73152" marR="73152" marT="18288" marB="18288" anchor="ctr">
                    <a:solidFill>
                      <a:srgbClr val="0B0B0B"/>
                    </a:solidFill>
                  </a:tcPr>
                </a:tc>
                <a:tc>
                  <a:txBody>
                    <a:bodyPr wrap="square"/>
                    <a:lstStyle/>
                    <a:p>
                      <a:pPr algn="r"/>
                      <a:r>
                        <a:rPr sz="1100" b="0">
                          <a:solidFill>
                            <a:srgbClr val="EFEEEE"/>
                          </a:solidFill>
                          <a:latin typeface="Menlo"/>
                        </a:rPr>
                        <a:t>10.9%</a:t>
                      </a:r>
                    </a:p>
                  </a:txBody>
                  <a:tcPr marL="73152" marR="73152" marT="18288" marB="18288" anchor="ctr">
                    <a:solidFill>
                      <a:srgbClr val="0B0B0B"/>
                    </a:solidFill>
                  </a:tcPr>
                </a:tc>
                <a:tc>
                  <a:txBody>
                    <a:bodyPr wrap="square"/>
                    <a:lstStyle/>
                    <a:p>
                      <a:pPr algn="r"/>
                      <a:r>
                        <a:rPr sz="1100" b="0">
                          <a:solidFill>
                            <a:srgbClr val="EFEEEE"/>
                          </a:solidFill>
                          <a:latin typeface="Menlo"/>
                        </a:rPr>
                        <a:t>~120 SEK</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Sessions by landing page. Anslået RPV pr. besøg = sidens andel der nåede checkout x butikkens reelle ordrerate (38,306 ordrer / 30,200 checkout-sessioner) x 868 AOV; butikkens samlede RPV er 99 SEK, og kassesider kører sandsynligvis højere på reel ordreværdi, så dette er konservativt. Bemærk at premium enkeltflasker også konverterer godt (Carapaia magnum når 10.9%), en sekundær løftestang ved siden af kasserne.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Det ene GA4-slide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Hvorfor denne audit bruger Shopify, ikke GA4</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I samme periode registrerer GA4 kun cirka en tredjedel af forretningen. Den oppuster også sessioner med skrald. Derfor kommer hvert tal i denne præsentation fra Shopify.</a:t>
            </a:r>
          </a:p>
        </p:txBody>
      </p:sp>
      <p:graphicFrame>
        <p:nvGraphicFramePr>
          <p:cNvPr id="10" name="Table 9"/>
          <p:cNvGraphicFramePr>
            <a:graphicFrameLocks noGrp="1"/>
          </p:cNvGraphicFramePr>
          <p:nvPr/>
        </p:nvGraphicFramePr>
        <p:xfrm>
          <a:off x="883767" y="2103120"/>
          <a:ext cx="10424158" cy="1828800"/>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SAMME 90 DAGE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SHOPIFY (FACIT)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 SER</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Ordrer</a:t>
                      </a:r>
                    </a:p>
                  </a:txBody>
                  <a:tcPr marL="73152" marR="73152" marT="18288" marB="18288" anchor="ctr">
                    <a:solidFill>
                      <a:srgbClr val="000000"/>
                    </a:solidFill>
                  </a:tcPr>
                </a:tc>
                <a:tc>
                  <a:txBody>
                    <a:bodyPr wrap="square"/>
                    <a:lstStyle/>
                    <a:p>
                      <a:pPr algn="r"/>
                      <a:r>
                        <a:rPr sz="1100" b="0">
                          <a:solidFill>
                            <a:srgbClr val="EFEEEE"/>
                          </a:solidFill>
                          <a:latin typeface="Menlo"/>
                        </a:rPr>
                        <a:t>38,306</a:t>
                      </a:r>
                    </a:p>
                  </a:txBody>
                  <a:tcPr marL="73152" marR="73152" marT="18288" marB="18288" anchor="ctr">
                    <a:solidFill>
                      <a:srgbClr val="000000"/>
                    </a:solidFill>
                  </a:tcPr>
                </a:tc>
                <a:tc>
                  <a:txBody>
                    <a:bodyPr wrap="square"/>
                    <a:lstStyle/>
                    <a:p>
                      <a:pPr algn="r"/>
                      <a:r>
                        <a:rPr sz="1100" b="0">
                          <a:solidFill>
                            <a:srgbClr val="EFEEEE"/>
                          </a:solidFill>
                          <a:latin typeface="Menlo"/>
                        </a:rPr>
                        <a:t>11,689</a:t>
                      </a:r>
                    </a:p>
                  </a:txBody>
                  <a:tcPr marL="73152" marR="73152" marT="18288" marB="18288" anchor="ctr">
                    <a:solidFill>
                      <a:srgbClr val="000000"/>
                    </a:solidFill>
                  </a:tcPr>
                </a:tc>
                <a:tc>
                  <a:txBody>
                    <a:bodyPr wrap="square"/>
                    <a:lstStyle/>
                    <a:p>
                      <a:pPr algn="r"/>
                      <a:r>
                        <a:rPr sz="1100" b="0">
                          <a:solidFill>
                            <a:srgbClr val="EF4444"/>
                          </a:solidFill>
                          <a:latin typeface="Menlo"/>
                        </a:rPr>
                        <a:t>31%</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Bruttoomsætning</a:t>
                      </a:r>
                    </a:p>
                  </a:txBody>
                  <a:tcPr marL="73152" marR="73152" marT="18288" marB="18288" anchor="ctr">
                    <a:solidFill>
                      <a:srgbClr val="0B0B0B"/>
                    </a:solidFill>
                  </a:tcPr>
                </a:tc>
                <a:tc>
                  <a:txBody>
                    <a:bodyPr wrap="square"/>
                    <a:lstStyle/>
                    <a:p>
                      <a:pPr algn="r"/>
                      <a:r>
                        <a:rPr sz="1100" b="0">
                          <a:solidFill>
                            <a:srgbClr val="EFEEEE"/>
                          </a:solidFill>
                          <a:latin typeface="Menlo"/>
                        </a:rPr>
                        <a:t>33.3M SEK</a:t>
                      </a:r>
                    </a:p>
                  </a:txBody>
                  <a:tcPr marL="73152" marR="73152" marT="18288" marB="18288" anchor="ctr">
                    <a:solidFill>
                      <a:srgbClr val="0B0B0B"/>
                    </a:solidFill>
                  </a:tcPr>
                </a:tc>
                <a:tc>
                  <a:txBody>
                    <a:bodyPr wrap="square"/>
                    <a:lstStyle/>
                    <a:p>
                      <a:pPr algn="r"/>
                      <a:r>
                        <a:rPr sz="1100" b="0">
                          <a:solidFill>
                            <a:srgbClr val="EFEEEE"/>
                          </a:solidFill>
                          <a:latin typeface="Menlo"/>
                        </a:rPr>
                        <a:t>11.9M SEK</a:t>
                      </a:r>
                    </a:p>
                  </a:txBody>
                  <a:tcPr marL="73152" marR="73152" marT="18288" marB="18288" anchor="ctr">
                    <a:solidFill>
                      <a:srgbClr val="0B0B0B"/>
                    </a:solidFill>
                  </a:tcPr>
                </a:tc>
                <a:tc>
                  <a:txBody>
                    <a:bodyPr wrap="square"/>
                    <a:lstStyle/>
                    <a:p>
                      <a:pPr algn="r"/>
                      <a:r>
                        <a:rPr sz="1100" b="0">
                          <a:solidFill>
                            <a:srgbClr val="EF4444"/>
                          </a:solidFill>
                          <a:latin typeface="Menlo"/>
                        </a:rPr>
                        <a:t>36%</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Sessioner</a:t>
                      </a:r>
                    </a:p>
                  </a:txBody>
                  <a:tcPr marL="73152" marR="73152" marT="18288" marB="18288" anchor="ctr">
                    <a:solidFill>
                      <a:srgbClr val="000000"/>
                    </a:solidFill>
                  </a:tcPr>
                </a:tc>
                <a:tc>
                  <a:txBody>
                    <a:bodyPr wrap="square"/>
                    <a:lstStyle/>
                    <a:p>
                      <a:pPr algn="r"/>
                      <a:r>
                        <a:rPr sz="1100" b="0">
                          <a:solidFill>
                            <a:srgbClr val="EFEEEE"/>
                          </a:solidFill>
                          <a:latin typeface="Menlo"/>
                        </a:rPr>
                        <a:t>336,855</a:t>
                      </a:r>
                    </a:p>
                  </a:txBody>
                  <a:tcPr marL="73152" marR="73152" marT="18288" marB="18288" anchor="ctr">
                    <a:solidFill>
                      <a:srgbClr val="000000"/>
                    </a:solidFill>
                  </a:tcPr>
                </a:tc>
                <a:tc>
                  <a:txBody>
                    <a:bodyPr wrap="square"/>
                    <a:lstStyle/>
                    <a:p>
                      <a:pPr algn="r"/>
                      <a:r>
                        <a:rPr sz="1100" b="0">
                          <a:solidFill>
                            <a:srgbClr val="EFEEEE"/>
                          </a:solidFill>
                          <a:latin typeface="Menlo"/>
                        </a:rPr>
                        <a:t>452,552</a:t>
                      </a:r>
                    </a:p>
                  </a:txBody>
                  <a:tcPr marL="73152" marR="73152" marT="18288" marB="18288" anchor="ctr">
                    <a:solidFill>
                      <a:srgbClr val="000000"/>
                    </a:solidFill>
                  </a:tcPr>
                </a:tc>
                <a:tc>
                  <a:txBody>
                    <a:bodyPr wrap="square"/>
                    <a:lstStyle/>
                    <a:p>
                      <a:pPr algn="r"/>
                      <a:r>
                        <a:rPr sz="1100" b="0">
                          <a:solidFill>
                            <a:srgbClr val="F59E0B"/>
                          </a:solidFill>
                          <a:latin typeface="Menlo"/>
                        </a:rPr>
                        <a:t>GA4 +28%</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AOV</a:t>
                      </a:r>
                    </a:p>
                  </a:txBody>
                  <a:tcPr marL="73152" marR="73152" marT="18288" marB="18288" anchor="ctr">
                    <a:solidFill>
                      <a:srgbClr val="0B0B0B"/>
                    </a:solidFill>
                  </a:tcPr>
                </a:tc>
                <a:tc>
                  <a:txBody>
                    <a:bodyPr wrap="square"/>
                    <a:lstStyle/>
                    <a:p>
                      <a:pPr algn="r"/>
                      <a:r>
                        <a:rPr sz="1100" b="0">
                          <a:solidFill>
                            <a:srgbClr val="EFEEEE"/>
                          </a:solidFill>
                          <a:latin typeface="Menlo"/>
                        </a:rPr>
                        <a:t>864 SEK</a:t>
                      </a:r>
                    </a:p>
                  </a:txBody>
                  <a:tcPr marL="73152" marR="73152" marT="18288" marB="18288" anchor="ctr">
                    <a:solidFill>
                      <a:srgbClr val="0B0B0B"/>
                    </a:solidFill>
                  </a:tcPr>
                </a:tc>
                <a:tc>
                  <a:txBody>
                    <a:bodyPr wrap="square"/>
                    <a:lstStyle/>
                    <a:p>
                      <a:pPr algn="r"/>
                      <a:r>
                        <a:rPr sz="1100" b="0">
                          <a:solidFill>
                            <a:srgbClr val="EFEEEE"/>
                          </a:solidFill>
                          <a:latin typeface="Menlo"/>
                        </a:rPr>
                        <a:t>1,017 SEK</a:t>
                      </a:r>
                    </a:p>
                  </a:txBody>
                  <a:tcPr marL="73152" marR="73152" marT="18288" marB="18288" anchor="ctr">
                    <a:solidFill>
                      <a:srgbClr val="0B0B0B"/>
                    </a:solidFill>
                  </a:tcPr>
                </a:tc>
                <a:tc>
                  <a:txBody>
                    <a:bodyPr wrap="square"/>
                    <a:lstStyle/>
                    <a:p>
                      <a:pPr algn="r"/>
                      <a:r>
                        <a:rPr sz="1100" b="0">
                          <a:solidFill>
                            <a:srgbClr val="F59E0B"/>
                          </a:solidFill>
                          <a:latin typeface="Menlo"/>
                        </a:rPr>
                        <a:t>GA4 overvurderer</a:t>
                      </a:r>
                    </a:p>
                  </a:txBody>
                  <a:tcPr marL="73152" marR="73152" marT="18288" marB="18288" anchor="ctr">
                    <a:solidFill>
                      <a:srgbClr val="0B0B0B"/>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GA4 underregistrerer ordrer (Cookiebot-samtykkeafvisning, tab af attribution i Facebooks in-app-browser, 4 parallelle GA4-ejendomme), mens den overtæller sessioner med bot- og prefetch-støj, så den både skjuler omsætning og udvander konverteringsraten. Løsning: server side-GTM + Meta server side-sporing + én GA4. Indtil da er Shopify kilden til sandheden, og annonceplatformene byder på en tredjedel af signalet.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Når Sverige køber vin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Tirsdag og onsdag fører på ordrer; lørdag er svagest. Et lille budgetskift mod midt på ugen er værd at teste.</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GA4 · 90 dage · 25. april til 23. juli 2026 · retningsgivende</a:t>
            </a:r>
          </a:p>
        </p:txBody>
      </p:sp>
      <p:graphicFrame>
        <p:nvGraphicFramePr>
          <p:cNvPr id="11" name="Table 10"/>
          <p:cNvGraphicFramePr>
            <a:graphicFrameLocks noGrp="1"/>
          </p:cNvGraphicFramePr>
          <p:nvPr/>
        </p:nvGraphicFramePr>
        <p:xfrm>
          <a:off x="883767" y="2377440"/>
          <a:ext cx="10424158" cy="2670048"/>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DAG</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ORDRER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OMSÆTNING (SEK)</a:t>
                      </a:r>
                    </a:p>
                  </a:txBody>
                  <a:tcPr marL="73152" marR="73152" marT="18288" marB="18288" anchor="ctr">
                    <a:solidFill>
                      <a:srgbClr val="0A0A0A"/>
                    </a:solidFill>
                  </a:tcPr>
                </a:tc>
              </a:tr>
              <a:tr h="329184">
                <a:tc>
                  <a:txBody>
                    <a:bodyPr wrap="square"/>
                    <a:lstStyle/>
                    <a:p>
                      <a:pPr algn="l"/>
                      <a:r>
                        <a:rPr sz="1100" b="1">
                          <a:solidFill>
                            <a:srgbClr val="22C55E"/>
                          </a:solidFill>
                          <a:latin typeface="Helvetica Neue"/>
                        </a:rPr>
                        <a:t>Tirsdag</a:t>
                      </a:r>
                    </a:p>
                  </a:txBody>
                  <a:tcPr marL="73152" marR="73152" marT="18288" marB="18288" anchor="ctr">
                    <a:solidFill>
                      <a:srgbClr val="000000"/>
                    </a:solidFill>
                  </a:tcPr>
                </a:tc>
                <a:tc>
                  <a:txBody>
                    <a:bodyPr wrap="square"/>
                    <a:lstStyle/>
                    <a:p>
                      <a:pPr algn="r"/>
                      <a:r>
                        <a:rPr sz="1100" b="0">
                          <a:solidFill>
                            <a:srgbClr val="EFEEEE"/>
                          </a:solidFill>
                          <a:latin typeface="Menlo"/>
                        </a:rPr>
                        <a:t>71,983</a:t>
                      </a:r>
                    </a:p>
                  </a:txBody>
                  <a:tcPr marL="73152" marR="73152" marT="18288" marB="18288" anchor="ctr">
                    <a:solidFill>
                      <a:srgbClr val="000000"/>
                    </a:solidFill>
                  </a:tcPr>
                </a:tc>
                <a:tc>
                  <a:txBody>
                    <a:bodyPr wrap="square"/>
                    <a:lstStyle/>
                    <a:p>
                      <a:pPr algn="r"/>
                      <a:r>
                        <a:rPr sz="1100" b="0">
                          <a:solidFill>
                            <a:srgbClr val="22C55E"/>
                          </a:solidFill>
                          <a:latin typeface="Menlo"/>
                        </a:rPr>
                        <a:t>1,966</a:t>
                      </a:r>
                    </a:p>
                  </a:txBody>
                  <a:tcPr marL="73152" marR="73152" marT="18288" marB="18288" anchor="ctr">
                    <a:solidFill>
                      <a:srgbClr val="000000"/>
                    </a:solidFill>
                  </a:tcPr>
                </a:tc>
                <a:tc>
                  <a:txBody>
                    <a:bodyPr wrap="square"/>
                    <a:lstStyle/>
                    <a:p>
                      <a:pPr algn="r"/>
                      <a:r>
                        <a:rPr sz="1100" b="0">
                          <a:solidFill>
                            <a:srgbClr val="EFEEEE"/>
                          </a:solidFill>
                          <a:latin typeface="Menlo"/>
                        </a:rPr>
                        <a:t>2.03M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Onsdag</a:t>
                      </a:r>
                    </a:p>
                  </a:txBody>
                  <a:tcPr marL="73152" marR="73152" marT="18288" marB="18288" anchor="ctr">
                    <a:solidFill>
                      <a:srgbClr val="0B0B0B"/>
                    </a:solidFill>
                  </a:tcPr>
                </a:tc>
                <a:tc>
                  <a:txBody>
                    <a:bodyPr wrap="square"/>
                    <a:lstStyle/>
                    <a:p>
                      <a:pPr algn="r"/>
                      <a:r>
                        <a:rPr sz="1100" b="0">
                          <a:solidFill>
                            <a:srgbClr val="EFEEEE"/>
                          </a:solidFill>
                          <a:latin typeface="Menlo"/>
                        </a:rPr>
                        <a:t>73,018</a:t>
                      </a:r>
                    </a:p>
                  </a:txBody>
                  <a:tcPr marL="73152" marR="73152" marT="18288" marB="18288" anchor="ctr">
                    <a:solidFill>
                      <a:srgbClr val="0B0B0B"/>
                    </a:solidFill>
                  </a:tcPr>
                </a:tc>
                <a:tc>
                  <a:txBody>
                    <a:bodyPr wrap="square"/>
                    <a:lstStyle/>
                    <a:p>
                      <a:pPr algn="r"/>
                      <a:r>
                        <a:rPr sz="1100" b="0">
                          <a:solidFill>
                            <a:srgbClr val="EFEEEE"/>
                          </a:solidFill>
                          <a:latin typeface="Menlo"/>
                        </a:rPr>
                        <a:t>1,748</a:t>
                      </a:r>
                    </a:p>
                  </a:txBody>
                  <a:tcPr marL="73152" marR="73152" marT="18288" marB="18288" anchor="ctr">
                    <a:solidFill>
                      <a:srgbClr val="0B0B0B"/>
                    </a:solidFill>
                  </a:tcPr>
                </a:tc>
                <a:tc>
                  <a:txBody>
                    <a:bodyPr wrap="square"/>
                    <a:lstStyle/>
                    <a:p>
                      <a:pPr algn="r"/>
                      <a:r>
                        <a:rPr sz="1100" b="0">
                          <a:solidFill>
                            <a:srgbClr val="EFEEEE"/>
                          </a:solidFill>
                          <a:latin typeface="Menlo"/>
                        </a:rPr>
                        <a:t>1.78M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Søndag</a:t>
                      </a:r>
                    </a:p>
                  </a:txBody>
                  <a:tcPr marL="73152" marR="73152" marT="18288" marB="18288" anchor="ctr">
                    <a:solidFill>
                      <a:srgbClr val="000000"/>
                    </a:solidFill>
                  </a:tcPr>
                </a:tc>
                <a:tc>
                  <a:txBody>
                    <a:bodyPr wrap="square"/>
                    <a:lstStyle/>
                    <a:p>
                      <a:pPr algn="r"/>
                      <a:r>
                        <a:rPr sz="1100" b="0">
                          <a:solidFill>
                            <a:srgbClr val="EFEEEE"/>
                          </a:solidFill>
                          <a:latin typeface="Menlo"/>
                        </a:rPr>
                        <a:t>67,132</a:t>
                      </a:r>
                    </a:p>
                  </a:txBody>
                  <a:tcPr marL="73152" marR="73152" marT="18288" marB="18288" anchor="ctr">
                    <a:solidFill>
                      <a:srgbClr val="000000"/>
                    </a:solidFill>
                  </a:tcPr>
                </a:tc>
                <a:tc>
                  <a:txBody>
                    <a:bodyPr wrap="square"/>
                    <a:lstStyle/>
                    <a:p>
                      <a:pPr algn="r"/>
                      <a:r>
                        <a:rPr sz="1100" b="0">
                          <a:solidFill>
                            <a:srgbClr val="EFEEEE"/>
                          </a:solidFill>
                          <a:latin typeface="Menlo"/>
                        </a:rPr>
                        <a:t>1,697</a:t>
                      </a:r>
                    </a:p>
                  </a:txBody>
                  <a:tcPr marL="73152" marR="73152" marT="18288" marB="18288" anchor="ctr">
                    <a:solidFill>
                      <a:srgbClr val="000000"/>
                    </a:solidFill>
                  </a:tcPr>
                </a:tc>
                <a:tc>
                  <a:txBody>
                    <a:bodyPr wrap="square"/>
                    <a:lstStyle/>
                    <a:p>
                      <a:pPr algn="r"/>
                      <a:r>
                        <a:rPr sz="1100" b="0">
                          <a:solidFill>
                            <a:srgbClr val="EFEEEE"/>
                          </a:solidFill>
                          <a:latin typeface="Menlo"/>
                        </a:rPr>
                        <a:t>1.72M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Mandag</a:t>
                      </a:r>
                    </a:p>
                  </a:txBody>
                  <a:tcPr marL="73152" marR="73152" marT="18288" marB="18288" anchor="ctr">
                    <a:solidFill>
                      <a:srgbClr val="0B0B0B"/>
                    </a:solidFill>
                  </a:tcPr>
                </a:tc>
                <a:tc>
                  <a:txBody>
                    <a:bodyPr wrap="square"/>
                    <a:lstStyle/>
                    <a:p>
                      <a:pPr algn="r"/>
                      <a:r>
                        <a:rPr sz="1100" b="0">
                          <a:solidFill>
                            <a:srgbClr val="EFEEEE"/>
                          </a:solidFill>
                          <a:latin typeface="Menlo"/>
                        </a:rPr>
                        <a:t>64,807</a:t>
                      </a:r>
                    </a:p>
                  </a:txBody>
                  <a:tcPr marL="73152" marR="73152" marT="18288" marB="18288" anchor="ctr">
                    <a:solidFill>
                      <a:srgbClr val="0B0B0B"/>
                    </a:solidFill>
                  </a:tcPr>
                </a:tc>
                <a:tc>
                  <a:txBody>
                    <a:bodyPr wrap="square"/>
                    <a:lstStyle/>
                    <a:p>
                      <a:pPr algn="r"/>
                      <a:r>
                        <a:rPr sz="1100" b="0">
                          <a:solidFill>
                            <a:srgbClr val="EFEEEE"/>
                          </a:solidFill>
                          <a:latin typeface="Menlo"/>
                        </a:rPr>
                        <a:t>1,691</a:t>
                      </a:r>
                    </a:p>
                  </a:txBody>
                  <a:tcPr marL="73152" marR="73152" marT="18288" marB="18288" anchor="ctr">
                    <a:solidFill>
                      <a:srgbClr val="0B0B0B"/>
                    </a:solidFill>
                  </a:tcPr>
                </a:tc>
                <a:tc>
                  <a:txBody>
                    <a:bodyPr wrap="square"/>
                    <a:lstStyle/>
                    <a:p>
                      <a:pPr algn="r"/>
                      <a:r>
                        <a:rPr sz="1100" b="0">
                          <a:solidFill>
                            <a:srgbClr val="EFEEEE"/>
                          </a:solidFill>
                          <a:latin typeface="Menlo"/>
                        </a:rPr>
                        <a:t>1.70M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Torsdag</a:t>
                      </a:r>
                    </a:p>
                  </a:txBody>
                  <a:tcPr marL="73152" marR="73152" marT="18288" marB="18288" anchor="ctr">
                    <a:solidFill>
                      <a:srgbClr val="000000"/>
                    </a:solidFill>
                  </a:tcPr>
                </a:tc>
                <a:tc>
                  <a:txBody>
                    <a:bodyPr wrap="square"/>
                    <a:lstStyle/>
                    <a:p>
                      <a:pPr algn="r"/>
                      <a:r>
                        <a:rPr sz="1100" b="0">
                          <a:solidFill>
                            <a:srgbClr val="EFEEEE"/>
                          </a:solidFill>
                          <a:latin typeface="Menlo"/>
                        </a:rPr>
                        <a:t>58,285</a:t>
                      </a:r>
                    </a:p>
                  </a:txBody>
                  <a:tcPr marL="73152" marR="73152" marT="18288" marB="18288" anchor="ctr">
                    <a:solidFill>
                      <a:srgbClr val="000000"/>
                    </a:solidFill>
                  </a:tcPr>
                </a:tc>
                <a:tc>
                  <a:txBody>
                    <a:bodyPr wrap="square"/>
                    <a:lstStyle/>
                    <a:p>
                      <a:pPr algn="r"/>
                      <a:r>
                        <a:rPr sz="1100" b="0">
                          <a:solidFill>
                            <a:srgbClr val="EFEEEE"/>
                          </a:solidFill>
                          <a:latin typeface="Menlo"/>
                        </a:rPr>
                        <a:t>1,661</a:t>
                      </a:r>
                    </a:p>
                  </a:txBody>
                  <a:tcPr marL="73152" marR="73152" marT="18288" marB="18288" anchor="ctr">
                    <a:solidFill>
                      <a:srgbClr val="000000"/>
                    </a:solidFill>
                  </a:tcPr>
                </a:tc>
                <a:tc>
                  <a:txBody>
                    <a:bodyPr wrap="square"/>
                    <a:lstStyle/>
                    <a:p>
                      <a:pPr algn="r"/>
                      <a:r>
                        <a:rPr sz="1100" b="0">
                          <a:solidFill>
                            <a:srgbClr val="EFEEEE"/>
                          </a:solidFill>
                          <a:latin typeface="Menlo"/>
                        </a:rPr>
                        <a:t>1.69M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Fredag</a:t>
                      </a:r>
                    </a:p>
                  </a:txBody>
                  <a:tcPr marL="73152" marR="73152" marT="18288" marB="18288" anchor="ctr">
                    <a:solidFill>
                      <a:srgbClr val="0B0B0B"/>
                    </a:solidFill>
                  </a:tcPr>
                </a:tc>
                <a:tc>
                  <a:txBody>
                    <a:bodyPr wrap="square"/>
                    <a:lstStyle/>
                    <a:p>
                      <a:pPr algn="r"/>
                      <a:r>
                        <a:rPr sz="1100" b="0">
                          <a:solidFill>
                            <a:srgbClr val="EFEEEE"/>
                          </a:solidFill>
                          <a:latin typeface="Menlo"/>
                        </a:rPr>
                        <a:t>63,686</a:t>
                      </a:r>
                    </a:p>
                  </a:txBody>
                  <a:tcPr marL="73152" marR="73152" marT="18288" marB="18288" anchor="ctr">
                    <a:solidFill>
                      <a:srgbClr val="0B0B0B"/>
                    </a:solidFill>
                  </a:tcPr>
                </a:tc>
                <a:tc>
                  <a:txBody>
                    <a:bodyPr wrap="square"/>
                    <a:lstStyle/>
                    <a:p>
                      <a:pPr algn="r"/>
                      <a:r>
                        <a:rPr sz="1100" b="0">
                          <a:solidFill>
                            <a:srgbClr val="EFEEEE"/>
                          </a:solidFill>
                          <a:latin typeface="Menlo"/>
                        </a:rPr>
                        <a:t>1,610</a:t>
                      </a:r>
                    </a:p>
                  </a:txBody>
                  <a:tcPr marL="73152" marR="73152" marT="18288" marB="18288" anchor="ctr">
                    <a:solidFill>
                      <a:srgbClr val="0B0B0B"/>
                    </a:solidFill>
                  </a:tcPr>
                </a:tc>
                <a:tc>
                  <a:txBody>
                    <a:bodyPr wrap="square"/>
                    <a:lstStyle/>
                    <a:p>
                      <a:pPr algn="r"/>
                      <a:r>
                        <a:rPr sz="1100" b="0">
                          <a:solidFill>
                            <a:srgbClr val="EFEEEE"/>
                          </a:solidFill>
                          <a:latin typeface="Menlo"/>
                        </a:rPr>
                        <a:t>1.61M</a:t>
                      </a:r>
                    </a:p>
                  </a:txBody>
                  <a:tcPr marL="73152" marR="73152" marT="18288" marB="18288" anchor="ctr">
                    <a:solidFill>
                      <a:srgbClr val="0B0B0B"/>
                    </a:solidFill>
                  </a:tcPr>
                </a:tc>
              </a:tr>
              <a:tr h="329184">
                <a:tc>
                  <a:txBody>
                    <a:bodyPr wrap="square"/>
                    <a:lstStyle/>
                    <a:p>
                      <a:pPr algn="l"/>
                      <a:r>
                        <a:rPr sz="1100" b="1">
                          <a:solidFill>
                            <a:srgbClr val="F59E0B"/>
                          </a:solidFill>
                          <a:latin typeface="Helvetica Neue"/>
                        </a:rPr>
                        <a:t>Lørdag</a:t>
                      </a:r>
                    </a:p>
                  </a:txBody>
                  <a:tcPr marL="73152" marR="73152" marT="18288" marB="18288" anchor="ctr">
                    <a:solidFill>
                      <a:srgbClr val="000000"/>
                    </a:solidFill>
                  </a:tcPr>
                </a:tc>
                <a:tc>
                  <a:txBody>
                    <a:bodyPr wrap="square"/>
                    <a:lstStyle/>
                    <a:p>
                      <a:pPr algn="r"/>
                      <a:r>
                        <a:rPr sz="1100" b="0">
                          <a:solidFill>
                            <a:srgbClr val="EFEEEE"/>
                          </a:solidFill>
                          <a:latin typeface="Menlo"/>
                        </a:rPr>
                        <a:t>52,838</a:t>
                      </a:r>
                    </a:p>
                  </a:txBody>
                  <a:tcPr marL="73152" marR="73152" marT="18288" marB="18288" anchor="ctr">
                    <a:solidFill>
                      <a:srgbClr val="000000"/>
                    </a:solidFill>
                  </a:tcPr>
                </a:tc>
                <a:tc>
                  <a:txBody>
                    <a:bodyPr wrap="square"/>
                    <a:lstStyle/>
                    <a:p>
                      <a:pPr algn="r"/>
                      <a:r>
                        <a:rPr sz="1100" b="0">
                          <a:solidFill>
                            <a:srgbClr val="F59E0B"/>
                          </a:solidFill>
                          <a:latin typeface="Menlo"/>
                        </a:rPr>
                        <a:t>1,316</a:t>
                      </a:r>
                    </a:p>
                  </a:txBody>
                  <a:tcPr marL="73152" marR="73152" marT="18288" marB="18288" anchor="ctr">
                    <a:solidFill>
                      <a:srgbClr val="000000"/>
                    </a:solidFill>
                  </a:tcPr>
                </a:tc>
                <a:tc>
                  <a:txBody>
                    <a:bodyPr wrap="square"/>
                    <a:lstStyle/>
                    <a:p>
                      <a:pPr algn="r"/>
                      <a:r>
                        <a:rPr sz="1100" b="0">
                          <a:solidFill>
                            <a:srgbClr val="EFEEEE"/>
                          </a:solidFill>
                          <a:latin typeface="Menlo"/>
                        </a:rPr>
                        <a:t>1.36M</a:t>
                      </a:r>
                    </a:p>
                  </a:txBody>
                  <a:tcPr marL="73152" marR="73152" marT="18288" marB="18288" anchor="ctr">
                    <a:solidFill>
                      <a:srgbClr val="000000"/>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02</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Kundens stemme</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4.7 ud af 5 på 5,985 Trustpilot-anmeldelser. Vi læste 300 ordret for at finde, hvad der driver købet, og hvad der bryder tilliden.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Trustpilot · Verificeret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Et elsket brand med en skarp hale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94% af anmeldelserne ligger på 4 eller 5 stjerner. Den lille negative hale er stærkt koncentreret om ét problem, hvilket gør den meget håndterbar.</a:t>
            </a:r>
          </a:p>
        </p:txBody>
      </p:sp>
      <p:sp>
        <p:nvSpPr>
          <p:cNvPr id="10" name="Rounded Rectangle 9"/>
          <p:cNvSpPr/>
          <p:nvPr/>
        </p:nvSpPr>
        <p:spPr>
          <a:xfrm>
            <a:off x="975207" y="2066544"/>
            <a:ext cx="489204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295144"/>
            <a:ext cx="4343400" cy="274320"/>
          </a:xfrm>
          <a:prstGeom prst="rect">
            <a:avLst/>
          </a:prstGeom>
          <a:noFill/>
        </p:spPr>
        <p:txBody>
          <a:bodyPr wrap="square" lIns="0" rIns="0" tIns="0" bIns="0" anchor="t">
            <a:spAutoFit/>
          </a:bodyPr>
          <a:lstStyle/>
          <a:p>
            <a:pPr algn="l"/>
            <a:r>
              <a:rPr sz="1000" b="1" i="0" spc="150">
                <a:solidFill>
                  <a:srgbClr val="F7D007"/>
                </a:solidFill>
                <a:latin typeface="Helvetica Neue"/>
              </a:rPr>
              <a:t>Vurderingsfordeling (5,985)</a:t>
            </a:r>
          </a:p>
        </p:txBody>
      </p:sp>
      <p:sp>
        <p:nvSpPr>
          <p:cNvPr id="12" name="TextBox 11"/>
          <p:cNvSpPr txBox="1"/>
          <p:nvPr/>
        </p:nvSpPr>
        <p:spPr>
          <a:xfrm>
            <a:off x="1249527" y="2752344"/>
            <a:ext cx="274320" cy="274320"/>
          </a:xfrm>
          <a:prstGeom prst="rect">
            <a:avLst/>
          </a:prstGeom>
          <a:noFill/>
        </p:spPr>
        <p:txBody>
          <a:bodyPr wrap="square" lIns="0" rIns="0" tIns="0" bIns="0" anchor="t">
            <a:spAutoFit/>
          </a:bodyPr>
          <a:lstStyle/>
          <a:p>
            <a:pPr algn="l"/>
            <a:r>
              <a:rPr sz="1100" b="1" i="0">
                <a:solidFill>
                  <a:srgbClr val="CCCCCC"/>
                </a:solidFill>
                <a:latin typeface="Menlo"/>
              </a:rPr>
              <a:t>5</a:t>
            </a:r>
          </a:p>
        </p:txBody>
      </p:sp>
      <p:sp>
        <p:nvSpPr>
          <p:cNvPr id="13" name="Rounded Rectangle 12"/>
          <p:cNvSpPr/>
          <p:nvPr/>
        </p:nvSpPr>
        <p:spPr>
          <a:xfrm>
            <a:off x="1615287" y="28254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615287" y="2825496"/>
            <a:ext cx="2147194" cy="128016"/>
          </a:xfrm>
          <a:prstGeom prst="roundRect">
            <a:avLst>
              <a:gd name="adj" fmla="val 50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4207" y="2752344"/>
            <a:ext cx="1280160" cy="274320"/>
          </a:xfrm>
          <a:prstGeom prst="rect">
            <a:avLst/>
          </a:prstGeom>
          <a:noFill/>
        </p:spPr>
        <p:txBody>
          <a:bodyPr wrap="square" lIns="0" rIns="0" tIns="0" bIns="0" anchor="t">
            <a:spAutoFit/>
          </a:bodyPr>
          <a:lstStyle/>
          <a:p>
            <a:pPr algn="r"/>
            <a:r>
              <a:rPr sz="900" b="0" i="0">
                <a:solidFill>
                  <a:srgbClr val="999999"/>
                </a:solidFill>
                <a:latin typeface="Menlo"/>
              </a:rPr>
              <a:t>4,765 · 80%</a:t>
            </a:r>
          </a:p>
        </p:txBody>
      </p:sp>
      <p:sp>
        <p:nvSpPr>
          <p:cNvPr id="16" name="TextBox 15"/>
          <p:cNvSpPr txBox="1"/>
          <p:nvPr/>
        </p:nvSpPr>
        <p:spPr>
          <a:xfrm>
            <a:off x="1249527" y="3209544"/>
            <a:ext cx="274320" cy="274320"/>
          </a:xfrm>
          <a:prstGeom prst="rect">
            <a:avLst/>
          </a:prstGeom>
          <a:noFill/>
        </p:spPr>
        <p:txBody>
          <a:bodyPr wrap="square" lIns="0" rIns="0" tIns="0" bIns="0" anchor="t">
            <a:spAutoFit/>
          </a:bodyPr>
          <a:lstStyle/>
          <a:p>
            <a:pPr algn="l"/>
            <a:r>
              <a:rPr sz="1100" b="1" i="0">
                <a:solidFill>
                  <a:srgbClr val="CCCCCC"/>
                </a:solidFill>
                <a:latin typeface="Menlo"/>
              </a:rPr>
              <a:t>4</a:t>
            </a:r>
          </a:p>
        </p:txBody>
      </p:sp>
      <p:sp>
        <p:nvSpPr>
          <p:cNvPr id="17" name="Rounded Rectangle 16"/>
          <p:cNvSpPr/>
          <p:nvPr/>
        </p:nvSpPr>
        <p:spPr>
          <a:xfrm>
            <a:off x="1615287" y="32826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615287" y="3282696"/>
            <a:ext cx="385739" cy="128016"/>
          </a:xfrm>
          <a:prstGeom prst="roundRect">
            <a:avLst>
              <a:gd name="adj" fmla="val 50000"/>
            </a:avLst>
          </a:prstGeom>
          <a:solidFill>
            <a:srgbClr val="A3C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3209544"/>
            <a:ext cx="1280160" cy="274320"/>
          </a:xfrm>
          <a:prstGeom prst="rect">
            <a:avLst/>
          </a:prstGeom>
          <a:noFill/>
        </p:spPr>
        <p:txBody>
          <a:bodyPr wrap="square" lIns="0" rIns="0" tIns="0" bIns="0" anchor="t">
            <a:spAutoFit/>
          </a:bodyPr>
          <a:lstStyle/>
          <a:p>
            <a:pPr algn="r"/>
            <a:r>
              <a:rPr sz="900" b="0" i="0">
                <a:solidFill>
                  <a:srgbClr val="999999"/>
                </a:solidFill>
                <a:latin typeface="Menlo"/>
              </a:rPr>
              <a:t>856 · 14%</a:t>
            </a:r>
          </a:p>
        </p:txBody>
      </p:sp>
      <p:sp>
        <p:nvSpPr>
          <p:cNvPr id="20" name="TextBox 19"/>
          <p:cNvSpPr txBox="1"/>
          <p:nvPr/>
        </p:nvSpPr>
        <p:spPr>
          <a:xfrm>
            <a:off x="1249527" y="3666744"/>
            <a:ext cx="274320" cy="27432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1" name="Rounded Rectangle 20"/>
          <p:cNvSpPr/>
          <p:nvPr/>
        </p:nvSpPr>
        <p:spPr>
          <a:xfrm>
            <a:off x="1615287" y="37398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15287" y="3739896"/>
            <a:ext cx="67437" cy="128016"/>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04207" y="3666744"/>
            <a:ext cx="1280160" cy="274320"/>
          </a:xfrm>
          <a:prstGeom prst="rect">
            <a:avLst/>
          </a:prstGeom>
          <a:noFill/>
        </p:spPr>
        <p:txBody>
          <a:bodyPr wrap="square" lIns="0" rIns="0" tIns="0" bIns="0" anchor="t">
            <a:spAutoFit/>
          </a:bodyPr>
          <a:lstStyle/>
          <a:p>
            <a:pPr algn="r"/>
            <a:r>
              <a:rPr sz="900" b="0" i="0">
                <a:solidFill>
                  <a:srgbClr val="999999"/>
                </a:solidFill>
                <a:latin typeface="Menlo"/>
              </a:rPr>
              <a:t>149 · 2.5%</a:t>
            </a:r>
          </a:p>
        </p:txBody>
      </p:sp>
      <p:sp>
        <p:nvSpPr>
          <p:cNvPr id="24" name="TextBox 23"/>
          <p:cNvSpPr txBox="1"/>
          <p:nvPr/>
        </p:nvSpPr>
        <p:spPr>
          <a:xfrm>
            <a:off x="1249527" y="4123944"/>
            <a:ext cx="274320" cy="27432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5" name="Rounded Rectangle 24"/>
          <p:cNvSpPr/>
          <p:nvPr/>
        </p:nvSpPr>
        <p:spPr>
          <a:xfrm>
            <a:off x="1615287" y="41970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15287" y="4197096"/>
            <a:ext cx="53949" cy="128016"/>
          </a:xfrm>
          <a:prstGeom prst="roundRect">
            <a:avLst>
              <a:gd name="adj" fmla="val 5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4207" y="4123944"/>
            <a:ext cx="1280160" cy="274320"/>
          </a:xfrm>
          <a:prstGeom prst="rect">
            <a:avLst/>
          </a:prstGeom>
          <a:noFill/>
        </p:spPr>
        <p:txBody>
          <a:bodyPr wrap="square" lIns="0" rIns="0" tIns="0" bIns="0" anchor="t">
            <a:spAutoFit/>
          </a:bodyPr>
          <a:lstStyle/>
          <a:p>
            <a:pPr algn="r"/>
            <a:r>
              <a:rPr sz="900" b="0" i="0">
                <a:solidFill>
                  <a:srgbClr val="999999"/>
                </a:solidFill>
                <a:latin typeface="Menlo"/>
              </a:rPr>
              <a:t>62 · 1%</a:t>
            </a:r>
          </a:p>
        </p:txBody>
      </p:sp>
      <p:sp>
        <p:nvSpPr>
          <p:cNvPr id="28" name="TextBox 27"/>
          <p:cNvSpPr txBox="1"/>
          <p:nvPr/>
        </p:nvSpPr>
        <p:spPr>
          <a:xfrm>
            <a:off x="1249527" y="4581144"/>
            <a:ext cx="274320" cy="274320"/>
          </a:xfrm>
          <a:prstGeom prst="rect">
            <a:avLst/>
          </a:prstGeom>
          <a:noFill/>
        </p:spPr>
        <p:txBody>
          <a:bodyPr wrap="square" lIns="0" rIns="0" tIns="0" bIns="0" anchor="t">
            <a:spAutoFit/>
          </a:bodyPr>
          <a:lstStyle/>
          <a:p>
            <a:pPr algn="l"/>
            <a:r>
              <a:rPr sz="1100" b="1" i="0">
                <a:solidFill>
                  <a:srgbClr val="CCCCCC"/>
                </a:solidFill>
                <a:latin typeface="Menlo"/>
              </a:rPr>
              <a:t>1</a:t>
            </a:r>
          </a:p>
        </p:txBody>
      </p:sp>
      <p:sp>
        <p:nvSpPr>
          <p:cNvPr id="29" name="Rounded Rectangle 28"/>
          <p:cNvSpPr/>
          <p:nvPr/>
        </p:nvSpPr>
        <p:spPr>
          <a:xfrm>
            <a:off x="1615287" y="46542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615287" y="4654296"/>
            <a:ext cx="70134" cy="128016"/>
          </a:xfrm>
          <a:prstGeom prst="roundRect">
            <a:avLst>
              <a:gd name="adj" fmla="val 5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4207" y="4581144"/>
            <a:ext cx="1280160" cy="274320"/>
          </a:xfrm>
          <a:prstGeom prst="rect">
            <a:avLst/>
          </a:prstGeom>
          <a:noFill/>
        </p:spPr>
        <p:txBody>
          <a:bodyPr wrap="square" lIns="0" rIns="0" tIns="0" bIns="0" anchor="t">
            <a:spAutoFit/>
          </a:bodyPr>
          <a:lstStyle/>
          <a:p>
            <a:pPr algn="r"/>
            <a:r>
              <a:rPr sz="900" b="0" i="0">
                <a:solidFill>
                  <a:srgbClr val="999999"/>
                </a:solidFill>
                <a:latin typeface="Menlo"/>
              </a:rPr>
              <a:t>153 · 2.6%</a:t>
            </a:r>
          </a:p>
        </p:txBody>
      </p:sp>
      <p:sp>
        <p:nvSpPr>
          <p:cNvPr id="32" name="Rounded Rectangle 31"/>
          <p:cNvSpPr/>
          <p:nvPr/>
        </p:nvSpPr>
        <p:spPr>
          <a:xfrm>
            <a:off x="6324447" y="2066544"/>
            <a:ext cx="489204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447" y="2432304"/>
            <a:ext cx="4892040" cy="640080"/>
          </a:xfrm>
          <a:prstGeom prst="rect">
            <a:avLst/>
          </a:prstGeom>
          <a:noFill/>
        </p:spPr>
        <p:txBody>
          <a:bodyPr wrap="square" lIns="0" rIns="0" tIns="0" bIns="0" anchor="t">
            <a:spAutoFit/>
          </a:bodyPr>
          <a:lstStyle/>
          <a:p>
            <a:pPr algn="ctr"/>
            <a:r>
              <a:rPr sz="4400" b="1" i="0">
                <a:solidFill>
                  <a:srgbClr val="F7D007"/>
                </a:solidFill>
                <a:latin typeface="Menlo"/>
              </a:rPr>
              <a:t>4.7</a:t>
            </a:r>
          </a:p>
        </p:txBody>
      </p:sp>
      <p:sp>
        <p:nvSpPr>
          <p:cNvPr id="34" name="TextBox 33"/>
          <p:cNvSpPr txBox="1"/>
          <p:nvPr/>
        </p:nvSpPr>
        <p:spPr>
          <a:xfrm>
            <a:off x="6324447" y="3090672"/>
            <a:ext cx="4892040" cy="274320"/>
          </a:xfrm>
          <a:prstGeom prst="rect">
            <a:avLst/>
          </a:prstGeom>
          <a:noFill/>
        </p:spPr>
        <p:txBody>
          <a:bodyPr wrap="square" lIns="0" rIns="0" tIns="0" bIns="0" anchor="t">
            <a:spAutoFit/>
          </a:bodyPr>
          <a:lstStyle/>
          <a:p>
            <a:pPr algn="ctr"/>
            <a:r>
              <a:rPr sz="900" b="0" i="0" spc="100">
                <a:solidFill>
                  <a:srgbClr val="999999"/>
                </a:solidFill>
                <a:latin typeface="Helvetica Neue"/>
              </a:rPr>
              <a:t>TrustScore · "Utmärkt"</a:t>
            </a:r>
          </a:p>
        </p:txBody>
      </p:sp>
      <p:sp>
        <p:nvSpPr>
          <p:cNvPr id="35" name="TextBox 34"/>
          <p:cNvSpPr txBox="1"/>
          <p:nvPr/>
        </p:nvSpPr>
        <p:spPr>
          <a:xfrm>
            <a:off x="6598767" y="3529584"/>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Hurtig levering, når den virker</a:t>
            </a:r>
          </a:p>
        </p:txBody>
      </p:sp>
      <p:sp>
        <p:nvSpPr>
          <p:cNvPr id="36" name="TextBox 35"/>
          <p:cNvSpPr txBox="1"/>
          <p:nvPr/>
        </p:nvSpPr>
        <p:spPr>
          <a:xfrm>
            <a:off x="10119207" y="3529584"/>
            <a:ext cx="822960" cy="274320"/>
          </a:xfrm>
          <a:prstGeom prst="rect">
            <a:avLst/>
          </a:prstGeom>
          <a:noFill/>
        </p:spPr>
        <p:txBody>
          <a:bodyPr wrap="square" lIns="0" rIns="0" tIns="0" bIns="0" anchor="t">
            <a:spAutoFit/>
          </a:bodyPr>
          <a:lstStyle/>
          <a:p>
            <a:pPr algn="r"/>
            <a:r>
              <a:rPr sz="1100" b="1" i="0">
                <a:solidFill>
                  <a:srgbClr val="22C55E"/>
                </a:solidFill>
                <a:latin typeface="Menlo"/>
              </a:rPr>
              <a:t>36%</a:t>
            </a:r>
          </a:p>
        </p:txBody>
      </p:sp>
      <p:sp>
        <p:nvSpPr>
          <p:cNvPr id="37" name="TextBox 36"/>
          <p:cNvSpPr txBox="1"/>
          <p:nvPr/>
        </p:nvSpPr>
        <p:spPr>
          <a:xfrm>
            <a:off x="6598767" y="3877056"/>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Nemt at bestille, glat site</a:t>
            </a:r>
          </a:p>
        </p:txBody>
      </p:sp>
      <p:sp>
        <p:nvSpPr>
          <p:cNvPr id="38" name="TextBox 37"/>
          <p:cNvSpPr txBox="1"/>
          <p:nvPr/>
        </p:nvSpPr>
        <p:spPr>
          <a:xfrm>
            <a:off x="10119207" y="3877056"/>
            <a:ext cx="822960" cy="274320"/>
          </a:xfrm>
          <a:prstGeom prst="rect">
            <a:avLst/>
          </a:prstGeom>
          <a:noFill/>
        </p:spPr>
        <p:txBody>
          <a:bodyPr wrap="square" lIns="0" rIns="0" tIns="0" bIns="0" anchor="t">
            <a:spAutoFit/>
          </a:bodyPr>
          <a:lstStyle/>
          <a:p>
            <a:pPr algn="r"/>
            <a:r>
              <a:rPr sz="1100" b="1" i="0">
                <a:solidFill>
                  <a:srgbClr val="22C55E"/>
                </a:solidFill>
                <a:latin typeface="Menlo"/>
              </a:rPr>
              <a:t>34%</a:t>
            </a:r>
          </a:p>
        </p:txBody>
      </p:sp>
      <p:sp>
        <p:nvSpPr>
          <p:cNvPr id="39" name="TextBox 38"/>
          <p:cNvSpPr txBox="1"/>
          <p:nvPr/>
        </p:nvSpPr>
        <p:spPr>
          <a:xfrm>
            <a:off x="6598767" y="4224528"/>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Pris og værdi ("prisvärt")</a:t>
            </a:r>
          </a:p>
        </p:txBody>
      </p:sp>
      <p:sp>
        <p:nvSpPr>
          <p:cNvPr id="40" name="TextBox 39"/>
          <p:cNvSpPr txBox="1"/>
          <p:nvPr/>
        </p:nvSpPr>
        <p:spPr>
          <a:xfrm>
            <a:off x="10119207" y="4224528"/>
            <a:ext cx="822960" cy="274320"/>
          </a:xfrm>
          <a:prstGeom prst="rect">
            <a:avLst/>
          </a:prstGeom>
          <a:noFill/>
        </p:spPr>
        <p:txBody>
          <a:bodyPr wrap="square" lIns="0" rIns="0" tIns="0" bIns="0" anchor="t">
            <a:spAutoFit/>
          </a:bodyPr>
          <a:lstStyle/>
          <a:p>
            <a:pPr algn="r"/>
            <a:r>
              <a:rPr sz="1100" b="1" i="0">
                <a:solidFill>
                  <a:srgbClr val="22C55E"/>
                </a:solidFill>
                <a:latin typeface="Menlo"/>
              </a:rPr>
              <a:t>28%</a:t>
            </a:r>
          </a:p>
        </p:txBody>
      </p:sp>
      <p:sp>
        <p:nvSpPr>
          <p:cNvPr id="41" name="TextBox 40"/>
          <p:cNvSpPr txBox="1"/>
          <p:nvPr/>
        </p:nvSpPr>
        <p:spPr>
          <a:xfrm>
            <a:off x="6598767" y="4572000"/>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Kærlighed til discovery-kasser</a:t>
            </a:r>
          </a:p>
        </p:txBody>
      </p:sp>
      <p:sp>
        <p:nvSpPr>
          <p:cNvPr id="42" name="TextBox 41"/>
          <p:cNvSpPr txBox="1"/>
          <p:nvPr/>
        </p:nvSpPr>
        <p:spPr>
          <a:xfrm>
            <a:off x="10119207" y="4572000"/>
            <a:ext cx="822960" cy="274320"/>
          </a:xfrm>
          <a:prstGeom prst="rect">
            <a:avLst/>
          </a:prstGeom>
          <a:noFill/>
        </p:spPr>
        <p:txBody>
          <a:bodyPr wrap="square" lIns="0" rIns="0" tIns="0" bIns="0" anchor="t">
            <a:spAutoFit/>
          </a:bodyPr>
          <a:lstStyle/>
          <a:p>
            <a:pPr algn="r"/>
            <a:r>
              <a:rPr sz="1100" b="1" i="0">
                <a:solidFill>
                  <a:srgbClr val="22C55E"/>
                </a:solidFill>
                <a:latin typeface="Menlo"/>
              </a:rPr>
              <a:t>21%</a:t>
            </a:r>
          </a:p>
        </p:txBody>
      </p:sp>
      <p:sp>
        <p:nvSpPr>
          <p:cNvPr id="43" name="TextBox 42"/>
          <p:cNvSpPr txBox="1"/>
          <p:nvPr/>
        </p:nvSpPr>
        <p:spPr>
          <a:xfrm>
            <a:off x="6598767" y="4919472"/>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Vinkvalitet ("goda viner")</a:t>
            </a:r>
          </a:p>
        </p:txBody>
      </p:sp>
      <p:sp>
        <p:nvSpPr>
          <p:cNvPr id="44" name="TextBox 43"/>
          <p:cNvSpPr txBox="1"/>
          <p:nvPr/>
        </p:nvSpPr>
        <p:spPr>
          <a:xfrm>
            <a:off x="10119207" y="4919472"/>
            <a:ext cx="822960" cy="274320"/>
          </a:xfrm>
          <a:prstGeom prst="rect">
            <a:avLst/>
          </a:prstGeom>
          <a:noFill/>
        </p:spPr>
        <p:txBody>
          <a:bodyPr wrap="square" lIns="0" rIns="0" tIns="0" bIns="0" anchor="t">
            <a:spAutoFit/>
          </a:bodyPr>
          <a:lstStyle/>
          <a:p>
            <a:pPr algn="r"/>
            <a:r>
              <a:rPr sz="1100" b="1" i="0">
                <a:solidFill>
                  <a:srgbClr val="22C55E"/>
                </a:solidFill>
                <a:latin typeface="Menlo"/>
              </a:rPr>
              <a:t>20%</a:t>
            </a:r>
          </a:p>
        </p:txBody>
      </p:sp>
      <p:sp>
        <p:nvSpPr>
          <p:cNvPr id="45" name="TextBox 44"/>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Temaprocenter gælder inden for de udvalgte anmeldelser, ikke butiksdækkende rater. De officielle totaler (4.7, 5,985, fordeling) er Trustpilots egne.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Kundens stemme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Hvorfor folk køber (med deres egne ord)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Denne tekst lever allerede i jeres anmeldelser. Den er stærkere end nogen marketinglinje, fordi det er kunden, der sætter værdien op mod Systembolaget.</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"Smidigt, enkelt, prisvärt, bra viner mm! ... Dessutom inga begränsade öppettider att förhålla sig till."</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Glat, nemt, god værdi, gode vine. Og ingen begrænsede åbningstider at forholde sig til.</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kundnamn · 4 stars · 2026-07-16</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"Är så skönt med färdiga bland lådor av viner, man har stor chans att hitta nya favoriter som man annars missar."</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Færdigsammensatte blandede kasser giver en reel chance for at finde nye favoritter, man ellers ville gå glip af.</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Ritva Nilsson · 5 stars · 2026-07-13</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"...trevligt att smaka viner från mindre kända vingårdar!"</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Dejligt at prøve vine fra mindre kendte vingårde til overkommelige priser.</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Martin Åström · 5 stars · 2026-07-09</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"Mycket goda alkoholfria alternativ, såväl vitt vin som mousserande."</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Meget gode alkoholfrie muligheder, både hvid og mousserende. Et nicheagtigt, men loyalt segment.</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Sari Andersson · 5 stars · 2026-07-07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Kundens stemme · Kerneproblemet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"1-3 dagar" bryder tilliden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Forsiden lover levering på 1 til 3 dage 8 steder. Kunder rapporterer gentagne gange 7 til 16 dage. Dette ene gab driver hele den negative hale.</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"1-3 dagars leverans står det. Just nu väntat i 11 dagar utan veta när leverans kommer komma. Var skeptisk, men ville ändå testa. Första och sista gången tyvärr."</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Sitet siger 1-3 dage. Ventede 11 dage uden ETA. Var skeptisk, men prøvede. Første og sidste gang.</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Sebastian Svahn · 1 star · 2026-05-14</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"Vilseledande marknadsföring! Leverans som aldrig är 1-3 dagar som det står på sidan. Andra gången jag beställer inför en stor fest och andra gången det blir försenat..."</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Vildledende markedsføring. Levering er aldrig de 1-3 dage, sitet hævder. Anden gang for sent før en stor fest.</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"Bra priser och ok viner men ett väldigt stort problem med leveranstider. Dittvin utlovar 1-3 dagars leverans men det är snarare 10-13. Trust me."</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Gode priser og ok vine, men et stort problem med leveringstid. Lover 1-3 dage, men det er nærmere 10-13.</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Mattias Bedding · 2 stars · 2026-04-16</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"Ska levereras mellan 17-22 vart försenat till 23 sen 5 minuter innan leverans så avbryts leveransen!"</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Skulle ankomme 17-22, udskudt til 23, derefter aflyst 5 minutter før levering. Alkohol kræver, at nogen er hjemme.</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86% af de udvalgte klager nævner levering. 31% henviser til det brudte "1-3 dagar"-løfte. 23% beskriver problemet med at være hjemme / aflyst tidsvindue. Flere er genkøbere, der falder fra udelukkende på grund af levering.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Kundens stemme · Sekundære friktioner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Kvalitetstvivl og robotservice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To mindre, men omdømmemæssigt skarpe temaer, som en stærkere produktside og et hurtigere menneskeligt svar ville neutralisere.</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"Köpte ett paket med 12 så kallade kvalitetsviner. Flertalet var knappt drickbara och sämre än de billigare på systemet. Rabatten uppgavs vara 57%."</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Købte 12 såkaldte kvalitetsvine. Flere knap drikkelige og værre end Systembolagets budget. Hævdede 57% rabat.</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Consumer · 2 stars · Quality + discount credibility</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"Vinerna smakar som saft."</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Vinene smager som saft. Underminerer "kvalitetsviner"-positioneringen. 14% af klagerne nævner smag.</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Harry Frank · 2 stars · 2026-06-21</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"Kundservice är ett automatiskt AI svar som 'beklagar och ska ta din feedback med oss'."</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Kundeservice er et automatisk AI-svar, der undskylder og noterer feedbacken. 38% af klagerne nævner service.</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"En flaska var skadad, dom löste det snabbt och lätt. Mycket bra återkoppling på mejl."</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En flaske var beskadiget, løst hurtigt. God e-mailopfølgning. Når service er hurtig, bliver den en grund til 5 stjerner.</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Bengt Angséus · 5 stars · 2026-07-15</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Påstanden om 57% rabat på vine, der er vurderet under Systembolagets budget, er også en svensk prismarkedsføringsrisiko. Kontrollér, at før-priserne er reelle referencepriser.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Den største tøven før købet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Du kan ikke smage før du køber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Smag er den største tøven ved onlinevin. Alle kan lide noget forskelligt (tørt eller sødt, let eller fyldigt, frugtigt eller bittert), og ingen kan smage før de køber. Når smagen er et gamble, tøver folk, falder tilbage på pris og vælger ofte en vin, de ikke nyder, og giver så butikken skylden. Vis smagen tydeligt fra start, og hver køber vælger en vin, de faktisk vil elske.</a:t>
            </a:r>
          </a:p>
        </p:txBody>
      </p:sp>
      <p:sp>
        <p:nvSpPr>
          <p:cNvPr id="10" name="Rounded Rectangle 9"/>
          <p:cNvSpPr/>
          <p:nvPr/>
        </p:nvSpPr>
        <p:spPr>
          <a:xfrm>
            <a:off x="792327" y="2724912"/>
            <a:ext cx="5074920" cy="35661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953512"/>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Problemet, i jeres egne anmeldelser</a:t>
            </a:r>
          </a:p>
        </p:txBody>
      </p:sp>
      <p:sp>
        <p:nvSpPr>
          <p:cNvPr id="12" name="TextBox 11"/>
          <p:cNvSpPr txBox="1"/>
          <p:nvPr/>
        </p:nvSpPr>
        <p:spPr>
          <a:xfrm>
            <a:off x="1066647" y="3227832"/>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At købe i blinde fører til den forkerte flaske</a:t>
            </a:r>
          </a:p>
        </p:txBody>
      </p:sp>
      <p:sp>
        <p:nvSpPr>
          <p:cNvPr id="13" name="TextBox 12"/>
          <p:cNvSpPr txBox="1"/>
          <p:nvPr/>
        </p:nvSpPr>
        <p:spPr>
          <a:xfrm>
            <a:off x="1066647" y="3657600"/>
            <a:ext cx="4526280" cy="1005840"/>
          </a:xfrm>
          <a:prstGeom prst="rect">
            <a:avLst/>
          </a:prstGeom>
          <a:noFill/>
        </p:spPr>
        <p:txBody>
          <a:bodyPr wrap="square" lIns="0" rIns="0" tIns="0" bIns="0" anchor="t">
            <a:spAutoFit/>
          </a:bodyPr>
          <a:lstStyle/>
          <a:p>
            <a:pPr algn="l"/>
            <a:r>
              <a:rPr sz="1100" b="0" i="0">
                <a:solidFill>
                  <a:srgbClr val="CCCCCC"/>
                </a:solidFill>
                <a:latin typeface="Helvetica Neue"/>
              </a:rPr>
              <a:t>14% af klagerne handler om smag. En boks med 12 ukendte vine er et tillidsspring, så pris og rabat bliver det eneste, man kan gå efter. Når vinen ikke matcher det, nogen forventede, føler de sig skuffede, selv når det er en god vin. Denne køber ville have noget tørrere. Med en simpel smagsprofil ville de have valgt en anden vin og været tilfredse.</a:t>
            </a:r>
          </a:p>
        </p:txBody>
      </p:sp>
      <p:sp>
        <p:nvSpPr>
          <p:cNvPr id="14" name="Rounded Rectangle 13"/>
          <p:cNvSpPr/>
          <p:nvPr/>
        </p:nvSpPr>
        <p:spPr>
          <a:xfrm>
            <a:off x="1066647" y="4782312"/>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4837176"/>
            <a:ext cx="4251960" cy="457200"/>
          </a:xfrm>
          <a:prstGeom prst="rect">
            <a:avLst/>
          </a:prstGeom>
          <a:noFill/>
        </p:spPr>
        <p:txBody>
          <a:bodyPr wrap="square" lIns="0" rIns="0" tIns="0" bIns="0" anchor="ctr">
            <a:spAutoFit/>
          </a:bodyPr>
          <a:lstStyle/>
          <a:p>
            <a:pPr algn="l"/>
            <a:r>
              <a:rPr sz="1000" b="0" i="1">
                <a:solidFill>
                  <a:srgbClr val="EFEEEE"/>
                </a:solidFill>
                <a:latin typeface="Helvetica Neue"/>
              </a:rPr>
              <a:t>"Vinerna smakar som saft" (the wines taste like juice)</a:t>
            </a:r>
          </a:p>
        </p:txBody>
      </p:sp>
      <p:sp>
        <p:nvSpPr>
          <p:cNvPr id="16" name="Rounded Rectangle 15"/>
          <p:cNvSpPr/>
          <p:nvPr/>
        </p:nvSpPr>
        <p:spPr>
          <a:xfrm>
            <a:off x="1066647" y="5458968"/>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3807" y="5513832"/>
            <a:ext cx="4251960" cy="457200"/>
          </a:xfrm>
          <a:prstGeom prst="rect">
            <a:avLst/>
          </a:prstGeom>
          <a:noFill/>
        </p:spPr>
        <p:txBody>
          <a:bodyPr wrap="square" lIns="0" rIns="0" tIns="0" bIns="0" anchor="ctr">
            <a:spAutoFit/>
          </a:bodyPr>
          <a:lstStyle/>
          <a:p>
            <a:pPr algn="l"/>
            <a:r>
              <a:rPr sz="1000" b="0" i="1">
                <a:solidFill>
                  <a:srgbClr val="EFEEEE"/>
                </a:solidFill>
                <a:latin typeface="Helvetica Neue"/>
              </a:rPr>
              <a:t>"Jag saknar en beskrivning av respektive vin och vad det passar till." (I miss a description of each wine and what it pairs with)</a:t>
            </a:r>
          </a:p>
        </p:txBody>
      </p:sp>
      <p:sp>
        <p:nvSpPr>
          <p:cNvPr id="18" name="Rounded Rectangle 17"/>
          <p:cNvSpPr/>
          <p:nvPr/>
        </p:nvSpPr>
        <p:spPr>
          <a:xfrm>
            <a:off x="6324447" y="2724912"/>
            <a:ext cx="5074920" cy="35661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2953512"/>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Løsningen: en smagsprofil på hver vin og kasse</a:t>
            </a:r>
          </a:p>
        </p:txBody>
      </p:sp>
      <p:sp>
        <p:nvSpPr>
          <p:cNvPr id="20" name="TextBox 19"/>
          <p:cNvSpPr txBox="1"/>
          <p:nvPr/>
        </p:nvSpPr>
        <p:spPr>
          <a:xfrm>
            <a:off x="6598767" y="3227832"/>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Vis smagen før købet</a:t>
            </a:r>
          </a:p>
        </p:txBody>
      </p:sp>
      <p:sp>
        <p:nvSpPr>
          <p:cNvPr id="21" name="TextBox 20"/>
          <p:cNvSpPr txBox="1"/>
          <p:nvPr/>
        </p:nvSpPr>
        <p:spPr>
          <a:xfrm>
            <a:off x="6598767" y="3776472"/>
            <a:ext cx="1828800" cy="219456"/>
          </a:xfrm>
          <a:prstGeom prst="rect">
            <a:avLst/>
          </a:prstGeom>
          <a:noFill/>
        </p:spPr>
        <p:txBody>
          <a:bodyPr wrap="square" lIns="0" rIns="0" tIns="0" bIns="0" anchor="t">
            <a:spAutoFit/>
          </a:bodyPr>
          <a:lstStyle/>
          <a:p>
            <a:pPr algn="l"/>
            <a:r>
              <a:rPr sz="1000" b="1" i="0">
                <a:solidFill>
                  <a:srgbClr val="999999"/>
                </a:solidFill>
                <a:latin typeface="Helvetica Neue"/>
              </a:rPr>
              <a:t>Torrt</a:t>
            </a:r>
          </a:p>
        </p:txBody>
      </p:sp>
      <p:sp>
        <p:nvSpPr>
          <p:cNvPr id="22" name="TextBox 21"/>
          <p:cNvSpPr txBox="1"/>
          <p:nvPr/>
        </p:nvSpPr>
        <p:spPr>
          <a:xfrm>
            <a:off x="9296247" y="3776472"/>
            <a:ext cx="1828800" cy="219456"/>
          </a:xfrm>
          <a:prstGeom prst="rect">
            <a:avLst/>
          </a:prstGeom>
          <a:noFill/>
        </p:spPr>
        <p:txBody>
          <a:bodyPr wrap="square" lIns="0" rIns="0" tIns="0" bIns="0" anchor="t">
            <a:spAutoFit/>
          </a:bodyPr>
          <a:lstStyle/>
          <a:p>
            <a:pPr algn="r"/>
            <a:r>
              <a:rPr sz="1000" b="1" i="0">
                <a:solidFill>
                  <a:srgbClr val="999999"/>
                </a:solidFill>
                <a:latin typeface="Helvetica Neue"/>
              </a:rPr>
              <a:t>Sött</a:t>
            </a:r>
          </a:p>
        </p:txBody>
      </p:sp>
      <p:sp>
        <p:nvSpPr>
          <p:cNvPr id="23" name="Rounded Rectangle 22"/>
          <p:cNvSpPr/>
          <p:nvPr/>
        </p:nvSpPr>
        <p:spPr>
          <a:xfrm>
            <a:off x="6598767" y="4050792"/>
            <a:ext cx="4526280" cy="109728"/>
          </a:xfrm>
          <a:prstGeom prst="roundRect">
            <a:avLst>
              <a:gd name="adj" fmla="val 50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883499" y="3995928"/>
            <a:ext cx="182880" cy="182880"/>
          </a:xfrm>
          <a:prstGeom prst="ellipse">
            <a:avLst/>
          </a:prstGeom>
          <a:solidFill>
            <a:srgbClr val="F7D007"/>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8767" y="4398264"/>
            <a:ext cx="1828800" cy="219456"/>
          </a:xfrm>
          <a:prstGeom prst="rect">
            <a:avLst/>
          </a:prstGeom>
          <a:noFill/>
        </p:spPr>
        <p:txBody>
          <a:bodyPr wrap="square" lIns="0" rIns="0" tIns="0" bIns="0" anchor="t">
            <a:spAutoFit/>
          </a:bodyPr>
          <a:lstStyle/>
          <a:p>
            <a:pPr algn="l"/>
            <a:r>
              <a:rPr sz="1000" b="1" i="0">
                <a:solidFill>
                  <a:srgbClr val="999999"/>
                </a:solidFill>
                <a:latin typeface="Helvetica Neue"/>
              </a:rPr>
              <a:t>Lätt</a:t>
            </a:r>
          </a:p>
        </p:txBody>
      </p:sp>
      <p:sp>
        <p:nvSpPr>
          <p:cNvPr id="26" name="TextBox 25"/>
          <p:cNvSpPr txBox="1"/>
          <p:nvPr/>
        </p:nvSpPr>
        <p:spPr>
          <a:xfrm>
            <a:off x="9296247" y="4398264"/>
            <a:ext cx="1828800" cy="219456"/>
          </a:xfrm>
          <a:prstGeom prst="rect">
            <a:avLst/>
          </a:prstGeom>
          <a:noFill/>
        </p:spPr>
        <p:txBody>
          <a:bodyPr wrap="square" lIns="0" rIns="0" tIns="0" bIns="0" anchor="t">
            <a:spAutoFit/>
          </a:bodyPr>
          <a:lstStyle/>
          <a:p>
            <a:pPr algn="r"/>
            <a:r>
              <a:rPr sz="1000" b="1" i="0">
                <a:solidFill>
                  <a:srgbClr val="999999"/>
                </a:solidFill>
                <a:latin typeface="Helvetica Neue"/>
              </a:rPr>
              <a:t>Fylligt</a:t>
            </a:r>
          </a:p>
        </p:txBody>
      </p:sp>
      <p:sp>
        <p:nvSpPr>
          <p:cNvPr id="27" name="Rounded Rectangle 26"/>
          <p:cNvSpPr/>
          <p:nvPr/>
        </p:nvSpPr>
        <p:spPr>
          <a:xfrm>
            <a:off x="6598767" y="4672584"/>
            <a:ext cx="4526280" cy="109728"/>
          </a:xfrm>
          <a:prstGeom prst="roundRect">
            <a:avLst>
              <a:gd name="adj" fmla="val 50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3485" y="4617720"/>
            <a:ext cx="182880" cy="182880"/>
          </a:xfrm>
          <a:prstGeom prst="ellipse">
            <a:avLst/>
          </a:prstGeom>
          <a:solidFill>
            <a:srgbClr val="F7D007"/>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98767" y="5020056"/>
            <a:ext cx="11430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8767" y="5020056"/>
            <a:ext cx="1143000" cy="292608"/>
          </a:xfrm>
          <a:prstGeom prst="rect">
            <a:avLst/>
          </a:prstGeom>
          <a:noFill/>
        </p:spPr>
        <p:txBody>
          <a:bodyPr wrap="square" lIns="0" rIns="0" tIns="0" bIns="0" anchor="ctr">
            <a:spAutoFit/>
          </a:bodyPr>
          <a:lstStyle/>
          <a:p>
            <a:pPr algn="ctr"/>
            <a:r>
              <a:rPr sz="900" b="1" i="0" spc="50">
                <a:solidFill>
                  <a:srgbClr val="EFEEEE"/>
                </a:solidFill>
                <a:latin typeface="Helvetica Neue"/>
              </a:rPr>
              <a:t>Mörka bär</a:t>
            </a:r>
          </a:p>
        </p:txBody>
      </p:sp>
      <p:sp>
        <p:nvSpPr>
          <p:cNvPr id="31" name="Rounded Rectangle 30"/>
          <p:cNvSpPr/>
          <p:nvPr/>
        </p:nvSpPr>
        <p:spPr>
          <a:xfrm>
            <a:off x="7851495" y="5020056"/>
            <a:ext cx="96012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51495" y="5020056"/>
            <a:ext cx="960120" cy="292608"/>
          </a:xfrm>
          <a:prstGeom prst="rect">
            <a:avLst/>
          </a:prstGeom>
          <a:noFill/>
        </p:spPr>
        <p:txBody>
          <a:bodyPr wrap="square" lIns="0" rIns="0" tIns="0" bIns="0" anchor="ctr">
            <a:spAutoFit/>
          </a:bodyPr>
          <a:lstStyle/>
          <a:p>
            <a:pPr algn="ctr"/>
            <a:r>
              <a:rPr sz="900" b="1" i="0" spc="50">
                <a:solidFill>
                  <a:srgbClr val="EFEEEE"/>
                </a:solidFill>
                <a:latin typeface="Helvetica Neue"/>
              </a:rPr>
              <a:t>Kryddig</a:t>
            </a:r>
          </a:p>
        </p:txBody>
      </p:sp>
      <p:sp>
        <p:nvSpPr>
          <p:cNvPr id="33" name="Rounded Rectangle 32"/>
          <p:cNvSpPr/>
          <p:nvPr/>
        </p:nvSpPr>
        <p:spPr>
          <a:xfrm>
            <a:off x="8921343" y="5020056"/>
            <a:ext cx="16002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21343" y="5020056"/>
            <a:ext cx="1600200" cy="292608"/>
          </a:xfrm>
          <a:prstGeom prst="rect">
            <a:avLst/>
          </a:prstGeom>
          <a:noFill/>
        </p:spPr>
        <p:txBody>
          <a:bodyPr wrap="square" lIns="0" rIns="0" tIns="0" bIns="0" anchor="ctr">
            <a:spAutoFit/>
          </a:bodyPr>
          <a:lstStyle/>
          <a:p>
            <a:pPr algn="ctr"/>
            <a:r>
              <a:rPr sz="900" b="1" i="0" spc="50">
                <a:solidFill>
                  <a:srgbClr val="EFEEEE"/>
                </a:solidFill>
                <a:latin typeface="Helvetica Neue"/>
              </a:rPr>
              <a:t>Mjuka tanniner</a:t>
            </a:r>
          </a:p>
        </p:txBody>
      </p:sp>
      <p:sp>
        <p:nvSpPr>
          <p:cNvPr id="35" name="TextBox 34"/>
          <p:cNvSpPr txBox="1"/>
          <p:nvPr/>
        </p:nvSpPr>
        <p:spPr>
          <a:xfrm>
            <a:off x="6598767" y="5833872"/>
            <a:ext cx="4526280" cy="320040"/>
          </a:xfrm>
          <a:prstGeom prst="rect">
            <a:avLst/>
          </a:prstGeom>
          <a:noFill/>
        </p:spPr>
        <p:txBody>
          <a:bodyPr wrap="square" lIns="0" rIns="0" tIns="0" bIns="0" anchor="t">
            <a:spAutoFit/>
          </a:bodyPr>
          <a:lstStyle/>
          <a:p>
            <a:pPr algn="l"/>
            <a:r>
              <a:rPr sz="1000" b="1" i="0">
                <a:solidFill>
                  <a:srgbClr val="CCCCCC"/>
                </a:solidFill>
                <a:latin typeface="Helvetica Neue"/>
              </a:rPr>
              <a:t>Vivino 4,1Passar till grillat kött, pasta</a:t>
            </a:r>
          </a:p>
        </p:txBody>
      </p:sp>
      <p:sp>
        <p:nvSpPr>
          <p:cNvPr id="36" name="TextBox 3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Den indholdsrettelse med størst løftestang på en vin-produktside. En smagsprofil (tørt til sødt, let til fyldigt, enkle smagsnoter, den Vivino-score I allerede har, og madparring), plus en kort "hitta din smak" smagsmatch-quiz, gør en blind boks til et informeret valg. Hver køber vælger selv den stil, de kan lide, hvilket løfter læg i kurv, driver boks-stigen og skærer ned på både "smakar som saft"-klagerne og de returneringer, de forårsager.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22</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03</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Tillidsligningen</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I svensk onlinealkohol afgør to løftestænger det første køb: er det lovligt, og kommer det frem. dittvin er tavs om det første og upålidelig på det andet.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Markedskontekst · Størst løftestang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Ingen fortalte svenskeren, at det er lovligt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Sverige driver Systembolaget-monopolet. dittvin sender lovligt som grænseoverskridende dansk privatimportør (Vinhuset ApS). Det forklares aldrig, så tvivlen fylder tomrummet.</a:t>
            </a:r>
          </a:p>
        </p:txBody>
      </p:sp>
      <p:sp>
        <p:nvSpPr>
          <p:cNvPr id="10" name="Rounded Rectangle 9"/>
          <p:cNvSpPr/>
          <p:nvPr/>
        </p:nvSpPr>
        <p:spPr>
          <a:xfrm>
            <a:off x="792327" y="2066544"/>
            <a:ext cx="5074920"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295144"/>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Hvad dittvin gør i dag</a:t>
            </a:r>
          </a:p>
        </p:txBody>
      </p:sp>
      <p:sp>
        <p:nvSpPr>
          <p:cNvPr id="12" name="TextBox 11"/>
          <p:cNvSpPr txBox="1"/>
          <p:nvPr/>
        </p:nvSpPr>
        <p:spPr>
          <a:xfrm>
            <a:off x="1066647" y="2569464"/>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Tavshed om lovlighed</a:t>
            </a:r>
          </a:p>
        </p:txBody>
      </p:sp>
      <p:sp>
        <p:nvSpPr>
          <p:cNvPr id="13" name="TextBox 12"/>
          <p:cNvSpPr txBox="1"/>
          <p:nvPr/>
        </p:nvSpPr>
        <p:spPr>
          <a:xfrm>
            <a:off x="1066647" y="2999232"/>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Ingen omtale af Systembolaget, privatimport, svensk alkoholskat eller at moms er inkluderet. Den danske operatørs identitet er begravet i footeren. De ægte aktiver (en 4.7 Trustpilot, prismedaljer, Løvens Hule-tv-opbakning) ligger langt fra tvivlspunktet.</a:t>
            </a:r>
          </a:p>
        </p:txBody>
      </p:sp>
      <p:sp>
        <p:nvSpPr>
          <p:cNvPr id="14" name="Rounded Rectangle 13"/>
          <p:cNvSpPr/>
          <p:nvPr/>
        </p:nvSpPr>
        <p:spPr>
          <a:xfrm>
            <a:off x="1066647" y="3895344"/>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3950208"/>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"Så in i norden dåligt. leveransen har inte kommit fast det har gått 2 veckor. Tror detta r bedrägeri. VARNING" (I think this is fraud. WARNING)</a:t>
            </a:r>
          </a:p>
        </p:txBody>
      </p:sp>
      <p:sp>
        <p:nvSpPr>
          <p:cNvPr id="16" name="Rounded Rectangle 15"/>
          <p:cNvSpPr/>
          <p:nvPr/>
        </p:nvSpPr>
        <p:spPr>
          <a:xfrm>
            <a:off x="6324447" y="2066544"/>
            <a:ext cx="5074920"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2295144"/>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Hvad den bedste konkurrent gør</a:t>
            </a:r>
          </a:p>
        </p:txBody>
      </p:sp>
      <p:sp>
        <p:nvSpPr>
          <p:cNvPr id="18" name="TextBox 17"/>
          <p:cNvSpPr txBox="1"/>
          <p:nvPr/>
        </p:nvSpPr>
        <p:spPr>
          <a:xfrm>
            <a:off x="6598767" y="2569464"/>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KRAN siger det ligeud</a:t>
            </a:r>
          </a:p>
        </p:txBody>
      </p:sp>
      <p:sp>
        <p:nvSpPr>
          <p:cNvPr id="19" name="TextBox 18"/>
          <p:cNvSpPr txBox="1"/>
          <p:nvPr/>
        </p:nvSpPr>
        <p:spPr>
          <a:xfrm>
            <a:off x="6598767" y="2999232"/>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"Vi lyder under den svenska alkohollagstiftningen och regleras av svenska Skatteverket som distansförsäljare." Winefamly skaber tryghed med "Alla priser inkl. svensk alkoholskatt &amp; moms." Winefinder, Winefamly og Supervin viser også Trygg E-handel-tillidsmærket. dittvin viser intet af det.</a:t>
            </a:r>
          </a:p>
        </p:txBody>
      </p:sp>
      <p:sp>
        <p:nvSpPr>
          <p:cNvPr id="20" name="Rounded Rectangle 19"/>
          <p:cNvSpPr/>
          <p:nvPr/>
        </p:nvSpPr>
        <p:spPr>
          <a:xfrm>
            <a:off x="6598767" y="3895344"/>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35927" y="3950208"/>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The fix: a plain "Is this legal? Yes, and here is how" block on the product page and cart, with the age check, the Danish import model, and tax included stated up front.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Kundens stemme · Strategi</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Tre overbevisninger, der skal nedbrydes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Hver svensk førstegangskøber bærer på disse. Hver især har et konkret, dokumenteret modsvar, som dittvin allerede har til rådighed.</a:t>
            </a:r>
          </a:p>
        </p:txBody>
      </p:sp>
      <p:sp>
        <p:nvSpPr>
          <p:cNvPr id="10" name="Rounded Rectangle 9"/>
          <p:cNvSpPr/>
          <p:nvPr/>
        </p:nvSpPr>
        <p:spPr>
          <a:xfrm>
            <a:off x="79232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2" name="TextBox 11"/>
          <p:cNvSpPr txBox="1"/>
          <p:nvPr/>
        </p:nvSpPr>
        <p:spPr>
          <a:xfrm>
            <a:off x="102092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"At købe vin privat i Sverige er måske ulovligt eller lyssky."</a:t>
            </a:r>
          </a:p>
        </p:txBody>
      </p:sp>
      <p:sp>
        <p:nvSpPr>
          <p:cNvPr id="13" name="TextBox 12"/>
          <p:cNvSpPr txBox="1"/>
          <p:nvPr/>
        </p:nvSpPr>
        <p:spPr>
          <a:xfrm>
            <a:off x="102092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Nedbryd den med en lovlighedsblok i klart sprog: lovlig dansk privatimport, aldersverificeret, Vinhuset ApS nævnt, skat og moms inkluderet, og beviset 4.7 på 5,985 Trustpilot placeret ved tøvepunktet.</a:t>
            </a:r>
          </a:p>
        </p:txBody>
      </p:sp>
      <p:sp>
        <p:nvSpPr>
          <p:cNvPr id="14" name="Rounded Rectangle 13"/>
          <p:cNvSpPr/>
          <p:nvPr/>
        </p:nvSpPr>
        <p:spPr>
          <a:xfrm>
            <a:off x="102092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34% of buyers are brand new</a:t>
            </a:r>
          </a:p>
        </p:txBody>
      </p:sp>
      <p:sp>
        <p:nvSpPr>
          <p:cNvPr id="16" name="Rounded Rectangle 15"/>
          <p:cNvSpPr/>
          <p:nvPr/>
        </p:nvSpPr>
        <p:spPr>
          <a:xfrm>
            <a:off x="441944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8" name="TextBox 17"/>
          <p:cNvSpPr txBox="1"/>
          <p:nvPr/>
        </p:nvSpPr>
        <p:spPr>
          <a:xfrm>
            <a:off x="464804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"De leverer ikke til tiden."</a:t>
            </a:r>
          </a:p>
        </p:txBody>
      </p:sp>
      <p:sp>
        <p:nvSpPr>
          <p:cNvPr id="19" name="TextBox 18"/>
          <p:cNvSpPr txBox="1"/>
          <p:nvPr/>
        </p:nvSpPr>
        <p:spPr>
          <a:xfrm>
            <a:off x="464804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Dette er den reelle overbevisning, der driver den negative hale. Nedbryd den ved at rette løftet, ikke vinen. Erstat "1-3 dagar" med en ærlig, ordrespecifik ETA og proaktive statusopdateringer, og lad kunderne vælge et leveringsvindue.</a:t>
            </a:r>
          </a:p>
        </p:txBody>
      </p:sp>
      <p:sp>
        <p:nvSpPr>
          <p:cNvPr id="20" name="Rounded Rectangle 19"/>
          <p:cNvSpPr/>
          <p:nvPr/>
        </p:nvSpPr>
        <p:spPr>
          <a:xfrm>
            <a:off x="464804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86% of complaints are delivery</a:t>
            </a:r>
          </a:p>
        </p:txBody>
      </p:sp>
      <p:sp>
        <p:nvSpPr>
          <p:cNvPr id="22" name="Rounded Rectangle 21"/>
          <p:cNvSpPr/>
          <p:nvPr/>
        </p:nvSpPr>
        <p:spPr>
          <a:xfrm>
            <a:off x="804656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4" name="TextBox 23"/>
          <p:cNvSpPr txBox="1"/>
          <p:nvPr/>
        </p:nvSpPr>
        <p:spPr>
          <a:xfrm>
            <a:off x="827516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"'Kvalitetsvinene' er bare billig, sød plonk."</a:t>
            </a:r>
          </a:p>
        </p:txBody>
      </p:sp>
      <p:sp>
        <p:nvSpPr>
          <p:cNvPr id="25" name="TextBox 24"/>
          <p:cNvSpPr txBox="1"/>
          <p:nvPr/>
        </p:nvSpPr>
        <p:spPr>
          <a:xfrm>
            <a:off x="827516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Knus den med rigtige specifikationer pr. vin på box-produktsider: drue, region, en skala fra tørt til sødt og den Vivino-score, I allerede har. En boks bør ikke være et blindt gamble.</a:t>
            </a:r>
          </a:p>
        </p:txBody>
      </p:sp>
      <p:sp>
        <p:nvSpPr>
          <p:cNvPr id="26" name="Rounded Rectangle 25"/>
          <p:cNvSpPr/>
          <p:nvPr/>
        </p:nvSpPr>
        <p:spPr>
          <a:xfrm>
            <a:off x="827516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14% of complaints cite taste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25</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04</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Ekspertgennemgang</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Indgang, forside, kollektion og produktside, gennemgået på den mobiloplevelse, der bærer 86% af butikken. Hver påstand er verificeret med screenshot.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Ekspertgennemgang · Indgang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To mure før et eneste produkt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Kolde Facebook-besøgende (41% af trafikken) lander og møder en lovpligtig alderskontrol oven på en lykkehjuls-popup til e-mail, før de ser en eneste vin.</a:t>
            </a:r>
          </a:p>
        </p:txBody>
      </p:sp>
      <p:pic>
        <p:nvPicPr>
          <p:cNvPr id="10" name="Picture 9" descr="dittvin-home-mobile-fold.jpeg"/>
          <p:cNvPicPr>
            <a:picLocks noChangeAspect="1"/>
          </p:cNvPicPr>
          <p:nvPr/>
        </p:nvPicPr>
        <p:blipFill>
          <a:blip r:embed="rId3"/>
          <a:stretch>
            <a:fillRect/>
          </a:stretch>
        </p:blipFill>
        <p:spPr>
          <a:xfrm>
            <a:off x="822960" y="1783080"/>
            <a:ext cx="2070401" cy="4480560"/>
          </a:xfrm>
          <a:prstGeom prst="rect">
            <a:avLst/>
          </a:prstGeom>
        </p:spPr>
      </p:pic>
      <p:sp>
        <p:nvSpPr>
          <p:cNvPr id="11" name="Rounded Rectangle 10"/>
          <p:cNvSpPr/>
          <p:nvPr/>
        </p:nvSpPr>
        <p:spPr>
          <a:xfrm>
            <a:off x="777240" y="1737360"/>
            <a:ext cx="2161841"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2253281" cy="274320"/>
          </a:xfrm>
          <a:prstGeom prst="rect">
            <a:avLst/>
          </a:prstGeom>
          <a:noFill/>
        </p:spPr>
        <p:txBody>
          <a:bodyPr wrap="square" lIns="0" rIns="0" tIns="0" bIns="0" anchor="t">
            <a:spAutoFit/>
          </a:bodyPr>
          <a:lstStyle/>
          <a:p>
            <a:pPr algn="ctr"/>
            <a:r>
              <a:rPr sz="900" b="0" i="0" spc="100">
                <a:solidFill>
                  <a:srgbClr val="6B7C75"/>
                </a:solidFill>
                <a:latin typeface="Helvetica Neue"/>
              </a:rPr>
              <a:t>Live mobile entry · captured 2026-07-23</a:t>
            </a:r>
          </a:p>
        </p:txBody>
      </p:sp>
      <p:sp>
        <p:nvSpPr>
          <p:cNvPr id="13" name="Oval 12"/>
          <p:cNvSpPr/>
          <p:nvPr/>
        </p:nvSpPr>
        <p:spPr>
          <a:xfrm>
            <a:off x="3350561" y="187452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4881" y="1828800"/>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To popups i træk. </a:t>
            </a:r>
            <a:r>
              <a:rPr sz="1100" b="0" i="0">
                <a:solidFill>
                  <a:srgbClr val="CCCCCC"/>
                </a:solidFill>
                <a:latin typeface="Helvetica Neue"/>
              </a:rPr>
              <a:t>Alderskontrollen ("bekräfta att du är 20 år eller äldre") er lovpligtig, men en "Snurra på hjulet" lykkehjuls-popup lægger sig oven på. Folk skal lukke to popups, før de ser en eneste vin.</a:t>
            </a:r>
          </a:p>
        </p:txBody>
      </p:sp>
      <p:sp>
        <p:nvSpPr>
          <p:cNvPr id="15" name="TextBox 14"/>
          <p:cNvSpPr txBox="1"/>
          <p:nvPr/>
        </p:nvSpPr>
        <p:spPr>
          <a:xfrm>
            <a:off x="3624881" y="2409444"/>
            <a:ext cx="8018174" cy="274320"/>
          </a:xfrm>
          <a:prstGeom prst="rect">
            <a:avLst/>
          </a:prstGeom>
          <a:noFill/>
        </p:spPr>
        <p:txBody>
          <a:bodyPr wrap="square" lIns="0" rIns="0" tIns="0" bIns="0" anchor="t">
            <a:spAutoFit/>
          </a:bodyPr>
          <a:lstStyle/>
          <a:p>
            <a:pPr algn="l"/>
            <a:r>
              <a:rPr sz="1000" b="1" i="0">
                <a:solidFill>
                  <a:srgbClr val="F7D007"/>
                </a:solidFill>
                <a:latin typeface="Helvetica Neue"/>
              </a:rPr>
              <a:t>Kombinér dem til ét trin, og husk valget med en cookie, så gentagne besøgende ikke bliver spurgt igen.</a:t>
            </a:r>
          </a:p>
        </p:txBody>
      </p:sp>
      <p:sp>
        <p:nvSpPr>
          <p:cNvPr id="16" name="Oval 15"/>
          <p:cNvSpPr/>
          <p:nvPr/>
        </p:nvSpPr>
        <p:spPr>
          <a:xfrm>
            <a:off x="3350561" y="278434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4881" y="273862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Gør aldersbekræftelsen til et tillidsøjeblik. </a:t>
            </a:r>
            <a:r>
              <a:rPr sz="1100" b="0" i="0">
                <a:solidFill>
                  <a:srgbClr val="CCCCCC"/>
                </a:solidFill>
                <a:latin typeface="Helvetica Neue"/>
              </a:rPr>
              <a:t>Lige nu blokerer den kun. Tilføj én linje: lovlig dansk import, moms inkluderet. Det er det perfekte sted at besvare lovlighedsspørgsmålet.</a:t>
            </a:r>
          </a:p>
        </p:txBody>
      </p:sp>
      <p:sp>
        <p:nvSpPr>
          <p:cNvPr id="18" name="Oval 17"/>
          <p:cNvSpPr/>
          <p:nvPr/>
        </p:nvSpPr>
        <p:spPr>
          <a:xfrm>
            <a:off x="3350561" y="328726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24881" y="324154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Emojitung promobar. </a:t>
            </a:r>
            <a:r>
              <a:rPr sz="1100" b="0" i="0">
                <a:solidFill>
                  <a:srgbClr val="CCCCCC"/>
                </a:solidFill>
                <a:latin typeface="Helvetica Neue"/>
              </a:rPr>
              <a:t>Topbaren (fest- og ur-emoji) kolliderer med et "kvalitetsviner"-premiumløfte på et vinbrand.</a:t>
            </a:r>
          </a:p>
        </p:txBody>
      </p:sp>
      <p:sp>
        <p:nvSpPr>
          <p:cNvPr id="20" name="Oval 19"/>
          <p:cNvSpPr/>
          <p:nvPr/>
        </p:nvSpPr>
        <p:spPr>
          <a:xfrm>
            <a:off x="3350561" y="3790188"/>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4881" y="374446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Chat og Klaviyo til stede. </a:t>
            </a:r>
            <a:r>
              <a:rPr sz="1100" b="0" i="0">
                <a:solidFill>
                  <a:srgbClr val="CCCCCC"/>
                </a:solidFill>
                <a:latin typeface="Helvetica Neue"/>
              </a:rPr>
              <a:t>Support- og opsamlingsværktøjer er aktive. Problemet er stabling og rækkefølge, ikke fravær.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Ekspertgennemgang · Forside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Stærkt fundament, to reelle revner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Tydelig kategorinavigation og kassekaruseller giver en afvisningsprocent på 24.9%. Men gennemgående rabatter og ødelagte sektioner underminerer premiumfortællingen.</a:t>
            </a:r>
          </a:p>
        </p:txBody>
      </p:sp>
      <p:pic>
        <p:nvPicPr>
          <p:cNvPr id="10" name="Picture 9" descr="dittvin-home-mobile-clean.jpeg"/>
          <p:cNvPicPr>
            <a:picLocks noChangeAspect="1"/>
          </p:cNvPicPr>
          <p:nvPr/>
        </p:nvPicPr>
        <p:blipFill>
          <a:blip r:embed="rId3"/>
          <a:stretch>
            <a:fillRect/>
          </a:stretch>
        </p:blipFill>
        <p:spPr>
          <a:xfrm>
            <a:off x="822960" y="1783080"/>
            <a:ext cx="289451" cy="4480560"/>
          </a:xfrm>
          <a:prstGeom prst="rect">
            <a:avLst/>
          </a:prstGeom>
        </p:spPr>
      </p:pic>
      <p:sp>
        <p:nvSpPr>
          <p:cNvPr id="11" name="Rounded Rectangle 10"/>
          <p:cNvSpPr/>
          <p:nvPr/>
        </p:nvSpPr>
        <p:spPr>
          <a:xfrm>
            <a:off x="777240" y="1737360"/>
            <a:ext cx="380891"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472331" cy="274320"/>
          </a:xfrm>
          <a:prstGeom prst="rect">
            <a:avLst/>
          </a:prstGeom>
          <a:noFill/>
        </p:spPr>
        <p:txBody>
          <a:bodyPr wrap="square" lIns="0" rIns="0" tIns="0" bIns="0" anchor="t">
            <a:spAutoFit/>
          </a:bodyPr>
          <a:lstStyle/>
          <a:p>
            <a:pPr algn="ctr"/>
            <a:r>
              <a:rPr sz="900" b="0" i="0" spc="100">
                <a:solidFill>
                  <a:srgbClr val="6B7C75"/>
                </a:solidFill>
                <a:latin typeface="Helvetica Neue"/>
              </a:rPr>
              <a:t>Homepage · mobile capture</a:t>
            </a:r>
          </a:p>
        </p:txBody>
      </p:sp>
      <p:sp>
        <p:nvSpPr>
          <p:cNvPr id="13" name="Oval 12"/>
          <p:cNvSpPr/>
          <p:nvPr/>
        </p:nvSpPr>
        <p:spPr>
          <a:xfrm>
            <a:off x="1569611" y="187452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43931" y="182880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Tydelige kategoricirkler. </a:t>
            </a:r>
            <a:r>
              <a:rPr sz="1100" b="0" i="0">
                <a:solidFill>
                  <a:srgbClr val="CCCCCC"/>
                </a:solidFill>
                <a:latin typeface="Helvetica Neue"/>
              </a:rPr>
              <a:t>Rött, Vitt, Mousserande, Rosé, Gin, Vinlådor, Erbjudanden, Abonnemang, Alkoholfri 0%. Nem orientering, med Vivino-badges på produkter.</a:t>
            </a:r>
          </a:p>
        </p:txBody>
      </p:sp>
      <p:sp>
        <p:nvSpPr>
          <p:cNvPr id="15" name="Oval 14"/>
          <p:cNvSpPr/>
          <p:nvPr/>
        </p:nvSpPr>
        <p:spPr>
          <a:xfrm>
            <a:off x="1569611" y="23774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43931" y="233172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Alt er på udsalg. </a:t>
            </a:r>
            <a:r>
              <a:rPr sz="1100" b="0" i="0">
                <a:solidFill>
                  <a:srgbClr val="CCCCCC"/>
                </a:solidFill>
                <a:latin typeface="Helvetica Neue"/>
              </a:rPr>
              <a:t>Hvert produkt bærer et rødt rabatmærke (-45%, -51%) plus "Spara X kr". Permanent rabat udhuler urgens og virker generisk, ikke premium.</a:t>
            </a:r>
          </a:p>
        </p:txBody>
      </p:sp>
      <p:sp>
        <p:nvSpPr>
          <p:cNvPr id="17" name="TextBox 16"/>
          <p:cNvSpPr txBox="1"/>
          <p:nvPr/>
        </p:nvSpPr>
        <p:spPr>
          <a:xfrm>
            <a:off x="1843931" y="2724912"/>
            <a:ext cx="9799124" cy="274320"/>
          </a:xfrm>
          <a:prstGeom prst="rect">
            <a:avLst/>
          </a:prstGeom>
          <a:noFill/>
        </p:spPr>
        <p:txBody>
          <a:bodyPr wrap="square" lIns="0" rIns="0" tIns="0" bIns="0" anchor="t">
            <a:spAutoFit/>
          </a:bodyPr>
          <a:lstStyle/>
          <a:p>
            <a:pPr algn="l"/>
            <a:r>
              <a:rPr sz="1000" b="1" i="0">
                <a:solidFill>
                  <a:srgbClr val="F7D007"/>
                </a:solidFill>
                <a:latin typeface="Helvetica Neue"/>
              </a:rPr>
              <a:t>Reservér rabat til reelle tilbud. Fremhæv udmærkelser og Vivino-scorer som beviset i stedet.</a:t>
            </a:r>
          </a:p>
        </p:txBody>
      </p:sp>
      <p:sp>
        <p:nvSpPr>
          <p:cNvPr id="18" name="Oval 17"/>
          <p:cNvSpPr/>
          <p:nvPr/>
        </p:nvSpPr>
        <p:spPr>
          <a:xfrm>
            <a:off x="1569611" y="3099815"/>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43931" y="3054095"/>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Sektioner vises inkonsekvent. </a:t>
            </a:r>
            <a:r>
              <a:rPr sz="1100" b="0" i="0">
                <a:solidFill>
                  <a:srgbClr val="CCCCCC"/>
                </a:solidFill>
                <a:latin typeface="Helvetica Neue"/>
              </a:rPr>
              <a:t>"Upplev både nya..." og "Kunskap och inspiration" indlæstes som tomme bånd på ét skærmbillede og udfyldt på det næste, i tråd med de 90+ websitefejl.</a:t>
            </a:r>
          </a:p>
        </p:txBody>
      </p:sp>
      <p:sp>
        <p:nvSpPr>
          <p:cNvPr id="20" name="TextBox 19"/>
          <p:cNvSpPr txBox="1"/>
          <p:nvPr/>
        </p:nvSpPr>
        <p:spPr>
          <a:xfrm>
            <a:off x="1843931" y="3447287"/>
            <a:ext cx="9799124" cy="274320"/>
          </a:xfrm>
          <a:prstGeom prst="rect">
            <a:avLst/>
          </a:prstGeom>
          <a:noFill/>
        </p:spPr>
        <p:txBody>
          <a:bodyPr wrap="square" lIns="0" rIns="0" tIns="0" bIns="0" anchor="t">
            <a:spAutoFit/>
          </a:bodyPr>
          <a:lstStyle/>
          <a:p>
            <a:pPr algn="l"/>
            <a:r>
              <a:rPr sz="1000" b="1" i="0">
                <a:solidFill>
                  <a:srgbClr val="F7D007"/>
                </a:solidFill>
                <a:latin typeface="Helvetica Neue"/>
              </a:rPr>
              <a:t>Ustabile blokke til produktpræsentation. Ret fejlene, og bekræft, at sektioner renderer pålideligt på mobil Safari.</a:t>
            </a:r>
          </a:p>
        </p:txBody>
      </p:sp>
      <p:sp>
        <p:nvSpPr>
          <p:cNvPr id="21" name="Oval 20"/>
          <p:cNvSpPr/>
          <p:nvPr/>
        </p:nvSpPr>
        <p:spPr>
          <a:xfrm>
            <a:off x="1569611" y="3822190"/>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43931" y="377647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Tillidsaktiver begravet. </a:t>
            </a:r>
            <a:r>
              <a:rPr sz="1100" b="0" i="0">
                <a:solidFill>
                  <a:srgbClr val="CCCCCC"/>
                </a:solidFill>
                <a:latin typeface="Helvetica Neue"/>
              </a:rPr>
              <a:t>Linjen om den danske operatør og Løvens Hule-opbakningen ligger kun i footeren, langt fra der, hvor tvivlen opstår.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Ekspertgennemgang · Kollektion og produktside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God produktside, manglende tryghed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Produktsiden har en sticky læg i kurv, social proof og en bjælke med gratis fragt, men den fortæller aldrig køberne, at ordren er lovlig, siger næsten intet om, hvordan hver vin smager, og lækker dansk tekst.</a:t>
            </a:r>
          </a:p>
        </p:txBody>
      </p:sp>
      <p:pic>
        <p:nvPicPr>
          <p:cNvPr id="10" name="Picture 9" descr="dittvin-pdp-mobile-clean.jpeg"/>
          <p:cNvPicPr>
            <a:picLocks noChangeAspect="1"/>
          </p:cNvPicPr>
          <p:nvPr/>
        </p:nvPicPr>
        <p:blipFill>
          <a:blip r:embed="rId3"/>
          <a:stretch>
            <a:fillRect/>
          </a:stretch>
        </p:blipFill>
        <p:spPr>
          <a:xfrm>
            <a:off x="822960" y="1783080"/>
            <a:ext cx="1164946" cy="4480560"/>
          </a:xfrm>
          <a:prstGeom prst="rect">
            <a:avLst/>
          </a:prstGeom>
        </p:spPr>
      </p:pic>
      <p:sp>
        <p:nvSpPr>
          <p:cNvPr id="11" name="Rounded Rectangle 10"/>
          <p:cNvSpPr/>
          <p:nvPr/>
        </p:nvSpPr>
        <p:spPr>
          <a:xfrm>
            <a:off x="777240" y="1737360"/>
            <a:ext cx="1256386"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1347826" cy="274320"/>
          </a:xfrm>
          <a:prstGeom prst="rect">
            <a:avLst/>
          </a:prstGeom>
          <a:noFill/>
        </p:spPr>
        <p:txBody>
          <a:bodyPr wrap="square" lIns="0" rIns="0" tIns="0" bIns="0" anchor="t">
            <a:spAutoFit/>
          </a:bodyPr>
          <a:lstStyle/>
          <a:p>
            <a:pPr algn="ctr"/>
            <a:r>
              <a:rPr sz="900" b="0" i="0" spc="100">
                <a:solidFill>
                  <a:srgbClr val="6B7C75"/>
                </a:solidFill>
                <a:latin typeface="Helvetica Neue"/>
              </a:rPr>
              <a:t>Fantini box product page · mobile</a:t>
            </a:r>
          </a:p>
        </p:txBody>
      </p:sp>
      <p:sp>
        <p:nvSpPr>
          <p:cNvPr id="13" name="Oval 12"/>
          <p:cNvSpPr/>
          <p:nvPr/>
        </p:nvSpPr>
        <p:spPr>
          <a:xfrm>
            <a:off x="2445106" y="187452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19426" y="182880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Solide fundamenter. </a:t>
            </a:r>
            <a:r>
              <a:rPr sz="1100" b="0" i="0">
                <a:solidFill>
                  <a:srgbClr val="CCCCCC"/>
                </a:solidFill>
                <a:latin typeface="Helvetica Neue"/>
              </a:rPr>
              <a:t>Klæbende læg i kurv, overstreget pris, "+75.000 vinälskare" social proof, Trustpilot- og prisbadges og en progressbar for fri fragt.</a:t>
            </a:r>
          </a:p>
        </p:txBody>
      </p:sp>
      <p:sp>
        <p:nvSpPr>
          <p:cNvPr id="15" name="Oval 14"/>
          <p:cNvSpPr/>
          <p:nvPr/>
        </p:nvSpPr>
        <p:spPr>
          <a:xfrm>
            <a:off x="2445106" y="23774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9426" y="233172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Ingen lovlighedsblok ved beslutningspunktet. </a:t>
            </a:r>
            <a:r>
              <a:rPr sz="1100" b="0" i="0">
                <a:solidFill>
                  <a:srgbClr val="CCCCCC"/>
                </a:solidFill>
                <a:latin typeface="Helvetica Neue"/>
              </a:rPr>
              <a:t>Netop dér, hvor KRAN og Winefamly skaber tryghed, forbliver dittvin tavs. Det undertrykker de 64%, der ser, men aldrig lægger i kurv.</a:t>
            </a:r>
          </a:p>
        </p:txBody>
      </p:sp>
      <p:sp>
        <p:nvSpPr>
          <p:cNvPr id="17" name="Oval 16"/>
          <p:cNvSpPr/>
          <p:nvPr/>
        </p:nvSpPr>
        <p:spPr>
          <a:xfrm>
            <a:off x="2445106" y="288036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19426" y="283464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Du kan ikke se, hvordan vinen smager. </a:t>
            </a:r>
            <a:r>
              <a:rPr sz="1100" b="0" i="0">
                <a:solidFill>
                  <a:srgbClr val="CCCCCC"/>
                </a:solidFill>
                <a:latin typeface="Helvetica Neue"/>
              </a:rPr>
              <a:t>En boks med 12 flasker viser kun 3 billeder og ingen smagsnoter for vinene indeni: ingen drue, ingen sødme eller fylde, ingen madparring og ingen Vivino-rating. Folk bliver bedt om at købe uden at vide, hvad de faktisk skal drikke.</a:t>
            </a:r>
          </a:p>
        </p:txBody>
      </p:sp>
      <p:sp>
        <p:nvSpPr>
          <p:cNvPr id="19" name="TextBox 18"/>
          <p:cNvSpPr txBox="1"/>
          <p:nvPr/>
        </p:nvSpPr>
        <p:spPr>
          <a:xfrm>
            <a:off x="2719426" y="3415284"/>
            <a:ext cx="8923629" cy="274320"/>
          </a:xfrm>
          <a:prstGeom prst="rect">
            <a:avLst/>
          </a:prstGeom>
          <a:noFill/>
        </p:spPr>
        <p:txBody>
          <a:bodyPr wrap="square" lIns="0" rIns="0" tIns="0" bIns="0" anchor="t">
            <a:spAutoFit/>
          </a:bodyPr>
          <a:lstStyle/>
          <a:p>
            <a:pPr algn="l"/>
            <a:r>
              <a:rPr sz="1000" b="1" i="0">
                <a:solidFill>
                  <a:srgbClr val="F7D007"/>
                </a:solidFill>
                <a:latin typeface="Helvetica Neue"/>
              </a:rPr>
              <a:t>Kunder spørger direkte: "Jag saknar en beskrivning av respektive vin."</a:t>
            </a:r>
          </a:p>
        </p:txBody>
      </p:sp>
      <p:sp>
        <p:nvSpPr>
          <p:cNvPr id="20" name="Oval 19"/>
          <p:cNvSpPr/>
          <p:nvPr/>
        </p:nvSpPr>
        <p:spPr>
          <a:xfrm>
            <a:off x="2445106" y="379018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19426" y="3744468"/>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Danske udslip og fragtforbehold. </a:t>
            </a:r>
            <a:r>
              <a:rPr sz="1100" b="0" i="0">
                <a:solidFill>
                  <a:srgbClr val="CCCCCC"/>
                </a:solidFill>
                <a:latin typeface="Helvetica Neue"/>
              </a:rPr>
              <a:t>Sidetitlen lyder "Kjøb hos Dittvin.se" (dansk), og fri fragt er stille begrænset til fragtføreren Airmee, hvilket forvirrer købere, der så ser et Bring-gebyr.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Ekspertgennemgang · Balance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Styrker, der skal beskyttes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Dette er en stærk butik. Disse aktiver bør bevares og forstærkes, ikke røres under optimeringen.</a:t>
            </a:r>
          </a:p>
        </p:txBody>
      </p:sp>
      <p:sp>
        <p:nvSpPr>
          <p:cNvPr id="10" name="Rounded Rectangle 9"/>
          <p:cNvSpPr/>
          <p:nvPr/>
        </p:nvSpPr>
        <p:spPr>
          <a:xfrm>
            <a:off x="79232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Kasseledet sortiment</a:t>
            </a:r>
          </a:p>
        </p:txBody>
      </p:sp>
      <p:sp>
        <p:nvSpPr>
          <p:cNvPr id="12" name="TextBox 11"/>
          <p:cNvSpPr txBox="1"/>
          <p:nvPr/>
        </p:nvSpPr>
        <p:spPr>
          <a:xfrm>
            <a:off x="102092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Vinkasseformatet er både den bedste konverter (5.54%) og en ægte kundekærlighed ("hitta nya favoriter"). En sjælden enighed mellem produkt og data.</a:t>
            </a:r>
          </a:p>
        </p:txBody>
      </p:sp>
      <p:sp>
        <p:nvSpPr>
          <p:cNvPr id="13" name="Rounded Rectangle 12"/>
          <p:cNvSpPr/>
          <p:nvPr/>
        </p:nvSpPr>
        <p:spPr>
          <a:xfrm>
            <a:off x="441944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804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4.7 Trustpilot på 5,985</a:t>
            </a:r>
          </a:p>
        </p:txBody>
      </p:sp>
      <p:sp>
        <p:nvSpPr>
          <p:cNvPr id="15" name="TextBox 14"/>
          <p:cNvSpPr txBox="1"/>
          <p:nvPr/>
        </p:nvSpPr>
        <p:spPr>
          <a:xfrm>
            <a:off x="464804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En dyb, troværdig anmeldelsesbase. Underudnyttet på sitet, men et stærkt bevisaktiv mod indvendingerne om lovlighed og kvalitet.</a:t>
            </a:r>
          </a:p>
        </p:txBody>
      </p:sp>
      <p:sp>
        <p:nvSpPr>
          <p:cNvPr id="16" name="Rounded Rectangle 15"/>
          <p:cNvSpPr/>
          <p:nvPr/>
        </p:nvSpPr>
        <p:spPr>
          <a:xfrm>
            <a:off x="804656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16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Lav afvisning på forsiden</a:t>
            </a:r>
          </a:p>
        </p:txBody>
      </p:sp>
      <p:sp>
        <p:nvSpPr>
          <p:cNvPr id="18" name="TextBox 17"/>
          <p:cNvSpPr txBox="1"/>
          <p:nvPr/>
        </p:nvSpPr>
        <p:spPr>
          <a:xfrm>
            <a:off x="827516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24.9% afvisning på forsidelandingen er fremragende. Toppen af oplevelsen virker; lækkene ligger dybere i tragten.</a:t>
            </a:r>
          </a:p>
        </p:txBody>
      </p:sp>
      <p:sp>
        <p:nvSpPr>
          <p:cNvPr id="19" name="Rounded Rectangle 18"/>
          <p:cNvSpPr/>
          <p:nvPr/>
        </p:nvSpPr>
        <p:spPr>
          <a:xfrm>
            <a:off x="79232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092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Klæbende ATC og bar for fri fragt</a:t>
            </a:r>
          </a:p>
        </p:txBody>
      </p:sp>
      <p:sp>
        <p:nvSpPr>
          <p:cNvPr id="21" name="TextBox 20"/>
          <p:cNvSpPr txBox="1"/>
          <p:nvPr/>
        </p:nvSpPr>
        <p:spPr>
          <a:xfrm>
            <a:off x="102092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Mobilens købsboksmekanik er allerede på plads, inklusive en progressbar i kurven mod fri fragt.</a:t>
            </a:r>
          </a:p>
        </p:txBody>
      </p:sp>
      <p:sp>
        <p:nvSpPr>
          <p:cNvPr id="22" name="Rounded Rectangle 21"/>
          <p:cNvSpPr/>
          <p:nvPr/>
        </p:nvSpPr>
        <p:spPr>
          <a:xfrm>
            <a:off x="441944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804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Reelle differentiatorer</a:t>
            </a:r>
          </a:p>
        </p:txBody>
      </p:sp>
      <p:sp>
        <p:nvSpPr>
          <p:cNvPr id="24" name="TextBox 23"/>
          <p:cNvSpPr txBox="1"/>
          <p:nvPr/>
        </p:nvSpPr>
        <p:spPr>
          <a:xfrm>
            <a:off x="464804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Abonnement plus kasser, alkoholfrit sortiment, prismedaljer og en tv-vist Løvens Hule-opbakning, som konkurrenterne mangler.</a:t>
            </a:r>
          </a:p>
        </p:txBody>
      </p:sp>
      <p:sp>
        <p:nvSpPr>
          <p:cNvPr id="25" name="Rounded Rectangle 24"/>
          <p:cNvSpPr/>
          <p:nvPr/>
        </p:nvSpPr>
        <p:spPr>
          <a:xfrm>
            <a:off x="804656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16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Stærke ejede kanaler</a:t>
            </a:r>
          </a:p>
        </p:txBody>
      </p:sp>
      <p:sp>
        <p:nvSpPr>
          <p:cNvPr id="27" name="TextBox 26"/>
          <p:cNvSpPr txBox="1"/>
          <p:nvPr/>
        </p:nvSpPr>
        <p:spPr>
          <a:xfrm>
            <a:off x="827516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Klaviyo-e-mail driver allerede 16% af ordrerne ved en CVR på 2.55%. En klar løftestang til at reducere afhængigheden af paid.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30</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05</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Konkurrentlandskab</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Fem verificerede konkurrenter plus monopolet. Hver konkurrentside blev hentet før enhver påstand. Mønsteret er tydeligt: alle skaber tryghed om lovlighed undtagen dittvin.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Konkurrent · Verificeret matrix</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Hvor dittvin står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Scroll i tabellen om nødvendigt. "Ikke vist" betyder, at signalet manglede på den hentede side, hvilket i sig selv er et fund.</a:t>
            </a:r>
          </a:p>
        </p:txBody>
      </p:sp>
      <p:graphicFrame>
        <p:nvGraphicFramePr>
          <p:cNvPr id="10" name="Table 9"/>
          <p:cNvGraphicFramePr>
            <a:graphicFrameLocks noGrp="1"/>
          </p:cNvGraphicFramePr>
          <p:nvPr/>
        </p:nvGraphicFramePr>
        <p:xfrm>
          <a:off x="457200" y="2066544"/>
          <a:ext cx="11274549" cy="4023360"/>
        </p:xfrm>
        <a:graphic>
          <a:graphicData uri="http://schemas.openxmlformats.org/drawingml/2006/table">
            <a:tbl>
              <a:tblPr>
                <a:tableStyleId>{2D5ABB26-0587-4C30-8999-92F81FD0307C}</a:tableStyleId>
              </a:tblPr>
              <a:tblGrid>
                <a:gridCol w="2711601"/>
                <a:gridCol w="1427158"/>
                <a:gridCol w="1427158"/>
                <a:gridCol w="1427158"/>
                <a:gridCol w="1427158"/>
                <a:gridCol w="1427158"/>
                <a:gridCol w="1427158"/>
              </a:tblGrid>
              <a:tr h="365760">
                <a:tc>
                  <a:txBody>
                    <a:bodyPr wrap="square"/>
                    <a:lstStyle/>
                    <a:p>
                      <a:pPr algn="l"/>
                      <a:r>
                        <a:rPr sz="900" b="1" spc="100">
                          <a:solidFill>
                            <a:srgbClr val="999999"/>
                          </a:solidFill>
                          <a:latin typeface="Helvetica Neue"/>
                        </a:rPr>
                        <a:t>FUNKTION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WINEFINDER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WINEFAMLY</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KRAN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SUPERVIN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SYSTEMBOLAGET</a:t>
                      </a:r>
                    </a:p>
                  </a:txBody>
                  <a:tcPr marL="73152" marR="73152" marT="18288" marB="18288" anchor="ctr">
                    <a:solidFill>
                      <a:srgbClr val="0A0A0A"/>
                    </a:solidFill>
                  </a:tcPr>
                </a:tc>
              </a:tr>
              <a:tr h="457200">
                <a:tc>
                  <a:txBody>
                    <a:bodyPr wrap="square"/>
                    <a:lstStyle/>
                    <a:p>
                      <a:pPr algn="l"/>
                      <a:r>
                        <a:rPr sz="900" b="1">
                          <a:solidFill>
                            <a:srgbClr val="EFEEEE"/>
                          </a:solidFill>
                          <a:latin typeface="Helvetica Neue"/>
                        </a:rPr>
                        <a:t>Lovligheds- / skattebudskab</a:t>
                      </a:r>
                    </a:p>
                  </a:txBody>
                  <a:tcPr marL="73152" marR="73152" marT="18288" marB="18288" anchor="ctr">
                    <a:solidFill>
                      <a:srgbClr val="000000"/>
                    </a:solidFill>
                  </a:tcPr>
                </a:tc>
                <a:tc>
                  <a:txBody>
                    <a:bodyPr wrap="square"/>
                    <a:lstStyle/>
                    <a:p>
                      <a:pPr algn="l"/>
                      <a:r>
                        <a:rPr sz="900" b="0">
                          <a:solidFill>
                            <a:srgbClr val="EF4444"/>
                          </a:solidFill>
                          <a:latin typeface="Helvetica Neue"/>
                        </a:rPr>
                        <a:t>Ingen</a:t>
                      </a:r>
                    </a:p>
                  </a:txBody>
                  <a:tcPr marL="73152" marR="73152" marT="18288" marB="18288" anchor="ctr">
                    <a:solidFill>
                      <a:srgbClr val="000000"/>
                    </a:solidFill>
                  </a:tcPr>
                </a:tc>
                <a:tc>
                  <a:txBody>
                    <a:bodyPr wrap="square"/>
                    <a:lstStyle/>
                    <a:p>
                      <a:pPr algn="l"/>
                      <a:r>
                        <a:rPr sz="900" b="0">
                          <a:solidFill>
                            <a:srgbClr val="F59E0B"/>
                          </a:solidFill>
                          <a:latin typeface="Helvetica Neue"/>
                        </a:rPr>
                        <a:t>Trygg-mærke</a:t>
                      </a:r>
                    </a:p>
                  </a:txBody>
                  <a:tcPr marL="73152" marR="73152" marT="18288" marB="18288" anchor="ctr">
                    <a:solidFill>
                      <a:srgbClr val="000000"/>
                    </a:solidFill>
                  </a:tcPr>
                </a:tc>
                <a:tc>
                  <a:txBody>
                    <a:bodyPr wrap="square"/>
                    <a:lstStyle/>
                    <a:p>
                      <a:pPr algn="l"/>
                      <a:r>
                        <a:rPr sz="900" b="0">
                          <a:solidFill>
                            <a:srgbClr val="22C55E"/>
                          </a:solidFill>
                          <a:latin typeface="Helvetica Neue"/>
                        </a:rPr>
                        <a:t>Skat oplyst</a:t>
                      </a:r>
                    </a:p>
                  </a:txBody>
                  <a:tcPr marL="73152" marR="73152" marT="18288" marB="18288" anchor="ctr">
                    <a:solidFill>
                      <a:srgbClr val="000000"/>
                    </a:solidFill>
                  </a:tcPr>
                </a:tc>
                <a:tc>
                  <a:txBody>
                    <a:bodyPr wrap="square"/>
                    <a:lstStyle/>
                    <a:p>
                      <a:pPr algn="l"/>
                      <a:r>
                        <a:rPr sz="900" b="0">
                          <a:solidFill>
                            <a:srgbClr val="22C55E"/>
                          </a:solidFill>
                          <a:latin typeface="Helvetica Neue"/>
                        </a:rPr>
                        <a:t>Skatteverket oplyst</a:t>
                      </a:r>
                    </a:p>
                  </a:txBody>
                  <a:tcPr marL="73152" marR="73152" marT="18288" marB="18288" anchor="ctr">
                    <a:solidFill>
                      <a:srgbClr val="000000"/>
                    </a:solidFill>
                  </a:tcPr>
                </a:tc>
                <a:tc>
                  <a:txBody>
                    <a:bodyPr wrap="square"/>
                    <a:lstStyle/>
                    <a:p>
                      <a:pPr algn="l"/>
                      <a:r>
                        <a:rPr sz="900" b="0">
                          <a:solidFill>
                            <a:srgbClr val="F59E0B"/>
                          </a:solidFill>
                          <a:latin typeface="Helvetica Neue"/>
                        </a:rPr>
                        <a:t>CVR + Trygg</a:t>
                      </a:r>
                    </a:p>
                  </a:txBody>
                  <a:tcPr marL="73152" marR="73152" marT="18288" marB="18288" anchor="ctr">
                    <a:solidFill>
                      <a:srgbClr val="000000"/>
                    </a:solidFill>
                  </a:tcPr>
                </a:tc>
                <a:tc>
                  <a:txBody>
                    <a:bodyPr wrap="square"/>
                    <a:lstStyle/>
                    <a:p>
                      <a:pPr algn="l"/>
                      <a:r>
                        <a:rPr sz="900" b="0">
                          <a:solidFill>
                            <a:srgbClr val="22C55E"/>
                          </a:solidFill>
                          <a:latin typeface="Helvetica Neue"/>
                        </a:rPr>
                        <a:t>Er kanalen</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Trygg E-handel-badge</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22C55E"/>
                          </a:solidFill>
                          <a:latin typeface="Helvetica Neue"/>
                        </a:rPr>
                        <a:t>Ja</a:t>
                      </a:r>
                    </a:p>
                  </a:txBody>
                  <a:tcPr marL="73152" marR="73152" marT="18288" marB="18288" anchor="ctr">
                    <a:solidFill>
                      <a:srgbClr val="0B0B0B"/>
                    </a:solidFill>
                  </a:tcPr>
                </a:tc>
                <a:tc>
                  <a:txBody>
                    <a:bodyPr wrap="square"/>
                    <a:lstStyle/>
                    <a:p>
                      <a:pPr algn="l"/>
                      <a:r>
                        <a:rPr sz="900" b="0">
                          <a:solidFill>
                            <a:srgbClr val="22C55E"/>
                          </a:solidFill>
                          <a:latin typeface="Helvetica Neue"/>
                        </a:rPr>
                        <a:t>Ja</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22C55E"/>
                          </a:solidFill>
                          <a:latin typeface="Helvetica Neue"/>
                        </a:rPr>
                        <a:t>Ja</a:t>
                      </a:r>
                    </a:p>
                  </a:txBody>
                  <a:tcPr marL="73152" marR="73152" marT="18288" marB="18288" anchor="ctr">
                    <a:solidFill>
                      <a:srgbClr val="0B0B0B"/>
                    </a:solidFill>
                  </a:tcPr>
                </a:tc>
                <a:tc>
                  <a:txBody>
                    <a:bodyPr wrap="square"/>
                    <a:lstStyle/>
                    <a:p>
                      <a:pPr algn="l"/>
                      <a:r>
                        <a:rPr sz="900" b="0">
                          <a:solidFill>
                            <a:srgbClr val="EFEEEE"/>
                          </a:solidFill>
                          <a:latin typeface="Helvetica Neue"/>
                        </a:rPr>
                        <a:t>N/A</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Fragtpris / hastighed vist</a:t>
                      </a:r>
                    </a:p>
                  </a:txBody>
                  <a:tcPr marL="73152" marR="73152" marT="18288" marB="18288" anchor="ctr">
                    <a:solidFill>
                      <a:srgbClr val="000000"/>
                    </a:solidFill>
                  </a:tcPr>
                </a:tc>
                <a:tc>
                  <a:txBody>
                    <a:bodyPr wrap="square"/>
                    <a:lstStyle/>
                    <a:p>
                      <a:pPr algn="l"/>
                      <a:r>
                        <a:rPr sz="900" b="0">
                          <a:solidFill>
                            <a:srgbClr val="F59E0B"/>
                          </a:solidFill>
                          <a:latin typeface="Helvetica Neue"/>
                        </a:rPr>
                        <a:t>Vag, kun Airmee</a:t>
                      </a:r>
                    </a:p>
                  </a:txBody>
                  <a:tcPr marL="73152" marR="73152" marT="18288" marB="18288" anchor="ctr">
                    <a:solidFill>
                      <a:srgbClr val="000000"/>
                    </a:solidFill>
                  </a:tcPr>
                </a:tc>
                <a:tc>
                  <a:txBody>
                    <a:bodyPr wrap="square"/>
                    <a:lstStyle/>
                    <a:p>
                      <a:pPr algn="l"/>
                      <a:r>
                        <a:rPr sz="900" b="0">
                          <a:solidFill>
                            <a:srgbClr val="F59E0B"/>
                          </a:solidFill>
                          <a:latin typeface="Helvetica Neue"/>
                        </a:rPr>
                        <a:t>Fragtførere nævnt</a:t>
                      </a:r>
                    </a:p>
                  </a:txBody>
                  <a:tcPr marL="73152" marR="73152" marT="18288" marB="18288" anchor="ctr">
                    <a:solidFill>
                      <a:srgbClr val="000000"/>
                    </a:solidFill>
                  </a:tcPr>
                </a:tc>
                <a:tc>
                  <a:txBody>
                    <a:bodyPr wrap="square"/>
                    <a:lstStyle/>
                    <a:p>
                      <a:pPr algn="l"/>
                      <a:r>
                        <a:rPr sz="900" b="0">
                          <a:solidFill>
                            <a:srgbClr val="F59E0B"/>
                          </a:solidFill>
                          <a:latin typeface="Helvetica Neue"/>
                        </a:rPr>
                        <a:t>Hjemmelevering</a:t>
                      </a:r>
                    </a:p>
                  </a:txBody>
                  <a:tcPr marL="73152" marR="73152" marT="18288" marB="18288" anchor="ctr">
                    <a:solidFill>
                      <a:srgbClr val="000000"/>
                    </a:solidFill>
                  </a:tcPr>
                </a:tc>
                <a:tc>
                  <a:txBody>
                    <a:bodyPr wrap="square"/>
                    <a:lstStyle/>
                    <a:p>
                      <a:pPr algn="l"/>
                      <a:r>
                        <a:rPr sz="900" b="0">
                          <a:solidFill>
                            <a:srgbClr val="F59E0B"/>
                          </a:solidFill>
                          <a:latin typeface="Helvetica Neue"/>
                        </a:rPr>
                        <a:t>Ikke oplyst</a:t>
                      </a:r>
                    </a:p>
                  </a:txBody>
                  <a:tcPr marL="73152" marR="73152" marT="18288" marB="18288" anchor="ctr">
                    <a:solidFill>
                      <a:srgbClr val="000000"/>
                    </a:solidFill>
                  </a:tcPr>
                </a:tc>
                <a:tc>
                  <a:txBody>
                    <a:bodyPr wrap="square"/>
                    <a:lstStyle/>
                    <a:p>
                      <a:pPr algn="l"/>
                      <a:r>
                        <a:rPr sz="900" b="0">
                          <a:solidFill>
                            <a:srgbClr val="22C55E"/>
                          </a:solidFill>
                          <a:latin typeface="Helvetica Neue"/>
                        </a:rPr>
                        <a:t>Fra 29 kr, 2-5 dage</a:t>
                      </a:r>
                    </a:p>
                  </a:txBody>
                  <a:tcPr marL="73152" marR="73152" marT="18288" marB="18288" anchor="ctr">
                    <a:solidFill>
                      <a:srgbClr val="000000"/>
                    </a:solidFill>
                  </a:tcPr>
                </a:tc>
                <a:tc>
                  <a:txBody>
                    <a:bodyPr wrap="square"/>
                    <a:lstStyle/>
                    <a:p>
                      <a:pPr algn="l"/>
                      <a:r>
                        <a:rPr sz="900" b="0">
                          <a:solidFill>
                            <a:srgbClr val="F59E0B"/>
                          </a:solidFill>
                          <a:latin typeface="Helvetica Neue"/>
                        </a:rPr>
                        <a:t>Flere</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Abonnement</a:t>
                      </a:r>
                    </a:p>
                  </a:txBody>
                  <a:tcPr marL="73152" marR="73152" marT="18288" marB="18288" anchor="ctr">
                    <a:solidFill>
                      <a:srgbClr val="0B0B0B"/>
                    </a:solidFill>
                  </a:tcPr>
                </a:tc>
                <a:tc>
                  <a:txBody>
                    <a:bodyPr wrap="square"/>
                    <a:lstStyle/>
                    <a:p>
                      <a:pPr algn="l"/>
                      <a:r>
                        <a:rPr sz="900" b="0">
                          <a:solidFill>
                            <a:srgbClr val="22C55E"/>
                          </a:solidFill>
                          <a:latin typeface="Helvetica Neue"/>
                        </a:rPr>
                        <a:t>Ja</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F59E0B"/>
                          </a:solidFill>
                          <a:latin typeface="Helvetica Neue"/>
                        </a:rPr>
                        <a:t>Kasser</a:t>
                      </a:r>
                    </a:p>
                  </a:txBody>
                  <a:tcPr marL="73152" marR="73152" marT="18288" marB="18288" anchor="ctr">
                    <a:solidFill>
                      <a:srgbClr val="0B0B0B"/>
                    </a:solidFill>
                  </a:tcPr>
                </a:tc>
                <a:tc>
                  <a:txBody>
                    <a:bodyPr wrap="square"/>
                    <a:lstStyle/>
                    <a:p>
                      <a:pPr algn="l"/>
                      <a:r>
                        <a:rPr sz="900" b="0">
                          <a:solidFill>
                            <a:srgbClr val="22C55E"/>
                          </a:solidFill>
                          <a:latin typeface="Helvetica Neue"/>
                        </a:rPr>
                        <a:t>Release-klub</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Vinkasser / kasser</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EF4444"/>
                          </a:solidFill>
                          <a:latin typeface="Helvetica Neue"/>
                        </a:rPr>
                        <a:t>No</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Anmeldelser fremhævet</a:t>
                      </a:r>
                    </a:p>
                  </a:txBody>
                  <a:tcPr marL="73152" marR="73152" marT="18288" marB="18288" anchor="ctr">
                    <a:solidFill>
                      <a:srgbClr val="0B0B0B"/>
                    </a:solidFill>
                  </a:tcPr>
                </a:tc>
                <a:tc>
                  <a:txBody>
                    <a:bodyPr wrap="square"/>
                    <a:lstStyle/>
                    <a:p>
                      <a:pPr algn="l"/>
                      <a:r>
                        <a:rPr sz="900" b="0">
                          <a:solidFill>
                            <a:srgbClr val="F59E0B"/>
                          </a:solidFill>
                          <a:latin typeface="Helvetica Neue"/>
                        </a:rPr>
                        <a:t>Vivino + medaljer</a:t>
                      </a:r>
                    </a:p>
                  </a:txBody>
                  <a:tcPr marL="73152" marR="73152" marT="18288" marB="18288" anchor="ctr">
                    <a:solidFill>
                      <a:srgbClr val="0B0B0B"/>
                    </a:solidFill>
                  </a:tcPr>
                </a:tc>
                <a:tc>
                  <a:txBody>
                    <a:bodyPr wrap="square"/>
                    <a:lstStyle/>
                    <a:p>
                      <a:pPr algn="l"/>
                      <a:r>
                        <a:rPr sz="900" b="0">
                          <a:solidFill>
                            <a:srgbClr val="22C55E"/>
                          </a:solidFill>
                          <a:latin typeface="Helvetica Neue"/>
                        </a:rPr>
                        <a:t>Kritiker + stjerner</a:t>
                      </a:r>
                    </a:p>
                  </a:txBody>
                  <a:tcPr marL="73152" marR="73152" marT="18288" marB="18288" anchor="ctr">
                    <a:solidFill>
                      <a:srgbClr val="0B0B0B"/>
                    </a:solidFill>
                  </a:tcPr>
                </a:tc>
                <a:tc>
                  <a:txBody>
                    <a:bodyPr wrap="square"/>
                    <a:lstStyle/>
                    <a:p>
                      <a:pPr algn="l"/>
                      <a:r>
                        <a:rPr sz="900" b="0">
                          <a:solidFill>
                            <a:srgbClr val="F59E0B"/>
                          </a:solidFill>
                          <a:latin typeface="Helvetica Neue"/>
                        </a:rPr>
                        <a:t>Ikke vist</a:t>
                      </a:r>
                    </a:p>
                  </a:txBody>
                  <a:tcPr marL="73152" marR="73152" marT="18288" marB="18288" anchor="ctr">
                    <a:solidFill>
                      <a:srgbClr val="0B0B0B"/>
                    </a:solidFill>
                  </a:tcPr>
                </a:tc>
                <a:tc>
                  <a:txBody>
                    <a:bodyPr wrap="square"/>
                    <a:lstStyle/>
                    <a:p>
                      <a:pPr algn="l"/>
                      <a:r>
                        <a:rPr sz="900" b="0">
                          <a:solidFill>
                            <a:srgbClr val="F59E0B"/>
                          </a:solidFill>
                          <a:latin typeface="Helvetica Neue"/>
                        </a:rPr>
                        <a:t>Pressecitater</a:t>
                      </a:r>
                    </a:p>
                  </a:txBody>
                  <a:tcPr marL="73152" marR="73152" marT="18288" marB="18288" anchor="ctr">
                    <a:solidFill>
                      <a:srgbClr val="0B0B0B"/>
                    </a:solidFill>
                  </a:tcPr>
                </a:tc>
                <a:tc>
                  <a:txBody>
                    <a:bodyPr wrap="square"/>
                    <a:lstStyle/>
                    <a:p>
                      <a:pPr algn="l"/>
                      <a:r>
                        <a:rPr sz="900" b="0">
                          <a:solidFill>
                            <a:srgbClr val="22C55E"/>
                          </a:solidFill>
                          <a:latin typeface="Helvetica Neue"/>
                        </a:rPr>
                        <a:t>Trustpilot-embed</a:t>
                      </a:r>
                    </a:p>
                  </a:txBody>
                  <a:tcPr marL="73152" marR="73152" marT="18288" marB="18288" anchor="ctr">
                    <a:solidFill>
                      <a:srgbClr val="0B0B0B"/>
                    </a:solidFill>
                  </a:tcPr>
                </a:tc>
                <a:tc>
                  <a:txBody>
                    <a:bodyPr wrap="square"/>
                    <a:lstStyle/>
                    <a:p>
                      <a:pPr algn="l"/>
                      <a:r>
                        <a:rPr sz="900" b="0">
                          <a:solidFill>
                            <a:srgbClr val="EF4444"/>
                          </a:solidFill>
                          <a:latin typeface="Helvetica Neue"/>
                        </a:rPr>
                        <a:t>Ingen</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Alkoholfrit sortiment</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F59E0B"/>
                          </a:solidFill>
                          <a:latin typeface="Helvetica Neue"/>
                        </a:rPr>
                        <a:t>Ikke vist</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F59E0B"/>
                          </a:solidFill>
                          <a:latin typeface="Helvetica Neue"/>
                        </a:rPr>
                        <a:t>Ikke vist</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c>
                  <a:txBody>
                    <a:bodyPr wrap="square"/>
                    <a:lstStyle/>
                    <a:p>
                      <a:pPr algn="l"/>
                      <a:r>
                        <a:rPr sz="900" b="0">
                          <a:solidFill>
                            <a:srgbClr val="22C55E"/>
                          </a:solidFill>
                          <a:latin typeface="Helvetica Neue"/>
                        </a:rPr>
                        <a:t>Ja</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Filtrering / søgning</a:t>
                      </a:r>
                    </a:p>
                  </a:txBody>
                  <a:tcPr marL="73152" marR="73152" marT="18288" marB="18288" anchor="ctr">
                    <a:solidFill>
                      <a:srgbClr val="0B0B0B"/>
                    </a:solidFill>
                  </a:tcPr>
                </a:tc>
                <a:tc>
                  <a:txBody>
                    <a:bodyPr wrap="square"/>
                    <a:lstStyle/>
                    <a:p>
                      <a:pPr algn="l"/>
                      <a:r>
                        <a:rPr sz="900" b="0">
                          <a:solidFill>
                            <a:srgbClr val="F59E0B"/>
                          </a:solidFill>
                          <a:latin typeface="Helvetica Neue"/>
                        </a:rPr>
                        <a:t>Basal</a:t>
                      </a:r>
                    </a:p>
                  </a:txBody>
                  <a:tcPr marL="73152" marR="73152" marT="18288" marB="18288" anchor="ctr">
                    <a:solidFill>
                      <a:srgbClr val="0B0B0B"/>
                    </a:solidFill>
                  </a:tcPr>
                </a:tc>
                <a:tc>
                  <a:txBody>
                    <a:bodyPr wrap="square"/>
                    <a:lstStyle/>
                    <a:p>
                      <a:pPr algn="l"/>
                      <a:r>
                        <a:rPr sz="900" b="0">
                          <a:solidFill>
                            <a:srgbClr val="22C55E"/>
                          </a:solidFill>
                          <a:latin typeface="Helvetica Neue"/>
                        </a:rPr>
                        <a:t>Facetteret + Vinprofil</a:t>
                      </a:r>
                    </a:p>
                  </a:txBody>
                  <a:tcPr marL="73152" marR="73152" marT="18288" marB="18288" anchor="ctr">
                    <a:solidFill>
                      <a:srgbClr val="0B0B0B"/>
                    </a:solidFill>
                  </a:tcPr>
                </a:tc>
                <a:tc>
                  <a:txBody>
                    <a:bodyPr wrap="square"/>
                    <a:lstStyle/>
                    <a:p>
                      <a:pPr algn="l"/>
                      <a:r>
                        <a:rPr sz="900" b="0">
                          <a:solidFill>
                            <a:srgbClr val="F59E0B"/>
                          </a:solidFill>
                          <a:latin typeface="Helvetica Neue"/>
                        </a:rPr>
                        <a:t>Kategori</a:t>
                      </a:r>
                    </a:p>
                  </a:txBody>
                  <a:tcPr marL="73152" marR="73152" marT="18288" marB="18288" anchor="ctr">
                    <a:solidFill>
                      <a:srgbClr val="0B0B0B"/>
                    </a:solidFill>
                  </a:tcPr>
                </a:tc>
                <a:tc>
                  <a:txBody>
                    <a:bodyPr wrap="square"/>
                    <a:lstStyle/>
                    <a:p>
                      <a:pPr algn="l"/>
                      <a:r>
                        <a:rPr sz="900" b="0">
                          <a:solidFill>
                            <a:srgbClr val="EF4444"/>
                          </a:solidFill>
                          <a:latin typeface="Helvetica Neue"/>
                        </a:rPr>
                        <a:t>Minimal</a:t>
                      </a:r>
                    </a:p>
                  </a:txBody>
                  <a:tcPr marL="73152" marR="73152" marT="18288" marB="18288" anchor="ctr">
                    <a:solidFill>
                      <a:srgbClr val="0B0B0B"/>
                    </a:solidFill>
                  </a:tcPr>
                </a:tc>
                <a:tc>
                  <a:txBody>
                    <a:bodyPr wrap="square"/>
                    <a:lstStyle/>
                    <a:p>
                      <a:pPr algn="l"/>
                      <a:r>
                        <a:rPr sz="900" b="0">
                          <a:solidFill>
                            <a:srgbClr val="F59E0B"/>
                          </a:solidFill>
                          <a:latin typeface="Helvetica Neue"/>
                        </a:rPr>
                        <a:t>Kategori</a:t>
                      </a:r>
                    </a:p>
                  </a:txBody>
                  <a:tcPr marL="73152" marR="73152" marT="18288" marB="18288" anchor="ctr">
                    <a:solidFill>
                      <a:srgbClr val="0B0B0B"/>
                    </a:solidFill>
                  </a:tcPr>
                </a:tc>
                <a:tc>
                  <a:txBody>
                    <a:bodyPr wrap="square"/>
                    <a:lstStyle/>
                    <a:p>
                      <a:pPr algn="l"/>
                      <a:r>
                        <a:rPr sz="900" b="0">
                          <a:solidFill>
                            <a:srgbClr val="22C55E"/>
                          </a:solidFill>
                          <a:latin typeface="Helvetica Neue"/>
                        </a:rPr>
                        <a:t>Madmatch</a:t>
                      </a:r>
                    </a:p>
                  </a:txBody>
                  <a:tcPr marL="73152" marR="73152" marT="18288" marB="18288" anchor="ctr">
                    <a:solidFill>
                      <a:srgbClr val="0B0B0B"/>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Konkurrent · Mulighed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Fem gab, én stor kile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Luk gabene, og gør så det største til en differentiator, ingen konkurrent ejer godt.</a:t>
            </a:r>
          </a:p>
        </p:txBody>
      </p:sp>
      <p:sp>
        <p:nvSpPr>
          <p:cNvPr id="10" name="Rounded Rectangle 9"/>
          <p:cNvSpPr/>
          <p:nvPr/>
        </p:nvSpPr>
        <p:spPr>
          <a:xfrm>
            <a:off x="79232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2" name="TextBox 11"/>
          <p:cNvSpPr txBox="1"/>
          <p:nvPr/>
        </p:nvSpPr>
        <p:spPr>
          <a:xfrm>
            <a:off x="102092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Tag ejerskab over lovligheden</a:t>
            </a:r>
          </a:p>
        </p:txBody>
      </p:sp>
      <p:sp>
        <p:nvSpPr>
          <p:cNvPr id="13" name="TextBox 12"/>
          <p:cNvSpPr txBox="1"/>
          <p:nvPr/>
        </p:nvSpPr>
        <p:spPr>
          <a:xfrm>
            <a:off x="102092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Kategoriens største indvending, og kun KRAN besvarer den (begravet i tekst). En venlig, synlig "hvorfor dette er lovligt"-sektion ville berolige bedre end alle andre.</a:t>
            </a:r>
          </a:p>
        </p:txBody>
      </p:sp>
      <p:sp>
        <p:nvSpPr>
          <p:cNvPr id="14" name="Rounded Rectangle 13"/>
          <p:cNvSpPr/>
          <p:nvPr/>
        </p:nvSpPr>
        <p:spPr>
          <a:xfrm>
            <a:off x="102092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Biggest wedge</a:t>
            </a:r>
          </a:p>
        </p:txBody>
      </p:sp>
      <p:sp>
        <p:nvSpPr>
          <p:cNvPr id="16" name="Rounded Rectangle 15"/>
          <p:cNvSpPr/>
          <p:nvPr/>
        </p:nvSpPr>
        <p:spPr>
          <a:xfrm>
            <a:off x="441944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8" name="TextBox 17"/>
          <p:cNvSpPr txBox="1"/>
          <p:nvPr/>
        </p:nvSpPr>
        <p:spPr>
          <a:xfrm>
            <a:off x="464804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Tilføj Trygg E-handel</a:t>
            </a:r>
          </a:p>
        </p:txBody>
      </p:sp>
      <p:sp>
        <p:nvSpPr>
          <p:cNvPr id="19" name="TextBox 18"/>
          <p:cNvSpPr txBox="1"/>
          <p:nvPr/>
        </p:nvSpPr>
        <p:spPr>
          <a:xfrm>
            <a:off x="464804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Tre af fire direkte konkurrenter viser det svenske tillidsmærke. dittvin læner sig op ad en dansk tv-anbefaling, der bærer mindre "sikker svensk butik"-signal.</a:t>
            </a:r>
          </a:p>
        </p:txBody>
      </p:sp>
      <p:sp>
        <p:nvSpPr>
          <p:cNvPr id="20" name="Rounded Rectangle 19"/>
          <p:cNvSpPr/>
          <p:nvPr/>
        </p:nvSpPr>
        <p:spPr>
          <a:xfrm>
            <a:off x="464804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Quick win</a:t>
            </a:r>
          </a:p>
        </p:txBody>
      </p:sp>
      <p:sp>
        <p:nvSpPr>
          <p:cNvPr id="22" name="Rounded Rectangle 21"/>
          <p:cNvSpPr/>
          <p:nvPr/>
        </p:nvSpPr>
        <p:spPr>
          <a:xfrm>
            <a:off x="804656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4" name="TextBox 23"/>
          <p:cNvSpPr txBox="1"/>
          <p:nvPr/>
        </p:nvSpPr>
        <p:spPr>
          <a:xfrm>
            <a:off x="827516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Gør levering konkret</a:t>
            </a:r>
          </a:p>
        </p:txBody>
      </p:sp>
      <p:sp>
        <p:nvSpPr>
          <p:cNvPr id="25" name="TextBox 24"/>
          <p:cNvSpPr txBox="1"/>
          <p:nvPr/>
        </p:nvSpPr>
        <p:spPr>
          <a:xfrm>
            <a:off x="827516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Supervin oplyser "fra 29 kr, fri over 999, 2-5 dage". dittvin siger kun "snabb" med en forbeholdt 695 kr Airmee-grænse. Konkret slår vagt.</a:t>
            </a:r>
          </a:p>
        </p:txBody>
      </p:sp>
      <p:sp>
        <p:nvSpPr>
          <p:cNvPr id="26" name="Rounded Rectangle 25"/>
          <p:cNvSpPr/>
          <p:nvPr/>
        </p:nvSpPr>
        <p:spPr>
          <a:xfrm>
            <a:off x="827516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Trust + clarity</a:t>
            </a:r>
          </a:p>
        </p:txBody>
      </p:sp>
      <p:sp>
        <p:nvSpPr>
          <p:cNvPr id="28" name="Rounded Rectangle 27"/>
          <p:cNvSpPr/>
          <p:nvPr/>
        </p:nvSpPr>
        <p:spPr>
          <a:xfrm>
            <a:off x="792327" y="434340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92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4</a:t>
            </a:r>
          </a:p>
        </p:txBody>
      </p:sp>
      <p:sp>
        <p:nvSpPr>
          <p:cNvPr id="30" name="TextBox 29"/>
          <p:cNvSpPr txBox="1"/>
          <p:nvPr/>
        </p:nvSpPr>
        <p:spPr>
          <a:xfrm>
            <a:off x="102092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Lokalisér fuldt til svensk</a:t>
            </a:r>
          </a:p>
        </p:txBody>
      </p:sp>
      <p:sp>
        <p:nvSpPr>
          <p:cNvPr id="31" name="TextBox 30"/>
          <p:cNvSpPr txBox="1"/>
          <p:nvPr/>
        </p:nvSpPr>
        <p:spPr>
          <a:xfrm>
            <a:off x="102092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Danske produkttyper og sidetitler siver igennem ("Kjøb", "Smagekasser"). Det virker usvensk og skader både tillid og synlighed.</a:t>
            </a:r>
          </a:p>
        </p:txBody>
      </p:sp>
      <p:sp>
        <p:nvSpPr>
          <p:cNvPr id="32" name="Rounded Rectangle 31"/>
          <p:cNvSpPr/>
          <p:nvPr/>
        </p:nvSpPr>
        <p:spPr>
          <a:xfrm>
            <a:off x="102092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092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Polish</a:t>
            </a:r>
          </a:p>
        </p:txBody>
      </p:sp>
      <p:sp>
        <p:nvSpPr>
          <p:cNvPr id="34" name="Rounded Rectangle 33"/>
          <p:cNvSpPr/>
          <p:nvPr/>
        </p:nvSpPr>
        <p:spPr>
          <a:xfrm>
            <a:off x="4419447" y="434340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804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5</a:t>
            </a:r>
          </a:p>
        </p:txBody>
      </p:sp>
      <p:sp>
        <p:nvSpPr>
          <p:cNvPr id="36" name="TextBox 35"/>
          <p:cNvSpPr txBox="1"/>
          <p:nvPr/>
        </p:nvSpPr>
        <p:spPr>
          <a:xfrm>
            <a:off x="464804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Fremhæv beviser, ikke kun rabatter</a:t>
            </a:r>
          </a:p>
        </p:txBody>
      </p:sp>
      <p:sp>
        <p:nvSpPr>
          <p:cNvPr id="37" name="TextBox 36"/>
          <p:cNvSpPr txBox="1"/>
          <p:nvPr/>
        </p:nvSpPr>
        <p:spPr>
          <a:xfrm>
            <a:off x="464804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har prismedaljer, Vivino-scorer og 4.7 Trustpilot, men læner sig på en generel 10% rabat. Ej "kuraterede vine til ærlige priser, med beviset".</a:t>
            </a:r>
          </a:p>
        </p:txBody>
      </p:sp>
      <p:sp>
        <p:nvSpPr>
          <p:cNvPr id="38" name="Rounded Rectangle 37"/>
          <p:cNvSpPr/>
          <p:nvPr/>
        </p:nvSpPr>
        <p:spPr>
          <a:xfrm>
            <a:off x="464804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804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Positioning</a:t>
            </a:r>
          </a:p>
        </p:txBody>
      </p:sp>
      <p:sp>
        <p:nvSpPr>
          <p:cNvPr id="40" name="Rounded Rectangle 39"/>
          <p:cNvSpPr/>
          <p:nvPr/>
        </p:nvSpPr>
        <p:spPr>
          <a:xfrm>
            <a:off x="8046567" y="4343400"/>
            <a:ext cx="3352800" cy="20574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5167" y="4526280"/>
            <a:ext cx="731520" cy="457200"/>
          </a:xfrm>
          <a:prstGeom prst="rect">
            <a:avLst/>
          </a:prstGeom>
          <a:noFill/>
        </p:spPr>
        <p:txBody>
          <a:bodyPr wrap="square" lIns="0" rIns="0" tIns="0" bIns="0" anchor="t">
            <a:spAutoFit/>
          </a:bodyPr>
          <a:lstStyle/>
          <a:p>
            <a:pPr algn="l"/>
            <a:r>
              <a:rPr sz="2600" b="1" i="0">
                <a:solidFill>
                  <a:srgbClr val="22C55E"/>
                </a:solidFill>
                <a:latin typeface="Menlo"/>
              </a:rPr>
              <a:t>+</a:t>
            </a:r>
          </a:p>
        </p:txBody>
      </p:sp>
      <p:sp>
        <p:nvSpPr>
          <p:cNvPr id="42" name="TextBox 41"/>
          <p:cNvSpPr txBox="1"/>
          <p:nvPr/>
        </p:nvSpPr>
        <p:spPr>
          <a:xfrm>
            <a:off x="827516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Fastholdelsesvolden, konkurrenterne mangler</a:t>
            </a:r>
          </a:p>
        </p:txBody>
      </p:sp>
      <p:sp>
        <p:nvSpPr>
          <p:cNvPr id="43" name="TextBox 42"/>
          <p:cNvSpPr txBox="1"/>
          <p:nvPr/>
        </p:nvSpPr>
        <p:spPr>
          <a:xfrm>
            <a:off x="827516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har allerede abonnement plus kasser. Winefinder og Supervin har slet intet abonnement. Ej "den tilbagevendende discovery-kasse for helt almindelige svenskere".</a:t>
            </a:r>
          </a:p>
        </p:txBody>
      </p:sp>
      <p:sp>
        <p:nvSpPr>
          <p:cNvPr id="44" name="Rounded Rectangle 43"/>
          <p:cNvSpPr/>
          <p:nvPr/>
        </p:nvSpPr>
        <p:spPr>
          <a:xfrm>
            <a:off x="827516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16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Defensible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06</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Teknisk audit</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Verificeret via live netværksopsamling, ikke en HTML-scanning. Alle tags er til stede, men konfigurationen er støjende og delvist forkert.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Teknisk · Tracking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Rens data, før du stoler på dem</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Alt affyres (GTM, GA4, Meta Pixel, Google Ads, Klaviyo, Clarity, Cookiebot). Problemet er redundans og én tydelig fejlkonfiguration.</a:t>
            </a:r>
          </a:p>
        </p:txBody>
      </p:sp>
      <p:sp>
        <p:nvSpPr>
          <p:cNvPr id="10" name="Rounded Rectangle 9"/>
          <p:cNvSpPr/>
          <p:nvPr/>
        </p:nvSpPr>
        <p:spPr>
          <a:xfrm>
            <a:off x="792327" y="2148840"/>
            <a:ext cx="3352800" cy="192024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High</a:t>
            </a:r>
          </a:p>
        </p:txBody>
      </p:sp>
      <p:sp>
        <p:nvSpPr>
          <p:cNvPr id="12" name="TextBox 11"/>
          <p:cNvSpPr txBox="1"/>
          <p:nvPr/>
        </p:nvSpPr>
        <p:spPr>
          <a:xfrm>
            <a:off x="102092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Konvertering affyres på forsiden</a:t>
            </a:r>
          </a:p>
        </p:txBody>
      </p:sp>
      <p:sp>
        <p:nvSpPr>
          <p:cNvPr id="13" name="TextBox 12"/>
          <p:cNvSpPr txBox="1"/>
          <p:nvPr/>
        </p:nvSpPr>
        <p:spPr>
          <a:xfrm>
            <a:off x="102092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Et Google Ads-konverterings-tag (AW-16748333837) affyrer "en=conversion, value 1.43 SEK" ved indlæsning af forsiden. Hvert besøg logger en konvertering, forurener Ads-data og vildleder budgivning.</a:t>
            </a:r>
          </a:p>
        </p:txBody>
      </p:sp>
      <p:sp>
        <p:nvSpPr>
          <p:cNvPr id="14" name="Rounded Rectangle 13"/>
          <p:cNvSpPr/>
          <p:nvPr/>
        </p:nvSpPr>
        <p:spPr>
          <a:xfrm>
            <a:off x="102092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Lav indsats · Høj effekt</a:t>
            </a:r>
          </a:p>
        </p:txBody>
      </p:sp>
      <p:sp>
        <p:nvSpPr>
          <p:cNvPr id="16" name="Rounded Rectangle 15"/>
          <p:cNvSpPr/>
          <p:nvPr/>
        </p:nvSpPr>
        <p:spPr>
          <a:xfrm>
            <a:off x="4419447" y="2148840"/>
            <a:ext cx="3352800" cy="192024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High</a:t>
            </a:r>
          </a:p>
        </p:txBody>
      </p:sp>
      <p:sp>
        <p:nvSpPr>
          <p:cNvPr id="18" name="TextBox 17"/>
          <p:cNvSpPr txBox="1"/>
          <p:nvPr/>
        </p:nvSpPr>
        <p:spPr>
          <a:xfrm>
            <a:off x="464804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Fire GA4-egenskaber på én gang</a:t>
            </a:r>
          </a:p>
        </p:txBody>
      </p:sp>
      <p:sp>
        <p:nvSpPr>
          <p:cNvPr id="19" name="TextBox 18"/>
          <p:cNvSpPr txBox="1"/>
          <p:nvPr/>
        </p:nvSpPr>
        <p:spPr>
          <a:xfrm>
            <a:off x="464804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G-2H577FR3BL, G-QVVPL3QFTK, G-ZHBPVPWFVY and G-ZPDXL42WNW all fire page_view in parallel. Fragmented, duplicated reporting. Consolidate to one source of truth.</a:t>
            </a:r>
          </a:p>
        </p:txBody>
      </p:sp>
      <p:sp>
        <p:nvSpPr>
          <p:cNvPr id="20" name="Rounded Rectangle 19"/>
          <p:cNvSpPr/>
          <p:nvPr/>
        </p:nvSpPr>
        <p:spPr>
          <a:xfrm>
            <a:off x="464804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Middel indsats · Høj effekt</a:t>
            </a:r>
          </a:p>
        </p:txBody>
      </p:sp>
      <p:sp>
        <p:nvSpPr>
          <p:cNvPr id="22" name="Rounded Rectangle 21"/>
          <p:cNvSpPr/>
          <p:nvPr/>
        </p:nvSpPr>
        <p:spPr>
          <a:xfrm>
            <a:off x="8046567" y="214884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24" name="TextBox 23"/>
          <p:cNvSpPr txBox="1"/>
          <p:nvPr/>
        </p:nvSpPr>
        <p:spPr>
          <a:xfrm>
            <a:off x="827516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Døde og duplikerede tags</a:t>
            </a:r>
          </a:p>
        </p:txBody>
      </p:sp>
      <p:sp>
        <p:nvSpPr>
          <p:cNvPr id="25" name="TextBox 24"/>
          <p:cNvSpPr txBox="1"/>
          <p:nvPr/>
        </p:nvSpPr>
        <p:spPr>
          <a:xfrm>
            <a:off x="827516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Ældre Universal Analytics (UA-234356383-1) ligger stadig i GTM (død siden 2023), og to Google Ads-konti affyres. Beskær for at undgå dobbelttælling.</a:t>
            </a:r>
          </a:p>
        </p:txBody>
      </p:sp>
      <p:sp>
        <p:nvSpPr>
          <p:cNvPr id="26" name="Rounded Rectangle 25"/>
          <p:cNvSpPr/>
          <p:nvPr/>
        </p:nvSpPr>
        <p:spPr>
          <a:xfrm>
            <a:off x="827516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Lav indsats · Middel effekt</a:t>
            </a:r>
          </a:p>
        </p:txBody>
      </p:sp>
      <p:sp>
        <p:nvSpPr>
          <p:cNvPr id="28" name="Rounded Rectangle 27"/>
          <p:cNvSpPr/>
          <p:nvPr/>
        </p:nvSpPr>
        <p:spPr>
          <a:xfrm>
            <a:off x="792327" y="434340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92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30" name="TextBox 29"/>
          <p:cNvSpPr txBox="1"/>
          <p:nvPr/>
        </p:nvSpPr>
        <p:spPr>
          <a:xfrm>
            <a:off x="102092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90+ konsolfejl pr. indlæsning</a:t>
            </a:r>
          </a:p>
        </p:txBody>
      </p:sp>
      <p:sp>
        <p:nvSpPr>
          <p:cNvPr id="31" name="TextBox 30"/>
          <p:cNvSpPr txBox="1"/>
          <p:nvPr/>
        </p:nvSpPr>
        <p:spPr>
          <a:xfrm>
            <a:off x="102092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Hver side kaster 90 til 190 JS-fejl. Det er den sandsynlige årsag til de tomme forsidesektioner og en mistænkt i frafald ved checkout.</a:t>
            </a:r>
          </a:p>
        </p:txBody>
      </p:sp>
      <p:sp>
        <p:nvSpPr>
          <p:cNvPr id="32" name="Rounded Rectangle 31"/>
          <p:cNvSpPr/>
          <p:nvPr/>
        </p:nvSpPr>
        <p:spPr>
          <a:xfrm>
            <a:off x="102092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092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Middel indsats · Middel effekt</a:t>
            </a:r>
          </a:p>
        </p:txBody>
      </p:sp>
      <p:sp>
        <p:nvSpPr>
          <p:cNvPr id="34" name="Rounded Rectangle 33"/>
          <p:cNvSpPr/>
          <p:nvPr/>
        </p:nvSpPr>
        <p:spPr>
          <a:xfrm>
            <a:off x="4419447" y="434340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804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Asset</a:t>
            </a:r>
          </a:p>
        </p:txBody>
      </p:sp>
      <p:sp>
        <p:nvSpPr>
          <p:cNvPr id="36" name="TextBox 35"/>
          <p:cNvSpPr txBox="1"/>
          <p:nvPr/>
        </p:nvSpPr>
        <p:spPr>
          <a:xfrm>
            <a:off x="464804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Clarity er allerede installeret</a:t>
            </a:r>
          </a:p>
        </p:txBody>
      </p:sp>
      <p:sp>
        <p:nvSpPr>
          <p:cNvPr id="37" name="TextBox 36"/>
          <p:cNvSpPr txBox="1"/>
          <p:nvPr/>
        </p:nvSpPr>
        <p:spPr>
          <a:xfrm>
            <a:off x="464804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Microsoft Clarity (projekt v7fb9kby3w) er aktivt og indsamler session replays. I sidder på adfærdsdata, I ikke bruger. Giv dashboardadgang.</a:t>
            </a:r>
          </a:p>
        </p:txBody>
      </p:sp>
      <p:sp>
        <p:nvSpPr>
          <p:cNvPr id="38" name="Rounded Rectangle 37"/>
          <p:cNvSpPr/>
          <p:nvPr/>
        </p:nvSpPr>
        <p:spPr>
          <a:xfrm>
            <a:off x="464804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804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Ingen indsats · Indsigt</a:t>
            </a:r>
          </a:p>
        </p:txBody>
      </p:sp>
      <p:sp>
        <p:nvSpPr>
          <p:cNvPr id="40" name="Rounded Rectangle 39"/>
          <p:cNvSpPr/>
          <p:nvPr/>
        </p:nvSpPr>
        <p:spPr>
          <a:xfrm>
            <a:off x="8046567" y="434340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516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42" name="TextBox 41"/>
          <p:cNvSpPr txBox="1"/>
          <p:nvPr/>
        </p:nvSpPr>
        <p:spPr>
          <a:xfrm>
            <a:off x="827516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Genvind "(not set)"-signalet</a:t>
            </a:r>
          </a:p>
        </p:txBody>
      </p:sp>
      <p:sp>
        <p:nvSpPr>
          <p:cNvPr id="43" name="TextBox 42"/>
          <p:cNvSpPr txBox="1"/>
          <p:nvPr/>
        </p:nvSpPr>
        <p:spPr>
          <a:xfrm>
            <a:off x="827516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Server side-GTM plus Meta server side-sporing og consent mode-modellering ville genvinde de 29% af sessionerne, der i dag går tabt, og give bedre data til den annoncekanal, I er afhængige af.</a:t>
            </a:r>
          </a:p>
        </p:txBody>
      </p:sp>
      <p:sp>
        <p:nvSpPr>
          <p:cNvPr id="44" name="Rounded Rectangle 43"/>
          <p:cNvSpPr/>
          <p:nvPr/>
        </p:nvSpPr>
        <p:spPr>
          <a:xfrm>
            <a:off x="827516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16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Høj indsats · Høj effekt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Teknik · Hastighed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For mange tags gør butikken langsom</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Butikken indlæser mange tredjeparts-tags og scripts på hver side. På mobil, hvor 86% af køberne er, gør al den ekstra vægt siden langsommere. Løsningen er smart tag-styring: fjern det, der ikke er nødvendigt, og kombinér resten.</a:t>
            </a:r>
          </a:p>
        </p:txBody>
      </p:sp>
      <p:sp>
        <p:nvSpPr>
          <p:cNvPr id="10" name="Rounded Rectangle 9"/>
          <p:cNvSpPr/>
          <p:nvPr/>
        </p:nvSpPr>
        <p:spPr>
          <a:xfrm>
            <a:off x="79232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542032"/>
            <a:ext cx="2446020" cy="502920"/>
          </a:xfrm>
          <a:prstGeom prst="rect">
            <a:avLst/>
          </a:prstGeom>
          <a:noFill/>
        </p:spPr>
        <p:txBody>
          <a:bodyPr wrap="square" lIns="0" rIns="0" tIns="0" bIns="0" anchor="t">
            <a:spAutoFit/>
          </a:bodyPr>
          <a:lstStyle/>
          <a:p>
            <a:pPr algn="ctr"/>
            <a:r>
              <a:rPr sz="3000" b="1" i="0">
                <a:solidFill>
                  <a:srgbClr val="FFFFFF"/>
                </a:solidFill>
                <a:latin typeface="Menlo"/>
              </a:rPr>
              <a:t>417</a:t>
            </a:r>
          </a:p>
        </p:txBody>
      </p:sp>
      <p:sp>
        <p:nvSpPr>
          <p:cNvPr id="12" name="TextBox 11"/>
          <p:cNvSpPr txBox="1"/>
          <p:nvPr/>
        </p:nvSpPr>
        <p:spPr>
          <a:xfrm>
            <a:off x="79232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Ting der indlæses på forsiden</a:t>
            </a:r>
          </a:p>
        </p:txBody>
      </p:sp>
      <p:sp>
        <p:nvSpPr>
          <p:cNvPr id="13" name="TextBox 12"/>
          <p:cNvSpPr txBox="1"/>
          <p:nvPr/>
        </p:nvSpPr>
        <p:spPr>
          <a:xfrm>
            <a:off x="79232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En tung bunke tredjeparts-scripts</a:t>
            </a:r>
          </a:p>
        </p:txBody>
      </p:sp>
      <p:sp>
        <p:nvSpPr>
          <p:cNvPr id="14" name="Rounded Rectangle 13"/>
          <p:cNvSpPr/>
          <p:nvPr/>
        </p:nvSpPr>
        <p:spPr>
          <a:xfrm>
            <a:off x="351266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542032"/>
            <a:ext cx="2446020" cy="502920"/>
          </a:xfrm>
          <a:prstGeom prst="rect">
            <a:avLst/>
          </a:prstGeom>
          <a:noFill/>
        </p:spPr>
        <p:txBody>
          <a:bodyPr wrap="square" lIns="0" rIns="0" tIns="0" bIns="0" anchor="t">
            <a:spAutoFit/>
          </a:bodyPr>
          <a:lstStyle/>
          <a:p>
            <a:pPr algn="ctr"/>
            <a:r>
              <a:rPr sz="3000" b="1" i="0">
                <a:solidFill>
                  <a:srgbClr val="EF4444"/>
                </a:solidFill>
                <a:latin typeface="Menlo"/>
              </a:rPr>
              <a:t>90+</a:t>
            </a:r>
          </a:p>
        </p:txBody>
      </p:sp>
      <p:sp>
        <p:nvSpPr>
          <p:cNvPr id="16" name="TextBox 15"/>
          <p:cNvSpPr txBox="1"/>
          <p:nvPr/>
        </p:nvSpPr>
        <p:spPr>
          <a:xfrm>
            <a:off x="351266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Fejl på hver side</a:t>
            </a:r>
          </a:p>
        </p:txBody>
      </p:sp>
      <p:sp>
        <p:nvSpPr>
          <p:cNvPr id="17" name="TextBox 16"/>
          <p:cNvSpPr txBox="1"/>
          <p:nvPr/>
        </p:nvSpPr>
        <p:spPr>
          <a:xfrm>
            <a:off x="351266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Kodefejl der skal ryddes</a:t>
            </a:r>
          </a:p>
        </p:txBody>
      </p:sp>
      <p:sp>
        <p:nvSpPr>
          <p:cNvPr id="18" name="Rounded Rectangle 17"/>
          <p:cNvSpPr/>
          <p:nvPr/>
        </p:nvSpPr>
        <p:spPr>
          <a:xfrm>
            <a:off x="623300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542032"/>
            <a:ext cx="2446020" cy="502920"/>
          </a:xfrm>
          <a:prstGeom prst="rect">
            <a:avLst/>
          </a:prstGeom>
          <a:noFill/>
        </p:spPr>
        <p:txBody>
          <a:bodyPr wrap="square" lIns="0" rIns="0" tIns="0" bIns="0" anchor="t">
            <a:spAutoFit/>
          </a:bodyPr>
          <a:lstStyle/>
          <a:p>
            <a:pPr algn="ctr"/>
            <a:r>
              <a:rPr sz="3000" b="1" i="0">
                <a:solidFill>
                  <a:srgbClr val="FFFFFF"/>
                </a:solidFill>
                <a:latin typeface="Menlo"/>
              </a:rPr>
              <a:t>4 + 2</a:t>
            </a:r>
          </a:p>
        </p:txBody>
      </p:sp>
      <p:sp>
        <p:nvSpPr>
          <p:cNvPr id="20" name="TextBox 19"/>
          <p:cNvSpPr txBox="1"/>
          <p:nvPr/>
        </p:nvSpPr>
        <p:spPr>
          <a:xfrm>
            <a:off x="623300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GA4- og Ads-tags</a:t>
            </a:r>
          </a:p>
        </p:txBody>
      </p:sp>
      <p:sp>
        <p:nvSpPr>
          <p:cNvPr id="21" name="TextBox 20"/>
          <p:cNvSpPr txBox="1"/>
          <p:nvPr/>
        </p:nvSpPr>
        <p:spPr>
          <a:xfrm>
            <a:off x="623300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Plus Meta, Rebuy, Klaviyo, chat</a:t>
            </a:r>
          </a:p>
        </p:txBody>
      </p:sp>
      <p:sp>
        <p:nvSpPr>
          <p:cNvPr id="22" name="Rounded Rectangle 21"/>
          <p:cNvSpPr/>
          <p:nvPr/>
        </p:nvSpPr>
        <p:spPr>
          <a:xfrm>
            <a:off x="895334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542032"/>
            <a:ext cx="2446020" cy="502920"/>
          </a:xfrm>
          <a:prstGeom prst="rect">
            <a:avLst/>
          </a:prstGeom>
          <a:noFill/>
        </p:spPr>
        <p:txBody>
          <a:bodyPr wrap="square" lIns="0" rIns="0" tIns="0" bIns="0" anchor="t">
            <a:spAutoFit/>
          </a:bodyPr>
          <a:lstStyle/>
          <a:p>
            <a:pPr algn="ctr"/>
            <a:r>
              <a:rPr sz="3000" b="1" i="0">
                <a:solidFill>
                  <a:srgbClr val="F59E0B"/>
                </a:solidFill>
                <a:latin typeface="Menlo"/>
              </a:rPr>
              <a:t>Blocked</a:t>
            </a:r>
          </a:p>
        </p:txBody>
      </p:sp>
      <p:sp>
        <p:nvSpPr>
          <p:cNvPr id="24" name="TextBox 23"/>
          <p:cNvSpPr txBox="1"/>
          <p:nvPr/>
        </p:nvSpPr>
        <p:spPr>
          <a:xfrm>
            <a:off x="895334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Hastighedsscore</a:t>
            </a:r>
          </a:p>
        </p:txBody>
      </p:sp>
      <p:sp>
        <p:nvSpPr>
          <p:cNvPr id="25" name="TextBox 24"/>
          <p:cNvSpPr txBox="1"/>
          <p:nvPr/>
        </p:nvSpPr>
        <p:spPr>
          <a:xfrm>
            <a:off x="895334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Hastighedstesten ramte en daglig grænse; mål reel hastighed i Clarity</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Hastighedstesten blev blokeret af en daglig grænse, så der er ingen 0 til 100-score her. Shopify-hastighedsscorer læses også lavere end virkeligheden, så behandl hastighed som basal hygiejne: skær tag-vægten ned, ryd fejlene, og spor derefter reel besøgshastighed i Clarity og Search Console.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07</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RPV: Nordstjernen</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Omsætning pr. besøgende = konvertering x ordreværdi, forstærket af genkøb. Før vi kan vokse den, skal vi kunne se den. På Shopify-tal er her, hvor den står, og hvordan vi vokser den.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De rigtige tal</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Omsætningsgrundlaget (Shopify)</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RPV = omsætning pr. besøgende. Her er det reelle 90-dages grundlag, det ganges op fra, direkte fra Shopify.</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graphicFrame>
        <p:nvGraphicFramePr>
          <p:cNvPr id="11" name="Table 10"/>
          <p:cNvGraphicFramePr>
            <a:graphicFrameLocks noGrp="1"/>
          </p:cNvGraphicFramePr>
          <p:nvPr/>
        </p:nvGraphicFramePr>
        <p:xfrm>
          <a:off x="883767" y="2377440"/>
          <a:ext cx="10424158" cy="2194560"/>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MÅLTAL (SHOPIFY, 90 DAGE)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VÆRDI</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NOTE</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Ordrer</a:t>
                      </a:r>
                    </a:p>
                  </a:txBody>
                  <a:tcPr marL="73152" marR="73152" marT="18288" marB="18288" anchor="ctr">
                    <a:solidFill>
                      <a:srgbClr val="000000"/>
                    </a:solidFill>
                  </a:tcPr>
                </a:tc>
                <a:tc>
                  <a:txBody>
                    <a:bodyPr wrap="square"/>
                    <a:lstStyle/>
                    <a:p>
                      <a:pPr algn="r"/>
                      <a:r>
                        <a:rPr sz="1100" b="0">
                          <a:solidFill>
                            <a:srgbClr val="EFEEEE"/>
                          </a:solidFill>
                          <a:latin typeface="Menlo"/>
                        </a:rPr>
                        <a:t>38,306</a:t>
                      </a:r>
                    </a:p>
                  </a:txBody>
                  <a:tcPr marL="73152" marR="73152" marT="18288" marB="18288" anchor="ctr">
                    <a:solidFill>
                      <a:srgbClr val="000000"/>
                    </a:solidFill>
                  </a:tcPr>
                </a:tc>
                <a:tc>
                  <a:txBody>
                    <a:bodyPr wrap="square"/>
                    <a:lstStyle/>
                    <a:p>
                      <a:pPr algn="l"/>
                      <a:r>
                        <a:rPr sz="1100" b="0">
                          <a:solidFill>
                            <a:srgbClr val="EFEEEE"/>
                          </a:solidFill>
                          <a:latin typeface="Helvetica Neue"/>
                        </a:rPr>
                        <a:t>31,860 kunder</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Bruttosalg</a:t>
                      </a:r>
                    </a:p>
                  </a:txBody>
                  <a:tcPr marL="73152" marR="73152" marT="18288" marB="18288" anchor="ctr">
                    <a:solidFill>
                      <a:srgbClr val="0B0B0B"/>
                    </a:solidFill>
                  </a:tcPr>
                </a:tc>
                <a:tc>
                  <a:txBody>
                    <a:bodyPr wrap="square"/>
                    <a:lstStyle/>
                    <a:p>
                      <a:pPr algn="r"/>
                      <a:r>
                        <a:rPr sz="1100" b="0">
                          <a:solidFill>
                            <a:srgbClr val="EFEEEE"/>
                          </a:solidFill>
                          <a:latin typeface="Menlo"/>
                        </a:rPr>
                        <a:t>33.3M SEK</a:t>
                      </a:r>
                    </a:p>
                  </a:txBody>
                  <a:tcPr marL="73152" marR="73152" marT="18288" marB="18288" anchor="ctr">
                    <a:solidFill>
                      <a:srgbClr val="0B0B0B"/>
                    </a:solidFill>
                  </a:tcPr>
                </a:tc>
                <a:tc>
                  <a:txBody>
                    <a:bodyPr wrap="square"/>
                    <a:lstStyle/>
                    <a:p>
                      <a:pPr algn="l"/>
                      <a:r>
                        <a:rPr sz="1100" b="0">
                          <a:solidFill>
                            <a:srgbClr val="EFEEEE"/>
                          </a:solidFill>
                          <a:latin typeface="Helvetica Neue"/>
                        </a:rPr>
                        <a:t>ekskl. moms, rabatter, refunderinger</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Samlet salg inkl. moms + fragt</a:t>
                      </a:r>
                    </a:p>
                  </a:txBody>
                  <a:tcPr marL="73152" marR="73152" marT="18288" marB="18288" anchor="ctr">
                    <a:solidFill>
                      <a:srgbClr val="000000"/>
                    </a:solidFill>
                  </a:tcPr>
                </a:tc>
                <a:tc>
                  <a:txBody>
                    <a:bodyPr wrap="square"/>
                    <a:lstStyle/>
                    <a:p>
                      <a:pPr algn="r"/>
                      <a:r>
                        <a:rPr sz="1100" b="0">
                          <a:solidFill>
                            <a:srgbClr val="EFEEEE"/>
                          </a:solidFill>
                          <a:latin typeface="Menlo"/>
                        </a:rPr>
                        <a:t>41.5M SEK</a:t>
                      </a:r>
                    </a:p>
                  </a:txBody>
                  <a:tcPr marL="73152" marR="73152" marT="18288" marB="18288" anchor="ctr">
                    <a:solidFill>
                      <a:srgbClr val="000000"/>
                    </a:solidFill>
                  </a:tcPr>
                </a:tc>
                <a:tc>
                  <a:txBody>
                    <a:bodyPr wrap="square"/>
                    <a:lstStyle/>
                    <a:p>
                      <a:pPr algn="l"/>
                      <a:r>
                        <a:rPr sz="1100" b="0">
                          <a:solidFill>
                            <a:srgbClr val="EFEEEE"/>
                          </a:solidFill>
                          <a:latin typeface="Helvetica Neue"/>
                        </a:rPr>
                        <a:t>opkrævet beløb</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Nettosalg</a:t>
                      </a:r>
                    </a:p>
                  </a:txBody>
                  <a:tcPr marL="73152" marR="73152" marT="18288" marB="18288" anchor="ctr">
                    <a:solidFill>
                      <a:srgbClr val="0B0B0B"/>
                    </a:solidFill>
                  </a:tcPr>
                </a:tc>
                <a:tc>
                  <a:txBody>
                    <a:bodyPr wrap="square"/>
                    <a:lstStyle/>
                    <a:p>
                      <a:pPr algn="r"/>
                      <a:r>
                        <a:rPr sz="1100" b="0">
                          <a:solidFill>
                            <a:srgbClr val="EFEEEE"/>
                          </a:solidFill>
                          <a:latin typeface="Menlo"/>
                        </a:rPr>
                        <a:t>31.7M SEK</a:t>
                      </a:r>
                    </a:p>
                  </a:txBody>
                  <a:tcPr marL="73152" marR="73152" marT="18288" marB="18288" anchor="ctr">
                    <a:solidFill>
                      <a:srgbClr val="0B0B0B"/>
                    </a:solidFill>
                  </a:tcPr>
                </a:tc>
                <a:tc>
                  <a:txBody>
                    <a:bodyPr wrap="square"/>
                    <a:lstStyle/>
                    <a:p>
                      <a:pPr algn="l"/>
                      <a:r>
                        <a:rPr sz="1100" b="0">
                          <a:solidFill>
                            <a:srgbClr val="EFEEEE"/>
                          </a:solidFill>
                          <a:latin typeface="Helvetica Neue"/>
                        </a:rPr>
                        <a:t>indregnet omsætning</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AOV</a:t>
                      </a:r>
                    </a:p>
                  </a:txBody>
                  <a:tcPr marL="73152" marR="73152" marT="18288" marB="18288" anchor="ctr">
                    <a:solidFill>
                      <a:srgbClr val="000000"/>
                    </a:solidFill>
                  </a:tcPr>
                </a:tc>
                <a:tc>
                  <a:txBody>
                    <a:bodyPr wrap="square"/>
                    <a:lstStyle/>
                    <a:p>
                      <a:pPr algn="r"/>
                      <a:r>
                        <a:rPr sz="1100" b="0">
                          <a:solidFill>
                            <a:srgbClr val="EFEEEE"/>
                          </a:solidFill>
                          <a:latin typeface="Menlo"/>
                        </a:rPr>
                        <a:t>864 SEK</a:t>
                      </a:r>
                    </a:p>
                  </a:txBody>
                  <a:tcPr marL="73152" marR="73152" marT="18288" marB="18288" anchor="ctr">
                    <a:solidFill>
                      <a:srgbClr val="000000"/>
                    </a:solidFill>
                  </a:tcPr>
                </a:tc>
                <a:tc>
                  <a:txBody>
                    <a:bodyPr wrap="square"/>
                    <a:lstStyle/>
                    <a:p>
                      <a:pPr algn="l"/>
                      <a:r>
                        <a:rPr sz="1100" b="0">
                          <a:solidFill>
                            <a:srgbClr val="EFEEEE"/>
                          </a:solidFill>
                          <a:latin typeface="Helvetica Neue"/>
                        </a:rPr>
                        <a:t>brutto / ordrer</a:t>
                      </a:r>
                    </a:p>
                  </a:txBody>
                  <a:tcPr marL="73152" marR="73152" marT="18288" marB="18288" anchor="ctr">
                    <a:solidFill>
                      <a:srgbClr val="000000"/>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Run rate: cirka 135M SEK/år brutto, 165M inkl. moms. GA4 ville antyde cirka en tredjedel af det, og derfor er måling løftestang nummer et. RPV vokser ved at løfte konvertering (checkout), ordreværdi (vinkassestige) og genkøb (abonnement).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Ligningen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RPV = Konvertering x Ordreværdi</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Fire løftestænger flytter nordstjernen: trafikkvalitet, konvertering, ordreværdi og genkøb. De reelle tal, korrigeret mod Shopify.</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sp>
        <p:nvSpPr>
          <p:cNvPr id="11" name="Rounded Rectangle 10"/>
          <p:cNvSpPr/>
          <p:nvPr/>
        </p:nvSpPr>
        <p:spPr>
          <a:xfrm>
            <a:off x="79232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868 SEK</a:t>
            </a:r>
          </a:p>
        </p:txBody>
      </p:sp>
      <p:sp>
        <p:nvSpPr>
          <p:cNvPr id="13" name="TextBox 12"/>
          <p:cNvSpPr txBox="1"/>
          <p:nvPr/>
        </p:nvSpPr>
        <p:spPr>
          <a:xfrm>
            <a:off x="79232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Reel AOV (Shopify)</a:t>
            </a:r>
          </a:p>
        </p:txBody>
      </p:sp>
      <p:sp>
        <p:nvSpPr>
          <p:cNvPr id="14" name="TextBox 13"/>
          <p:cNvSpPr txBox="1"/>
          <p:nvPr/>
        </p:nvSpPr>
        <p:spPr>
          <a:xfrm>
            <a:off x="79232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GA4 overvurderede den til 1,017</a:t>
            </a:r>
          </a:p>
        </p:txBody>
      </p:sp>
      <p:sp>
        <p:nvSpPr>
          <p:cNvPr id="15" name="Rounded Rectangle 14"/>
          <p:cNvSpPr/>
          <p:nvPr/>
        </p:nvSpPr>
        <p:spPr>
          <a:xfrm>
            <a:off x="351266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99 SEK</a:t>
            </a:r>
          </a:p>
        </p:txBody>
      </p:sp>
      <p:sp>
        <p:nvSpPr>
          <p:cNvPr id="17" name="TextBox 16"/>
          <p:cNvSpPr txBox="1"/>
          <p:nvPr/>
        </p:nvSpPr>
        <p:spPr>
          <a:xfrm>
            <a:off x="351266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RPV / session</a:t>
            </a:r>
          </a:p>
        </p:txBody>
      </p:sp>
      <p:sp>
        <p:nvSpPr>
          <p:cNvPr id="18" name="TextBox 17"/>
          <p:cNvSpPr txBox="1"/>
          <p:nvPr/>
        </p:nvSpPr>
        <p:spPr>
          <a:xfrm>
            <a:off x="351266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33.3M / 336,855 sessioner</a:t>
            </a:r>
          </a:p>
        </p:txBody>
      </p:sp>
      <p:sp>
        <p:nvSpPr>
          <p:cNvPr id="19" name="Rounded Rectangle 18"/>
          <p:cNvSpPr/>
          <p:nvPr/>
        </p:nvSpPr>
        <p:spPr>
          <a:xfrm>
            <a:off x="623300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633472"/>
            <a:ext cx="2446020" cy="502920"/>
          </a:xfrm>
          <a:prstGeom prst="rect">
            <a:avLst/>
          </a:prstGeom>
          <a:noFill/>
        </p:spPr>
        <p:txBody>
          <a:bodyPr wrap="square" lIns="0" rIns="0" tIns="0" bIns="0" anchor="t">
            <a:spAutoFit/>
          </a:bodyPr>
          <a:lstStyle/>
          <a:p>
            <a:pPr algn="ctr"/>
            <a:r>
              <a:rPr sz="3000" b="1" i="0">
                <a:solidFill>
                  <a:srgbClr val="FFFFFF"/>
                </a:solidFill>
                <a:latin typeface="Menlo"/>
              </a:rPr>
              <a:t>38,306</a:t>
            </a:r>
          </a:p>
        </p:txBody>
      </p:sp>
      <p:sp>
        <p:nvSpPr>
          <p:cNvPr id="21" name="TextBox 20"/>
          <p:cNvSpPr txBox="1"/>
          <p:nvPr/>
        </p:nvSpPr>
        <p:spPr>
          <a:xfrm>
            <a:off x="623300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Rigtige ordrer / 90d</a:t>
            </a:r>
          </a:p>
        </p:txBody>
      </p:sp>
      <p:sp>
        <p:nvSpPr>
          <p:cNvPr id="22" name="TextBox 21"/>
          <p:cNvSpPr txBox="1"/>
          <p:nvPr/>
        </p:nvSpPr>
        <p:spPr>
          <a:xfrm>
            <a:off x="623300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3.3x GA4-tallet</a:t>
            </a:r>
          </a:p>
        </p:txBody>
      </p:sp>
      <p:sp>
        <p:nvSpPr>
          <p:cNvPr id="23" name="Rounded Rectangle 22"/>
          <p:cNvSpPr/>
          <p:nvPr/>
        </p:nvSpPr>
        <p:spPr>
          <a:xfrm>
            <a:off x="895334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66%</a:t>
            </a:r>
          </a:p>
        </p:txBody>
      </p:sp>
      <p:sp>
        <p:nvSpPr>
          <p:cNvPr id="25" name="TextBox 24"/>
          <p:cNvSpPr txBox="1"/>
          <p:nvPr/>
        </p:nvSpPr>
        <p:spPr>
          <a:xfrm>
            <a:off x="895334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Tilbagevendende købere</a:t>
            </a:r>
          </a:p>
        </p:txBody>
      </p:sp>
      <p:sp>
        <p:nvSpPr>
          <p:cNvPr id="26" name="TextBox 25"/>
          <p:cNvSpPr txBox="1"/>
          <p:nvPr/>
        </p:nvSpPr>
        <p:spPr>
          <a:xfrm>
            <a:off x="895334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genkøbsmotoren kører</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RPV = Shopify brutto 33.3M / Shopify-sessioner 336,855 = ~99 SEK pr. session, cirka 2.7x Shopify-benchmarken. Løftestængerne med mest plads er checkout-konvertering og abonnementstilmeldinger; måling er det, der lader os styre dem.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GA4-rater + Shopify-omsætning · Retningsgivende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Konverteringsgabet for nye kunder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Nye besøgende er cirka dobbelt så mange som tilbagevendende, men de konverterer lavere og bidrager kun med en fjerdedel af omsætningen. At løfte nye kunders konvertering mod de tilbagevendendes rate er det største løft på både kort og lang sigt, og smagsklarhed er løftestangen.</a:t>
            </a:r>
          </a:p>
        </p:txBody>
      </p:sp>
      <p:sp>
        <p:nvSpPr>
          <p:cNvPr id="10" name="TextBox 9"/>
          <p:cNvSpPr txBox="1"/>
          <p:nvPr/>
        </p:nvSpPr>
        <p:spPr>
          <a:xfrm>
            <a:off x="640080" y="2505456"/>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GA4 · 90 dage · 25. april til 23. juli 2026 · retningsgivende</a:t>
            </a:r>
          </a:p>
        </p:txBody>
      </p:sp>
      <p:sp>
        <p:nvSpPr>
          <p:cNvPr id="11" name="Rounded Rectangle 10"/>
          <p:cNvSpPr/>
          <p:nvPr/>
        </p:nvSpPr>
        <p:spPr>
          <a:xfrm>
            <a:off x="792327" y="2816352"/>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3072384"/>
            <a:ext cx="2446020" cy="502920"/>
          </a:xfrm>
          <a:prstGeom prst="rect">
            <a:avLst/>
          </a:prstGeom>
          <a:noFill/>
        </p:spPr>
        <p:txBody>
          <a:bodyPr wrap="square" lIns="0" rIns="0" tIns="0" bIns="0" anchor="t">
            <a:spAutoFit/>
          </a:bodyPr>
          <a:lstStyle/>
          <a:p>
            <a:pPr algn="ctr"/>
            <a:r>
              <a:rPr sz="3000" b="1" i="0">
                <a:solidFill>
                  <a:srgbClr val="F59E0B"/>
                </a:solidFill>
                <a:latin typeface="Menlo"/>
              </a:rPr>
              <a:t>2.62%</a:t>
            </a:r>
          </a:p>
        </p:txBody>
      </p:sp>
      <p:sp>
        <p:nvSpPr>
          <p:cNvPr id="13" name="TextBox 12"/>
          <p:cNvSpPr txBox="1"/>
          <p:nvPr/>
        </p:nvSpPr>
        <p:spPr>
          <a:xfrm>
            <a:off x="79232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CVR for nye besøgende</a:t>
            </a:r>
          </a:p>
        </p:txBody>
      </p:sp>
      <p:sp>
        <p:nvSpPr>
          <p:cNvPr id="14" name="TextBox 13"/>
          <p:cNvSpPr txBox="1"/>
          <p:nvPr/>
        </p:nvSpPr>
        <p:spPr>
          <a:xfrm>
            <a:off x="79232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GA4, retningsgivende</a:t>
            </a:r>
          </a:p>
        </p:txBody>
      </p:sp>
      <p:sp>
        <p:nvSpPr>
          <p:cNvPr id="15" name="Rounded Rectangle 14"/>
          <p:cNvSpPr/>
          <p:nvPr/>
        </p:nvSpPr>
        <p:spPr>
          <a:xfrm>
            <a:off x="3512667" y="2816352"/>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3072384"/>
            <a:ext cx="2446020" cy="502920"/>
          </a:xfrm>
          <a:prstGeom prst="rect">
            <a:avLst/>
          </a:prstGeom>
          <a:noFill/>
        </p:spPr>
        <p:txBody>
          <a:bodyPr wrap="square" lIns="0" rIns="0" tIns="0" bIns="0" anchor="t">
            <a:spAutoFit/>
          </a:bodyPr>
          <a:lstStyle/>
          <a:p>
            <a:pPr algn="ctr"/>
            <a:r>
              <a:rPr sz="3000" b="1" i="0">
                <a:solidFill>
                  <a:srgbClr val="22C55E"/>
                </a:solidFill>
                <a:latin typeface="Menlo"/>
              </a:rPr>
              <a:t>3.42%</a:t>
            </a:r>
          </a:p>
        </p:txBody>
      </p:sp>
      <p:sp>
        <p:nvSpPr>
          <p:cNvPr id="17" name="TextBox 16"/>
          <p:cNvSpPr txBox="1"/>
          <p:nvPr/>
        </p:nvSpPr>
        <p:spPr>
          <a:xfrm>
            <a:off x="351266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CVR for tilbagevendende besøgende</a:t>
            </a:r>
          </a:p>
        </p:txBody>
      </p:sp>
      <p:sp>
        <p:nvSpPr>
          <p:cNvPr id="18" name="TextBox 17"/>
          <p:cNvSpPr txBox="1"/>
          <p:nvPr/>
        </p:nvSpPr>
        <p:spPr>
          <a:xfrm>
            <a:off x="351266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~1.3x nye (GA4)</a:t>
            </a:r>
          </a:p>
        </p:txBody>
      </p:sp>
      <p:sp>
        <p:nvSpPr>
          <p:cNvPr id="19" name="Rounded Rectangle 18"/>
          <p:cNvSpPr/>
          <p:nvPr/>
        </p:nvSpPr>
        <p:spPr>
          <a:xfrm>
            <a:off x="6233007" y="2816352"/>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3072384"/>
            <a:ext cx="2446020" cy="502920"/>
          </a:xfrm>
          <a:prstGeom prst="rect">
            <a:avLst/>
          </a:prstGeom>
          <a:noFill/>
        </p:spPr>
        <p:txBody>
          <a:bodyPr wrap="square" lIns="0" rIns="0" tIns="0" bIns="0" anchor="t">
            <a:spAutoFit/>
          </a:bodyPr>
          <a:lstStyle/>
          <a:p>
            <a:pPr algn="ctr"/>
            <a:r>
              <a:rPr sz="3000" b="1" i="0">
                <a:solidFill>
                  <a:srgbClr val="F59E0B"/>
                </a:solidFill>
                <a:latin typeface="Menlo"/>
              </a:rPr>
              <a:t>25%</a:t>
            </a:r>
          </a:p>
        </p:txBody>
      </p:sp>
      <p:sp>
        <p:nvSpPr>
          <p:cNvPr id="21" name="TextBox 20"/>
          <p:cNvSpPr txBox="1"/>
          <p:nvPr/>
        </p:nvSpPr>
        <p:spPr>
          <a:xfrm>
            <a:off x="623300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Omsætning fra nye kunder</a:t>
            </a:r>
          </a:p>
        </p:txBody>
      </p:sp>
      <p:sp>
        <p:nvSpPr>
          <p:cNvPr id="22" name="TextBox 21"/>
          <p:cNvSpPr txBox="1"/>
          <p:nvPr/>
        </p:nvSpPr>
        <p:spPr>
          <a:xfrm>
            <a:off x="623300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Shopify: 10,9M af 43,7M</a:t>
            </a:r>
          </a:p>
        </p:txBody>
      </p:sp>
      <p:sp>
        <p:nvSpPr>
          <p:cNvPr id="23" name="Rounded Rectangle 22"/>
          <p:cNvSpPr/>
          <p:nvPr/>
        </p:nvSpPr>
        <p:spPr>
          <a:xfrm>
            <a:off x="8953347" y="2816352"/>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3072384"/>
            <a:ext cx="2446020" cy="502920"/>
          </a:xfrm>
          <a:prstGeom prst="rect">
            <a:avLst/>
          </a:prstGeom>
          <a:noFill/>
        </p:spPr>
        <p:txBody>
          <a:bodyPr wrap="square" lIns="0" rIns="0" tIns="0" bIns="0" anchor="t">
            <a:spAutoFit/>
          </a:bodyPr>
          <a:lstStyle/>
          <a:p>
            <a:pPr algn="ctr"/>
            <a:r>
              <a:rPr sz="3000" b="1" i="0">
                <a:solidFill>
                  <a:srgbClr val="22C55E"/>
                </a:solidFill>
                <a:latin typeface="Menlo"/>
              </a:rPr>
              <a:t>+30%</a:t>
            </a:r>
          </a:p>
        </p:txBody>
      </p:sp>
      <p:sp>
        <p:nvSpPr>
          <p:cNvPr id="25" name="TextBox 24"/>
          <p:cNvSpPr txBox="1"/>
          <p:nvPr/>
        </p:nvSpPr>
        <p:spPr>
          <a:xfrm>
            <a:off x="8953347" y="3602736"/>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Nye ordrer hvis gabet lukkes</a:t>
            </a:r>
          </a:p>
        </p:txBody>
      </p:sp>
      <p:sp>
        <p:nvSpPr>
          <p:cNvPr id="26" name="TextBox 25"/>
          <p:cNvSpPr txBox="1"/>
          <p:nvPr/>
        </p:nvSpPr>
        <p:spPr>
          <a:xfrm>
            <a:off x="8953347" y="3840480"/>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~+3,300 ordrer, +3,3M SEK (Est.)</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GA4 sporer færre køb end Shopify (cirka 31% af ordrerne), så læs tallene som retningsgivende; vi bruger raterne, ikke de absolutte tal, og gabet holder uanset undertællingen. Omsætningsfordelingen er fra Shopify (facit): nye kunder står for 26% af ordrerne og 25% af omsætningen. Løftestangen til at lukke gabet er at fjerne de største tøvepunkter for nye købere: smagsklarhed først, derefter tryghed om lovlighed og et troværdigt leveringsløfte. Hver ny kunde, der konverteres, forstærkes, fordi de bliver den tilbagevendende base, der allerede driver 75% af omsætningen.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AOV-motoren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Kasser er forretningen</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Smagekasser udgør 76% af nettosalget til næsten fuld pris. Den realiserede samlede rabat er kun 3.4%, så de "-45%"-mærkater på sitet er teater, ikke tab af margin.</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dage · 25. april til 23. juli 2026</a:t>
            </a:r>
          </a:p>
        </p:txBody>
      </p:sp>
      <p:graphicFrame>
        <p:nvGraphicFramePr>
          <p:cNvPr id="11" name="Table 10"/>
          <p:cNvGraphicFramePr>
            <a:graphicFrameLocks noGrp="1"/>
          </p:cNvGraphicFramePr>
          <p:nvPr/>
        </p:nvGraphicFramePr>
        <p:xfrm>
          <a:off x="883767" y="2377440"/>
          <a:ext cx="10424156" cy="182880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SEGMENT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ENHEDER 91D</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ANDEL AF NETTOSALG</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GNS. PRIS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REALISERET RABAT</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Smagekasser (vinlådor)</a:t>
                      </a:r>
                    </a:p>
                  </a:txBody>
                  <a:tcPr marL="73152" marR="73152" marT="18288" marB="18288" anchor="ctr">
                    <a:solidFill>
                      <a:srgbClr val="000000"/>
                    </a:solidFill>
                  </a:tcPr>
                </a:tc>
                <a:tc>
                  <a:txBody>
                    <a:bodyPr wrap="square"/>
                    <a:lstStyle/>
                    <a:p>
                      <a:pPr algn="r"/>
                      <a:r>
                        <a:rPr sz="1100" b="0">
                          <a:solidFill>
                            <a:srgbClr val="EFEEEE"/>
                          </a:solidFill>
                          <a:latin typeface="Menlo"/>
                        </a:rPr>
                        <a:t>43,617</a:t>
                      </a:r>
                    </a:p>
                  </a:txBody>
                  <a:tcPr marL="73152" marR="73152" marT="18288" marB="18288" anchor="ctr">
                    <a:solidFill>
                      <a:srgbClr val="000000"/>
                    </a:solidFill>
                  </a:tcPr>
                </a:tc>
                <a:tc>
                  <a:txBody>
                    <a:bodyPr wrap="square"/>
                    <a:lstStyle/>
                    <a:p>
                      <a:pPr algn="r"/>
                      <a:r>
                        <a:rPr sz="1100" b="0">
                          <a:solidFill>
                            <a:srgbClr val="22C55E"/>
                          </a:solidFill>
                          <a:latin typeface="Menlo"/>
                        </a:rPr>
                        <a:t>76.3%</a:t>
                      </a:r>
                    </a:p>
                  </a:txBody>
                  <a:tcPr marL="73152" marR="73152" marT="18288" marB="18288" anchor="ctr">
                    <a:solidFill>
                      <a:srgbClr val="000000"/>
                    </a:solidFill>
                  </a:tcPr>
                </a:tc>
                <a:tc>
                  <a:txBody>
                    <a:bodyPr wrap="square"/>
                    <a:lstStyle/>
                    <a:p>
                      <a:pPr algn="r"/>
                      <a:r>
                        <a:rPr sz="1100" b="0">
                          <a:solidFill>
                            <a:srgbClr val="EFEEEE"/>
                          </a:solidFill>
                          <a:latin typeface="Menlo"/>
                        </a:rPr>
                        <a:t>567 SEK</a:t>
                      </a:r>
                    </a:p>
                  </a:txBody>
                  <a:tcPr marL="73152" marR="73152" marT="18288" marB="18288" anchor="ctr">
                    <a:solidFill>
                      <a:srgbClr val="000000"/>
                    </a:solidFill>
                  </a:tcPr>
                </a:tc>
                <a:tc>
                  <a:txBody>
                    <a:bodyPr wrap="square"/>
                    <a:lstStyle/>
                    <a:p>
                      <a:pPr algn="r"/>
                      <a:r>
                        <a:rPr sz="1100" b="0">
                          <a:solidFill>
                            <a:srgbClr val="22C55E"/>
                          </a:solidFill>
                          <a:latin typeface="Menlo"/>
                        </a:rPr>
                        <a:t>1.2%</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Enkelte rødvinsflasker</a:t>
                      </a:r>
                    </a:p>
                  </a:txBody>
                  <a:tcPr marL="73152" marR="73152" marT="18288" marB="18288" anchor="ctr">
                    <a:solidFill>
                      <a:srgbClr val="0B0B0B"/>
                    </a:solidFill>
                  </a:tcPr>
                </a:tc>
                <a:tc>
                  <a:txBody>
                    <a:bodyPr wrap="square"/>
                    <a:lstStyle/>
                    <a:p>
                      <a:pPr algn="r"/>
                      <a:r>
                        <a:rPr sz="1100" b="0">
                          <a:solidFill>
                            <a:srgbClr val="EFEEEE"/>
                          </a:solidFill>
                          <a:latin typeface="Menlo"/>
                        </a:rPr>
                        <a:t>11,396</a:t>
                      </a:r>
                    </a:p>
                  </a:txBody>
                  <a:tcPr marL="73152" marR="73152" marT="18288" marB="18288" anchor="ctr">
                    <a:solidFill>
                      <a:srgbClr val="0B0B0B"/>
                    </a:solidFill>
                  </a:tcPr>
                </a:tc>
                <a:tc>
                  <a:txBody>
                    <a:bodyPr wrap="square"/>
                    <a:lstStyle/>
                    <a:p>
                      <a:pPr algn="r"/>
                      <a:r>
                        <a:rPr sz="1100" b="0">
                          <a:solidFill>
                            <a:srgbClr val="EFEEEE"/>
                          </a:solidFill>
                          <a:latin typeface="Menlo"/>
                        </a:rPr>
                        <a:t>12%</a:t>
                      </a:r>
                    </a:p>
                  </a:txBody>
                  <a:tcPr marL="73152" marR="73152" marT="18288" marB="18288" anchor="ctr">
                    <a:solidFill>
                      <a:srgbClr val="0B0B0B"/>
                    </a:solidFill>
                  </a:tcPr>
                </a:tc>
                <a:tc>
                  <a:txBody>
                    <a:bodyPr wrap="square"/>
                    <a:lstStyle/>
                    <a:p>
                      <a:pPr algn="r"/>
                      <a:r>
                        <a:rPr sz="1100" b="0">
                          <a:solidFill>
                            <a:srgbClr val="EFEEEE"/>
                          </a:solidFill>
                          <a:latin typeface="Menlo"/>
                        </a:rPr>
                        <a:t>~400 SEK</a:t>
                      </a:r>
                    </a:p>
                  </a:txBody>
                  <a:tcPr marL="73152" marR="73152" marT="18288" marB="18288" anchor="ctr">
                    <a:solidFill>
                      <a:srgbClr val="0B0B0B"/>
                    </a:solidFill>
                  </a:tcPr>
                </a:tc>
                <a:tc>
                  <a:txBody>
                    <a:bodyPr wrap="square"/>
                    <a:lstStyle/>
                    <a:p>
                      <a:pPr algn="r"/>
                      <a:r>
                        <a:rPr sz="1100" b="0">
                          <a:solidFill>
                            <a:srgbClr val="EF4444"/>
                          </a:solidFill>
                          <a:latin typeface="Menlo"/>
                        </a:rPr>
                        <a:t>18.4%</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Premiumkasser (Grill, Guld, Deluxe)</a:t>
                      </a:r>
                    </a:p>
                  </a:txBody>
                  <a:tcPr marL="73152" marR="73152" marT="18288" marB="18288" anchor="ctr">
                    <a:solidFill>
                      <a:srgbClr val="000000"/>
                    </a:solidFill>
                  </a:tcPr>
                </a:tc>
                <a:tc>
                  <a:txBody>
                    <a:bodyPr wrap="square"/>
                    <a:lstStyle/>
                    <a:p>
                      <a:pPr algn="r"/>
                      <a:r>
                        <a:rPr sz="1100" b="0">
                          <a:solidFill>
                            <a:srgbClr val="EFEEEE"/>
                          </a:solidFill>
                          <a:latin typeface="Menlo"/>
                        </a:rPr>
                        <a:t>2,668</a:t>
                      </a:r>
                    </a:p>
                  </a:txBody>
                  <a:tcPr marL="73152" marR="73152" marT="18288" marB="18288" anchor="ctr">
                    <a:solidFill>
                      <a:srgbClr val="000000"/>
                    </a:solidFill>
                  </a:tcPr>
                </a:tc>
                <a:tc>
                  <a:txBody>
                    <a:bodyPr wrap="square"/>
                    <a:lstStyle/>
                    <a:p>
                      <a:pPr algn="r"/>
                      <a:r>
                        <a:rPr sz="1100" b="0">
                          <a:solidFill>
                            <a:srgbClr val="EFEEEE"/>
                          </a:solidFill>
                          <a:latin typeface="Menlo"/>
                        </a:rPr>
                        <a:t>7%</a:t>
                      </a:r>
                    </a:p>
                  </a:txBody>
                  <a:tcPr marL="73152" marR="73152" marT="18288" marB="18288" anchor="ctr">
                    <a:solidFill>
                      <a:srgbClr val="000000"/>
                    </a:solidFill>
                  </a:tcPr>
                </a:tc>
                <a:tc>
                  <a:txBody>
                    <a:bodyPr wrap="square"/>
                    <a:lstStyle/>
                    <a:p>
                      <a:pPr algn="r"/>
                      <a:r>
                        <a:rPr sz="1100" b="0">
                          <a:solidFill>
                            <a:srgbClr val="EFEEEE"/>
                          </a:solidFill>
                          <a:latin typeface="Menlo"/>
                        </a:rPr>
                        <a:t>700 til 865 SEK</a:t>
                      </a:r>
                    </a:p>
                  </a:txBody>
                  <a:tcPr marL="73152" marR="73152" marT="18288" marB="18288" anchor="ctr">
                    <a:solidFill>
                      <a:srgbClr val="000000"/>
                    </a:solidFill>
                  </a:tcPr>
                </a:tc>
                <a:tc>
                  <a:txBody>
                    <a:bodyPr wrap="square"/>
                    <a:lstStyle/>
                    <a:p>
                      <a:pPr algn="r"/>
                      <a:r>
                        <a:rPr sz="1100" b="0">
                          <a:solidFill>
                            <a:srgbClr val="EFEEEE"/>
                          </a:solidFill>
                          <a:latin typeface="Menlo"/>
                        </a:rPr>
                        <a:t>2 to 5%</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Abonnement (3 niveauer)</a:t>
                      </a:r>
                    </a:p>
                  </a:txBody>
                  <a:tcPr marL="73152" marR="73152" marT="18288" marB="18288" anchor="ctr">
                    <a:solidFill>
                      <a:srgbClr val="0B0B0B"/>
                    </a:solidFill>
                  </a:tcPr>
                </a:tc>
                <a:tc>
                  <a:txBody>
                    <a:bodyPr wrap="square"/>
                    <a:lstStyle/>
                    <a:p>
                      <a:pPr algn="r"/>
                      <a:r>
                        <a:rPr sz="1100" b="0">
                          <a:solidFill>
                            <a:srgbClr val="EFEEEE"/>
                          </a:solidFill>
                          <a:latin typeface="Menlo"/>
                        </a:rPr>
                        <a:t>live</a:t>
                      </a:r>
                    </a:p>
                  </a:txBody>
                  <a:tcPr marL="73152" marR="73152" marT="18288" marB="18288" anchor="ctr">
                    <a:solidFill>
                      <a:srgbClr val="0B0B0B"/>
                    </a:solidFill>
                  </a:tcPr>
                </a:tc>
                <a:tc>
                  <a:txBody>
                    <a:bodyPr wrap="square"/>
                    <a:lstStyle/>
                    <a:p>
                      <a:pPr algn="r"/>
                      <a:r>
                        <a:rPr sz="1100" b="0">
                          <a:solidFill>
                            <a:srgbClr val="F59E0B"/>
                          </a:solidFill>
                          <a:latin typeface="Menlo"/>
                        </a:rPr>
                        <a:t>101 ordrer / 90d</a:t>
                      </a:r>
                    </a:p>
                  </a:txBody>
                  <a:tcPr marL="73152" marR="73152" marT="18288" marB="18288" anchor="ctr">
                    <a:solidFill>
                      <a:srgbClr val="0B0B0B"/>
                    </a:solidFill>
                  </a:tcPr>
                </a:tc>
                <a:tc>
                  <a:txBody>
                    <a:bodyPr wrap="square"/>
                    <a:lstStyle/>
                    <a:p>
                      <a:pPr algn="r"/>
                      <a:r>
                        <a:rPr sz="1100" b="0">
                          <a:solidFill>
                            <a:srgbClr val="EFEEEE"/>
                          </a:solidFill>
                          <a:latin typeface="Menlo"/>
                        </a:rPr>
                        <a:t>749-849 SEK</a:t>
                      </a:r>
                    </a:p>
                  </a:txBody>
                  <a:tcPr marL="73152" marR="73152" marT="18288" marB="18288" anchor="ctr">
                    <a:solidFill>
                      <a:srgbClr val="0B0B0B"/>
                    </a:solidFill>
                  </a:tcPr>
                </a:tc>
                <a:tc>
                  <a:txBody>
                    <a:bodyPr wrap="square"/>
                    <a:lstStyle/>
                    <a:p>
                      <a:pPr algn="r"/>
                      <a:r>
                        <a:rPr sz="1100" b="0">
                          <a:solidFill>
                            <a:srgbClr val="EFEEEE"/>
                          </a:solidFill>
                          <a:latin typeface="Menlo"/>
                        </a:rPr>
                        <a:t>0%</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Top 2 SKU'er (THE FANTINI BOX, XL Introlåda) = 26.5% af nettosalget. Top 30 SKU'er (6% af kataloget) = 80%. AOV-løftestangen er en boks-stige (flyt 567 SEK-køberen op til premium-niveauerne på 700 SEK+) plus vækst i de eksisterende abonnementstilmeldinger, ikke mere rabat.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EcomHouse · Beviste vindere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RPV-sejre vi har leveret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De samme løftestænger som i denne roadmap, kørt som A/B-tests for andre EU-ecombrands. Kundenavne under NDA, hver eneste løftede omsætning pr. besøgende.</a:t>
            </a:r>
          </a:p>
        </p:txBody>
      </p:sp>
      <p:graphicFrame>
        <p:nvGraphicFramePr>
          <p:cNvPr id="10" name="Table 9"/>
          <p:cNvGraphicFramePr>
            <a:graphicFrameLocks noGrp="1"/>
          </p:cNvGraphicFramePr>
          <p:nvPr/>
        </p:nvGraphicFramePr>
        <p:xfrm>
          <a:off x="883767" y="2103120"/>
          <a:ext cx="10424158" cy="2560320"/>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TEST (PÅ PRODUKTSIDEN)</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LØFT I CVR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LØFT I RPV</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Tillidssektion</a:t>
                      </a:r>
                    </a:p>
                  </a:txBody>
                  <a:tcPr marL="73152" marR="73152" marT="18288" marB="18288" anchor="ctr">
                    <a:solidFill>
                      <a:srgbClr val="000000"/>
                    </a:solidFill>
                  </a:tcPr>
                </a:tc>
                <a:tc>
                  <a:txBody>
                    <a:bodyPr wrap="square"/>
                    <a:lstStyle/>
                    <a:p>
                      <a:pPr algn="r"/>
                      <a:r>
                        <a:rPr sz="1100" b="0">
                          <a:solidFill>
                            <a:srgbClr val="EFEEEE"/>
                          </a:solidFill>
                          <a:latin typeface="Menlo"/>
                        </a:rPr>
                        <a:t>n/a</a:t>
                      </a:r>
                    </a:p>
                  </a:txBody>
                  <a:tcPr marL="73152" marR="73152" marT="18288" marB="18288" anchor="ctr">
                    <a:solidFill>
                      <a:srgbClr val="000000"/>
                    </a:solidFill>
                  </a:tcPr>
                </a:tc>
                <a:tc>
                  <a:txBody>
                    <a:bodyPr wrap="square"/>
                    <a:lstStyle/>
                    <a:p>
                      <a:pPr algn="r"/>
                      <a:r>
                        <a:rPr sz="1100" b="0">
                          <a:solidFill>
                            <a:srgbClr val="22C55E"/>
                          </a:solidFill>
                          <a:latin typeface="Menlo"/>
                        </a:rPr>
                        <a:t>+38.0%</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Sticky læg i kurv</a:t>
                      </a:r>
                    </a:p>
                  </a:txBody>
                  <a:tcPr marL="73152" marR="73152" marT="18288" marB="18288" anchor="ctr">
                    <a:solidFill>
                      <a:srgbClr val="0B0B0B"/>
                    </a:solidFill>
                  </a:tcPr>
                </a:tc>
                <a:tc>
                  <a:txBody>
                    <a:bodyPr wrap="square"/>
                    <a:lstStyle/>
                    <a:p>
                      <a:pPr algn="r"/>
                      <a:r>
                        <a:rPr sz="1100" b="0">
                          <a:solidFill>
                            <a:srgbClr val="22C55E"/>
                          </a:solidFill>
                          <a:latin typeface="Menlo"/>
                        </a:rPr>
                        <a:t>+25.3%</a:t>
                      </a:r>
                    </a:p>
                  </a:txBody>
                  <a:tcPr marL="73152" marR="73152" marT="18288" marB="18288" anchor="ctr">
                    <a:solidFill>
                      <a:srgbClr val="0B0B0B"/>
                    </a:solidFill>
                  </a:tcPr>
                </a:tc>
                <a:tc>
                  <a:txBody>
                    <a:bodyPr wrap="square"/>
                    <a:lstStyle/>
                    <a:p>
                      <a:pPr algn="r"/>
                      <a:r>
                        <a:rPr sz="1100" b="0">
                          <a:solidFill>
                            <a:srgbClr val="22C55E"/>
                          </a:solidFill>
                          <a:latin typeface="Menlo"/>
                        </a:rPr>
                        <a:t>+21.1%</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Visning af mængderabat</a:t>
                      </a:r>
                    </a:p>
                  </a:txBody>
                  <a:tcPr marL="73152" marR="73152" marT="18288" marB="18288" anchor="ctr">
                    <a:solidFill>
                      <a:srgbClr val="000000"/>
                    </a:solidFill>
                  </a:tcPr>
                </a:tc>
                <a:tc>
                  <a:txBody>
                    <a:bodyPr wrap="square"/>
                    <a:lstStyle/>
                    <a:p>
                      <a:pPr algn="r"/>
                      <a:r>
                        <a:rPr sz="1100" b="0">
                          <a:solidFill>
                            <a:srgbClr val="22C55E"/>
                          </a:solidFill>
                          <a:latin typeface="Menlo"/>
                        </a:rPr>
                        <a:t>+13.5%</a:t>
                      </a:r>
                    </a:p>
                  </a:txBody>
                  <a:tcPr marL="73152" marR="73152" marT="18288" marB="18288" anchor="ctr">
                    <a:solidFill>
                      <a:srgbClr val="000000"/>
                    </a:solidFill>
                  </a:tcPr>
                </a:tc>
                <a:tc>
                  <a:txBody>
                    <a:bodyPr wrap="square"/>
                    <a:lstStyle/>
                    <a:p>
                      <a:pPr algn="r"/>
                      <a:r>
                        <a:rPr sz="1100" b="0">
                          <a:solidFill>
                            <a:srgbClr val="22C55E"/>
                          </a:solidFill>
                          <a:latin typeface="Menlo"/>
                        </a:rPr>
                        <a:t>+20.7%</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Produkttillidsmærker</a:t>
                      </a:r>
                    </a:p>
                  </a:txBody>
                  <a:tcPr marL="73152" marR="73152" marT="18288" marB="18288" anchor="ctr">
                    <a:solidFill>
                      <a:srgbClr val="0B0B0B"/>
                    </a:solidFill>
                  </a:tcPr>
                </a:tc>
                <a:tc>
                  <a:txBody>
                    <a:bodyPr wrap="square"/>
                    <a:lstStyle/>
                    <a:p>
                      <a:pPr algn="r"/>
                      <a:r>
                        <a:rPr sz="1100" b="0">
                          <a:solidFill>
                            <a:srgbClr val="22C55E"/>
                          </a:solidFill>
                          <a:latin typeface="Menlo"/>
                        </a:rPr>
                        <a:t>+13.2%</a:t>
                      </a:r>
                    </a:p>
                  </a:txBody>
                  <a:tcPr marL="73152" marR="73152" marT="18288" marB="18288" anchor="ctr">
                    <a:solidFill>
                      <a:srgbClr val="0B0B0B"/>
                    </a:solidFill>
                  </a:tcPr>
                </a:tc>
                <a:tc>
                  <a:txBody>
                    <a:bodyPr wrap="square"/>
                    <a:lstStyle/>
                    <a:p>
                      <a:pPr algn="r"/>
                      <a:r>
                        <a:rPr sz="1100" b="0">
                          <a:solidFill>
                            <a:srgbClr val="22C55E"/>
                          </a:solidFill>
                          <a:latin typeface="Menlo"/>
                        </a:rPr>
                        <a:t>+10.8%</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Mængdevælger-badge</a:t>
                      </a:r>
                    </a:p>
                  </a:txBody>
                  <a:tcPr marL="73152" marR="73152" marT="18288" marB="18288" anchor="ctr">
                    <a:solidFill>
                      <a:srgbClr val="000000"/>
                    </a:solidFill>
                  </a:tcPr>
                </a:tc>
                <a:tc>
                  <a:txBody>
                    <a:bodyPr wrap="square"/>
                    <a:lstStyle/>
                    <a:p>
                      <a:pPr algn="r"/>
                      <a:r>
                        <a:rPr sz="1100" b="0">
                          <a:solidFill>
                            <a:srgbClr val="22C55E"/>
                          </a:solidFill>
                          <a:latin typeface="Menlo"/>
                        </a:rPr>
                        <a:t>+5.8%</a:t>
                      </a:r>
                    </a:p>
                  </a:txBody>
                  <a:tcPr marL="73152" marR="73152" marT="18288" marB="18288" anchor="ctr">
                    <a:solidFill>
                      <a:srgbClr val="000000"/>
                    </a:solidFill>
                  </a:tcPr>
                </a:tc>
                <a:tc>
                  <a:txBody>
                    <a:bodyPr wrap="square"/>
                    <a:lstStyle/>
                    <a:p>
                      <a:pPr algn="r"/>
                      <a:r>
                        <a:rPr sz="1100" b="0">
                          <a:solidFill>
                            <a:srgbClr val="22C55E"/>
                          </a:solidFill>
                          <a:latin typeface="Menlo"/>
                        </a:rPr>
                        <a:t>+8.7%</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Redesign over folden</a:t>
                      </a:r>
                    </a:p>
                  </a:txBody>
                  <a:tcPr marL="73152" marR="73152" marT="18288" marB="18288" anchor="ctr">
                    <a:solidFill>
                      <a:srgbClr val="0B0B0B"/>
                    </a:solidFill>
                  </a:tcPr>
                </a:tc>
                <a:tc>
                  <a:txBody>
                    <a:bodyPr wrap="square"/>
                    <a:lstStyle/>
                    <a:p>
                      <a:pPr algn="r"/>
                      <a:r>
                        <a:rPr sz="1100" b="0">
                          <a:solidFill>
                            <a:srgbClr val="22C55E"/>
                          </a:solidFill>
                          <a:latin typeface="Menlo"/>
                        </a:rPr>
                        <a:t>+6.9%</a:t>
                      </a:r>
                    </a:p>
                  </a:txBody>
                  <a:tcPr marL="73152" marR="73152" marT="18288" marB="18288" anchor="ctr">
                    <a:solidFill>
                      <a:srgbClr val="0B0B0B"/>
                    </a:solidFill>
                  </a:tcPr>
                </a:tc>
                <a:tc>
                  <a:txBody>
                    <a:bodyPr wrap="square"/>
                    <a:lstStyle/>
                    <a:p>
                      <a:pPr algn="r"/>
                      <a:r>
                        <a:rPr sz="1100" b="0">
                          <a:solidFill>
                            <a:srgbClr val="22C55E"/>
                          </a:solidFill>
                          <a:latin typeface="Menlo"/>
                        </a:rPr>
                        <a:t>+5.2%</a:t>
                      </a:r>
                    </a:p>
                  </a:txBody>
                  <a:tcPr marL="73152" marR="73152" marT="18288" marB="18288" anchor="ctr">
                    <a:solidFill>
                      <a:srgbClr val="0B0B0B"/>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Seks A/B-tests EcomHouse kørte for andre EU-ecommercebrands (kundenavne under NDA), alle på produktsider og alle kørt til statistisk signifikans (86 til 96%). De matcher direkte denne roadmap: tillid, sticky læg i kurv og volumen- eller mængdetilbud. Hver eneste løftede omsætning pr. besøgende, den samme northstar vi optimerer for dittvin.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42</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08</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CRO &amp; RPV-roadmap</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Sekventeret efter effekt og evidens. Ret tillid og lækagen i kurven først, derefter produktsiden og leveringsoplevelsen, så finpudsning og den tekniske infrastruktur.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RPV-vækstplanen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Fem løftestænger, i rækkefølge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Prioriteret efter gearing på omsætning pr. besøgende. Måling først, fordi det multiplicerer hver anden løftestang og hver betalt krone.</a:t>
            </a:r>
          </a:p>
        </p:txBody>
      </p:sp>
      <p:graphicFrame>
        <p:nvGraphicFramePr>
          <p:cNvPr id="10" name="Table 9"/>
          <p:cNvGraphicFramePr>
            <a:graphicFrameLocks noGrp="1"/>
          </p:cNvGraphicFramePr>
          <p:nvPr/>
        </p:nvGraphicFramePr>
        <p:xfrm>
          <a:off x="457200" y="2066544"/>
          <a:ext cx="11274550" cy="4480560"/>
        </p:xfrm>
        <a:graphic>
          <a:graphicData uri="http://schemas.openxmlformats.org/drawingml/2006/table">
            <a:tbl>
              <a:tblPr>
                <a:tableStyleId>{2D5ABB26-0587-4C30-8999-92F81FD0307C}</a:tableStyleId>
              </a:tblPr>
              <a:tblGrid>
                <a:gridCol w="894805"/>
                <a:gridCol w="1789611"/>
                <a:gridCol w="1789611"/>
                <a:gridCol w="5010912"/>
                <a:gridCol w="1789611"/>
              </a:tblGrid>
              <a:tr h="365760">
                <a:tc>
                  <a:txBody>
                    <a:bodyPr wrap="square"/>
                    <a:lstStyle/>
                    <a:p>
                      <a:pPr algn="l"/>
                      <a:r>
                        <a:rPr sz="900" b="1" spc="100">
                          <a:solidFill>
                            <a:srgbClr val="999999"/>
                          </a:solidFill>
                          <a:latin typeface="Helvetica Neue"/>
                        </a:rPr>
                        <a: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LØFTESTANG</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TILTAG</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HVORFOR DET FLYTTER RPV</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INDSATS</a:t>
                      </a:r>
                    </a:p>
                  </a:txBody>
                  <a:tcPr marL="73152" marR="73152" marT="18288" marB="18288" anchor="ctr">
                    <a:solidFill>
                      <a:srgbClr val="0A0A0A"/>
                    </a:solidFill>
                  </a:tcPr>
                </a:tc>
              </a:tr>
              <a:tr h="822960">
                <a:tc>
                  <a:txBody>
                    <a:bodyPr wrap="square"/>
                    <a:lstStyle/>
                    <a:p>
                      <a:pPr algn="l"/>
                      <a:r>
                        <a:rPr sz="900" b="1">
                          <a:solidFill>
                            <a:srgbClr val="EF4444"/>
                          </a:solidFill>
                          <a:latin typeface="Helvetica Neue"/>
                        </a:rPr>
                        <a:t>1</a:t>
                      </a:r>
                    </a:p>
                  </a:txBody>
                  <a:tcPr marL="73152" marR="73152" marT="18288" marB="18288" anchor="ctr">
                    <a:solidFill>
                      <a:srgbClr val="000000"/>
                    </a:solidFill>
                  </a:tcPr>
                </a:tc>
                <a:tc>
                  <a:txBody>
                    <a:bodyPr wrap="square"/>
                    <a:lstStyle/>
                    <a:p>
                      <a:pPr algn="l"/>
                      <a:r>
                        <a:rPr sz="900" b="0">
                          <a:solidFill>
                            <a:srgbClr val="F7D007"/>
                          </a:solidFill>
                          <a:latin typeface="Helvetica Neue"/>
                        </a:rPr>
                        <a:t>Måling</a:t>
                      </a:r>
                    </a:p>
                  </a:txBody>
                  <a:tcPr marL="73152" marR="73152" marT="18288" marB="18288" anchor="ctr">
                    <a:solidFill>
                      <a:srgbClr val="000000"/>
                    </a:solidFill>
                  </a:tcPr>
                </a:tc>
                <a:tc>
                  <a:txBody>
                    <a:bodyPr wrap="square"/>
                    <a:lstStyle/>
                    <a:p>
                      <a:pPr algn="l"/>
                      <a:r>
                        <a:rPr sz="900" b="0">
                          <a:solidFill>
                            <a:srgbClr val="EFEEEE"/>
                          </a:solidFill>
                          <a:latin typeface="Helvetica Neue"/>
                        </a:rPr>
                        <a:t>Server side-GTM + Consent Mode-modellering + Meta server side-sporing; konsolidér til én GA4</a:t>
                      </a:r>
                    </a:p>
                  </a:txBody>
                  <a:tcPr marL="73152" marR="73152" marT="18288" marB="18288" anchor="ctr">
                    <a:solidFill>
                      <a:srgbClr val="000000"/>
                    </a:solidFill>
                  </a:tcPr>
                </a:tc>
                <a:tc>
                  <a:txBody>
                    <a:bodyPr wrap="square"/>
                    <a:lstStyle/>
                    <a:p>
                      <a:pPr algn="l"/>
                      <a:r>
                        <a:rPr sz="900" b="0">
                          <a:solidFill>
                            <a:srgbClr val="EFEEEE"/>
                          </a:solidFill>
                          <a:latin typeface="Helvetica Neue"/>
                        </a:rPr>
                        <a:t>Låser reel RPV op og giver annoncealgoritmerne 3x konverteringssignalet, hvilket løfter ROAS på samme forbrug</a:t>
                      </a:r>
                    </a:p>
                  </a:txBody>
                  <a:tcPr marL="73152" marR="73152" marT="18288" marB="18288" anchor="ctr">
                    <a:solidFill>
                      <a:srgbClr val="000000"/>
                    </a:solidFill>
                  </a:tcPr>
                </a:tc>
                <a:tc>
                  <a:txBody>
                    <a:bodyPr wrap="square"/>
                    <a:lstStyle/>
                    <a:p>
                      <a:pPr algn="r"/>
                      <a:r>
                        <a:rPr sz="900" b="0">
                          <a:solidFill>
                            <a:srgbClr val="EFEEEE"/>
                          </a:solidFill>
                          <a:latin typeface="Menlo"/>
                        </a:rPr>
                        <a:t>Høj</a:t>
                      </a:r>
                    </a:p>
                  </a:txBody>
                  <a:tcPr marL="73152" marR="73152" marT="18288" marB="18288" anchor="ctr">
                    <a:solidFill>
                      <a:srgbClr val="000000"/>
                    </a:solidFill>
                  </a:tcPr>
                </a:tc>
              </a:tr>
              <a:tr h="822960">
                <a:tc>
                  <a:txBody>
                    <a:bodyPr wrap="square"/>
                    <a:lstStyle/>
                    <a:p>
                      <a:pPr algn="l"/>
                      <a:r>
                        <a:rPr sz="900" b="1">
                          <a:solidFill>
                            <a:srgbClr val="EF4444"/>
                          </a:solidFill>
                          <a:latin typeface="Helvetica Neue"/>
                        </a:rPr>
                        <a:t>2</a:t>
                      </a:r>
                    </a:p>
                  </a:txBody>
                  <a:tcPr marL="73152" marR="73152" marT="18288" marB="18288" anchor="ctr">
                    <a:solidFill>
                      <a:srgbClr val="0B0B0B"/>
                    </a:solidFill>
                  </a:tcPr>
                </a:tc>
                <a:tc>
                  <a:txBody>
                    <a:bodyPr wrap="square"/>
                    <a:lstStyle/>
                    <a:p>
                      <a:pPr algn="l"/>
                      <a:r>
                        <a:rPr sz="900" b="0">
                          <a:solidFill>
                            <a:srgbClr val="F7D007"/>
                          </a:solidFill>
                          <a:latin typeface="Helvetica Neue"/>
                        </a:rPr>
                        <a:t>Abonnement</a:t>
                      </a:r>
                    </a:p>
                  </a:txBody>
                  <a:tcPr marL="73152" marR="73152" marT="18288" marB="18288" anchor="ctr">
                    <a:solidFill>
                      <a:srgbClr val="0B0B0B"/>
                    </a:solidFill>
                  </a:tcPr>
                </a:tc>
                <a:tc>
                  <a:txBody>
                    <a:bodyPr wrap="square"/>
                    <a:lstStyle/>
                    <a:p>
                      <a:pPr algn="l"/>
                      <a:r>
                        <a:rPr sz="900" b="0">
                          <a:solidFill>
                            <a:srgbClr val="EFEEEE"/>
                          </a:solidFill>
                          <a:latin typeface="Helvetica Neue"/>
                        </a:rPr>
                        <a:t>Udbyg det eksisterende abonnement (Wine, Gin, Champagne 749 til 849 SEK): fremhæv det, tilføj tilmeldingsprompter på produktside og checkout</a:t>
                      </a:r>
                    </a:p>
                  </a:txBody>
                  <a:tcPr marL="73152" marR="73152" marT="18288" marB="18288" anchor="ctr">
                    <a:solidFill>
                      <a:srgbClr val="0B0B0B"/>
                    </a:solidFill>
                  </a:tcPr>
                </a:tc>
                <a:tc>
                  <a:txBody>
                    <a:bodyPr wrap="square"/>
                    <a:lstStyle/>
                    <a:p>
                      <a:pPr algn="l"/>
                      <a:r>
                        <a:rPr sz="900" b="0">
                          <a:solidFill>
                            <a:srgbClr val="EFEEEE"/>
                          </a:solidFill>
                          <a:latin typeface="Helvetica Neue"/>
                        </a:rPr>
                        <a:t>Genkøb er allerede stærkt (66%); et større abonnementsgrundlag gør det til forudsigelig tilbagevendende RPV</a:t>
                      </a:r>
                    </a:p>
                  </a:txBody>
                  <a:tcPr marL="73152" marR="73152" marT="18288" marB="18288" anchor="ctr">
                    <a:solidFill>
                      <a:srgbClr val="0B0B0B"/>
                    </a:solidFill>
                  </a:tcPr>
                </a:tc>
                <a:tc>
                  <a:txBody>
                    <a:bodyPr wrap="square"/>
                    <a:lstStyle/>
                    <a:p>
                      <a:pPr algn="r"/>
                      <a:r>
                        <a:rPr sz="900" b="0">
                          <a:solidFill>
                            <a:srgbClr val="EFEEEE"/>
                          </a:solidFill>
                          <a:latin typeface="Menlo"/>
                        </a:rPr>
                        <a:t>Middel</a:t>
                      </a:r>
                    </a:p>
                  </a:txBody>
                  <a:tcPr marL="73152" marR="73152" marT="18288" marB="18288" anchor="ctr">
                    <a:solidFill>
                      <a:srgbClr val="0B0B0B"/>
                    </a:solidFill>
                  </a:tcPr>
                </a:tc>
              </a:tr>
              <a:tr h="822960">
                <a:tc>
                  <a:txBody>
                    <a:bodyPr wrap="square"/>
                    <a:lstStyle/>
                    <a:p>
                      <a:pPr algn="l"/>
                      <a:r>
                        <a:rPr sz="900" b="1">
                          <a:solidFill>
                            <a:srgbClr val="F59E0B"/>
                          </a:solidFill>
                          <a:latin typeface="Helvetica Neue"/>
                        </a:rPr>
                        <a:t>3</a:t>
                      </a:r>
                    </a:p>
                  </a:txBody>
                  <a:tcPr marL="73152" marR="73152" marT="18288" marB="18288" anchor="ctr">
                    <a:solidFill>
                      <a:srgbClr val="000000"/>
                    </a:solidFill>
                  </a:tcPr>
                </a:tc>
                <a:tc>
                  <a:txBody>
                    <a:bodyPr wrap="square"/>
                    <a:lstStyle/>
                    <a:p>
                      <a:pPr algn="l"/>
                      <a:r>
                        <a:rPr sz="900" b="0">
                          <a:solidFill>
                            <a:srgbClr val="F7D007"/>
                          </a:solidFill>
                          <a:latin typeface="Helvetica Neue"/>
                        </a:rPr>
                        <a:t>AOV-stige</a:t>
                      </a:r>
                    </a:p>
                  </a:txBody>
                  <a:tcPr marL="73152" marR="73152" marT="18288" marB="18288" anchor="ctr">
                    <a:solidFill>
                      <a:srgbClr val="000000"/>
                    </a:solidFill>
                  </a:tcPr>
                </a:tc>
                <a:tc>
                  <a:txBody>
                    <a:bodyPr wrap="square"/>
                    <a:lstStyle/>
                    <a:p>
                      <a:pPr algn="l"/>
                      <a:r>
                        <a:rPr sz="900" b="0">
                          <a:solidFill>
                            <a:srgbClr val="EFEEEE"/>
                          </a:solidFill>
                          <a:latin typeface="Helvetica Neue"/>
                        </a:rPr>
                        <a:t>Forankr og mersælg 567 SEK-købere til bokse på 700 SEK+; Rebuy-kurv-tilføjelser; justér grænsen for fri fragt</a:t>
                      </a:r>
                    </a:p>
                  </a:txBody>
                  <a:tcPr marL="73152" marR="73152" marT="18288" marB="18288" anchor="ctr">
                    <a:solidFill>
                      <a:srgbClr val="000000"/>
                    </a:solidFill>
                  </a:tcPr>
                </a:tc>
                <a:tc>
                  <a:txBody>
                    <a:bodyPr wrap="square"/>
                    <a:lstStyle/>
                    <a:p>
                      <a:pPr algn="l"/>
                      <a:r>
                        <a:rPr sz="900" b="0">
                          <a:solidFill>
                            <a:srgbClr val="EFEEEE"/>
                          </a:solidFill>
                          <a:latin typeface="Helvetica Neue"/>
                        </a:rPr>
                        <a:t>Bokse er 76% af omsætningen; at flytte boks-niveau og tilmeldingsrate løfter AOV-halvdelen af RPV uden ny trafik</a:t>
                      </a:r>
                    </a:p>
                  </a:txBody>
                  <a:tcPr marL="73152" marR="73152" marT="18288" marB="18288" anchor="ctr">
                    <a:solidFill>
                      <a:srgbClr val="000000"/>
                    </a:solidFill>
                  </a:tcPr>
                </a:tc>
                <a:tc>
                  <a:txBody>
                    <a:bodyPr wrap="square"/>
                    <a:lstStyle/>
                    <a:p>
                      <a:pPr algn="r"/>
                      <a:r>
                        <a:rPr sz="900" b="0">
                          <a:solidFill>
                            <a:srgbClr val="EFEEEE"/>
                          </a:solidFill>
                          <a:latin typeface="Menlo"/>
                        </a:rPr>
                        <a:t>Middel</a:t>
                      </a:r>
                    </a:p>
                  </a:txBody>
                  <a:tcPr marL="73152" marR="73152" marT="18288" marB="18288" anchor="ctr">
                    <a:solidFill>
                      <a:srgbClr val="000000"/>
                    </a:solidFill>
                  </a:tcPr>
                </a:tc>
              </a:tr>
              <a:tr h="822960">
                <a:tc>
                  <a:txBody>
                    <a:bodyPr wrap="square"/>
                    <a:lstStyle/>
                    <a:p>
                      <a:pPr algn="l"/>
                      <a:r>
                        <a:rPr sz="900" b="1">
                          <a:solidFill>
                            <a:srgbClr val="F59E0B"/>
                          </a:solidFill>
                          <a:latin typeface="Helvetica Neue"/>
                        </a:rPr>
                        <a:t>4</a:t>
                      </a:r>
                    </a:p>
                  </a:txBody>
                  <a:tcPr marL="73152" marR="73152" marT="18288" marB="18288" anchor="ctr">
                    <a:solidFill>
                      <a:srgbClr val="0B0B0B"/>
                    </a:solidFill>
                  </a:tcPr>
                </a:tc>
                <a:tc>
                  <a:txBody>
                    <a:bodyPr wrap="square"/>
                    <a:lstStyle/>
                    <a:p>
                      <a:pPr algn="l"/>
                      <a:r>
                        <a:rPr sz="900" b="0">
                          <a:solidFill>
                            <a:srgbClr val="F7D007"/>
                          </a:solidFill>
                          <a:latin typeface="Helvetica Neue"/>
                        </a:rPr>
                        <a:t>Konvertering</a:t>
                      </a:r>
                    </a:p>
                  </a:txBody>
                  <a:tcPr marL="73152" marR="73152" marT="18288" marB="18288" anchor="ctr">
                    <a:solidFill>
                      <a:srgbClr val="0B0B0B"/>
                    </a:solidFill>
                  </a:tcPr>
                </a:tc>
                <a:tc>
                  <a:txBody>
                    <a:bodyPr wrap="square"/>
                    <a:lstStyle/>
                    <a:p>
                      <a:pPr algn="l"/>
                      <a:r>
                        <a:rPr sz="900" b="0">
                          <a:solidFill>
                            <a:srgbClr val="EFEEEE"/>
                          </a:solidFill>
                          <a:latin typeface="Helvetica Neue"/>
                        </a:rPr>
                        <a:t>Smagsprofiler på hver kasse + tryghedsblok om lovlighed + ærligt leveringsløfte + klarhed om fragt i kurven</a:t>
                      </a:r>
                    </a:p>
                  </a:txBody>
                  <a:tcPr marL="73152" marR="73152" marT="18288" marB="18288" anchor="ctr">
                    <a:solidFill>
                      <a:srgbClr val="0B0B0B"/>
                    </a:solidFill>
                  </a:tcPr>
                </a:tc>
                <a:tc>
                  <a:txBody>
                    <a:bodyPr wrap="square"/>
                    <a:lstStyle/>
                    <a:p>
                      <a:pPr algn="l"/>
                      <a:r>
                        <a:rPr sz="900" b="0">
                          <a:solidFill>
                            <a:srgbClr val="EFEEEE"/>
                          </a:solidFill>
                          <a:latin typeface="Helvetica Neue"/>
                        </a:rPr>
                        <a:t>Løfter konverteringshalvdelen af RPV ved at lukke gabet for nye kunder (2.62% mod 3.42% tilbagevendende), og nye besøgende udgør størstedelen af trafikken</a:t>
                      </a:r>
                    </a:p>
                  </a:txBody>
                  <a:tcPr marL="73152" marR="73152" marT="18288" marB="18288" anchor="ctr">
                    <a:solidFill>
                      <a:srgbClr val="0B0B0B"/>
                    </a:solidFill>
                  </a:tcPr>
                </a:tc>
                <a:tc>
                  <a:txBody>
                    <a:bodyPr wrap="square"/>
                    <a:lstStyle/>
                    <a:p>
                      <a:pPr algn="r"/>
                      <a:r>
                        <a:rPr sz="900" b="0">
                          <a:solidFill>
                            <a:srgbClr val="EFEEEE"/>
                          </a:solidFill>
                          <a:latin typeface="Menlo"/>
                        </a:rPr>
                        <a:t>Middel</a:t>
                      </a:r>
                    </a:p>
                  </a:txBody>
                  <a:tcPr marL="73152" marR="73152" marT="18288" marB="18288" anchor="ctr">
                    <a:solidFill>
                      <a:srgbClr val="0B0B0B"/>
                    </a:solidFill>
                  </a:tcPr>
                </a:tc>
              </a:tr>
              <a:tr h="822960">
                <a:tc>
                  <a:txBody>
                    <a:bodyPr wrap="square"/>
                    <a:lstStyle/>
                    <a:p>
                      <a:pPr algn="l"/>
                      <a:r>
                        <a:rPr sz="900" b="1">
                          <a:solidFill>
                            <a:srgbClr val="6AA9FF"/>
                          </a:solidFill>
                          <a:latin typeface="Helvetica Neue"/>
                        </a:rPr>
                        <a:t>5</a:t>
                      </a:r>
                    </a:p>
                  </a:txBody>
                  <a:tcPr marL="73152" marR="73152" marT="18288" marB="18288" anchor="ctr">
                    <a:solidFill>
                      <a:srgbClr val="000000"/>
                    </a:solidFill>
                  </a:tcPr>
                </a:tc>
                <a:tc>
                  <a:txBody>
                    <a:bodyPr wrap="square"/>
                    <a:lstStyle/>
                    <a:p>
                      <a:pPr algn="l"/>
                      <a:r>
                        <a:rPr sz="900" b="0">
                          <a:solidFill>
                            <a:srgbClr val="F7D007"/>
                          </a:solidFill>
                          <a:latin typeface="Helvetica Neue"/>
                        </a:rPr>
                        <a:t>Trafikmix</a:t>
                      </a:r>
                    </a:p>
                  </a:txBody>
                  <a:tcPr marL="73152" marR="73152" marT="18288" marB="18288" anchor="ctr">
                    <a:solidFill>
                      <a:srgbClr val="000000"/>
                    </a:solidFill>
                  </a:tcPr>
                </a:tc>
                <a:tc>
                  <a:txBody>
                    <a:bodyPr wrap="square"/>
                    <a:lstStyle/>
                    <a:p>
                      <a:pPr algn="l"/>
                      <a:r>
                        <a:rPr sz="900" b="0">
                          <a:solidFill>
                            <a:srgbClr val="EFEEEE"/>
                          </a:solidFill>
                          <a:latin typeface="Helvetica Neue"/>
                        </a:rPr>
                        <a:t>Udbyg organisk søgning og balancér den betalte social-mix (49% direkte, 33% Meta i dag)</a:t>
                      </a:r>
                    </a:p>
                  </a:txBody>
                  <a:tcPr marL="73152" marR="73152" marT="18288" marB="18288" anchor="ctr">
                    <a:solidFill>
                      <a:srgbClr val="000000"/>
                    </a:solidFill>
                  </a:tcPr>
                </a:tc>
                <a:tc>
                  <a:txBody>
                    <a:bodyPr wrap="square"/>
                    <a:lstStyle/>
                    <a:p>
                      <a:pPr algn="l"/>
                      <a:r>
                        <a:rPr sz="900" b="0">
                          <a:solidFill>
                            <a:srgbClr val="EFEEEE"/>
                          </a:solidFill>
                          <a:latin typeface="Helvetica Neue"/>
                        </a:rPr>
                        <a:t>Diversificeret, billigere trafik reducerer risikoen ved den ~33% afhængighed af betalt social og stabiliserer den samlede RPV</a:t>
                      </a:r>
                    </a:p>
                  </a:txBody>
                  <a:tcPr marL="73152" marR="73152" marT="18288" marB="18288" anchor="ctr">
                    <a:solidFill>
                      <a:srgbClr val="000000"/>
                    </a:solidFill>
                  </a:tcPr>
                </a:tc>
                <a:tc>
                  <a:txBody>
                    <a:bodyPr wrap="square"/>
                    <a:lstStyle/>
                    <a:p>
                      <a:pPr algn="r"/>
                      <a:r>
                        <a:rPr sz="900" b="0">
                          <a:solidFill>
                            <a:srgbClr val="EFEEEE"/>
                          </a:solidFill>
                          <a:latin typeface="Menlo"/>
                        </a:rPr>
                        <a:t>Strategisk</a:t>
                      </a:r>
                    </a:p>
                  </a:txBody>
                  <a:tcPr marL="73152" marR="73152" marT="18288" marB="18288" anchor="ctr">
                    <a:solidFill>
                      <a:srgbClr val="000000"/>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Løftestang 1 og 2 er RPV-multiplikatorerne. Løftestang 3 og 4 er CRO-roadmappen, der følger. Løftestang 5 beskytter hele systemet.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Forventet løft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Hvad 90 dages CRO er værd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Programmet løfter omsætning pr. besøgende ved at fjerne købstøven (smag, lovlighed, levering), så flere af dagens besøgende køber, og ved at skubbe ordreværdien op. Et løft i RPV på 5 til 10% på 90 dage bygger også det konverteringsfundament, der skal indfange højsæsonens trafiktop, hvor de samme rettelser betaler sig på langt mere trafik.</a:t>
            </a:r>
          </a:p>
        </p:txBody>
      </p:sp>
      <p:sp>
        <p:nvSpPr>
          <p:cNvPr id="10" name="Rounded Rectangle 9"/>
          <p:cNvSpPr/>
          <p:nvPr/>
        </p:nvSpPr>
        <p:spPr>
          <a:xfrm>
            <a:off x="79232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761488"/>
            <a:ext cx="2446020" cy="502920"/>
          </a:xfrm>
          <a:prstGeom prst="rect">
            <a:avLst/>
          </a:prstGeom>
          <a:noFill/>
        </p:spPr>
        <p:txBody>
          <a:bodyPr wrap="square" lIns="0" rIns="0" tIns="0" bIns="0" anchor="t">
            <a:spAutoFit/>
          </a:bodyPr>
          <a:lstStyle/>
          <a:p>
            <a:pPr algn="ctr"/>
            <a:r>
              <a:rPr sz="3000" b="1" i="0">
                <a:solidFill>
                  <a:srgbClr val="F7D007"/>
                </a:solidFill>
                <a:latin typeface="Menlo"/>
              </a:rPr>
              <a:t>+5 to 10%</a:t>
            </a:r>
          </a:p>
        </p:txBody>
      </p:sp>
      <p:sp>
        <p:nvSpPr>
          <p:cNvPr id="12" name="TextBox 11"/>
          <p:cNvSpPr txBox="1"/>
          <p:nvPr/>
        </p:nvSpPr>
        <p:spPr>
          <a:xfrm>
            <a:off x="79232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RPV-løft (Est.)</a:t>
            </a:r>
          </a:p>
        </p:txBody>
      </p:sp>
      <p:sp>
        <p:nvSpPr>
          <p:cNvPr id="13" name="TextBox 12"/>
          <p:cNvSpPr txBox="1"/>
          <p:nvPr/>
        </p:nvSpPr>
        <p:spPr>
          <a:xfrm>
            <a:off x="79232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90-dages mål</a:t>
            </a:r>
          </a:p>
        </p:txBody>
      </p:sp>
      <p:sp>
        <p:nvSpPr>
          <p:cNvPr id="14" name="Rounded Rectangle 13"/>
          <p:cNvSpPr/>
          <p:nvPr/>
        </p:nvSpPr>
        <p:spPr>
          <a:xfrm>
            <a:off x="351266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761488"/>
            <a:ext cx="2446020" cy="502920"/>
          </a:xfrm>
          <a:prstGeom prst="rect">
            <a:avLst/>
          </a:prstGeom>
          <a:noFill/>
        </p:spPr>
        <p:txBody>
          <a:bodyPr wrap="square" lIns="0" rIns="0" tIns="0" bIns="0" anchor="t">
            <a:spAutoFit/>
          </a:bodyPr>
          <a:lstStyle/>
          <a:p>
            <a:pPr algn="ctr"/>
            <a:r>
              <a:rPr sz="3000" b="1" i="0">
                <a:solidFill>
                  <a:srgbClr val="22C55E"/>
                </a:solidFill>
                <a:latin typeface="Menlo"/>
              </a:rPr>
              <a:t>104 to 109 SEK</a:t>
            </a:r>
          </a:p>
        </p:txBody>
      </p:sp>
      <p:sp>
        <p:nvSpPr>
          <p:cNvPr id="16" name="TextBox 15"/>
          <p:cNvSpPr txBox="1"/>
          <p:nvPr/>
        </p:nvSpPr>
        <p:spPr>
          <a:xfrm>
            <a:off x="351266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Mål-RPV / session</a:t>
            </a:r>
          </a:p>
        </p:txBody>
      </p:sp>
      <p:sp>
        <p:nvSpPr>
          <p:cNvPr id="17" name="TextBox 16"/>
          <p:cNvSpPr txBox="1"/>
          <p:nvPr/>
        </p:nvSpPr>
        <p:spPr>
          <a:xfrm>
            <a:off x="351266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fra 99 SEK i dag</a:t>
            </a:r>
          </a:p>
        </p:txBody>
      </p:sp>
      <p:sp>
        <p:nvSpPr>
          <p:cNvPr id="18" name="Rounded Rectangle 17"/>
          <p:cNvSpPr/>
          <p:nvPr/>
        </p:nvSpPr>
        <p:spPr>
          <a:xfrm>
            <a:off x="623300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761488"/>
            <a:ext cx="2446020" cy="502920"/>
          </a:xfrm>
          <a:prstGeom prst="rect">
            <a:avLst/>
          </a:prstGeom>
          <a:noFill/>
        </p:spPr>
        <p:txBody>
          <a:bodyPr wrap="square" lIns="0" rIns="0" tIns="0" bIns="0" anchor="t">
            <a:spAutoFit/>
          </a:bodyPr>
          <a:lstStyle/>
          <a:p>
            <a:pPr algn="ctr"/>
            <a:r>
              <a:rPr sz="3000" b="1" i="0">
                <a:solidFill>
                  <a:srgbClr val="FFFFFF"/>
                </a:solidFill>
                <a:latin typeface="Menlo"/>
              </a:rPr>
              <a:t>+1.7 to 3.3M SEK</a:t>
            </a:r>
          </a:p>
        </p:txBody>
      </p:sp>
      <p:sp>
        <p:nvSpPr>
          <p:cNvPr id="20" name="TextBox 19"/>
          <p:cNvSpPr txBox="1"/>
          <p:nvPr/>
        </p:nvSpPr>
        <p:spPr>
          <a:xfrm>
            <a:off x="623300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Brutto / 90 dage (Est.)</a:t>
            </a:r>
          </a:p>
        </p:txBody>
      </p:sp>
      <p:sp>
        <p:nvSpPr>
          <p:cNvPr id="21" name="TextBox 20"/>
          <p:cNvSpPr txBox="1"/>
          <p:nvPr/>
        </p:nvSpPr>
        <p:spPr>
          <a:xfrm>
            <a:off x="623300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på det nuværende grundlag</a:t>
            </a:r>
          </a:p>
        </p:txBody>
      </p:sp>
      <p:sp>
        <p:nvSpPr>
          <p:cNvPr id="22" name="Rounded Rectangle 21"/>
          <p:cNvSpPr/>
          <p:nvPr/>
        </p:nvSpPr>
        <p:spPr>
          <a:xfrm>
            <a:off x="895334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761488"/>
            <a:ext cx="2446020" cy="502920"/>
          </a:xfrm>
          <a:prstGeom prst="rect">
            <a:avLst/>
          </a:prstGeom>
          <a:noFill/>
        </p:spPr>
        <p:txBody>
          <a:bodyPr wrap="square" lIns="0" rIns="0" tIns="0" bIns="0" anchor="t">
            <a:spAutoFit/>
          </a:bodyPr>
          <a:lstStyle/>
          <a:p>
            <a:pPr algn="ctr"/>
            <a:r>
              <a:rPr sz="3000" b="1" i="0">
                <a:solidFill>
                  <a:srgbClr val="FFFFFF"/>
                </a:solidFill>
                <a:latin typeface="Menlo"/>
              </a:rPr>
              <a:t>+7 to 13M SEK</a:t>
            </a:r>
          </a:p>
        </p:txBody>
      </p:sp>
      <p:sp>
        <p:nvSpPr>
          <p:cNvPr id="24" name="TextBox 23"/>
          <p:cNvSpPr txBox="1"/>
          <p:nvPr/>
        </p:nvSpPr>
        <p:spPr>
          <a:xfrm>
            <a:off x="895334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Årsbasis (Est.)</a:t>
            </a:r>
          </a:p>
        </p:txBody>
      </p:sp>
      <p:sp>
        <p:nvSpPr>
          <p:cNvPr id="25" name="TextBox 24"/>
          <p:cNvSpPr txBox="1"/>
          <p:nvPr/>
        </p:nvSpPr>
        <p:spPr>
          <a:xfrm>
            <a:off x="895334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før højsæsonens ekstra løft</a:t>
            </a:r>
          </a:p>
        </p:txBody>
      </p:sp>
      <p:graphicFrame>
        <p:nvGraphicFramePr>
          <p:cNvPr id="26" name="Table 25"/>
          <p:cNvGraphicFramePr>
            <a:graphicFrameLocks noGrp="1"/>
          </p:cNvGraphicFramePr>
          <p:nvPr/>
        </p:nvGraphicFramePr>
        <p:xfrm>
          <a:off x="883767" y="3922776"/>
          <a:ext cx="10424158" cy="1353312"/>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LØFTESTANG</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I DAG</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MÅL</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HVORDAN</a:t>
                      </a:r>
                    </a:p>
                  </a:txBody>
                  <a:tcPr marL="73152" marR="73152" marT="18288" marB="18288" anchor="ctr">
                    <a:solidFill>
                      <a:srgbClr val="0A0A0A"/>
                    </a:solidFill>
                  </a:tcPr>
                </a:tc>
              </a:tr>
              <a:tr h="329184">
                <a:tc>
                  <a:txBody>
                    <a:bodyPr wrap="square"/>
                    <a:lstStyle/>
                    <a:p>
                      <a:pPr algn="l"/>
                      <a:r>
                        <a:rPr sz="1000" b="1">
                          <a:solidFill>
                            <a:srgbClr val="F7D007"/>
                          </a:solidFill>
                          <a:latin typeface="Helvetica Neue"/>
                        </a:rPr>
                        <a:t>Gennemført checkout</a:t>
                      </a:r>
                    </a:p>
                  </a:txBody>
                  <a:tcPr marL="73152" marR="73152" marT="18288" marB="18288" anchor="ctr">
                    <a:solidFill>
                      <a:srgbClr val="000000"/>
                    </a:solidFill>
                  </a:tcPr>
                </a:tc>
                <a:tc>
                  <a:txBody>
                    <a:bodyPr wrap="square"/>
                    <a:lstStyle/>
                    <a:p>
                      <a:pPr algn="r"/>
                      <a:r>
                        <a:rPr sz="1000" b="0">
                          <a:solidFill>
                            <a:srgbClr val="EFEEEE"/>
                          </a:solidFill>
                          <a:latin typeface="Menlo"/>
                        </a:rPr>
                        <a:t>41%</a:t>
                      </a:r>
                    </a:p>
                  </a:txBody>
                  <a:tcPr marL="73152" marR="73152" marT="18288" marB="18288" anchor="ctr">
                    <a:solidFill>
                      <a:srgbClr val="000000"/>
                    </a:solidFill>
                  </a:tcPr>
                </a:tc>
                <a:tc>
                  <a:txBody>
                    <a:bodyPr wrap="square"/>
                    <a:lstStyle/>
                    <a:p>
                      <a:pPr algn="r"/>
                      <a:r>
                        <a:rPr sz="1000" b="0">
                          <a:solidFill>
                            <a:srgbClr val="EFEEEE"/>
                          </a:solidFill>
                          <a:latin typeface="Menlo"/>
                        </a:rPr>
                        <a:t>43 to 44%</a:t>
                      </a:r>
                    </a:p>
                  </a:txBody>
                  <a:tcPr marL="73152" marR="73152" marT="18288" marB="18288" anchor="ctr">
                    <a:solidFill>
                      <a:srgbClr val="000000"/>
                    </a:solidFill>
                  </a:tcPr>
                </a:tc>
                <a:tc>
                  <a:txBody>
                    <a:bodyPr wrap="square"/>
                    <a:lstStyle/>
                    <a:p>
                      <a:pPr algn="l"/>
                      <a:r>
                        <a:rPr sz="1000" b="0">
                          <a:solidFill>
                            <a:srgbClr val="EFEEEE"/>
                          </a:solidFill>
                          <a:latin typeface="Helvetica Neue"/>
                        </a:rPr>
                        <a:t>Leveringsklarhed, tryghed om lovlighed, færre websitefejl</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Læg i kurv</a:t>
                      </a:r>
                    </a:p>
                  </a:txBody>
                  <a:tcPr marL="73152" marR="73152" marT="18288" marB="18288" anchor="ctr">
                    <a:solidFill>
                      <a:srgbClr val="0B0B0B"/>
                    </a:solidFill>
                  </a:tcPr>
                </a:tc>
                <a:tc>
                  <a:txBody>
                    <a:bodyPr wrap="square"/>
                    <a:lstStyle/>
                    <a:p>
                      <a:pPr algn="r"/>
                      <a:r>
                        <a:rPr sz="1000" b="0">
                          <a:solidFill>
                            <a:srgbClr val="EFEEEE"/>
                          </a:solidFill>
                          <a:latin typeface="Menlo"/>
                        </a:rPr>
                        <a:t>12.6%</a:t>
                      </a:r>
                    </a:p>
                  </a:txBody>
                  <a:tcPr marL="73152" marR="73152" marT="18288" marB="18288" anchor="ctr">
                    <a:solidFill>
                      <a:srgbClr val="0B0B0B"/>
                    </a:solidFill>
                  </a:tcPr>
                </a:tc>
                <a:tc>
                  <a:txBody>
                    <a:bodyPr wrap="square"/>
                    <a:lstStyle/>
                    <a:p>
                      <a:pPr algn="r"/>
                      <a:r>
                        <a:rPr sz="1000" b="0">
                          <a:solidFill>
                            <a:srgbClr val="EFEEEE"/>
                          </a:solidFill>
                          <a:latin typeface="Menlo"/>
                        </a:rPr>
                        <a:t>12.9 to 13.2%</a:t>
                      </a:r>
                    </a:p>
                  </a:txBody>
                  <a:tcPr marL="73152" marR="73152" marT="18288" marB="18288" anchor="ctr">
                    <a:solidFill>
                      <a:srgbClr val="0B0B0B"/>
                    </a:solidFill>
                  </a:tcPr>
                </a:tc>
                <a:tc>
                  <a:txBody>
                    <a:bodyPr wrap="square"/>
                    <a:lstStyle/>
                    <a:p>
                      <a:pPr algn="l"/>
                      <a:r>
                        <a:rPr sz="1000" b="0">
                          <a:solidFill>
                            <a:srgbClr val="EFEEEE"/>
                          </a:solidFill>
                          <a:latin typeface="Helvetica Neue"/>
                        </a:rPr>
                        <a:t>Klarere smag og tillid på produktsider</a:t>
                      </a:r>
                    </a:p>
                  </a:txBody>
                  <a:tcPr marL="73152" marR="73152" marT="18288" marB="18288" anchor="ctr">
                    <a:solidFill>
                      <a:srgbClr val="0B0B0B"/>
                    </a:solidFill>
                  </a:tcPr>
                </a:tc>
              </a:tr>
              <a:tr h="329184">
                <a:tc>
                  <a:txBody>
                    <a:bodyPr wrap="square"/>
                    <a:lstStyle/>
                    <a:p>
                      <a:pPr algn="l"/>
                      <a:r>
                        <a:rPr sz="1000" b="1">
                          <a:solidFill>
                            <a:srgbClr val="F7D007"/>
                          </a:solidFill>
                          <a:latin typeface="Helvetica Neue"/>
                        </a:rPr>
                        <a:t>Gennemsnitlig ordreværdi</a:t>
                      </a:r>
                    </a:p>
                  </a:txBody>
                  <a:tcPr marL="73152" marR="73152" marT="18288" marB="18288" anchor="ctr">
                    <a:solidFill>
                      <a:srgbClr val="000000"/>
                    </a:solidFill>
                  </a:tcPr>
                </a:tc>
                <a:tc>
                  <a:txBody>
                    <a:bodyPr wrap="square"/>
                    <a:lstStyle/>
                    <a:p>
                      <a:pPr algn="r"/>
                      <a:r>
                        <a:rPr sz="1000" b="0">
                          <a:solidFill>
                            <a:srgbClr val="EFEEEE"/>
                          </a:solidFill>
                          <a:latin typeface="Menlo"/>
                        </a:rPr>
                        <a:t>868 SEK</a:t>
                      </a:r>
                    </a:p>
                  </a:txBody>
                  <a:tcPr marL="73152" marR="73152" marT="18288" marB="18288" anchor="ctr">
                    <a:solidFill>
                      <a:srgbClr val="000000"/>
                    </a:solidFill>
                  </a:tcPr>
                </a:tc>
                <a:tc>
                  <a:txBody>
                    <a:bodyPr wrap="square"/>
                    <a:lstStyle/>
                    <a:p>
                      <a:pPr algn="r"/>
                      <a:r>
                        <a:rPr sz="1000" b="0">
                          <a:solidFill>
                            <a:srgbClr val="EFEEEE"/>
                          </a:solidFill>
                          <a:latin typeface="Menlo"/>
                        </a:rPr>
                        <a:t>880 til 895 SEK</a:t>
                      </a:r>
                    </a:p>
                  </a:txBody>
                  <a:tcPr marL="73152" marR="73152" marT="18288" marB="18288" anchor="ctr">
                    <a:solidFill>
                      <a:srgbClr val="000000"/>
                    </a:solidFill>
                  </a:tcPr>
                </a:tc>
                <a:tc>
                  <a:txBody>
                    <a:bodyPr wrap="square"/>
                    <a:lstStyle/>
                    <a:p>
                      <a:pPr algn="l"/>
                      <a:r>
                        <a:rPr sz="1000" b="0">
                          <a:solidFill>
                            <a:srgbClr val="EFEEEE"/>
                          </a:solidFill>
                          <a:latin typeface="Helvetica Neue"/>
                        </a:rPr>
                        <a:t>Kassestige, tilvalg, abonnementstilmeldinger</a:t>
                      </a:r>
                    </a:p>
                  </a:txBody>
                  <a:tcPr marL="73152" marR="73152" marT="18288" marB="18288" anchor="ctr">
                    <a:solidFill>
                      <a:srgbClr val="000000"/>
                    </a:solidFill>
                  </a:tcPr>
                </a:tc>
              </a:tr>
            </a:tbl>
          </a:graphicData>
        </a:graphic>
      </p:graphicFrame>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Est. Modelleret på Shopifys 90-dages grundlag, et konservativt løft i RPV på 5 til 10%. Løftestængerne er de billigste og mest købsklare: genvind checkout, løft læg i kurv med klarere smag og tillid, og skub ordreværdien. Den største gevinst er timing: et stærkere konverteringsfundament før højsæsonen betyder, at butikken konverterer mere af sæsontoppen, ikke kun dagens trafik.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P0 · Gør først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De to tillidsløftestænger</a:t>
            </a:r>
          </a:p>
        </p:txBody>
      </p:sp>
      <p:graphicFrame>
        <p:nvGraphicFramePr>
          <p:cNvPr id="9" name="Table 8"/>
          <p:cNvGraphicFramePr>
            <a:graphicFrameLocks noGrp="1"/>
          </p:cNvGraphicFramePr>
          <p:nvPr/>
        </p:nvGraphicFramePr>
        <p:xfrm>
          <a:off x="457200" y="1828800"/>
          <a:ext cx="11274550" cy="2834640"/>
        </p:xfrm>
        <a:graphic>
          <a:graphicData uri="http://schemas.openxmlformats.org/drawingml/2006/table">
            <a:tbl>
              <a:tblPr>
                <a:tableStyleId>{2D5ABB26-0587-4C30-8999-92F81FD0307C}</a:tableStyleId>
              </a:tblPr>
              <a:tblGrid>
                <a:gridCol w="2782032"/>
                <a:gridCol w="4099837"/>
                <a:gridCol w="1464227"/>
                <a:gridCol w="1464227"/>
                <a:gridCol w="1464227"/>
              </a:tblGrid>
              <a:tr h="365760">
                <a:tc>
                  <a:txBody>
                    <a:bodyPr wrap="square"/>
                    <a:lstStyle/>
                    <a:p>
                      <a:pPr algn="l"/>
                      <a:r>
                        <a:rPr sz="900" b="1" spc="100">
                          <a:solidFill>
                            <a:srgbClr val="999999"/>
                          </a:solidFill>
                          <a:latin typeface="Helvetica Neue"/>
                        </a:rPr>
                        <a:t>HVOR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RET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HYPOTESE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EFFEKT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Global / produktside / Kurv</a:t>
                      </a:r>
                    </a:p>
                  </a:txBody>
                  <a:tcPr marL="73152" marR="73152" marT="18288" marB="18288" anchor="ctr">
                    <a:solidFill>
                      <a:srgbClr val="000000"/>
                    </a:solidFill>
                  </a:tcPr>
                </a:tc>
                <a:tc>
                  <a:txBody>
                    <a:bodyPr wrap="square"/>
                    <a:lstStyle/>
                    <a:p>
                      <a:pPr algn="l"/>
                      <a:r>
                        <a:rPr sz="900" b="0">
                          <a:solidFill>
                            <a:srgbClr val="EFEEEE"/>
                          </a:solidFill>
                          <a:latin typeface="Helvetica Neue"/>
                        </a:rPr>
                        <a:t>Tilføj en lovlighedstillidsblok i klart sprog (lovlig dansk import, moms inkluderet, aldersverificeret, Trustpilot 4.7)</a:t>
                      </a:r>
                    </a:p>
                  </a:txBody>
                  <a:tcPr marL="73152" marR="73152" marT="18288" marB="18288" anchor="ctr">
                    <a:solidFill>
                      <a:srgbClr val="000000"/>
                    </a:solidFill>
                  </a:tcPr>
                </a:tc>
                <a:tc>
                  <a:txBody>
                    <a:bodyPr wrap="square"/>
                    <a:lstStyle/>
                    <a:p>
                      <a:pPr algn="l"/>
                      <a:r>
                        <a:rPr sz="900" b="0">
                          <a:solidFill>
                            <a:srgbClr val="EFEEEE"/>
                          </a:solidFill>
                          <a:latin typeface="Helvetica Neue"/>
                        </a:rPr>
                        <a:t>At neutralisere monopoltvivlen løfter førstegangskøberes læg i kurv og 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Nul lovlighedstekst på sitet; svindelsprog i anmeldelser; KRAN og Winefamly skaber tryghed</a:t>
                      </a:r>
                    </a:p>
                  </a:txBody>
                  <a:tcPr marL="73152" marR="73152" marT="18288" marB="18288" anchor="ctr">
                    <a:solidFill>
                      <a:srgbClr val="000000"/>
                    </a:solidFill>
                  </a:tcPr>
                </a:tc>
                <a:tc>
                  <a:txBody>
                    <a:bodyPr wrap="square"/>
                    <a:lstStyle/>
                    <a:p>
                      <a:pPr algn="r"/>
                      <a:r>
                        <a:rPr sz="900" b="0">
                          <a:solidFill>
                            <a:srgbClr val="F7D007"/>
                          </a:solidFill>
                          <a:latin typeface="Menlo"/>
                        </a:rPr>
                        <a:t>Høj</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Leveringsløfte</a:t>
                      </a:r>
                    </a:p>
                  </a:txBody>
                  <a:tcPr marL="73152" marR="73152" marT="18288" marB="18288" anchor="ctr">
                    <a:solidFill>
                      <a:srgbClr val="0B0B0B"/>
                    </a:solidFill>
                  </a:tcPr>
                </a:tc>
                <a:tc>
                  <a:txBody>
                    <a:bodyPr wrap="square"/>
                    <a:lstStyle/>
                    <a:p>
                      <a:pPr algn="l"/>
                      <a:r>
                        <a:rPr sz="900" b="0">
                          <a:solidFill>
                            <a:srgbClr val="EFEEEE"/>
                          </a:solidFill>
                          <a:latin typeface="Helvetica Neue"/>
                        </a:rPr>
                        <a:t>Erstat "1-3 dagar" med en ærlig, ordrespecifik ETA og proaktive statusopdateringer</a:t>
                      </a:r>
                    </a:p>
                  </a:txBody>
                  <a:tcPr marL="73152" marR="73152" marT="18288" marB="18288" anchor="ctr">
                    <a:solidFill>
                      <a:srgbClr val="0B0B0B"/>
                    </a:solidFill>
                  </a:tcPr>
                </a:tc>
                <a:tc>
                  <a:txBody>
                    <a:bodyPr wrap="square"/>
                    <a:lstStyle/>
                    <a:p>
                      <a:pPr algn="l"/>
                      <a:r>
                        <a:rPr sz="900" b="0">
                          <a:solidFill>
                            <a:srgbClr val="EFEEEE"/>
                          </a:solidFill>
                          <a:latin typeface="Helvetica Neue"/>
                        </a:rPr>
                        <a:t>Et præcist løfte skærer den negative hale væk og beskytter genkøbsomsætningen</a:t>
                      </a:r>
                    </a:p>
                  </a:txBody>
                  <a:tcPr marL="73152" marR="73152" marT="18288" marB="18288" anchor="ctr">
                    <a:solidFill>
                      <a:srgbClr val="0B0B0B"/>
                    </a:solidFill>
                  </a:tcPr>
                </a:tc>
                <a:tc>
                  <a:txBody>
                    <a:bodyPr wrap="square"/>
                    <a:lstStyle/>
                    <a:p>
                      <a:pPr algn="l"/>
                      <a:r>
                        <a:rPr sz="900" b="0">
                          <a:solidFill>
                            <a:srgbClr val="EFEEEE"/>
                          </a:solidFill>
                          <a:latin typeface="Helvetica Neue"/>
                        </a:rPr>
                        <a:t>86% af klagerne, 31% nævner det brudte løfte, genkøbere falder fra</a:t>
                      </a:r>
                    </a:p>
                  </a:txBody>
                  <a:tcPr marL="73152" marR="73152" marT="18288" marB="18288" anchor="ctr">
                    <a:solidFill>
                      <a:srgbClr val="0B0B0B"/>
                    </a:solidFill>
                  </a:tcPr>
                </a:tc>
                <a:tc>
                  <a:txBody>
                    <a:bodyPr wrap="square"/>
                    <a:lstStyle/>
                    <a:p>
                      <a:pPr algn="r"/>
                      <a:r>
                        <a:rPr sz="900" b="0">
                          <a:solidFill>
                            <a:srgbClr val="F7D007"/>
                          </a:solidFill>
                          <a:latin typeface="Menlo"/>
                        </a:rPr>
                        <a:t>Høj</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Kurv til 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Vis fragtregel og grænse for fri fragt i kurven, tilføj et tydeligt trin til at fortsætte</a:t>
                      </a:r>
                    </a:p>
                  </a:txBody>
                  <a:tcPr marL="73152" marR="73152" marT="18288" marB="18288" anchor="ctr">
                    <a:solidFill>
                      <a:srgbClr val="000000"/>
                    </a:solidFill>
                  </a:tcPr>
                </a:tc>
                <a:tc>
                  <a:txBody>
                    <a:bodyPr wrap="square"/>
                    <a:lstStyle/>
                    <a:p>
                      <a:pPr algn="l"/>
                      <a:r>
                        <a:rPr sz="900" b="0">
                          <a:solidFill>
                            <a:srgbClr val="EFEEEE"/>
                          </a:solidFill>
                          <a:latin typeface="Helvetica Neue"/>
                        </a:rPr>
                        <a:t>At fjerne fragtoverraskelsen genvinder den største afbrydelsespulje</a:t>
                      </a:r>
                    </a:p>
                  </a:txBody>
                  <a:tcPr marL="73152" marR="73152" marT="18288" marB="18288" anchor="ctr">
                    <a:solidFill>
                      <a:srgbClr val="000000"/>
                    </a:solidFill>
                  </a:tcPr>
                </a:tc>
                <a:tc>
                  <a:txBody>
                    <a:bodyPr wrap="square"/>
                    <a:lstStyle/>
                    <a:p>
                      <a:pPr algn="l"/>
                      <a:r>
                        <a:rPr sz="900" b="0">
                          <a:solidFill>
                            <a:srgbClr val="EFEEEE"/>
                          </a:solidFill>
                          <a:latin typeface="Helvetica Neue"/>
                        </a:rPr>
                        <a:t>60.2% kurvafbrydelse, 32,859 brugere/90 dage; forvirring om fri fragt i anmeldelser</a:t>
                      </a:r>
                    </a:p>
                  </a:txBody>
                  <a:tcPr marL="73152" marR="73152" marT="18288" marB="18288" anchor="ctr">
                    <a:solidFill>
                      <a:srgbClr val="000000"/>
                    </a:solidFill>
                  </a:tcPr>
                </a:tc>
                <a:tc>
                  <a:txBody>
                    <a:bodyPr wrap="square"/>
                    <a:lstStyle/>
                    <a:p>
                      <a:pPr algn="r"/>
                      <a:r>
                        <a:rPr sz="900" b="0">
                          <a:solidFill>
                            <a:srgbClr val="F7D007"/>
                          </a:solidFill>
                          <a:latin typeface="Menlo"/>
                        </a:rPr>
                        <a:t>1.5 til 1.8M SEK/kvt. (Est.)</a:t>
                      </a:r>
                    </a:p>
                  </a:txBody>
                  <a:tcPr marL="73152" marR="73152" marT="18288" marB="18288" anchor="ctr">
                    <a:solidFill>
                      <a:srgbClr val="000000"/>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P1 · Gør dernæst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Konvertering og produktdybde</a:t>
            </a:r>
          </a:p>
        </p:txBody>
      </p:sp>
      <p:graphicFrame>
        <p:nvGraphicFramePr>
          <p:cNvPr id="9" name="Table 8"/>
          <p:cNvGraphicFramePr>
            <a:graphicFrameLocks noGrp="1"/>
          </p:cNvGraphicFramePr>
          <p:nvPr/>
        </p:nvGraphicFramePr>
        <p:xfrm>
          <a:off x="457200" y="1828800"/>
          <a:ext cx="11274550" cy="3657600"/>
        </p:xfrm>
        <a:graphic>
          <a:graphicData uri="http://schemas.openxmlformats.org/drawingml/2006/table">
            <a:tbl>
              <a:tblPr>
                <a:tableStyleId>{2D5ABB26-0587-4C30-8999-92F81FD0307C}</a:tableStyleId>
              </a:tblPr>
              <a:tblGrid>
                <a:gridCol w="2782032"/>
                <a:gridCol w="1464227"/>
                <a:gridCol w="4099837"/>
                <a:gridCol w="1464227"/>
                <a:gridCol w="1464227"/>
              </a:tblGrid>
              <a:tr h="365760">
                <a:tc>
                  <a:txBody>
                    <a:bodyPr wrap="square"/>
                    <a:lstStyle/>
                    <a:p>
                      <a:pPr algn="l"/>
                      <a:r>
                        <a:rPr sz="900" b="1" spc="100">
                          <a:solidFill>
                            <a:srgbClr val="999999"/>
                          </a:solidFill>
                          <a:latin typeface="Helvetica Neue"/>
                        </a:rPr>
                        <a:t>HVOR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RET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HYPOTESE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EFFEKT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Diagnosticér og ryd website-fejlene, verificér betalingsstien på mobil Safari</a:t>
                      </a:r>
                    </a:p>
                  </a:txBody>
                  <a:tcPr marL="73152" marR="73152" marT="18288" marB="18288" anchor="ctr">
                    <a:solidFill>
                      <a:srgbClr val="000000"/>
                    </a:solidFill>
                  </a:tcPr>
                </a:tc>
                <a:tc>
                  <a:txBody>
                    <a:bodyPr wrap="square"/>
                    <a:lstStyle/>
                    <a:p>
                      <a:pPr algn="l"/>
                      <a:r>
                        <a:rPr sz="900" b="0">
                          <a:solidFill>
                            <a:srgbClr val="EFEEEE"/>
                          </a:solidFill>
                          <a:latin typeface="Helvetica Neue"/>
                        </a:rPr>
                        <a:t>At fjerne checkout-fejl genvinder den målgruppe med højest intention og lavest pris</a:t>
                      </a:r>
                    </a:p>
                  </a:txBody>
                  <a:tcPr marL="73152" marR="73152" marT="18288" marB="18288" anchor="ctr">
                    <a:solidFill>
                      <a:srgbClr val="000000"/>
                    </a:solidFill>
                  </a:tcPr>
                </a:tc>
                <a:tc>
                  <a:txBody>
                    <a:bodyPr wrap="square"/>
                    <a:lstStyle/>
                    <a:p>
                      <a:pPr algn="l"/>
                      <a:r>
                        <a:rPr sz="900" b="0">
                          <a:solidFill>
                            <a:srgbClr val="EFEEEE"/>
                          </a:solidFill>
                          <a:latin typeface="Helvetica Neue"/>
                        </a:rPr>
                        <a:t>46.9% checkout-afbrydelse; 90+ JS-fejl pr. indlæsning</a:t>
                      </a:r>
                    </a:p>
                  </a:txBody>
                  <a:tcPr marL="73152" marR="73152" marT="18288" marB="18288" anchor="ctr">
                    <a:solidFill>
                      <a:srgbClr val="000000"/>
                    </a:solidFill>
                  </a:tcPr>
                </a:tc>
                <a:tc>
                  <a:txBody>
                    <a:bodyPr wrap="square"/>
                    <a:lstStyle/>
                    <a:p>
                      <a:pPr algn="r"/>
                      <a:r>
                        <a:rPr sz="900" b="0">
                          <a:solidFill>
                            <a:srgbClr val="F7D007"/>
                          </a:solidFill>
                          <a:latin typeface="Menlo"/>
                        </a:rPr>
                        <a:t>Høj</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Box-produktside</a:t>
                      </a:r>
                    </a:p>
                  </a:txBody>
                  <a:tcPr marL="73152" marR="73152" marT="18288" marB="18288" anchor="ctr">
                    <a:solidFill>
                      <a:srgbClr val="0B0B0B"/>
                    </a:solidFill>
                  </a:tcPr>
                </a:tc>
                <a:tc>
                  <a:txBody>
                    <a:bodyPr wrap="square"/>
                    <a:lstStyle/>
                    <a:p>
                      <a:pPr algn="l"/>
                      <a:r>
                        <a:rPr sz="900" b="0">
                          <a:solidFill>
                            <a:srgbClr val="EFEEEE"/>
                          </a:solidFill>
                          <a:latin typeface="Helvetica Neue"/>
                        </a:rPr>
                        <a:t>Tilføj detalje pr. vin: drue, region, skala fra tør til sød, Vivino-score, flere billeder</a:t>
                      </a:r>
                    </a:p>
                  </a:txBody>
                  <a:tcPr marL="73152" marR="73152" marT="18288" marB="18288" anchor="ctr">
                    <a:solidFill>
                      <a:srgbClr val="0B0B0B"/>
                    </a:solidFill>
                  </a:tcPr>
                </a:tc>
                <a:tc>
                  <a:txBody>
                    <a:bodyPr wrap="square"/>
                    <a:lstStyle/>
                    <a:p>
                      <a:pPr algn="l"/>
                      <a:r>
                        <a:rPr sz="900" b="0">
                          <a:solidFill>
                            <a:srgbClr val="EFEEEE"/>
                          </a:solidFill>
                          <a:latin typeface="Helvetica Neue"/>
                        </a:rPr>
                        <a:t>At gøre en blind kasse til et informeret valg løfter læg i kurv og skærer smagsklager</a:t>
                      </a:r>
                    </a:p>
                  </a:txBody>
                  <a:tcPr marL="73152" marR="73152" marT="18288" marB="18288" anchor="ctr">
                    <a:solidFill>
                      <a:srgbClr val="0B0B0B"/>
                    </a:solidFill>
                  </a:tcPr>
                </a:tc>
                <a:tc>
                  <a:txBody>
                    <a:bodyPr wrap="square"/>
                    <a:lstStyle/>
                    <a:p>
                      <a:pPr algn="l"/>
                      <a:r>
                        <a:rPr sz="900" b="0">
                          <a:solidFill>
                            <a:srgbClr val="EFEEEE"/>
                          </a:solidFill>
                          <a:latin typeface="Helvetica Neue"/>
                        </a:rPr>
                        <a:t>"Jag saknar en beskrivning av respektive vin"; 14% smagsklager; kun 3 billeder</a:t>
                      </a:r>
                    </a:p>
                  </a:txBody>
                  <a:tcPr marL="73152" marR="73152" marT="18288" marB="18288" anchor="ctr">
                    <a:solidFill>
                      <a:srgbClr val="0B0B0B"/>
                    </a:solidFill>
                  </a:tcPr>
                </a:tc>
                <a:tc>
                  <a:txBody>
                    <a:bodyPr wrap="square"/>
                    <a:lstStyle/>
                    <a:p>
                      <a:pPr algn="r"/>
                      <a:r>
                        <a:rPr sz="900" b="0">
                          <a:solidFill>
                            <a:srgbClr val="F7D007"/>
                          </a:solidFill>
                          <a:latin typeface="Menlo"/>
                        </a:rPr>
                        <a:t>Middel til høj</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Leverings-UX</a:t>
                      </a:r>
                    </a:p>
                  </a:txBody>
                  <a:tcPr marL="73152" marR="73152" marT="18288" marB="18288" anchor="ctr">
                    <a:solidFill>
                      <a:srgbClr val="000000"/>
                    </a:solidFill>
                  </a:tcPr>
                </a:tc>
                <a:tc>
                  <a:txBody>
                    <a:bodyPr wrap="square"/>
                    <a:lstStyle/>
                    <a:p>
                      <a:pPr algn="l"/>
                      <a:r>
                        <a:rPr sz="900" b="0">
                          <a:solidFill>
                            <a:srgbClr val="EFEEEE"/>
                          </a:solidFill>
                          <a:latin typeface="Helvetica Neue"/>
                        </a:rPr>
                        <a:t>Lad kunderne vælge leveringsdag/-vindue, afstem forventninger til fragtfører</a:t>
                      </a:r>
                    </a:p>
                  </a:txBody>
                  <a:tcPr marL="73152" marR="73152" marT="18288" marB="18288" anchor="ctr">
                    <a:solidFill>
                      <a:srgbClr val="000000"/>
                    </a:solidFill>
                  </a:tcPr>
                </a:tc>
                <a:tc>
                  <a:txBody>
                    <a:bodyPr wrap="square"/>
                    <a:lstStyle/>
                    <a:p>
                      <a:pPr algn="l"/>
                      <a:r>
                        <a:rPr sz="900" b="0">
                          <a:solidFill>
                            <a:srgbClr val="EFEEEE"/>
                          </a:solidFill>
                          <a:latin typeface="Helvetica Neue"/>
                        </a:rPr>
                        <a:t>At løse problemet med at være hjemme reducerer aflysninger og anmeldelser på 1 til 3 stjerner</a:t>
                      </a:r>
                    </a:p>
                  </a:txBody>
                  <a:tcPr marL="73152" marR="73152" marT="18288" marB="18288" anchor="ctr">
                    <a:solidFill>
                      <a:srgbClr val="000000"/>
                    </a:solidFill>
                  </a:tcPr>
                </a:tc>
                <a:tc>
                  <a:txBody>
                    <a:bodyPr wrap="square"/>
                    <a:lstStyle/>
                    <a:p>
                      <a:pPr algn="l"/>
                      <a:r>
                        <a:rPr sz="900" b="0">
                          <a:solidFill>
                            <a:srgbClr val="EFEEEE"/>
                          </a:solidFill>
                          <a:latin typeface="Helvetica Neue"/>
                        </a:rPr>
                        <a:t>23% nævner problemet med aflyst vindue / at være hjemme</a:t>
                      </a:r>
                    </a:p>
                  </a:txBody>
                  <a:tcPr marL="73152" marR="73152" marT="18288" marB="18288" anchor="ctr">
                    <a:solidFill>
                      <a:srgbClr val="000000"/>
                    </a:solidFill>
                  </a:tcPr>
                </a:tc>
                <a:tc>
                  <a:txBody>
                    <a:bodyPr wrap="square"/>
                    <a:lstStyle/>
                    <a:p>
                      <a:pPr algn="r"/>
                      <a:r>
                        <a:rPr sz="900" b="0">
                          <a:solidFill>
                            <a:srgbClr val="F7D007"/>
                          </a:solidFill>
                          <a:latin typeface="Menlo"/>
                        </a:rPr>
                        <a:t>Middel</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Kollektion</a:t>
                      </a:r>
                    </a:p>
                  </a:txBody>
                  <a:tcPr marL="73152" marR="73152" marT="18288" marB="18288" anchor="ctr">
                    <a:solidFill>
                      <a:srgbClr val="0B0B0B"/>
                    </a:solidFill>
                  </a:tcPr>
                </a:tc>
                <a:tc>
                  <a:txBody>
                    <a:bodyPr wrap="square"/>
                    <a:lstStyle/>
                    <a:p>
                      <a:pPr algn="l"/>
                      <a:r>
                        <a:rPr sz="900" b="0">
                          <a:solidFill>
                            <a:srgbClr val="EFEEEE"/>
                          </a:solidFill>
                          <a:latin typeface="Helvetica Neue"/>
                        </a:rPr>
                        <a:t>Layout med kasserne først, stærkere facetteret filtrering (drue, sødme, anledning)</a:t>
                      </a:r>
                    </a:p>
                  </a:txBody>
                  <a:tcPr marL="73152" marR="73152" marT="18288" marB="18288" anchor="ctr">
                    <a:solidFill>
                      <a:srgbClr val="0B0B0B"/>
                    </a:solidFill>
                  </a:tcPr>
                </a:tc>
                <a:tc>
                  <a:txBody>
                    <a:bodyPr wrap="square"/>
                    <a:lstStyle/>
                    <a:p>
                      <a:pPr algn="l"/>
                      <a:r>
                        <a:rPr sz="900" b="0">
                          <a:solidFill>
                            <a:srgbClr val="EFEEEE"/>
                          </a:solidFill>
                          <a:latin typeface="Helvetica Neue"/>
                        </a:rPr>
                        <a:t>Bedre discovery løfter kollektionssiden fra 2.6% mod kasseniveau-CVR</a:t>
                      </a:r>
                    </a:p>
                  </a:txBody>
                  <a:tcPr marL="73152" marR="73152" marT="18288" marB="18288" anchor="ctr">
                    <a:solidFill>
                      <a:srgbClr val="0B0B0B"/>
                    </a:solidFill>
                  </a:tcPr>
                </a:tc>
                <a:tc>
                  <a:txBody>
                    <a:bodyPr wrap="square"/>
                    <a:lstStyle/>
                    <a:p>
                      <a:pPr algn="l"/>
                      <a:r>
                        <a:rPr sz="900" b="0">
                          <a:solidFill>
                            <a:srgbClr val="EFEEEE"/>
                          </a:solidFill>
                          <a:latin typeface="Helvetica Neue"/>
                        </a:rPr>
                        <a:t>Kollektion 2.6% mod kasser 4 til 5.5%; ønsker om en sorterbar liste</a:t>
                      </a:r>
                    </a:p>
                  </a:txBody>
                  <a:tcPr marL="73152" marR="73152" marT="18288" marB="18288" anchor="ctr">
                    <a:solidFill>
                      <a:srgbClr val="0B0B0B"/>
                    </a:solidFill>
                  </a:tcPr>
                </a:tc>
                <a:tc>
                  <a:txBody>
                    <a:bodyPr wrap="square"/>
                    <a:lstStyle/>
                    <a:p>
                      <a:pPr algn="r"/>
                      <a:r>
                        <a:rPr sz="900" b="0">
                          <a:solidFill>
                            <a:srgbClr val="F7D007"/>
                          </a:solidFill>
                          <a:latin typeface="Menlo"/>
                        </a:rPr>
                        <a:t>Middel</a:t>
                      </a:r>
                    </a:p>
                  </a:txBody>
                  <a:tcPr marL="73152" marR="73152" marT="18288" marB="18288" anchor="ctr">
                    <a:solidFill>
                      <a:srgbClr val="0B0B0B"/>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P2 · Finpudsning og infrastruktur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Ryd op og reducér risiko</a:t>
            </a:r>
          </a:p>
        </p:txBody>
      </p:sp>
      <p:graphicFrame>
        <p:nvGraphicFramePr>
          <p:cNvPr id="9" name="Table 8"/>
          <p:cNvGraphicFramePr>
            <a:graphicFrameLocks noGrp="1"/>
          </p:cNvGraphicFramePr>
          <p:nvPr/>
        </p:nvGraphicFramePr>
        <p:xfrm>
          <a:off x="457200" y="1828800"/>
          <a:ext cx="11274550" cy="4480560"/>
        </p:xfrm>
        <a:graphic>
          <a:graphicData uri="http://schemas.openxmlformats.org/drawingml/2006/table">
            <a:tbl>
              <a:tblPr>
                <a:tableStyleId>{2D5ABB26-0587-4C30-8999-92F81FD0307C}</a:tableStyleId>
              </a:tblPr>
              <a:tblGrid>
                <a:gridCol w="2782032"/>
                <a:gridCol w="4099837"/>
                <a:gridCol w="1464227"/>
                <a:gridCol w="1464227"/>
                <a:gridCol w="1464227"/>
              </a:tblGrid>
              <a:tr h="365760">
                <a:tc>
                  <a:txBody>
                    <a:bodyPr wrap="square"/>
                    <a:lstStyle/>
                    <a:p>
                      <a:pPr algn="l"/>
                      <a:r>
                        <a:rPr sz="900" b="1" spc="100">
                          <a:solidFill>
                            <a:srgbClr val="999999"/>
                          </a:solidFill>
                          <a:latin typeface="Helvetica Neue"/>
                        </a:rPr>
                        <a:t>HVOR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RET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HYPOTESE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EFFEKT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Indgang</a:t>
                      </a:r>
                    </a:p>
                  </a:txBody>
                  <a:tcPr marL="73152" marR="73152" marT="18288" marB="18288" anchor="ctr">
                    <a:solidFill>
                      <a:srgbClr val="000000"/>
                    </a:solidFill>
                  </a:tcPr>
                </a:tc>
                <a:tc>
                  <a:txBody>
                    <a:bodyPr wrap="square"/>
                    <a:lstStyle/>
                    <a:p>
                      <a:pPr algn="l"/>
                      <a:r>
                        <a:rPr sz="900" b="0">
                          <a:solidFill>
                            <a:srgbClr val="EFEEEE"/>
                          </a:solidFill>
                          <a:latin typeface="Helvetica Neue"/>
                        </a:rPr>
                        <a:t>Slå aldersbekræftelse og lykkehjul sammen til ét trin, husk valget</a:t>
                      </a:r>
                    </a:p>
                  </a:txBody>
                  <a:tcPr marL="73152" marR="73152" marT="18288" marB="18288" anchor="ctr">
                    <a:solidFill>
                      <a:srgbClr val="000000"/>
                    </a:solidFill>
                  </a:tcPr>
                </a:tc>
                <a:tc>
                  <a:txBody>
                    <a:bodyPr wrap="square"/>
                    <a:lstStyle/>
                    <a:p>
                      <a:pPr algn="l"/>
                      <a:r>
                        <a:rPr sz="900" b="0">
                          <a:solidFill>
                            <a:srgbClr val="EFEEEE"/>
                          </a:solidFill>
                          <a:latin typeface="Helvetica Neue"/>
                        </a:rPr>
                        <a:t>Én ren bekræftelse reducerer indgangsfriktion på kold paid-trafik</a:t>
                      </a:r>
                    </a:p>
                  </a:txBody>
                  <a:tcPr marL="73152" marR="73152" marT="18288" marB="18288" anchor="ctr">
                    <a:solidFill>
                      <a:srgbClr val="000000"/>
                    </a:solidFill>
                  </a:tcPr>
                </a:tc>
                <a:tc>
                  <a:txBody>
                    <a:bodyPr wrap="square"/>
                    <a:lstStyle/>
                    <a:p>
                      <a:pPr algn="l"/>
                      <a:r>
                        <a:rPr sz="900" b="0">
                          <a:solidFill>
                            <a:srgbClr val="EFEEEE"/>
                          </a:solidFill>
                          <a:latin typeface="Helvetica Neue"/>
                        </a:rPr>
                        <a:t>Dobbelt-popup verificeret på mobil; 41% kold Facebook-trafik</a:t>
                      </a:r>
                    </a:p>
                  </a:txBody>
                  <a:tcPr marL="73152" marR="73152" marT="18288" marB="18288" anchor="ctr">
                    <a:solidFill>
                      <a:srgbClr val="000000"/>
                    </a:solidFill>
                  </a:tcPr>
                </a:tc>
                <a:tc>
                  <a:txBody>
                    <a:bodyPr wrap="square"/>
                    <a:lstStyle/>
                    <a:p>
                      <a:pPr algn="r"/>
                      <a:r>
                        <a:rPr sz="900" b="0">
                          <a:solidFill>
                            <a:srgbClr val="F7D007"/>
                          </a:solidFill>
                          <a:latin typeface="Menlo"/>
                        </a:rPr>
                        <a:t>Middel</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Tracking</a:t>
                      </a:r>
                    </a:p>
                  </a:txBody>
                  <a:tcPr marL="73152" marR="73152" marT="18288" marB="18288" anchor="ctr">
                    <a:solidFill>
                      <a:srgbClr val="0B0B0B"/>
                    </a:solidFill>
                  </a:tcPr>
                </a:tc>
                <a:tc>
                  <a:txBody>
                    <a:bodyPr wrap="square"/>
                    <a:lstStyle/>
                    <a:p>
                      <a:pPr algn="l"/>
                      <a:r>
                        <a:rPr sz="900" b="0">
                          <a:solidFill>
                            <a:srgbClr val="EFEEEE"/>
                          </a:solidFill>
                          <a:latin typeface="Helvetica Neue"/>
                        </a:rPr>
                        <a:t>Ret forsidens konverterings-tag, konsolidér til én GA4, fjern død UA</a:t>
                      </a:r>
                    </a:p>
                  </a:txBody>
                  <a:tcPr marL="73152" marR="73152" marT="18288" marB="18288" anchor="ctr">
                    <a:solidFill>
                      <a:srgbClr val="0B0B0B"/>
                    </a:solidFill>
                  </a:tcPr>
                </a:tc>
                <a:tc>
                  <a:txBody>
                    <a:bodyPr wrap="square"/>
                    <a:lstStyle/>
                    <a:p>
                      <a:pPr algn="l"/>
                      <a:r>
                        <a:rPr sz="900" b="0">
                          <a:solidFill>
                            <a:srgbClr val="EFEEEE"/>
                          </a:solidFill>
                          <a:latin typeface="Helvetica Neue"/>
                        </a:rPr>
                        <a:t>Rene data forbedrer annonceoptimering og beslutningskvalitet</a:t>
                      </a:r>
                    </a:p>
                  </a:txBody>
                  <a:tcPr marL="73152" marR="73152" marT="18288" marB="18288" anchor="ctr">
                    <a:solidFill>
                      <a:srgbClr val="0B0B0B"/>
                    </a:solidFill>
                  </a:tcPr>
                </a:tc>
                <a:tc>
                  <a:txBody>
                    <a:bodyPr wrap="square"/>
                    <a:lstStyle/>
                    <a:p>
                      <a:pPr algn="l"/>
                      <a:r>
                        <a:rPr sz="900" b="0">
                          <a:solidFill>
                            <a:srgbClr val="EFEEEE"/>
                          </a:solidFill>
                          <a:latin typeface="Helvetica Neue"/>
                        </a:rPr>
                        <a:t>Konvertering ved pageview; 4 GA4 + død UA verificeret</a:t>
                      </a:r>
                    </a:p>
                  </a:txBody>
                  <a:tcPr marL="73152" marR="73152" marT="18288" marB="18288" anchor="ctr">
                    <a:solidFill>
                      <a:srgbClr val="0B0B0B"/>
                    </a:solidFill>
                  </a:tcPr>
                </a:tc>
                <a:tc>
                  <a:txBody>
                    <a:bodyPr wrap="square"/>
                    <a:lstStyle/>
                    <a:p>
                      <a:pPr algn="r"/>
                      <a:r>
                        <a:rPr sz="900" b="0">
                          <a:solidFill>
                            <a:srgbClr val="F7D007"/>
                          </a:solidFill>
                          <a:latin typeface="Menlo"/>
                        </a:rPr>
                        <a:t>Høj (data)</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Tillidsmærker</a:t>
                      </a:r>
                    </a:p>
                  </a:txBody>
                  <a:tcPr marL="73152" marR="73152" marT="18288" marB="18288" anchor="ctr">
                    <a:solidFill>
                      <a:srgbClr val="000000"/>
                    </a:solidFill>
                  </a:tcPr>
                </a:tc>
                <a:tc>
                  <a:txBody>
                    <a:bodyPr wrap="square"/>
                    <a:lstStyle/>
                    <a:p>
                      <a:pPr algn="l"/>
                      <a:r>
                        <a:rPr sz="900" b="0">
                          <a:solidFill>
                            <a:srgbClr val="EFEEEE"/>
                          </a:solidFill>
                          <a:latin typeface="Helvetica Neue"/>
                        </a:rPr>
                        <a:t>Tilføj Trygg E-handel, vis dansk operatør og Løvens Hule højere oppe</a:t>
                      </a:r>
                    </a:p>
                  </a:txBody>
                  <a:tcPr marL="73152" marR="73152" marT="18288" marB="18288" anchor="ctr">
                    <a:solidFill>
                      <a:srgbClr val="000000"/>
                    </a:solidFill>
                  </a:tcPr>
                </a:tc>
                <a:tc>
                  <a:txBody>
                    <a:bodyPr wrap="square"/>
                    <a:lstStyle/>
                    <a:p>
                      <a:pPr algn="l"/>
                      <a:r>
                        <a:rPr sz="900" b="0">
                          <a:solidFill>
                            <a:srgbClr val="EFEEEE"/>
                          </a:solidFill>
                          <a:latin typeface="Helvetica Neue"/>
                        </a:rPr>
                        <a:t>Anerkendte svenske tillidsmærker løfter legitimiteten for nye købere</a:t>
                      </a:r>
                    </a:p>
                  </a:txBody>
                  <a:tcPr marL="73152" marR="73152" marT="18288" marB="18288" anchor="ctr">
                    <a:solidFill>
                      <a:srgbClr val="000000"/>
                    </a:solidFill>
                  </a:tcPr>
                </a:tc>
                <a:tc>
                  <a:txBody>
                    <a:bodyPr wrap="square"/>
                    <a:lstStyle/>
                    <a:p>
                      <a:pPr algn="l"/>
                      <a:r>
                        <a:rPr sz="900" b="0">
                          <a:solidFill>
                            <a:srgbClr val="EFEEEE"/>
                          </a:solidFill>
                          <a:latin typeface="Helvetica Neue"/>
                        </a:rPr>
                        <a:t>3 af 4 konkurrenter viser Trygg; aktiver begravet i footeren</a:t>
                      </a:r>
                    </a:p>
                  </a:txBody>
                  <a:tcPr marL="73152" marR="73152" marT="18288" marB="18288" anchor="ctr">
                    <a:solidFill>
                      <a:srgbClr val="000000"/>
                    </a:solidFill>
                  </a:tcPr>
                </a:tc>
                <a:tc>
                  <a:txBody>
                    <a:bodyPr wrap="square"/>
                    <a:lstStyle/>
                    <a:p>
                      <a:pPr algn="r"/>
                      <a:r>
                        <a:rPr sz="900" b="0">
                          <a:solidFill>
                            <a:srgbClr val="F7D007"/>
                          </a:solidFill>
                          <a:latin typeface="Menlo"/>
                        </a:rPr>
                        <a:t>Middel</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Lokalisering</a:t>
                      </a:r>
                    </a:p>
                  </a:txBody>
                  <a:tcPr marL="73152" marR="73152" marT="18288" marB="18288" anchor="ctr">
                    <a:solidFill>
                      <a:srgbClr val="0B0B0B"/>
                    </a:solidFill>
                  </a:tcPr>
                </a:tc>
                <a:tc>
                  <a:txBody>
                    <a:bodyPr wrap="square"/>
                    <a:lstStyle/>
                    <a:p>
                      <a:pPr algn="l"/>
                      <a:r>
                        <a:rPr sz="900" b="0">
                          <a:solidFill>
                            <a:srgbClr val="EFEEEE"/>
                          </a:solidFill>
                          <a:latin typeface="Helvetica Neue"/>
                        </a:rPr>
                        <a:t>Fjern danske udslip ("Kjøb", "Smagekasser") og den løsrevne .dk-Trustpilot-widget</a:t>
                      </a:r>
                    </a:p>
                  </a:txBody>
                  <a:tcPr marL="73152" marR="73152" marT="18288" marB="18288" anchor="ctr">
                    <a:solidFill>
                      <a:srgbClr val="0B0B0B"/>
                    </a:solidFill>
                  </a:tcPr>
                </a:tc>
                <a:tc>
                  <a:txBody>
                    <a:bodyPr wrap="square"/>
                    <a:lstStyle/>
                    <a:p>
                      <a:pPr algn="l"/>
                      <a:r>
                        <a:rPr sz="900" b="0">
                          <a:solidFill>
                            <a:srgbClr val="EFEEEE"/>
                          </a:solidFill>
                          <a:latin typeface="Helvetica Neue"/>
                        </a:rPr>
                        <a:t>Fuld svensk finpudsning fjerner tillidsdissonans</a:t>
                      </a:r>
                    </a:p>
                  </a:txBody>
                  <a:tcPr marL="73152" marR="73152" marT="18288" marB="18288" anchor="ctr">
                    <a:solidFill>
                      <a:srgbClr val="0B0B0B"/>
                    </a:solidFill>
                  </a:tcPr>
                </a:tc>
                <a:tc>
                  <a:txBody>
                    <a:bodyPr wrap="square"/>
                    <a:lstStyle/>
                    <a:p>
                      <a:pPr algn="l"/>
                      <a:r>
                        <a:rPr sz="900" b="0">
                          <a:solidFill>
                            <a:srgbClr val="EFEEEE"/>
                          </a:solidFill>
                          <a:latin typeface="Helvetica Neue"/>
                        </a:rPr>
                        <a:t>Dansk sidetitel + .dk-widget vist til svenskere</a:t>
                      </a:r>
                    </a:p>
                  </a:txBody>
                  <a:tcPr marL="73152" marR="73152" marT="18288" marB="18288" anchor="ctr">
                    <a:solidFill>
                      <a:srgbClr val="0B0B0B"/>
                    </a:solidFill>
                  </a:tcPr>
                </a:tc>
                <a:tc>
                  <a:txBody>
                    <a:bodyPr wrap="square"/>
                    <a:lstStyle/>
                    <a:p>
                      <a:pPr algn="r"/>
                      <a:r>
                        <a:rPr sz="900" b="0">
                          <a:solidFill>
                            <a:srgbClr val="F7D007"/>
                          </a:solidFill>
                          <a:latin typeface="Menlo"/>
                        </a:rPr>
                        <a:t>Lav</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Ejede kanaler</a:t>
                      </a:r>
                    </a:p>
                  </a:txBody>
                  <a:tcPr marL="73152" marR="73152" marT="18288" marB="18288" anchor="ctr">
                    <a:solidFill>
                      <a:srgbClr val="000000"/>
                    </a:solidFill>
                  </a:tcPr>
                </a:tc>
                <a:tc>
                  <a:txBody>
                    <a:bodyPr wrap="square"/>
                    <a:lstStyle/>
                    <a:p>
                      <a:pPr algn="l"/>
                      <a:r>
                        <a:rPr sz="900" b="0">
                          <a:solidFill>
                            <a:srgbClr val="EFEEEE"/>
                          </a:solidFill>
                          <a:latin typeface="Helvetica Neue"/>
                        </a:rPr>
                        <a:t>Udbyg e-mail og søgning for at balancere den ~33% betalte social-andel</a:t>
                      </a:r>
                    </a:p>
                  </a:txBody>
                  <a:tcPr marL="73152" marR="73152" marT="18288" marB="18288" anchor="ctr">
                    <a:solidFill>
                      <a:srgbClr val="000000"/>
                    </a:solidFill>
                  </a:tcPr>
                </a:tc>
                <a:tc>
                  <a:txBody>
                    <a:bodyPr wrap="square"/>
                    <a:lstStyle/>
                    <a:p>
                      <a:pPr algn="l"/>
                      <a:r>
                        <a:rPr sz="900" b="0">
                          <a:solidFill>
                            <a:srgbClr val="EFEEEE"/>
                          </a:solidFill>
                          <a:latin typeface="Helvetica Neue"/>
                        </a:rPr>
                        <a:t>Diversificeret efterspørgsel reducerer risikoen for hele forretningen</a:t>
                      </a:r>
                    </a:p>
                  </a:txBody>
                  <a:tcPr marL="73152" marR="73152" marT="18288" marB="18288" anchor="ctr">
                    <a:solidFill>
                      <a:srgbClr val="000000"/>
                    </a:solidFill>
                  </a:tcPr>
                </a:tc>
                <a:tc>
                  <a:txBody>
                    <a:bodyPr wrap="square"/>
                    <a:lstStyle/>
                    <a:p>
                      <a:pPr algn="l"/>
                      <a:r>
                        <a:rPr sz="900" b="0">
                          <a:solidFill>
                            <a:srgbClr val="EFEEEE"/>
                          </a:solidFill>
                          <a:latin typeface="Helvetica Neue"/>
                        </a:rPr>
                        <a:t>Betalt social ~33% af sessionerne; tagget e-mail ~1% af sessionerne, men ~16% af ordrerne, knap nok instrumenteret</a:t>
                      </a:r>
                    </a:p>
                  </a:txBody>
                  <a:tcPr marL="73152" marR="73152" marT="18288" marB="18288" anchor="ctr">
                    <a:solidFill>
                      <a:srgbClr val="000000"/>
                    </a:solidFill>
                  </a:tcPr>
                </a:tc>
                <a:tc>
                  <a:txBody>
                    <a:bodyPr wrap="square"/>
                    <a:lstStyle/>
                    <a:p>
                      <a:pPr algn="r"/>
                      <a:r>
                        <a:rPr sz="900" b="0">
                          <a:solidFill>
                            <a:srgbClr val="F7D007"/>
                          </a:solidFill>
                          <a:latin typeface="Menlo"/>
                        </a:rPr>
                        <a:t>Strategisk</a:t>
                      </a:r>
                    </a:p>
                  </a:txBody>
                  <a:tcPr marL="73152" marR="73152" marT="18288" marB="18288" anchor="ctr">
                    <a:solidFill>
                      <a:srgbClr val="000000"/>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Overblik på én side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Hvis du kun gør tre ting</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Disse tre ligger i skæringspunktet mellem størst evidens og lavest indsats. Start her.</a:t>
            </a:r>
          </a:p>
        </p:txBody>
      </p:sp>
      <p:sp>
        <p:nvSpPr>
          <p:cNvPr id="10" name="Rounded Rectangle 9"/>
          <p:cNvSpPr/>
          <p:nvPr/>
        </p:nvSpPr>
        <p:spPr>
          <a:xfrm>
            <a:off x="79232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1</a:t>
            </a:r>
          </a:p>
        </p:txBody>
      </p:sp>
      <p:sp>
        <p:nvSpPr>
          <p:cNvPr id="12" name="TextBox 11"/>
          <p:cNvSpPr txBox="1"/>
          <p:nvPr/>
        </p:nvSpPr>
        <p:spPr>
          <a:xfrm>
            <a:off x="106664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Besvar lovlighedsspørgsmålet</a:t>
            </a:r>
          </a:p>
        </p:txBody>
      </p:sp>
      <p:sp>
        <p:nvSpPr>
          <p:cNvPr id="13" name="TextBox 12"/>
          <p:cNvSpPr txBox="1"/>
          <p:nvPr/>
        </p:nvSpPr>
        <p:spPr>
          <a:xfrm>
            <a:off x="106664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Trust wedge</a:t>
            </a:r>
          </a:p>
        </p:txBody>
      </p:sp>
      <p:sp>
        <p:nvSpPr>
          <p:cNvPr id="14" name="TextBox 13"/>
          <p:cNvSpPr txBox="1"/>
          <p:nvPr/>
        </p:nvSpPr>
        <p:spPr>
          <a:xfrm>
            <a:off x="106664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En synlig "hvorfor dette er lovligt"-blok på produktside og kurv, med alderskontrollen, den danske importmodel, moms inkluderet og jeres 4.7 Trustpilot-bevis.</a:t>
            </a:r>
          </a:p>
        </p:txBody>
      </p:sp>
      <p:sp>
        <p:nvSpPr>
          <p:cNvPr id="15" name="TextBox 14"/>
          <p:cNvSpPr txBox="1"/>
          <p:nvPr/>
        </p:nvSpPr>
        <p:spPr>
          <a:xfrm>
            <a:off x="106664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Løfter førstegangskøbere</a:t>
            </a:r>
          </a:p>
        </p:txBody>
      </p:sp>
      <p:sp>
        <p:nvSpPr>
          <p:cNvPr id="16" name="Rounded Rectangle 15"/>
          <p:cNvSpPr/>
          <p:nvPr/>
        </p:nvSpPr>
        <p:spPr>
          <a:xfrm>
            <a:off x="441944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9376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2</a:t>
            </a:r>
          </a:p>
        </p:txBody>
      </p:sp>
      <p:sp>
        <p:nvSpPr>
          <p:cNvPr id="18" name="TextBox 17"/>
          <p:cNvSpPr txBox="1"/>
          <p:nvPr/>
        </p:nvSpPr>
        <p:spPr>
          <a:xfrm>
            <a:off x="469376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Ret leveringsløftet</a:t>
            </a:r>
          </a:p>
        </p:txBody>
      </p:sp>
      <p:sp>
        <p:nvSpPr>
          <p:cNvPr id="19" name="TextBox 18"/>
          <p:cNvSpPr txBox="1"/>
          <p:nvPr/>
        </p:nvSpPr>
        <p:spPr>
          <a:xfrm>
            <a:off x="469376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Retention</a:t>
            </a:r>
          </a:p>
        </p:txBody>
      </p:sp>
      <p:sp>
        <p:nvSpPr>
          <p:cNvPr id="20" name="TextBox 19"/>
          <p:cNvSpPr txBox="1"/>
          <p:nvPr/>
        </p:nvSpPr>
        <p:spPr>
          <a:xfrm>
            <a:off x="469376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Erstat "1-3 dagar" med en ærlig ETA og proaktive opdateringer. Beskytter de 40% af omsætningen, der kommer fra genkøbere.</a:t>
            </a:r>
          </a:p>
        </p:txBody>
      </p:sp>
      <p:sp>
        <p:nvSpPr>
          <p:cNvPr id="21" name="TextBox 20"/>
          <p:cNvSpPr txBox="1"/>
          <p:nvPr/>
        </p:nvSpPr>
        <p:spPr>
          <a:xfrm>
            <a:off x="469376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Fjerner 86% af klagerne ved kilden</a:t>
            </a:r>
          </a:p>
        </p:txBody>
      </p:sp>
      <p:sp>
        <p:nvSpPr>
          <p:cNvPr id="22" name="Rounded Rectangle 21"/>
          <p:cNvSpPr/>
          <p:nvPr/>
        </p:nvSpPr>
        <p:spPr>
          <a:xfrm>
            <a:off x="804656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088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3</a:t>
            </a:r>
          </a:p>
        </p:txBody>
      </p:sp>
      <p:sp>
        <p:nvSpPr>
          <p:cNvPr id="24" name="TextBox 23"/>
          <p:cNvSpPr txBox="1"/>
          <p:nvPr/>
        </p:nvSpPr>
        <p:spPr>
          <a:xfrm>
            <a:off x="832088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Genvind kurvlækket</a:t>
            </a:r>
          </a:p>
        </p:txBody>
      </p:sp>
      <p:sp>
        <p:nvSpPr>
          <p:cNvPr id="25" name="TextBox 24"/>
          <p:cNvSpPr txBox="1"/>
          <p:nvPr/>
        </p:nvSpPr>
        <p:spPr>
          <a:xfrm>
            <a:off x="832088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1.5 to 1.8M</a:t>
            </a:r>
          </a:p>
        </p:txBody>
      </p:sp>
      <p:sp>
        <p:nvSpPr>
          <p:cNvPr id="26" name="TextBox 25"/>
          <p:cNvSpPr txBox="1"/>
          <p:nvPr/>
        </p:nvSpPr>
        <p:spPr>
          <a:xfrm>
            <a:off x="832088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Vis fragtregler i kurven og tilføj et tydeligt trin til at fortsætte. 60.2% af kurvene når aldrig checkout i dag.</a:t>
            </a:r>
          </a:p>
        </p:txBody>
      </p:sp>
      <p:sp>
        <p:nvSpPr>
          <p:cNvPr id="27" name="TextBox 26"/>
          <p:cNvSpPr txBox="1"/>
          <p:nvPr/>
        </p:nvSpPr>
        <p:spPr>
          <a:xfrm>
            <a:off x="832088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Est. SEK pr. kvartal ved nuværende AOV</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49</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09</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09</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Anbefalede tests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De første tre tests, hver med en hypotese, en primær metric og et forhåndsaftalt mål. Bygget og QA'et af EcomHouse.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50</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DV-01</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PDP legalitets- og tryghedsblok</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64% af produktbesøgende lægger aldrig i kurv.</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Ingen legalitetstekst på siden i et monopolmarked.</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80,8% af køberne er førstegangskøbere og nye i privatimport.</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At besvare "er det lovligt?" ved købsboksen (dansk import, Skatteverket, moms inkluderet) fjerner den største indvending og løfter læg i kurv for nye købere.</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Visning til læg i kurv (primær)</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PDP til køb</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Konverteringsrate for nye besøgende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ATC-rate</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KONFIDENS</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ORDRER</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VARIGHED</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 til 4 uger</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1.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LEGALITETSBLOK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51</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DV-02</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Kurv-drawer: leveringsklarhed</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60,2% af læg i kurv starter aldrig checkout.</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Leveringsestimat er skjult; "1-3 dagar"-løftet holder ikke.</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Fri fragt er stille kun Airmee, hvilket forvirrer købere.</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At fremhæve en ærlig levering på 2 til 5 dage med valgbar dag, plus moms inkluderet og betalingstryghed ved checkout, genvinder lækagen fra kurv til checkout.</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Kurv til startet checkout (primær)</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Gennemført checkout</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Omsætning pr. session</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Kurv→CO</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KONFIDENS</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ORDRER</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EST.</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1,5-1,8M/kvt</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2.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KURV-KLARHED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52</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DV-03</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Box-PDP: AOV-stige og smagsdetalje</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Bokse er 76% af omsætningen; gns. boks 567 SEK.</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Premium-niveauer på 700 SEK+ findes, men sælger i lavt volumen.</a:t>
            </a:r>
          </a:p>
        </p:txBody>
      </p:sp>
      <p:sp>
        <p:nvSpPr>
          <p:cNvPr id="17" name="TextBox 16"/>
          <p:cNvSpPr txBox="1"/>
          <p:nvPr/>
        </p:nvSpPr>
        <p:spPr>
          <a:xfrm>
            <a:off x="457200" y="307238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307238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Købere kan ikke smage; 14% af klager handler om smag.</a:t>
            </a:r>
          </a:p>
        </p:txBody>
      </p:sp>
      <p:sp>
        <p:nvSpPr>
          <p:cNvPr id="19" name="TextBox 18"/>
          <p:cNvSpPr txBox="1"/>
          <p:nvPr/>
        </p:nvSpPr>
        <p:spPr>
          <a:xfrm>
            <a:off x="457200" y="3401568"/>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621024"/>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749040"/>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En niveaustige (6 / 12 XL / 12 Guld) med pris pr. flaske og en smagsprofil pr. vin løfter ordreværdi og læg i kurv ved at fjerne risikoen ved en blind boks.</a:t>
            </a:r>
          </a:p>
        </p:txBody>
      </p:sp>
      <p:sp>
        <p:nvSpPr>
          <p:cNvPr id="22" name="TextBox 21"/>
          <p:cNvSpPr txBox="1"/>
          <p:nvPr/>
        </p:nvSpPr>
        <p:spPr>
          <a:xfrm>
            <a:off x="457200" y="4572000"/>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791456"/>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919472"/>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919472"/>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Omsætning pr. session (primær)</a:t>
            </a:r>
          </a:p>
        </p:txBody>
      </p:sp>
      <p:sp>
        <p:nvSpPr>
          <p:cNvPr id="26" name="TextBox 25"/>
          <p:cNvSpPr txBox="1"/>
          <p:nvPr/>
        </p:nvSpPr>
        <p:spPr>
          <a:xfrm>
            <a:off x="457200" y="5175504"/>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175504"/>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Gennemsnitlig ordreværdi</a:t>
            </a:r>
          </a:p>
        </p:txBody>
      </p:sp>
      <p:sp>
        <p:nvSpPr>
          <p:cNvPr id="28" name="TextBox 27"/>
          <p:cNvSpPr txBox="1"/>
          <p:nvPr/>
        </p:nvSpPr>
        <p:spPr>
          <a:xfrm>
            <a:off x="457200" y="5431536"/>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431536"/>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Læg i kurv-rate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RPV / AOV</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KONFIDENS</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ORDRER</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VARIGHED</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 til 4 uger</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3.jpeg"/>
          <p:cNvPicPr>
            <a:picLocks noChangeAspect="1"/>
          </p:cNvPicPr>
          <p:nvPr/>
        </p:nvPicPr>
        <p:blipFill>
          <a:blip r:embed="rId3"/>
          <a:stretch>
            <a:fillRect/>
          </a:stretch>
        </p:blipFill>
        <p:spPr>
          <a:xfrm>
            <a:off x="7941404" y="868680"/>
            <a:ext cx="179528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AOV-STIGE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10</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10</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Sådan arbejder vi med EcomHouse</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Du godkender, vi eksekverer. Fra research til udrulning, betalt på gevinsterne. Seneste resultater fra andre kunder.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THE ECOMHOUSE METHOD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Six steps, end to end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You approve. We execute. Every step is owned by us, including build, QA, and rollout. Client only approves the brief and rollout.</a:t>
            </a:r>
          </a:p>
        </p:txBody>
      </p:sp>
      <p:sp>
        <p:nvSpPr>
          <p:cNvPr id="10" name="Rounded Rectangle 9"/>
          <p:cNvSpPr/>
          <p:nvPr/>
        </p:nvSpPr>
        <p:spPr>
          <a:xfrm>
            <a:off x="44942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01</a:t>
            </a:r>
          </a:p>
        </p:txBody>
      </p:sp>
      <p:sp>
        <p:nvSpPr>
          <p:cNvPr id="12" name="TextBox 11"/>
          <p:cNvSpPr txBox="1"/>
          <p:nvPr/>
        </p:nvSpPr>
        <p:spPr>
          <a:xfrm>
            <a:off x="63230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Research</a:t>
            </a:r>
          </a:p>
        </p:txBody>
      </p:sp>
      <p:sp>
        <p:nvSpPr>
          <p:cNvPr id="13" name="TextBox 12"/>
          <p:cNvSpPr txBox="1"/>
          <p:nvPr/>
        </p:nvSpPr>
        <p:spPr>
          <a:xfrm>
            <a:off x="63230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GA4, Shopify, heatmaps, recordings, reviews, support.</a:t>
            </a:r>
          </a:p>
        </p:txBody>
      </p:sp>
      <p:sp>
        <p:nvSpPr>
          <p:cNvPr id="14" name="TextBox 13"/>
          <p:cNvSpPr txBox="1"/>
          <p:nvPr/>
        </p:nvSpPr>
        <p:spPr>
          <a:xfrm>
            <a:off x="2232507"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15" name="Rounded Rectangle 14"/>
          <p:cNvSpPr/>
          <p:nvPr/>
        </p:nvSpPr>
        <p:spPr>
          <a:xfrm>
            <a:off x="2351379"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4259"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02</a:t>
            </a:r>
          </a:p>
        </p:txBody>
      </p:sp>
      <p:sp>
        <p:nvSpPr>
          <p:cNvPr id="17" name="TextBox 16"/>
          <p:cNvSpPr txBox="1"/>
          <p:nvPr/>
        </p:nvSpPr>
        <p:spPr>
          <a:xfrm>
            <a:off x="2534259"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Ideate</a:t>
            </a:r>
          </a:p>
        </p:txBody>
      </p:sp>
      <p:sp>
        <p:nvSpPr>
          <p:cNvPr id="18" name="TextBox 17"/>
          <p:cNvSpPr txBox="1"/>
          <p:nvPr/>
        </p:nvSpPr>
        <p:spPr>
          <a:xfrm>
            <a:off x="2534259"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Hypothesis, variant concepts, copy, Figma prototype.</a:t>
            </a:r>
          </a:p>
        </p:txBody>
      </p:sp>
      <p:sp>
        <p:nvSpPr>
          <p:cNvPr id="19" name="TextBox 18"/>
          <p:cNvSpPr txBox="1"/>
          <p:nvPr/>
        </p:nvSpPr>
        <p:spPr>
          <a:xfrm>
            <a:off x="4134459"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0" name="Rounded Rectangle 19"/>
          <p:cNvSpPr/>
          <p:nvPr/>
        </p:nvSpPr>
        <p:spPr>
          <a:xfrm>
            <a:off x="4253331"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6211"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03</a:t>
            </a:r>
          </a:p>
        </p:txBody>
      </p:sp>
      <p:sp>
        <p:nvSpPr>
          <p:cNvPr id="22" name="TextBox 21"/>
          <p:cNvSpPr txBox="1"/>
          <p:nvPr/>
        </p:nvSpPr>
        <p:spPr>
          <a:xfrm>
            <a:off x="4436211"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Pre-test brief</a:t>
            </a:r>
          </a:p>
        </p:txBody>
      </p:sp>
      <p:sp>
        <p:nvSpPr>
          <p:cNvPr id="23" name="TextBox 22"/>
          <p:cNvSpPr txBox="1"/>
          <p:nvPr/>
        </p:nvSpPr>
        <p:spPr>
          <a:xfrm>
            <a:off x="4436211"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brief with metric, confidence, sample size.</a:t>
            </a:r>
          </a:p>
        </p:txBody>
      </p:sp>
      <p:sp>
        <p:nvSpPr>
          <p:cNvPr id="24" name="TextBox 23"/>
          <p:cNvSpPr txBox="1"/>
          <p:nvPr/>
        </p:nvSpPr>
        <p:spPr>
          <a:xfrm>
            <a:off x="6036411"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5" name="Rounded Rectangle 24"/>
          <p:cNvSpPr/>
          <p:nvPr/>
        </p:nvSpPr>
        <p:spPr>
          <a:xfrm>
            <a:off x="6155283"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38163"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04</a:t>
            </a:r>
          </a:p>
        </p:txBody>
      </p:sp>
      <p:sp>
        <p:nvSpPr>
          <p:cNvPr id="27" name="TextBox 26"/>
          <p:cNvSpPr txBox="1"/>
          <p:nvPr/>
        </p:nvSpPr>
        <p:spPr>
          <a:xfrm>
            <a:off x="6338163"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Build + QA</a:t>
            </a:r>
          </a:p>
        </p:txBody>
      </p:sp>
      <p:sp>
        <p:nvSpPr>
          <p:cNvPr id="28" name="TextBox 27"/>
          <p:cNvSpPr txBox="1"/>
          <p:nvPr/>
        </p:nvSpPr>
        <p:spPr>
          <a:xfrm>
            <a:off x="6338163"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Shopify or test tool variant, tracked, QA'd across devices.</a:t>
            </a:r>
          </a:p>
        </p:txBody>
      </p:sp>
      <p:sp>
        <p:nvSpPr>
          <p:cNvPr id="29" name="TextBox 28"/>
          <p:cNvSpPr txBox="1"/>
          <p:nvPr/>
        </p:nvSpPr>
        <p:spPr>
          <a:xfrm>
            <a:off x="7938363"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0" name="Rounded Rectangle 29"/>
          <p:cNvSpPr/>
          <p:nvPr/>
        </p:nvSpPr>
        <p:spPr>
          <a:xfrm>
            <a:off x="8057235"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05</a:t>
            </a:r>
          </a:p>
        </p:txBody>
      </p:sp>
      <p:sp>
        <p:nvSpPr>
          <p:cNvPr id="32" name="TextBox 31"/>
          <p:cNvSpPr txBox="1"/>
          <p:nvPr/>
        </p:nvSpPr>
        <p:spPr>
          <a:xfrm>
            <a:off x="8240115"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Run + monitor</a:t>
            </a:r>
          </a:p>
        </p:txBody>
      </p:sp>
      <p:sp>
        <p:nvSpPr>
          <p:cNvPr id="33" name="TextBox 32"/>
          <p:cNvSpPr txBox="1"/>
          <p:nvPr/>
        </p:nvSpPr>
        <p:spPr>
          <a:xfrm>
            <a:off x="8240115"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Live test with guardrail watch, weekly progress updates.</a:t>
            </a:r>
          </a:p>
        </p:txBody>
      </p:sp>
      <p:sp>
        <p:nvSpPr>
          <p:cNvPr id="34" name="TextBox 33"/>
          <p:cNvSpPr txBox="1"/>
          <p:nvPr/>
        </p:nvSpPr>
        <p:spPr>
          <a:xfrm>
            <a:off x="9840315"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5" name="Rounded Rectangle 34"/>
          <p:cNvSpPr/>
          <p:nvPr/>
        </p:nvSpPr>
        <p:spPr>
          <a:xfrm>
            <a:off x="995918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206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06</a:t>
            </a:r>
          </a:p>
        </p:txBody>
      </p:sp>
      <p:sp>
        <p:nvSpPr>
          <p:cNvPr id="37" name="TextBox 36"/>
          <p:cNvSpPr txBox="1"/>
          <p:nvPr/>
        </p:nvSpPr>
        <p:spPr>
          <a:xfrm>
            <a:off x="1014206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Analyze + roll out</a:t>
            </a:r>
          </a:p>
        </p:txBody>
      </p:sp>
      <p:sp>
        <p:nvSpPr>
          <p:cNvPr id="38" name="TextBox 37"/>
          <p:cNvSpPr txBox="1"/>
          <p:nvPr/>
        </p:nvSpPr>
        <p:spPr>
          <a:xfrm>
            <a:off x="1014206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verdict, fee invoiced on rollout to 100 % of traffic.</a:t>
            </a:r>
          </a:p>
        </p:txBody>
      </p:sp>
      <p:sp>
        <p:nvSpPr>
          <p:cNvPr id="39" name="Rounded Rectangle 38"/>
          <p:cNvSpPr/>
          <p:nvPr/>
        </p:nvSpPr>
        <p:spPr>
          <a:xfrm>
            <a:off x="914400" y="5029200"/>
            <a:ext cx="10360152"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166360"/>
            <a:ext cx="9902952"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Zero-row service: </a:t>
            </a:r>
            <a:r>
              <a:rPr sz="1100" b="0" i="0">
                <a:solidFill>
                  <a:srgbClr val="CCCCCC"/>
                </a:solidFill>
                <a:latin typeface="Helvetica Neue"/>
              </a:rPr>
              <a:t>the client is not expected to do production work. We handle everything from research through analysis. The client approves the pre-test brief and the rollout decision in writing.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BRIEF + PROTOCOL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How every test launches and concludes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No test starts without a written, approved brief. Tests only conclude when all approved conditions are met.</a:t>
            </a:r>
          </a:p>
        </p:txBody>
      </p:sp>
      <p:sp>
        <p:nvSpPr>
          <p:cNvPr id="10" name="Rounded Rectangle 9"/>
          <p:cNvSpPr/>
          <p:nvPr/>
        </p:nvSpPr>
        <p:spPr>
          <a:xfrm>
            <a:off x="640080" y="2286000"/>
            <a:ext cx="6858000" cy="420624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14600"/>
            <a:ext cx="6309360" cy="274320"/>
          </a:xfrm>
          <a:prstGeom prst="rect">
            <a:avLst/>
          </a:prstGeom>
          <a:noFill/>
        </p:spPr>
        <p:txBody>
          <a:bodyPr wrap="square" lIns="0" rIns="0" tIns="0" bIns="0" anchor="t">
            <a:spAutoFit/>
          </a:bodyPr>
          <a:lstStyle/>
          <a:p>
            <a:pPr algn="l"/>
            <a:r>
              <a:rPr sz="900" b="1" i="0" spc="200">
                <a:solidFill>
                  <a:srgbClr val="F7D007"/>
                </a:solidFill>
                <a:latin typeface="Helvetica Neue"/>
              </a:rPr>
              <a:t>PRE-TEST BRIEF</a:t>
            </a:r>
          </a:p>
        </p:txBody>
      </p:sp>
      <p:sp>
        <p:nvSpPr>
          <p:cNvPr id="12" name="TextBox 11"/>
          <p:cNvSpPr txBox="1"/>
          <p:nvPr/>
        </p:nvSpPr>
        <p:spPr>
          <a:xfrm>
            <a:off x="914400" y="2788920"/>
            <a:ext cx="6309360" cy="365760"/>
          </a:xfrm>
          <a:prstGeom prst="rect">
            <a:avLst/>
          </a:prstGeom>
          <a:noFill/>
        </p:spPr>
        <p:txBody>
          <a:bodyPr wrap="square" lIns="0" rIns="0" tIns="0" bIns="0" anchor="t">
            <a:spAutoFit/>
          </a:bodyPr>
          <a:lstStyle/>
          <a:p>
            <a:pPr algn="l"/>
            <a:r>
              <a:rPr sz="1500" b="1" i="0">
                <a:solidFill>
                  <a:srgbClr val="FFFFFF"/>
                </a:solidFill>
                <a:latin typeface="Helvetica Neue"/>
              </a:rPr>
              <a:t>Every test launches with a written, approved brief</a:t>
            </a:r>
          </a:p>
        </p:txBody>
      </p:sp>
      <p:sp>
        <p:nvSpPr>
          <p:cNvPr id="13" name="TextBox 12"/>
          <p:cNvSpPr txBox="1"/>
          <p:nvPr/>
        </p:nvSpPr>
        <p:spPr>
          <a:xfrm>
            <a:off x="91440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1   Test setup</a:t>
            </a:r>
          </a:p>
        </p:txBody>
      </p:sp>
      <p:sp>
        <p:nvSpPr>
          <p:cNvPr id="14" name="TextBox 13"/>
          <p:cNvSpPr txBox="1"/>
          <p:nvPr/>
        </p:nvSpPr>
        <p:spPr>
          <a:xfrm>
            <a:off x="91440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5" name="TextBox 14"/>
          <p:cNvSpPr txBox="1"/>
          <p:nvPr/>
        </p:nvSpPr>
        <p:spPr>
          <a:xfrm>
            <a:off x="114300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Hypothesis and Control vs Variant difference</a:t>
            </a:r>
          </a:p>
        </p:txBody>
      </p:sp>
      <p:sp>
        <p:nvSpPr>
          <p:cNvPr id="16" name="TextBox 15"/>
          <p:cNvSpPr txBox="1"/>
          <p:nvPr/>
        </p:nvSpPr>
        <p:spPr>
          <a:xfrm>
            <a:off x="91440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7" name="TextBox 16"/>
          <p:cNvSpPr txBox="1"/>
          <p:nvPr/>
        </p:nvSpPr>
        <p:spPr>
          <a:xfrm>
            <a:off x="114300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Audience and traffic filters</a:t>
            </a:r>
          </a:p>
        </p:txBody>
      </p:sp>
      <p:sp>
        <p:nvSpPr>
          <p:cNvPr id="18" name="TextBox 17"/>
          <p:cNvSpPr txBox="1"/>
          <p:nvPr/>
        </p:nvSpPr>
        <p:spPr>
          <a:xfrm>
            <a:off x="91440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9" name="TextBox 18"/>
          <p:cNvSpPr txBox="1"/>
          <p:nvPr/>
        </p:nvSpPr>
        <p:spPr>
          <a:xfrm>
            <a:off x="114300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Funnel stage and stage multiplier</a:t>
            </a:r>
          </a:p>
        </p:txBody>
      </p:sp>
      <p:sp>
        <p:nvSpPr>
          <p:cNvPr id="20" name="TextBox 19"/>
          <p:cNvSpPr txBox="1"/>
          <p:nvPr/>
        </p:nvSpPr>
        <p:spPr>
          <a:xfrm>
            <a:off x="91440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1" name="TextBox 20"/>
          <p:cNvSpPr txBox="1"/>
          <p:nvPr/>
        </p:nvSpPr>
        <p:spPr>
          <a:xfrm>
            <a:off x="114300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URL targeting</a:t>
            </a:r>
          </a:p>
        </p:txBody>
      </p:sp>
      <p:sp>
        <p:nvSpPr>
          <p:cNvPr id="22" name="TextBox 21"/>
          <p:cNvSpPr txBox="1"/>
          <p:nvPr/>
        </p:nvSpPr>
        <p:spPr>
          <a:xfrm>
            <a:off x="91440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3" name="TextBox 22"/>
          <p:cNvSpPr txBox="1"/>
          <p:nvPr/>
        </p:nvSpPr>
        <p:spPr>
          <a:xfrm>
            <a:off x="114300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Frozen baselines from trailing 30 days</a:t>
            </a:r>
          </a:p>
        </p:txBody>
      </p:sp>
      <p:sp>
        <p:nvSpPr>
          <p:cNvPr id="24" name="TextBox 23"/>
          <p:cNvSpPr txBox="1"/>
          <p:nvPr/>
        </p:nvSpPr>
        <p:spPr>
          <a:xfrm>
            <a:off x="420624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2   Statistical parameters</a:t>
            </a:r>
          </a:p>
        </p:txBody>
      </p:sp>
      <p:sp>
        <p:nvSpPr>
          <p:cNvPr id="25" name="TextBox 24"/>
          <p:cNvSpPr txBox="1"/>
          <p:nvPr/>
        </p:nvSpPr>
        <p:spPr>
          <a:xfrm>
            <a:off x="420624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6" name="TextBox 25"/>
          <p:cNvSpPr txBox="1"/>
          <p:nvPr/>
        </p:nvSpPr>
        <p:spPr>
          <a:xfrm>
            <a:off x="443484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Primary metric (RPV or funnel metric)</a:t>
            </a:r>
          </a:p>
        </p:txBody>
      </p:sp>
      <p:sp>
        <p:nvSpPr>
          <p:cNvPr id="27" name="TextBox 26"/>
          <p:cNvSpPr txBox="1"/>
          <p:nvPr/>
        </p:nvSpPr>
        <p:spPr>
          <a:xfrm>
            <a:off x="420624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8" name="TextBox 27"/>
          <p:cNvSpPr txBox="1"/>
          <p:nvPr/>
        </p:nvSpPr>
        <p:spPr>
          <a:xfrm>
            <a:off x="443484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Statistical confidence (80 % default)</a:t>
            </a:r>
          </a:p>
        </p:txBody>
      </p:sp>
      <p:sp>
        <p:nvSpPr>
          <p:cNvPr id="29" name="TextBox 28"/>
          <p:cNvSpPr txBox="1"/>
          <p:nvPr/>
        </p:nvSpPr>
        <p:spPr>
          <a:xfrm>
            <a:off x="420624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0" name="TextBox 29"/>
          <p:cNvSpPr txBox="1"/>
          <p:nvPr/>
        </p:nvSpPr>
        <p:spPr>
          <a:xfrm>
            <a:off x="443484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Minimum visitor and order count</a:t>
            </a:r>
          </a:p>
        </p:txBody>
      </p:sp>
      <p:sp>
        <p:nvSpPr>
          <p:cNvPr id="31" name="TextBox 30"/>
          <p:cNvSpPr txBox="1"/>
          <p:nvPr/>
        </p:nvSpPr>
        <p:spPr>
          <a:xfrm>
            <a:off x="420624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2" name="TextBox 31"/>
          <p:cNvSpPr txBox="1"/>
          <p:nvPr/>
        </p:nvSpPr>
        <p:spPr>
          <a:xfrm>
            <a:off x="443484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Worked fee range at +5 / +10 / +15 %</a:t>
            </a:r>
          </a:p>
        </p:txBody>
      </p:sp>
      <p:sp>
        <p:nvSpPr>
          <p:cNvPr id="33" name="TextBox 32"/>
          <p:cNvSpPr txBox="1"/>
          <p:nvPr/>
        </p:nvSpPr>
        <p:spPr>
          <a:xfrm>
            <a:off x="420624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4" name="TextBox 33"/>
          <p:cNvSpPr txBox="1"/>
          <p:nvPr/>
        </p:nvSpPr>
        <p:spPr>
          <a:xfrm>
            <a:off x="443484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Data sources named explicitly</a:t>
            </a:r>
          </a:p>
        </p:txBody>
      </p:sp>
      <p:sp>
        <p:nvSpPr>
          <p:cNvPr id="35" name="Rounded Rectangle 34"/>
          <p:cNvSpPr/>
          <p:nvPr/>
        </p:nvSpPr>
        <p:spPr>
          <a:xfrm>
            <a:off x="7680960" y="2286000"/>
            <a:ext cx="3886200" cy="4206240"/>
          </a:xfrm>
          <a:prstGeom prst="roundRect">
            <a:avLst>
              <a:gd name="adj" fmla="val 4000"/>
            </a:avLst>
          </a:prstGeom>
          <a:solidFill>
            <a:srgbClr val="101010"/>
          </a:solidFill>
          <a:ln w="15240">
            <a:solidFill>
              <a:srgbClr val="6AA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0" y="2514600"/>
            <a:ext cx="3337560" cy="274320"/>
          </a:xfrm>
          <a:prstGeom prst="rect">
            <a:avLst/>
          </a:prstGeom>
          <a:noFill/>
        </p:spPr>
        <p:txBody>
          <a:bodyPr wrap="square" lIns="0" rIns="0" tIns="0" bIns="0" anchor="t">
            <a:spAutoFit/>
          </a:bodyPr>
          <a:lstStyle/>
          <a:p>
            <a:pPr algn="l"/>
            <a:r>
              <a:rPr sz="900" b="1" i="0" spc="200">
                <a:solidFill>
                  <a:srgbClr val="6AA9FF"/>
                </a:solidFill>
                <a:latin typeface="Helvetica Neue"/>
              </a:rPr>
              <a:t>TESTING PROTOCOL</a:t>
            </a:r>
          </a:p>
        </p:txBody>
      </p:sp>
      <p:sp>
        <p:nvSpPr>
          <p:cNvPr id="37" name="TextBox 36"/>
          <p:cNvSpPr txBox="1"/>
          <p:nvPr/>
        </p:nvSpPr>
        <p:spPr>
          <a:xfrm>
            <a:off x="7955280" y="2788920"/>
            <a:ext cx="3337560" cy="365760"/>
          </a:xfrm>
          <a:prstGeom prst="rect">
            <a:avLst/>
          </a:prstGeom>
          <a:noFill/>
        </p:spPr>
        <p:txBody>
          <a:bodyPr wrap="square" lIns="0" rIns="0" tIns="0" bIns="0" anchor="t">
            <a:spAutoFit/>
          </a:bodyPr>
          <a:lstStyle/>
          <a:p>
            <a:pPr algn="l"/>
            <a:r>
              <a:rPr sz="1400" b="1" i="0">
                <a:solidFill>
                  <a:srgbClr val="FFFFFF"/>
                </a:solidFill>
                <a:latin typeface="Helvetica Neue"/>
              </a:rPr>
              <a:t>Guardrails on tooling, rigor, conclusion</a:t>
            </a:r>
          </a:p>
        </p:txBody>
      </p:sp>
      <p:sp>
        <p:nvSpPr>
          <p:cNvPr id="38" name="TextBox 37"/>
          <p:cNvSpPr txBox="1"/>
          <p:nvPr/>
        </p:nvSpPr>
        <p:spPr>
          <a:xfrm>
            <a:off x="795528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DEFAULT TOOL</a:t>
            </a:r>
          </a:p>
        </p:txBody>
      </p:sp>
      <p:sp>
        <p:nvSpPr>
          <p:cNvPr id="39" name="TextBox 38"/>
          <p:cNvSpPr txBox="1"/>
          <p:nvPr/>
        </p:nvSpPr>
        <p:spPr>
          <a:xfrm>
            <a:off x="795528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IntelliGEMS</a:t>
            </a:r>
          </a:p>
        </p:txBody>
      </p:sp>
      <p:sp>
        <p:nvSpPr>
          <p:cNvPr id="40" name="TextBox 39"/>
          <p:cNvSpPr txBox="1"/>
          <p:nvPr/>
        </p:nvSpPr>
        <p:spPr>
          <a:xfrm>
            <a:off x="795528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Or Convert, GrowthBook, Shopify-native with written approval.</a:t>
            </a:r>
          </a:p>
        </p:txBody>
      </p:sp>
      <p:sp>
        <p:nvSpPr>
          <p:cNvPr id="41" name="TextBox 40"/>
          <p:cNvSpPr txBox="1"/>
          <p:nvPr/>
        </p:nvSpPr>
        <p:spPr>
          <a:xfrm>
            <a:off x="976122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CONFIDENCE</a:t>
            </a:r>
          </a:p>
        </p:txBody>
      </p:sp>
      <p:sp>
        <p:nvSpPr>
          <p:cNvPr id="42" name="TextBox 41"/>
          <p:cNvSpPr txBox="1"/>
          <p:nvPr/>
        </p:nvSpPr>
        <p:spPr>
          <a:xfrm>
            <a:off x="976122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80 % min</a:t>
            </a:r>
          </a:p>
        </p:txBody>
      </p:sp>
      <p:sp>
        <p:nvSpPr>
          <p:cNvPr id="43" name="TextBox 42"/>
          <p:cNvSpPr txBox="1"/>
          <p:nvPr/>
        </p:nvSpPr>
        <p:spPr>
          <a:xfrm>
            <a:off x="976122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Higher per test if you require it.</a:t>
            </a:r>
          </a:p>
        </p:txBody>
      </p:sp>
      <p:sp>
        <p:nvSpPr>
          <p:cNvPr id="44" name="TextBox 43"/>
          <p:cNvSpPr txBox="1"/>
          <p:nvPr/>
        </p:nvSpPr>
        <p:spPr>
          <a:xfrm>
            <a:off x="795528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CONCLUSION</a:t>
            </a:r>
          </a:p>
        </p:txBody>
      </p:sp>
      <p:sp>
        <p:nvSpPr>
          <p:cNvPr id="45" name="TextBox 44"/>
          <p:cNvSpPr txBox="1"/>
          <p:nvPr/>
        </p:nvSpPr>
        <p:spPr>
          <a:xfrm>
            <a:off x="795528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All conditions met</a:t>
            </a:r>
          </a:p>
        </p:txBody>
      </p:sp>
      <p:sp>
        <p:nvSpPr>
          <p:cNvPr id="46" name="TextBox 45"/>
          <p:cNvSpPr txBox="1"/>
          <p:nvPr/>
        </p:nvSpPr>
        <p:spPr>
          <a:xfrm>
            <a:off x="795528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Min visitors, orders, and confidence reached.</a:t>
            </a:r>
          </a:p>
        </p:txBody>
      </p:sp>
      <p:sp>
        <p:nvSpPr>
          <p:cNvPr id="47" name="TextBox 46"/>
          <p:cNvSpPr txBox="1"/>
          <p:nvPr/>
        </p:nvSpPr>
        <p:spPr>
          <a:xfrm>
            <a:off x="976122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REPORTING</a:t>
            </a:r>
          </a:p>
        </p:txBody>
      </p:sp>
      <p:sp>
        <p:nvSpPr>
          <p:cNvPr id="48" name="TextBox 47"/>
          <p:cNvSpPr txBox="1"/>
          <p:nvPr/>
        </p:nvSpPr>
        <p:spPr>
          <a:xfrm>
            <a:off x="976122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Weekly Loom</a:t>
            </a:r>
          </a:p>
        </p:txBody>
      </p:sp>
      <p:sp>
        <p:nvSpPr>
          <p:cNvPr id="49" name="TextBox 48"/>
          <p:cNvSpPr txBox="1"/>
          <p:nvPr/>
        </p:nvSpPr>
        <p:spPr>
          <a:xfrm>
            <a:off x="976122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Plus a running test log you can access anytime.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TRACK RECORD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Three winning EcomHouse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Real results from EcomHouse client engagements. Each test rolled out to 100 % of traffic after meeting the pre-approved confidence threshold. IntelliGEMS test tool.</a:t>
            </a:r>
          </a:p>
        </p:txBody>
      </p:sp>
      <p:sp>
        <p:nvSpPr>
          <p:cNvPr id="10" name="Rounded Rectangle 9"/>
          <p:cNvSpPr/>
          <p:nvPr/>
        </p:nvSpPr>
        <p:spPr>
          <a:xfrm>
            <a:off x="335129"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9"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Comforth · DK</a:t>
            </a:r>
          </a:p>
        </p:txBody>
      </p:sp>
      <p:sp>
        <p:nvSpPr>
          <p:cNvPr id="12" name="TextBox 11"/>
          <p:cNvSpPr txBox="1"/>
          <p:nvPr/>
        </p:nvSpPr>
        <p:spPr>
          <a:xfrm>
            <a:off x="609449"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Product tags on collection cards</a:t>
            </a:r>
          </a:p>
        </p:txBody>
      </p:sp>
      <p:sp>
        <p:nvSpPr>
          <p:cNvPr id="13" name="TextBox 12"/>
          <p:cNvSpPr txBox="1"/>
          <p:nvPr/>
        </p:nvSpPr>
        <p:spPr>
          <a:xfrm>
            <a:off x="609449"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PROFIT / VISITOR</a:t>
            </a:r>
          </a:p>
        </p:txBody>
      </p:sp>
      <p:sp>
        <p:nvSpPr>
          <p:cNvPr id="14" name="TextBox 13"/>
          <p:cNvSpPr txBox="1"/>
          <p:nvPr/>
        </p:nvSpPr>
        <p:spPr>
          <a:xfrm>
            <a:off x="609449"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+11,42%</a:t>
            </a:r>
          </a:p>
        </p:txBody>
      </p:sp>
      <p:sp>
        <p:nvSpPr>
          <p:cNvPr id="15" name="TextBox 14"/>
          <p:cNvSpPr txBox="1"/>
          <p:nvPr/>
        </p:nvSpPr>
        <p:spPr>
          <a:xfrm>
            <a:off x="609449"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-11 % to +39 %</a:t>
            </a:r>
          </a:p>
        </p:txBody>
      </p:sp>
      <p:sp>
        <p:nvSpPr>
          <p:cNvPr id="16" name="TextBox 15"/>
          <p:cNvSpPr txBox="1"/>
          <p:nvPr/>
        </p:nvSpPr>
        <p:spPr>
          <a:xfrm>
            <a:off x="609449"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+106.550 kr / mo</a:t>
            </a:r>
          </a:p>
        </p:txBody>
      </p:sp>
      <p:sp>
        <p:nvSpPr>
          <p:cNvPr id="17" name="Rectangle 16"/>
          <p:cNvSpPr/>
          <p:nvPr/>
        </p:nvSpPr>
        <p:spPr>
          <a:xfrm>
            <a:off x="609449"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449"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19" name="TextBox 18"/>
          <p:cNvSpPr txBox="1"/>
          <p:nvPr/>
        </p:nvSpPr>
        <p:spPr>
          <a:xfrm>
            <a:off x="1615289"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2,09% → 2,37%</a:t>
            </a:r>
          </a:p>
        </p:txBody>
      </p:sp>
      <p:sp>
        <p:nvSpPr>
          <p:cNvPr id="20" name="TextBox 19"/>
          <p:cNvSpPr txBox="1"/>
          <p:nvPr/>
        </p:nvSpPr>
        <p:spPr>
          <a:xfrm>
            <a:off x="609449"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+13,07%</a:t>
            </a:r>
          </a:p>
        </p:txBody>
      </p:sp>
      <p:sp>
        <p:nvSpPr>
          <p:cNvPr id="21" name="TextBox 20"/>
          <p:cNvSpPr txBox="1"/>
          <p:nvPr/>
        </p:nvSpPr>
        <p:spPr>
          <a:xfrm>
            <a:off x="609449"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22" name="TextBox 21"/>
          <p:cNvSpPr txBox="1"/>
          <p:nvPr/>
        </p:nvSpPr>
        <p:spPr>
          <a:xfrm>
            <a:off x="1615289"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26,88 → 29,87 kr</a:t>
            </a:r>
          </a:p>
        </p:txBody>
      </p:sp>
      <p:sp>
        <p:nvSpPr>
          <p:cNvPr id="23" name="TextBox 22"/>
          <p:cNvSpPr txBox="1"/>
          <p:nvPr/>
        </p:nvSpPr>
        <p:spPr>
          <a:xfrm>
            <a:off x="609449"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+11,13%</a:t>
            </a:r>
          </a:p>
        </p:txBody>
      </p:sp>
      <p:sp>
        <p:nvSpPr>
          <p:cNvPr id="24" name="TextBox 23"/>
          <p:cNvSpPr txBox="1"/>
          <p:nvPr/>
        </p:nvSpPr>
        <p:spPr>
          <a:xfrm>
            <a:off x="609449"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25" name="TextBox 24"/>
          <p:cNvSpPr txBox="1"/>
          <p:nvPr/>
        </p:nvSpPr>
        <p:spPr>
          <a:xfrm>
            <a:off x="1615289"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+169</a:t>
            </a:r>
          </a:p>
        </p:txBody>
      </p:sp>
      <p:sp>
        <p:nvSpPr>
          <p:cNvPr id="26" name="TextBox 25"/>
          <p:cNvSpPr txBox="1"/>
          <p:nvPr/>
        </p:nvSpPr>
        <p:spPr>
          <a:xfrm>
            <a:off x="609449"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Added trust + benefit tags to collection product cards. Lift compounded across all three metrics.</a:t>
            </a:r>
          </a:p>
        </p:txBody>
      </p:sp>
      <p:sp>
        <p:nvSpPr>
          <p:cNvPr id="27" name="Rounded Rectangle 26"/>
          <p:cNvSpPr/>
          <p:nvPr/>
        </p:nvSpPr>
        <p:spPr>
          <a:xfrm>
            <a:off x="4221328"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5648"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29" name="TextBox 28"/>
          <p:cNvSpPr txBox="1"/>
          <p:nvPr/>
        </p:nvSpPr>
        <p:spPr>
          <a:xfrm>
            <a:off x="4495648"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PDP volume discount tiers</a:t>
            </a:r>
          </a:p>
        </p:txBody>
      </p:sp>
      <p:sp>
        <p:nvSpPr>
          <p:cNvPr id="30" name="TextBox 29"/>
          <p:cNvSpPr txBox="1"/>
          <p:nvPr/>
        </p:nvSpPr>
        <p:spPr>
          <a:xfrm>
            <a:off x="4495648"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CONVERSION RATE</a:t>
            </a:r>
          </a:p>
        </p:txBody>
      </p:sp>
      <p:sp>
        <p:nvSpPr>
          <p:cNvPr id="31" name="TextBox 30"/>
          <p:cNvSpPr txBox="1"/>
          <p:nvPr/>
        </p:nvSpPr>
        <p:spPr>
          <a:xfrm>
            <a:off x="4495648"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+11,08%</a:t>
            </a:r>
          </a:p>
        </p:txBody>
      </p:sp>
      <p:sp>
        <p:nvSpPr>
          <p:cNvPr id="32" name="TextBox 31"/>
          <p:cNvSpPr txBox="1"/>
          <p:nvPr/>
        </p:nvSpPr>
        <p:spPr>
          <a:xfrm>
            <a:off x="4495648"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-3 % to +27 %</a:t>
            </a:r>
          </a:p>
        </p:txBody>
      </p:sp>
      <p:sp>
        <p:nvSpPr>
          <p:cNvPr id="33" name="TextBox 32"/>
          <p:cNvSpPr txBox="1"/>
          <p:nvPr/>
        </p:nvSpPr>
        <p:spPr>
          <a:xfrm>
            <a:off x="4495648"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+134.917 kr / mo (RPV)</a:t>
            </a:r>
          </a:p>
        </p:txBody>
      </p:sp>
      <p:sp>
        <p:nvSpPr>
          <p:cNvPr id="34" name="Rectangle 33"/>
          <p:cNvSpPr/>
          <p:nvPr/>
        </p:nvSpPr>
        <p:spPr>
          <a:xfrm>
            <a:off x="4495648"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5648"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36" name="TextBox 35"/>
          <p:cNvSpPr txBox="1"/>
          <p:nvPr/>
        </p:nvSpPr>
        <p:spPr>
          <a:xfrm>
            <a:off x="5501488"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20,36 → 23,84 kr</a:t>
            </a:r>
          </a:p>
        </p:txBody>
      </p:sp>
      <p:sp>
        <p:nvSpPr>
          <p:cNvPr id="37" name="TextBox 36"/>
          <p:cNvSpPr txBox="1"/>
          <p:nvPr/>
        </p:nvSpPr>
        <p:spPr>
          <a:xfrm>
            <a:off x="4495648"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+17,10%</a:t>
            </a:r>
          </a:p>
        </p:txBody>
      </p:sp>
      <p:sp>
        <p:nvSpPr>
          <p:cNvPr id="38" name="TextBox 37"/>
          <p:cNvSpPr txBox="1"/>
          <p:nvPr/>
        </p:nvSpPr>
        <p:spPr>
          <a:xfrm>
            <a:off x="4495648"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39" name="TextBox 38"/>
          <p:cNvSpPr txBox="1"/>
          <p:nvPr/>
        </p:nvSpPr>
        <p:spPr>
          <a:xfrm>
            <a:off x="5501488"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293,47 → 309,37 kr</a:t>
            </a:r>
          </a:p>
        </p:txBody>
      </p:sp>
      <p:sp>
        <p:nvSpPr>
          <p:cNvPr id="40" name="TextBox 39"/>
          <p:cNvSpPr txBox="1"/>
          <p:nvPr/>
        </p:nvSpPr>
        <p:spPr>
          <a:xfrm>
            <a:off x="4495648"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+5,42%</a:t>
            </a:r>
          </a:p>
        </p:txBody>
      </p:sp>
      <p:sp>
        <p:nvSpPr>
          <p:cNvPr id="41" name="TextBox 40"/>
          <p:cNvSpPr txBox="1"/>
          <p:nvPr/>
        </p:nvSpPr>
        <p:spPr>
          <a:xfrm>
            <a:off x="4495648"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42" name="TextBox 41"/>
          <p:cNvSpPr txBox="1"/>
          <p:nvPr/>
        </p:nvSpPr>
        <p:spPr>
          <a:xfrm>
            <a:off x="5501488"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+298</a:t>
            </a:r>
          </a:p>
        </p:txBody>
      </p:sp>
      <p:sp>
        <p:nvSpPr>
          <p:cNvPr id="43" name="TextBox 42"/>
          <p:cNvSpPr txBox="1"/>
          <p:nvPr/>
        </p:nvSpPr>
        <p:spPr>
          <a:xfrm>
            <a:off x="4495648"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Surfaced volume discount tiers directly on the PDP. CR was primary, RPV and AOV lifted simultaneously.</a:t>
            </a:r>
          </a:p>
        </p:txBody>
      </p:sp>
      <p:sp>
        <p:nvSpPr>
          <p:cNvPr id="44" name="Rounded Rectangle 43"/>
          <p:cNvSpPr/>
          <p:nvPr/>
        </p:nvSpPr>
        <p:spPr>
          <a:xfrm>
            <a:off x="8107527"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847"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46" name="TextBox 45"/>
          <p:cNvSpPr txBox="1"/>
          <p:nvPr/>
        </p:nvSpPr>
        <p:spPr>
          <a:xfrm>
            <a:off x="8381847"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Homepage hero optimization</a:t>
            </a:r>
          </a:p>
        </p:txBody>
      </p:sp>
      <p:sp>
        <p:nvSpPr>
          <p:cNvPr id="47" name="TextBox 46"/>
          <p:cNvSpPr txBox="1"/>
          <p:nvPr/>
        </p:nvSpPr>
        <p:spPr>
          <a:xfrm>
            <a:off x="8381847"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REVENUE / VISITOR</a:t>
            </a:r>
          </a:p>
        </p:txBody>
      </p:sp>
      <p:sp>
        <p:nvSpPr>
          <p:cNvPr id="48" name="TextBox 47"/>
          <p:cNvSpPr txBox="1"/>
          <p:nvPr/>
        </p:nvSpPr>
        <p:spPr>
          <a:xfrm>
            <a:off x="8381847"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+20,87%</a:t>
            </a:r>
          </a:p>
        </p:txBody>
      </p:sp>
      <p:sp>
        <p:nvSpPr>
          <p:cNvPr id="49" name="TextBox 48"/>
          <p:cNvSpPr txBox="1"/>
          <p:nvPr/>
        </p:nvSpPr>
        <p:spPr>
          <a:xfrm>
            <a:off x="8381847"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-12 % to +67 %</a:t>
            </a:r>
          </a:p>
        </p:txBody>
      </p:sp>
      <p:sp>
        <p:nvSpPr>
          <p:cNvPr id="50" name="TextBox 49"/>
          <p:cNvSpPr txBox="1"/>
          <p:nvPr/>
        </p:nvSpPr>
        <p:spPr>
          <a:xfrm>
            <a:off x="8381847"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+272.913 kr / mo</a:t>
            </a:r>
          </a:p>
        </p:txBody>
      </p:sp>
      <p:sp>
        <p:nvSpPr>
          <p:cNvPr id="51" name="Rectangle 50"/>
          <p:cNvSpPr/>
          <p:nvPr/>
        </p:nvSpPr>
        <p:spPr>
          <a:xfrm>
            <a:off x="8381847"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1847"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53" name="TextBox 52"/>
          <p:cNvSpPr txBox="1"/>
          <p:nvPr/>
        </p:nvSpPr>
        <p:spPr>
          <a:xfrm>
            <a:off x="9387687"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16,3% → 17,6%</a:t>
            </a:r>
          </a:p>
        </p:txBody>
      </p:sp>
      <p:sp>
        <p:nvSpPr>
          <p:cNvPr id="54" name="TextBox 53"/>
          <p:cNvSpPr txBox="1"/>
          <p:nvPr/>
        </p:nvSpPr>
        <p:spPr>
          <a:xfrm>
            <a:off x="8381847"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+7,72%</a:t>
            </a:r>
          </a:p>
        </p:txBody>
      </p:sp>
      <p:sp>
        <p:nvSpPr>
          <p:cNvPr id="55" name="TextBox 54"/>
          <p:cNvSpPr txBox="1"/>
          <p:nvPr/>
        </p:nvSpPr>
        <p:spPr>
          <a:xfrm>
            <a:off x="8381847"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56" name="TextBox 55"/>
          <p:cNvSpPr txBox="1"/>
          <p:nvPr/>
        </p:nvSpPr>
        <p:spPr>
          <a:xfrm>
            <a:off x="9387687"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401,87 → 450,94 kr</a:t>
            </a:r>
          </a:p>
        </p:txBody>
      </p:sp>
      <p:sp>
        <p:nvSpPr>
          <p:cNvPr id="57" name="TextBox 56"/>
          <p:cNvSpPr txBox="1"/>
          <p:nvPr/>
        </p:nvSpPr>
        <p:spPr>
          <a:xfrm>
            <a:off x="8381847"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+12,21%</a:t>
            </a:r>
          </a:p>
        </p:txBody>
      </p:sp>
      <p:sp>
        <p:nvSpPr>
          <p:cNvPr id="58" name="TextBox 57"/>
          <p:cNvSpPr txBox="1"/>
          <p:nvPr/>
        </p:nvSpPr>
        <p:spPr>
          <a:xfrm>
            <a:off x="8381847"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PDP view rate</a:t>
            </a:r>
          </a:p>
        </p:txBody>
      </p:sp>
      <p:sp>
        <p:nvSpPr>
          <p:cNvPr id="59" name="TextBox 58"/>
          <p:cNvSpPr txBox="1"/>
          <p:nvPr/>
        </p:nvSpPr>
        <p:spPr>
          <a:xfrm>
            <a:off x="9387687"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56,6% → 61,8%</a:t>
            </a:r>
          </a:p>
        </p:txBody>
      </p:sp>
      <p:sp>
        <p:nvSpPr>
          <p:cNvPr id="60" name="TextBox 59"/>
          <p:cNvSpPr txBox="1"/>
          <p:nvPr/>
        </p:nvSpPr>
        <p:spPr>
          <a:xfrm>
            <a:off x="8381847" y="5568696"/>
            <a:ext cx="3200399" cy="228600"/>
          </a:xfrm>
          <a:prstGeom prst="rect">
            <a:avLst/>
          </a:prstGeom>
          <a:noFill/>
        </p:spPr>
        <p:txBody>
          <a:bodyPr wrap="square" lIns="0" rIns="0" tIns="0" bIns="0" anchor="t">
            <a:spAutoFit/>
          </a:bodyPr>
          <a:lstStyle/>
          <a:p>
            <a:pPr algn="r"/>
            <a:r>
              <a:rPr sz="900" b="1" i="0">
                <a:solidFill>
                  <a:srgbClr val="F7D007"/>
                </a:solidFill>
                <a:latin typeface="Menlo"/>
              </a:rPr>
              <a:t>+9,21%</a:t>
            </a:r>
          </a:p>
        </p:txBody>
      </p:sp>
      <p:sp>
        <p:nvSpPr>
          <p:cNvPr id="61" name="TextBox 60"/>
          <p:cNvSpPr txBox="1"/>
          <p:nvPr/>
        </p:nvSpPr>
        <p:spPr>
          <a:xfrm>
            <a:off x="8381847"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Reworked homepage hero with lighter background. Lifted the full funnel: more PDP views, higher AOV, more revenue.</a:t>
            </a:r>
          </a:p>
        </p:txBody>
      </p:sp>
      <p:sp>
        <p:nvSpPr>
          <p:cNvPr id="62" name="TextBox 61"/>
          <p:cNvSpPr txBox="1"/>
          <p:nvPr/>
        </p:nvSpPr>
        <p:spPr>
          <a:xfrm>
            <a:off x="0" y="6446520"/>
            <a:ext cx="12191695" cy="164592"/>
          </a:xfrm>
          <a:prstGeom prst="rect">
            <a:avLst/>
          </a:prstGeom>
          <a:noFill/>
        </p:spPr>
        <p:txBody>
          <a:bodyPr wrap="square" lIns="0" rIns="0" tIns="0" bIns="0" anchor="t">
            <a:spAutoFit/>
          </a:bodyPr>
          <a:lstStyle/>
          <a:p>
            <a:pPr algn="ctr"/>
            <a:r>
              <a:rPr sz="800" b="0" i="1">
                <a:solidFill>
                  <a:srgbClr val="6B7C75"/>
                </a:solidFill>
                <a:latin typeface="Helvetica Neue"/>
              </a:rPr>
              <a:t>Source: IntelliGEMS test reports. Confidence intervals shown reflect range of likely true effect. References available on request.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01</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Comforth · Product tags on collection cards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Added benefit and trust tags directly to product cards on collection pages. Variant lifted all three commercial metrics with no degradation in any guardrail.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forth | Product Tags Control.png"/>
          <p:cNvPicPr>
            <a:picLocks noChangeAspect="1"/>
          </p:cNvPicPr>
          <p:nvPr/>
        </p:nvPicPr>
        <p:blipFill>
          <a:blip r:embed="rId3"/>
          <a:stretch>
            <a:fillRect/>
          </a:stretch>
        </p:blipFill>
        <p:spPr>
          <a:xfrm>
            <a:off x="882127" y="2377440"/>
            <a:ext cx="1527586"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forth | Product Tags Variant.png"/>
          <p:cNvPicPr>
            <a:picLocks noChangeAspect="1"/>
          </p:cNvPicPr>
          <p:nvPr/>
        </p:nvPicPr>
        <p:blipFill>
          <a:blip r:embed="rId4"/>
          <a:stretch>
            <a:fillRect/>
          </a:stretch>
        </p:blipFill>
        <p:spPr>
          <a:xfrm>
            <a:off x="2990541" y="2377440"/>
            <a:ext cx="151699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PROFIT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+11,42%</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-11 % to +39 %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+106.550 kr / month projected</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2,09 %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2,37 %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+13,07%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26,88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29,87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+11,13%</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15,07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16,80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+11,42%</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Est. orders / mo</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+169</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02</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PDP volume discount tiers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Surfaced volume discount tiers directly on the PDP. The variant lifted purchase rate, AOV, and downstream profit simultaneously.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PDP Volume discount  control.jpg"/>
          <p:cNvPicPr>
            <a:picLocks noChangeAspect="1"/>
          </p:cNvPicPr>
          <p:nvPr/>
        </p:nvPicPr>
        <p:blipFill>
          <a:blip r:embed="rId3"/>
          <a:stretch>
            <a:fillRect/>
          </a:stretch>
        </p:blipFill>
        <p:spPr>
          <a:xfrm>
            <a:off x="1185109" y="2377440"/>
            <a:ext cx="921621"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PDP Volume discount  variant.jpg"/>
          <p:cNvPicPr>
            <a:picLocks noChangeAspect="1"/>
          </p:cNvPicPr>
          <p:nvPr/>
        </p:nvPicPr>
        <p:blipFill>
          <a:blip r:embed="rId4"/>
          <a:stretch>
            <a:fillRect/>
          </a:stretch>
        </p:blipFill>
        <p:spPr>
          <a:xfrm>
            <a:off x="3329492" y="2377440"/>
            <a:ext cx="839096"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CONVERSION RATE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+11,08%</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-3 % to +27 %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+298 orders / month · +134.917 kr / mo (RPV)</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6,94 %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7,71 %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+11,08%</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20,36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23,84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+17,10%</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10,49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12,25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+16,68%</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293,47 kr</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309,37 kr</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+5,42%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03</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Homepage hero optimization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Reworked homepage hero with a lighter background and a sharper category-led layout. Lift compounded through PDP views, AOV, and revenue.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Homepage hero optimization control.jpg"/>
          <p:cNvPicPr>
            <a:picLocks noChangeAspect="1"/>
          </p:cNvPicPr>
          <p:nvPr/>
        </p:nvPicPr>
        <p:blipFill>
          <a:blip r:embed="rId3"/>
          <a:stretch>
            <a:fillRect/>
          </a:stretch>
        </p:blipFill>
        <p:spPr>
          <a:xfrm>
            <a:off x="932688" y="2377440"/>
            <a:ext cx="1426464"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Homepage hero optimization variant.jpg"/>
          <p:cNvPicPr>
            <a:picLocks noChangeAspect="1"/>
          </p:cNvPicPr>
          <p:nvPr/>
        </p:nvPicPr>
        <p:blipFill>
          <a:blip r:embed="rId4"/>
          <a:stretch>
            <a:fillRect/>
          </a:stretch>
        </p:blipFill>
        <p:spPr>
          <a:xfrm>
            <a:off x="3238596" y="2377440"/>
            <a:ext cx="102088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+20,87%</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-12 % to +67 %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+251 orders / month · +272.913 kr / mo</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65,50 kr</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79,17 kr</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+20,87%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34,78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42,35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+21,78%</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401,87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450,94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+12,21%</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PDP view rate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56,6 %</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61,8 %</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+9,21%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COMFORTH DK</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Comforth · Produkt-tags på PDP'en</a:t>
            </a:r>
          </a:p>
        </p:txBody>
      </p:sp>
      <p:pic>
        <p:nvPicPr>
          <p:cNvPr id="9" name="Picture 8" descr="case-cfs-tags-control.png"/>
          <p:cNvPicPr>
            <a:picLocks noChangeAspect="1"/>
          </p:cNvPicPr>
          <p:nvPr/>
        </p:nvPicPr>
        <p:blipFill>
          <a:blip r:embed="rId3"/>
          <a:stretch>
            <a:fillRect/>
          </a:stretch>
        </p:blipFill>
        <p:spPr>
          <a:xfrm>
            <a:off x="977071" y="2331720"/>
            <a:ext cx="1474857" cy="3200400"/>
          </a:xfrm>
          <a:prstGeom prst="rect">
            <a:avLst/>
          </a:prstGeom>
        </p:spPr>
      </p:pic>
      <p:sp>
        <p:nvSpPr>
          <p:cNvPr id="10" name="Rounded Rectangle 9"/>
          <p:cNvSpPr/>
          <p:nvPr/>
        </p:nvSpPr>
        <p:spPr>
          <a:xfrm>
            <a:off x="940495" y="2295144"/>
            <a:ext cx="1548009"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cfs-tags-variant.png"/>
          <p:cNvPicPr>
            <a:picLocks noChangeAspect="1"/>
          </p:cNvPicPr>
          <p:nvPr/>
        </p:nvPicPr>
        <p:blipFill>
          <a:blip r:embed="rId4"/>
          <a:stretch>
            <a:fillRect/>
          </a:stretch>
        </p:blipFill>
        <p:spPr>
          <a:xfrm>
            <a:off x="3655666" y="2331720"/>
            <a:ext cx="1512627" cy="3200400"/>
          </a:xfrm>
          <a:prstGeom prst="rect">
            <a:avLst/>
          </a:prstGeom>
        </p:spPr>
      </p:pic>
      <p:sp>
        <p:nvSpPr>
          <p:cNvPr id="12" name="Rounded Rectangle 11"/>
          <p:cNvSpPr/>
          <p:nvPr/>
        </p:nvSpPr>
        <p:spPr>
          <a:xfrm>
            <a:off x="3619090" y="2295144"/>
            <a:ext cx="1585779"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OMSÆTNING PR. BESØGENDE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+10,83%</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+183.515 kr / måned projekteret</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Omsætning / besøgende</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27,37 kr</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30,34 kr</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+10,83%</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dittvin DV-03 gør det samme med smag og boksdetalje over folden.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COMFORTH DK</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Comforth · Redesign af kurv-drawer</a:t>
            </a:r>
          </a:p>
        </p:txBody>
      </p:sp>
      <p:pic>
        <p:nvPicPr>
          <p:cNvPr id="9" name="Picture 8" descr="case-cfs-cart-control.png"/>
          <p:cNvPicPr>
            <a:picLocks noChangeAspect="1"/>
          </p:cNvPicPr>
          <p:nvPr/>
        </p:nvPicPr>
        <p:blipFill>
          <a:blip r:embed="rId3"/>
          <a:stretch>
            <a:fillRect/>
          </a:stretch>
        </p:blipFill>
        <p:spPr>
          <a:xfrm>
            <a:off x="888361" y="2331720"/>
            <a:ext cx="1652277" cy="3200399"/>
          </a:xfrm>
          <a:prstGeom prst="rect">
            <a:avLst/>
          </a:prstGeom>
        </p:spPr>
      </p:pic>
      <p:sp>
        <p:nvSpPr>
          <p:cNvPr id="10" name="Rounded Rectangle 9"/>
          <p:cNvSpPr/>
          <p:nvPr/>
        </p:nvSpPr>
        <p:spPr>
          <a:xfrm>
            <a:off x="851785" y="2295144"/>
            <a:ext cx="1725429" cy="3273551"/>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cfs-cart-variant.png"/>
          <p:cNvPicPr>
            <a:picLocks noChangeAspect="1"/>
          </p:cNvPicPr>
          <p:nvPr/>
        </p:nvPicPr>
        <p:blipFill>
          <a:blip r:embed="rId4"/>
          <a:stretch>
            <a:fillRect/>
          </a:stretch>
        </p:blipFill>
        <p:spPr>
          <a:xfrm>
            <a:off x="3629148" y="2331720"/>
            <a:ext cx="1565663" cy="3200400"/>
          </a:xfrm>
          <a:prstGeom prst="rect">
            <a:avLst/>
          </a:prstGeom>
        </p:spPr>
      </p:pic>
      <p:sp>
        <p:nvSpPr>
          <p:cNvPr id="12" name="Rounded Rectangle 11"/>
          <p:cNvSpPr/>
          <p:nvPr/>
        </p:nvSpPr>
        <p:spPr>
          <a:xfrm>
            <a:off x="3592572" y="2295144"/>
            <a:ext cx="1638815"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OMSÆTNING PR. BESØGENDE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+15,52%</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+171.285 kr / måned projekteret</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Omsætning / besøgende</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20,14 kr</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23,26 kr</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+15,52%</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dittvin DV-02 rammer den samme lækage fra kurv til checkout.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IWAO</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IWAO · Tillidssektion på en high-AOV PDP</a:t>
            </a:r>
          </a:p>
        </p:txBody>
      </p:sp>
      <p:pic>
        <p:nvPicPr>
          <p:cNvPr id="9" name="Picture 8" descr="case-iwao-trust-control.png"/>
          <p:cNvPicPr>
            <a:picLocks noChangeAspect="1"/>
          </p:cNvPicPr>
          <p:nvPr/>
        </p:nvPicPr>
        <p:blipFill>
          <a:blip r:embed="rId3"/>
          <a:stretch>
            <a:fillRect/>
          </a:stretch>
        </p:blipFill>
        <p:spPr>
          <a:xfrm>
            <a:off x="457200" y="3328180"/>
            <a:ext cx="2514600" cy="1207479"/>
          </a:xfrm>
          <a:prstGeom prst="rect">
            <a:avLst/>
          </a:prstGeom>
        </p:spPr>
      </p:pic>
      <p:sp>
        <p:nvSpPr>
          <p:cNvPr id="10" name="Rounded Rectangle 9"/>
          <p:cNvSpPr/>
          <p:nvPr/>
        </p:nvSpPr>
        <p:spPr>
          <a:xfrm>
            <a:off x="420624" y="3291604"/>
            <a:ext cx="2587752" cy="1280631"/>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iwao-trust-variant.png"/>
          <p:cNvPicPr>
            <a:picLocks noChangeAspect="1"/>
          </p:cNvPicPr>
          <p:nvPr/>
        </p:nvPicPr>
        <p:blipFill>
          <a:blip r:embed="rId4"/>
          <a:stretch>
            <a:fillRect/>
          </a:stretch>
        </p:blipFill>
        <p:spPr>
          <a:xfrm>
            <a:off x="3154680" y="3376568"/>
            <a:ext cx="2514600" cy="1110703"/>
          </a:xfrm>
          <a:prstGeom prst="rect">
            <a:avLst/>
          </a:prstGeom>
        </p:spPr>
      </p:pic>
      <p:sp>
        <p:nvSpPr>
          <p:cNvPr id="12" name="Rounded Rectangle 11"/>
          <p:cNvSpPr/>
          <p:nvPr/>
        </p:nvSpPr>
        <p:spPr>
          <a:xfrm>
            <a:off x="3118104" y="3339992"/>
            <a:ext cx="2587752" cy="1183855"/>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LÆG I KURV-RATE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+38,03%</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+27.931 kr / måned projekteret</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Læg i kurv-rate</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11,36 %</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15,68 %</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+38,03%</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IWAO sælger DKK 8K til 125K. dittvin DV-01 legalitets- og tryghedsblok er samme træk for monopolmarkedet.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63</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COMPENSATION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We win when you win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Performance-based fee on every winning test rolled out to 100 % of traffic. One-time charge per test. No attribution window. No recurring tail.</a:t>
            </a:r>
          </a:p>
        </p:txBody>
      </p:sp>
      <p:sp>
        <p:nvSpPr>
          <p:cNvPr id="10" name="Rounded Rectangle 9"/>
          <p:cNvSpPr/>
          <p:nvPr/>
        </p:nvSpPr>
        <p:spPr>
          <a:xfrm>
            <a:off x="929487" y="2331720"/>
            <a:ext cx="5029200" cy="3200400"/>
          </a:xfrm>
          <a:prstGeom prst="roundRect">
            <a:avLst>
              <a:gd name="adj" fmla="val 4000"/>
            </a:avLst>
          </a:prstGeom>
          <a:solidFill>
            <a:srgbClr val="141002"/>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PERFORMANCE FEE</a:t>
            </a:r>
          </a:p>
        </p:txBody>
      </p:sp>
      <p:sp>
        <p:nvSpPr>
          <p:cNvPr id="12" name="TextBox 11"/>
          <p:cNvSpPr txBox="1"/>
          <p:nvPr/>
        </p:nvSpPr>
        <p:spPr>
          <a:xfrm>
            <a:off x="124952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 of estimated monthly revenue uplift</a:t>
            </a:r>
          </a:p>
        </p:txBody>
      </p:sp>
      <p:sp>
        <p:nvSpPr>
          <p:cNvPr id="13" name="TextBox 12"/>
          <p:cNvSpPr txBox="1"/>
          <p:nvPr/>
        </p:nvSpPr>
        <p:spPr>
          <a:xfrm>
            <a:off x="124952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Y %</a:t>
            </a:r>
          </a:p>
        </p:txBody>
      </p:sp>
      <p:sp>
        <p:nvSpPr>
          <p:cNvPr id="14" name="TextBox 13"/>
          <p:cNvSpPr txBox="1"/>
          <p:nvPr/>
        </p:nvSpPr>
        <p:spPr>
          <a:xfrm>
            <a:off x="124952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Charged once per winning test on rollout. Calculated from the test's measured uplift and the client's own data, with the agreed stage multiplier applied.</a:t>
            </a:r>
          </a:p>
        </p:txBody>
      </p:sp>
      <p:sp>
        <p:nvSpPr>
          <p:cNvPr id="15" name="TextBox 14"/>
          <p:cNvSpPr txBox="1"/>
          <p:nvPr/>
        </p:nvSpPr>
        <p:spPr>
          <a:xfrm>
            <a:off x="124952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143240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One time fee per winning test</a:t>
            </a:r>
          </a:p>
        </p:txBody>
      </p:sp>
      <p:sp>
        <p:nvSpPr>
          <p:cNvPr id="17" name="TextBox 16"/>
          <p:cNvSpPr txBox="1"/>
          <p:nvPr/>
        </p:nvSpPr>
        <p:spPr>
          <a:xfrm>
            <a:off x="124952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143240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No recurring tail, no attribution window</a:t>
            </a:r>
          </a:p>
        </p:txBody>
      </p:sp>
      <p:sp>
        <p:nvSpPr>
          <p:cNvPr id="19" name="TextBox 18"/>
          <p:cNvSpPr txBox="1"/>
          <p:nvPr/>
        </p:nvSpPr>
        <p:spPr>
          <a:xfrm>
            <a:off x="124952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143240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Loser and inconclusive tests are free</a:t>
            </a:r>
          </a:p>
        </p:txBody>
      </p:sp>
      <p:sp>
        <p:nvSpPr>
          <p:cNvPr id="21" name="Rounded Rectangle 20"/>
          <p:cNvSpPr/>
          <p:nvPr/>
        </p:nvSpPr>
        <p:spPr>
          <a:xfrm>
            <a:off x="6233007" y="2331720"/>
            <a:ext cx="5029200" cy="32004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OPTIONAL RETAINER</a:t>
            </a:r>
          </a:p>
        </p:txBody>
      </p:sp>
      <p:sp>
        <p:nvSpPr>
          <p:cNvPr id="23" name="TextBox 22"/>
          <p:cNvSpPr txBox="1"/>
          <p:nvPr/>
        </p:nvSpPr>
        <p:spPr>
          <a:xfrm>
            <a:off x="655304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Fixed monthly fee</a:t>
            </a:r>
          </a:p>
        </p:txBody>
      </p:sp>
      <p:sp>
        <p:nvSpPr>
          <p:cNvPr id="24" name="TextBox 23"/>
          <p:cNvSpPr txBox="1"/>
          <p:nvPr/>
        </p:nvSpPr>
        <p:spPr>
          <a:xfrm>
            <a:off x="655304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X kr / month</a:t>
            </a:r>
          </a:p>
        </p:txBody>
      </p:sp>
      <p:sp>
        <p:nvSpPr>
          <p:cNvPr id="25" name="TextBox 24"/>
          <p:cNvSpPr txBox="1"/>
          <p:nvPr/>
        </p:nvSpPr>
        <p:spPr>
          <a:xfrm>
            <a:off x="655304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Optional. Predictable monthly cost on top of (or instead of) the performance fee. Some clients prefer this for budgeting.</a:t>
            </a:r>
          </a:p>
        </p:txBody>
      </p:sp>
      <p:sp>
        <p:nvSpPr>
          <p:cNvPr id="26" name="TextBox 25"/>
          <p:cNvSpPr txBox="1"/>
          <p:nvPr/>
        </p:nvSpPr>
        <p:spPr>
          <a:xfrm>
            <a:off x="655304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7" name="TextBox 26"/>
          <p:cNvSpPr txBox="1"/>
          <p:nvPr/>
        </p:nvSpPr>
        <p:spPr>
          <a:xfrm>
            <a:off x="673592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Billed on the 1st, in advance</a:t>
            </a:r>
          </a:p>
        </p:txBody>
      </p:sp>
      <p:sp>
        <p:nvSpPr>
          <p:cNvPr id="28" name="TextBox 27"/>
          <p:cNvSpPr txBox="1"/>
          <p:nvPr/>
        </p:nvSpPr>
        <p:spPr>
          <a:xfrm>
            <a:off x="655304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9" name="TextBox 28"/>
          <p:cNvSpPr txBox="1"/>
          <p:nvPr/>
        </p:nvSpPr>
        <p:spPr>
          <a:xfrm>
            <a:off x="673592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Void if not agreed</a:t>
            </a:r>
          </a:p>
        </p:txBody>
      </p:sp>
      <p:sp>
        <p:nvSpPr>
          <p:cNvPr id="30" name="TextBox 29"/>
          <p:cNvSpPr txBox="1"/>
          <p:nvPr/>
        </p:nvSpPr>
        <p:spPr>
          <a:xfrm>
            <a:off x="655304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1" name="TextBox 30"/>
          <p:cNvSpPr txBox="1"/>
          <p:nvPr/>
        </p:nvSpPr>
        <p:spPr>
          <a:xfrm>
            <a:off x="673592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Stackable with the performance fee</a:t>
            </a:r>
          </a:p>
        </p:txBody>
      </p:sp>
      <p:sp>
        <p:nvSpPr>
          <p:cNvPr id="32" name="Rounded Rectangle 31"/>
          <p:cNvSpPr/>
          <p:nvPr/>
        </p:nvSpPr>
        <p:spPr>
          <a:xfrm>
            <a:off x="822960" y="5760720"/>
            <a:ext cx="10543032"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897880"/>
            <a:ext cx="10085832"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Billing: </a:t>
            </a:r>
            <a:r>
              <a:rPr sz="1100" b="0" i="0">
                <a:solidFill>
                  <a:srgbClr val="CCCCCC"/>
                </a:solidFill>
                <a:latin typeface="Helvetica Neue"/>
              </a:rPr>
              <a:t>one invoice on the 1st covering the retainer (if any) plus the performance fee for every winning test rolled out last month. 8 day payment terms. Third-party costs (test tools, apps) paid by the client.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64</a:t>
            </a:r>
          </a:p>
        </p:txBody>
      </p:sp>
      <p:sp>
        <p:nvSpPr>
          <p:cNvPr id="7" name="Oval 6"/>
          <p:cNvSpPr/>
          <p:nvPr/>
        </p:nvSpPr>
        <p:spPr>
          <a:xfrm>
            <a:off x="6583680" y="-2011680"/>
            <a:ext cx="7315200" cy="5943600"/>
          </a:xfrm>
          <a:prstGeom prst="ellipse">
            <a:avLst/>
          </a:prstGeom>
          <a:solidFill>
            <a:srgbClr val="2C25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554480"/>
            <a:ext cx="1965960" cy="640080"/>
          </a:xfrm>
          <a:prstGeom prst="rect">
            <a:avLst/>
          </a:prstGeom>
          <a:solidFill>
            <a:srgbClr val="0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1965960" cy="640080"/>
          </a:xfrm>
          <a:prstGeom prst="rect">
            <a:avLst/>
          </a:prstGeom>
          <a:noFill/>
        </p:spPr>
        <p:txBody>
          <a:bodyPr wrap="square" lIns="0" rIns="0" tIns="0" bIns="0" anchor="ctr">
            <a:spAutoFit/>
          </a:bodyPr>
          <a:lstStyle/>
          <a:p>
            <a:pPr algn="ctr"/>
            <a:r>
              <a:rPr sz="2000" b="1" i="0" spc="400">
                <a:solidFill>
                  <a:srgbClr val="FFFFFF"/>
                </a:solidFill>
                <a:latin typeface="Helvetica Neue"/>
              </a:rPr>
              <a:t>DITT VIN</a:t>
            </a:r>
          </a:p>
        </p:txBody>
      </p:sp>
      <p:sp>
        <p:nvSpPr>
          <p:cNvPr id="10" name="TextBox 9"/>
          <p:cNvSpPr txBox="1"/>
          <p:nvPr/>
        </p:nvSpPr>
        <p:spPr>
          <a:xfrm>
            <a:off x="777240" y="2468880"/>
            <a:ext cx="10515600" cy="822960"/>
          </a:xfrm>
          <a:prstGeom prst="rect">
            <a:avLst/>
          </a:prstGeom>
          <a:noFill/>
        </p:spPr>
        <p:txBody>
          <a:bodyPr wrap="square" lIns="0" rIns="0" tIns="0" bIns="0" anchor="t">
            <a:spAutoFit/>
          </a:bodyPr>
          <a:lstStyle/>
          <a:p>
            <a:pPr algn="l"/>
            <a:r>
              <a:rPr sz="4600" b="1" i="0" spc="-100">
                <a:solidFill>
                  <a:srgbClr val="F7D007"/>
                </a:solidFill>
                <a:latin typeface="Helvetica Neue"/>
              </a:rPr>
              <a:t>Tak</a:t>
            </a:r>
          </a:p>
        </p:txBody>
      </p:sp>
      <p:sp>
        <p:nvSpPr>
          <p:cNvPr id="11" name="TextBox 10"/>
          <p:cNvSpPr txBox="1"/>
          <p:nvPr/>
        </p:nvSpPr>
        <p:spPr>
          <a:xfrm>
            <a:off x="777240" y="3383280"/>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Questions, and where we start</a:t>
            </a:r>
          </a:p>
        </p:txBody>
      </p:sp>
      <p:sp>
        <p:nvSpPr>
          <p:cNvPr id="12" name="TextBox 11"/>
          <p:cNvSpPr txBox="1"/>
          <p:nvPr/>
        </p:nvSpPr>
        <p:spPr>
          <a:xfrm>
            <a:off x="777240" y="3712464"/>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Anbefalet første sprint: lovlighedstillidsblok, leveringsløfte, klarhed om fragt i kurven</a:t>
            </a:r>
          </a:p>
        </p:txBody>
      </p:sp>
      <p:sp>
        <p:nvSpPr>
          <p:cNvPr id="13" name="TextBox 12"/>
          <p:cNvSpPr txBox="1"/>
          <p:nvPr/>
        </p:nvSpPr>
        <p:spPr>
          <a:xfrm>
            <a:off x="777240" y="4041648"/>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Udarbejdet af Bhaskar Roy · CRO-audit for dittvin.se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