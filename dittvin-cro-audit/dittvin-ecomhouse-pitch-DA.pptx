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Anbefalede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De tre tests med størst løftestang at køre først, hver især vist som mockup på den rigtige side.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Test 01 · 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PDP: Lovlighed &amp; tillid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Hypotese: at besvare "er det lovligt?" ved købsboksen løfter læg i kurv for de førstegangskøbere, som udgør størstedelen af trafikken, fordi Systembolaget-monopolet gør legitimitet til den største indvending.</a:t>
            </a:r>
          </a:p>
        </p:txBody>
      </p:sp>
      <p:pic>
        <p:nvPicPr>
          <p:cNvPr id="10" name="Picture 9" descr="t1-hifi.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Variant mocked on the live PDP</a:t>
            </a:r>
          </a:p>
        </p:txBody>
      </p:sp>
      <p:sp>
        <p:nvSpPr>
          <p:cNvPr id="13" name="Oval 12"/>
          <p:cNvSpPr/>
          <p:nvPr/>
        </p:nvSpPr>
        <p:spPr>
          <a:xfrm>
            <a:off x="335056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En enkel "Är det lagligt? Ja."-blok </a:t>
            </a:r>
            <a:r>
              <a:rPr sz="1100" b="0" i="0">
                <a:solidFill>
                  <a:srgbClr val="CCCCCC"/>
                </a:solidFill>
                <a:latin typeface="Helvetica Neue"/>
              </a:rPr>
              <a:t>under købsboksen: dansk operatør nævnt, Skatteverket-status som fjernsælger, skat og moms allerede inkluderet.</a:t>
            </a:r>
          </a:p>
        </p:txBody>
      </p:sp>
      <p:sp>
        <p:nvSpPr>
          <p:cNvPr id="15" name="Oval 14"/>
          <p:cNvSpPr/>
          <p:nvPr/>
        </p:nvSpPr>
        <p:spPr>
          <a:xfrm>
            <a:off x="3350561" y="237744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4881" y="233172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Trustpilot-bevis flyttet til beslutningspunktet, </a:t>
            </a:r>
            <a:r>
              <a:rPr sz="1100" b="0" i="0">
                <a:solidFill>
                  <a:srgbClr val="CCCCCC"/>
                </a:solidFill>
                <a:latin typeface="Helvetica Neue"/>
              </a:rPr>
              <a:t>de ægte 4,7 på 5,985 anmeldelser, et Trygg e-handel-mærke, og alderskontrollen fremstillet som tryghed, ikke en barriere.</a:t>
            </a:r>
          </a:p>
        </p:txBody>
      </p:sp>
      <p:sp>
        <p:nvSpPr>
          <p:cNvPr id="17" name="Oval 16"/>
          <p:cNvSpPr/>
          <p:nvPr/>
        </p:nvSpPr>
        <p:spPr>
          <a:xfrm>
            <a:off x="3350561" y="28803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4881" y="283464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Ærlig leveringslinje </a:t>
            </a:r>
            <a:r>
              <a:rPr sz="1100" b="0" i="0">
                <a:solidFill>
                  <a:srgbClr val="CCCCCC"/>
                </a:solidFill>
                <a:latin typeface="Helvetica Neue"/>
              </a:rPr>
              <a:t>(2 til 5 arbetsdagar) erstatter det vage "snabb hemleverans", plus en pris per flaske for at ramme værdien.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Test 02 · Kurv</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Kurv: leveringsklarhed &amp; checkout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Hypotese: at fjerne usikkerhed om fragt og levering inde i kurven genvinder det største læk, hvor de fleste sessioner, der når checkout, aldrig gennemføres.</a:t>
            </a:r>
          </a:p>
        </p:txBody>
      </p:sp>
      <p:pic>
        <p:nvPicPr>
          <p:cNvPr id="10" name="Picture 9" descr="t2-hifi.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Variant cart drawer, mocked on the live store</a:t>
            </a:r>
          </a:p>
        </p:txBody>
      </p:sp>
      <p:sp>
        <p:nvSpPr>
          <p:cNvPr id="13" name="Oval 12"/>
          <p:cNvSpPr/>
          <p:nvPr/>
        </p:nvSpPr>
        <p:spPr>
          <a:xfrm>
            <a:off x="335056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Ærlig leveringsblok </a:t>
            </a:r>
            <a:r>
              <a:rPr sz="1100" b="0" i="0">
                <a:solidFill>
                  <a:srgbClr val="CCCCCC"/>
                </a:solidFill>
                <a:latin typeface="Helvetica Neue"/>
              </a:rPr>
              <a:t>med et interval på 2 til 5 dage og et løfte om, at du vælger dagen, der erstatter påstanden "1-3 dagar" bag 86% af klagerne.</a:t>
            </a:r>
          </a:p>
        </p:txBody>
      </p:sp>
      <p:sp>
        <p:nvSpPr>
          <p:cNvPr id="15" name="Oval 14"/>
          <p:cNvSpPr/>
          <p:nvPr/>
        </p:nvSpPr>
        <p:spPr>
          <a:xfrm>
            <a:off x="3350561" y="237744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4881" y="233172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Gratis fragt gjort utvetydig, </a:t>
            </a:r>
            <a:r>
              <a:rPr sz="1100" b="0" i="0">
                <a:solidFill>
                  <a:srgbClr val="CCCCCC"/>
                </a:solidFill>
                <a:latin typeface="Helvetica Neue"/>
              </a:rPr>
              <a:t>Airmee-betingelsen oplyst på forhånd og gentaget ved totalen, så intet overraskelsesgebyr senere.</a:t>
            </a:r>
          </a:p>
        </p:txBody>
      </p:sp>
      <p:sp>
        <p:nvSpPr>
          <p:cNvPr id="17" name="Oval 16"/>
          <p:cNvSpPr/>
          <p:nvPr/>
        </p:nvSpPr>
        <p:spPr>
          <a:xfrm>
            <a:off x="3350561" y="28803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4881" y="283464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 i betalingsøjeblikket, </a:t>
            </a:r>
            <a:r>
              <a:rPr sz="1100" b="0" i="0">
                <a:solidFill>
                  <a:srgbClr val="CCCCCC"/>
                </a:solidFill>
                <a:latin typeface="Helvetica Neue"/>
              </a:rPr>
              <a:t>skat og moms inkluderet, Klarna- og kortmærker, "trygg betalning", lige før checkout.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Test 03 · Kasse-PDP</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Kasse-PDP: AOV-stige &amp; smag per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Hypotese: en kassestige plus rigtige detaljer per vin løfter ordreværdi og læg i kurv, fordi det fjerner risikoen ved den blinde kasse bag indvendingen "hvordan smager den".</a:t>
            </a:r>
          </a:p>
        </p:txBody>
      </p:sp>
      <p:pic>
        <p:nvPicPr>
          <p:cNvPr id="10" name="Picture 9" descr="t3-hifi.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Variant box page, mocked on the live PDP</a:t>
            </a:r>
          </a:p>
        </p:txBody>
      </p:sp>
      <p:sp>
        <p:nvSpPr>
          <p:cNvPr id="13" name="Oval 12"/>
          <p:cNvSpPr/>
          <p:nvPr/>
        </p:nvSpPr>
        <p:spPr>
          <a:xfrm>
            <a:off x="335056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En kassestige i tre niveauer </a:t>
            </a:r>
            <a:r>
              <a:rPr sz="1100" b="0" i="0">
                <a:solidFill>
                  <a:srgbClr val="CCCCCC"/>
                </a:solidFill>
                <a:latin typeface="Helvetica Neue"/>
              </a:rPr>
              <a:t>(6, 12 XL, 12 Guld) med 12 XL forvalgt som "populärast", der forankrer købere op fra 567 mod niveauerne på 700 SEK plus.</a:t>
            </a:r>
          </a:p>
        </p:txBody>
      </p:sp>
      <p:sp>
        <p:nvSpPr>
          <p:cNvPr id="15" name="Oval 14"/>
          <p:cNvSpPr/>
          <p:nvPr/>
        </p:nvSpPr>
        <p:spPr>
          <a:xfrm>
            <a:off x="3350561" y="237744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4881" y="233172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Værdiregnestykke per flaske </a:t>
            </a:r>
            <a:r>
              <a:rPr sz="1100" b="0" i="0">
                <a:solidFill>
                  <a:srgbClr val="CCCCCC"/>
                </a:solidFill>
                <a:latin typeface="Helvetica Neue"/>
              </a:rPr>
              <a:t>(53 kr per flaske på XL) får den større kasse til at fremstå som det smarte køb, ikke det dyre.</a:t>
            </a:r>
          </a:p>
        </p:txBody>
      </p:sp>
      <p:sp>
        <p:nvSpPr>
          <p:cNvPr id="17" name="Oval 16"/>
          <p:cNvSpPr/>
          <p:nvPr/>
        </p:nvSpPr>
        <p:spPr>
          <a:xfrm>
            <a:off x="3350561" y="28803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24881" y="283464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"Vad ingår" åbner den blinde kasse, </a:t>
            </a:r>
            <a:r>
              <a:rPr sz="1100" b="0" i="0">
                <a:solidFill>
                  <a:srgbClr val="CCCCCC"/>
                </a:solidFill>
                <a:latin typeface="Helvetica Neue"/>
              </a:rPr>
              <a:t>navngivne vine, region, Vivino-scorer og en skala fra tør til sød, der besvarer smagsindvendingen, før den opstår.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Samarbejde med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Sådan tester vi, og sådan afregner vi.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Samarbejde med EcomHouse · Metode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Sådan arbejder vi: seks trin, hele vejen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En service uden arbejde for dig. Du godkender, vi udfører. Hvert trin ejes af os, fra research over udvikling, QA og udrulning. Din eneste påkrævede handling er skriftlig godkendelse ved brief- og udrulningsstadierne.</a:t>
            </a:r>
          </a:p>
        </p:txBody>
      </p:sp>
      <p:graphicFrame>
        <p:nvGraphicFramePr>
          <p:cNvPr id="10" name="Table 9"/>
          <p:cNvGraphicFramePr>
            <a:graphicFrameLocks noGrp="1"/>
          </p:cNvGraphicFramePr>
          <p:nvPr/>
        </p:nvGraphicFramePr>
        <p:xfrm>
          <a:off x="883767" y="2286000"/>
          <a:ext cx="10424160" cy="2560320"/>
        </p:xfrm>
        <a:graphic>
          <a:graphicData uri="http://schemas.openxmlformats.org/drawingml/2006/table">
            <a:tbl>
              <a:tblPr>
                <a:tableStyleId>{2D5ABB26-0587-4C30-8999-92F81FD0307C}</a:tableStyleId>
              </a:tblPr>
              <a:tblGrid>
                <a:gridCol w="2084832"/>
                <a:gridCol w="4169664"/>
                <a:gridCol w="4169664"/>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TRIN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HVAD VI GØR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01</a:t>
                      </a:r>
                    </a:p>
                  </a:txBody>
                  <a:tcPr marL="73152" marR="73152" marT="18288" marB="18288" anchor="ctr">
                    <a:solidFill>
                      <a:srgbClr val="000000"/>
                    </a:solidFill>
                  </a:tcPr>
                </a:tc>
                <a:tc>
                  <a:txBody>
                    <a:bodyPr wrap="square"/>
                    <a:lstStyle/>
                    <a:p>
                      <a:pPr algn="l"/>
                      <a:r>
                        <a:rPr sz="1100" b="0">
                          <a:solidFill>
                            <a:srgbClr val="F7D007"/>
                          </a:solidFill>
                          <a:latin typeface="Helvetica Neue"/>
                        </a:rPr>
                        <a:t>Research</a:t>
                      </a:r>
                    </a:p>
                  </a:txBody>
                  <a:tcPr marL="73152" marR="73152" marT="18288" marB="18288" anchor="ctr">
                    <a:solidFill>
                      <a:srgbClr val="000000"/>
                    </a:solidFill>
                  </a:tcPr>
                </a:tc>
                <a:tc>
                  <a:txBody>
                    <a:bodyPr wrap="square"/>
                    <a:lstStyle/>
                    <a:p>
                      <a:pPr algn="l"/>
                      <a:r>
                        <a:rPr sz="1100" b="0">
                          <a:solidFill>
                            <a:srgbClr val="EFEEEE"/>
                          </a:solidFill>
                          <a:latin typeface="Helvetica Neue"/>
                        </a:rPr>
                        <a:t>GA4, Shopify, heatmaps, sessionsoptagelser, anmeldelser og supporttickets.</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02</a:t>
                      </a:r>
                    </a:p>
                  </a:txBody>
                  <a:tcPr marL="73152" marR="73152" marT="18288" marB="18288" anchor="ctr">
                    <a:solidFill>
                      <a:srgbClr val="0B0B0B"/>
                    </a:solidFill>
                  </a:tcPr>
                </a:tc>
                <a:tc>
                  <a:txBody>
                    <a:bodyPr wrap="square"/>
                    <a:lstStyle/>
                    <a:p>
                      <a:pPr algn="l"/>
                      <a:r>
                        <a:rPr sz="1100" b="0">
                          <a:solidFill>
                            <a:srgbClr val="F7D007"/>
                          </a:solidFill>
                          <a:latin typeface="Helvetica Neue"/>
                        </a:rPr>
                        <a:t>Idéudvikling</a:t>
                      </a:r>
                    </a:p>
                  </a:txBody>
                  <a:tcPr marL="73152" marR="73152" marT="18288" marB="18288" anchor="ctr">
                    <a:solidFill>
                      <a:srgbClr val="0B0B0B"/>
                    </a:solidFill>
                  </a:tcPr>
                </a:tc>
                <a:tc>
                  <a:txBody>
                    <a:bodyPr wrap="square"/>
                    <a:lstStyle/>
                    <a:p>
                      <a:pPr algn="l"/>
                      <a:r>
                        <a:rPr sz="1100" b="0">
                          <a:solidFill>
                            <a:srgbClr val="EFEEEE"/>
                          </a:solidFill>
                          <a:latin typeface="Helvetica Neue"/>
                        </a:rPr>
                        <a:t>Hypotese, variantkoncepter, copy og en Figma-prototype.</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03</a:t>
                      </a:r>
                    </a:p>
                  </a:txBody>
                  <a:tcPr marL="73152" marR="73152" marT="18288" marB="18288" anchor="ctr">
                    <a:solidFill>
                      <a:srgbClr val="000000"/>
                    </a:solidFill>
                  </a:tcPr>
                </a:tc>
                <a:tc>
                  <a:txBody>
                    <a:bodyPr wrap="square"/>
                    <a:lstStyle/>
                    <a:p>
                      <a:pPr algn="l"/>
                      <a:r>
                        <a:rPr sz="1100" b="0">
                          <a:solidFill>
                            <a:srgbClr val="F7D007"/>
                          </a:solidFill>
                          <a:latin typeface="Helvetica Neue"/>
                        </a:rPr>
                        <a:t>Brief og godkend</a:t>
                      </a:r>
                    </a:p>
                  </a:txBody>
                  <a:tcPr marL="73152" marR="73152" marT="18288" marB="18288" anchor="ctr">
                    <a:solidFill>
                      <a:srgbClr val="000000"/>
                    </a:solidFill>
                  </a:tcPr>
                </a:tc>
                <a:tc>
                  <a:txBody>
                    <a:bodyPr wrap="square"/>
                    <a:lstStyle/>
                    <a:p>
                      <a:pPr algn="l"/>
                      <a:r>
                        <a:rPr sz="1100" b="0">
                          <a:solidFill>
                            <a:srgbClr val="EFEEEE"/>
                          </a:solidFill>
                          <a:latin typeface="Helvetica Neue"/>
                        </a:rPr>
                        <a:t>En skriftlig brief med den primære metrik, konfidens, stikprøvestørrelse og stadiemultiplikator. Du godkender før lancering.</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04</a:t>
                      </a:r>
                    </a:p>
                  </a:txBody>
                  <a:tcPr marL="73152" marR="73152" marT="18288" marB="18288" anchor="ctr">
                    <a:solidFill>
                      <a:srgbClr val="0B0B0B"/>
                    </a:solidFill>
                  </a:tcPr>
                </a:tc>
                <a:tc>
                  <a:txBody>
                    <a:bodyPr wrap="square"/>
                    <a:lstStyle/>
                    <a:p>
                      <a:pPr algn="l"/>
                      <a:r>
                        <a:rPr sz="1100" b="0">
                          <a:solidFill>
                            <a:srgbClr val="F7D007"/>
                          </a:solidFill>
                          <a:latin typeface="Helvetica Neue"/>
                        </a:rPr>
                        <a:t>Byg og QA</a:t>
                      </a:r>
                    </a:p>
                  </a:txBody>
                  <a:tcPr marL="73152" marR="73152" marT="18288" marB="18288" anchor="ctr">
                    <a:solidFill>
                      <a:srgbClr val="0B0B0B"/>
                    </a:solidFill>
                  </a:tcPr>
                </a:tc>
                <a:tc>
                  <a:txBody>
                    <a:bodyPr wrap="square"/>
                    <a:lstStyle/>
                    <a:p>
                      <a:pPr algn="l"/>
                      <a:r>
                        <a:rPr sz="1100" b="0">
                          <a:solidFill>
                            <a:srgbClr val="EFEEEE"/>
                          </a:solidFill>
                          <a:latin typeface="Helvetica Neue"/>
                        </a:rPr>
                        <a:t>Shopify- eller testværktøjsvariant, sporet og QA'et på tværs af enheder.</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05</a:t>
                      </a:r>
                    </a:p>
                  </a:txBody>
                  <a:tcPr marL="73152" marR="73152" marT="18288" marB="18288" anchor="ctr">
                    <a:solidFill>
                      <a:srgbClr val="000000"/>
                    </a:solidFill>
                  </a:tcPr>
                </a:tc>
                <a:tc>
                  <a:txBody>
                    <a:bodyPr wrap="square"/>
                    <a:lstStyle/>
                    <a:p>
                      <a:pPr algn="l"/>
                      <a:r>
                        <a:rPr sz="1100" b="0">
                          <a:solidFill>
                            <a:srgbClr val="F7D007"/>
                          </a:solidFill>
                          <a:latin typeface="Helvetica Neue"/>
                        </a:rPr>
                        <a:t>Kør og overvåg</a:t>
                      </a:r>
                    </a:p>
                  </a:txBody>
                  <a:tcPr marL="73152" marR="73152" marT="18288" marB="18288" anchor="ctr">
                    <a:solidFill>
                      <a:srgbClr val="000000"/>
                    </a:solidFill>
                  </a:tcPr>
                </a:tc>
                <a:tc>
                  <a:txBody>
                    <a:bodyPr wrap="square"/>
                    <a:lstStyle/>
                    <a:p>
                      <a:pPr algn="l"/>
                      <a:r>
                        <a:rPr sz="1100" b="0">
                          <a:solidFill>
                            <a:srgbClr val="EFEEEE"/>
                          </a:solidFill>
                          <a:latin typeface="Helvetica Neue"/>
                        </a:rPr>
                        <a:t>Live test med guardrail-overvågning og ugentlige statusopdateringer.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06</a:t>
                      </a:r>
                    </a:p>
                  </a:txBody>
                  <a:tcPr marL="73152" marR="73152" marT="18288" marB="18288" anchor="ctr">
                    <a:solidFill>
                      <a:srgbClr val="0B0B0B"/>
                    </a:solidFill>
                  </a:tcPr>
                </a:tc>
                <a:tc>
                  <a:txBody>
                    <a:bodyPr wrap="square"/>
                    <a:lstStyle/>
                    <a:p>
                      <a:pPr algn="l"/>
                      <a:r>
                        <a:rPr sz="1100" b="0">
                          <a:solidFill>
                            <a:srgbClr val="F7D007"/>
                          </a:solidFill>
                          <a:latin typeface="Helvetica Neue"/>
                        </a:rPr>
                        <a:t>Analysér og rul ud</a:t>
                      </a:r>
                    </a:p>
                  </a:txBody>
                  <a:tcPr marL="73152" marR="73152" marT="18288" marB="18288" anchor="ctr">
                    <a:solidFill>
                      <a:srgbClr val="0B0B0B"/>
                    </a:solidFill>
                  </a:tcPr>
                </a:tc>
                <a:tc>
                  <a:txBody>
                    <a:bodyPr wrap="square"/>
                    <a:lstStyle/>
                    <a:p>
                      <a:pPr algn="l"/>
                      <a:r>
                        <a:rPr sz="1100" b="0">
                          <a:solidFill>
                            <a:srgbClr val="EFEEEE"/>
                          </a:solidFill>
                          <a:latin typeface="Helvetica Neue"/>
                        </a:rPr>
                        <a:t>En skriftlig dom, og vindere rulles ud til 100% af trafikken.</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Service uden arbejde for dig: du forventes ikke at udføre produktionsarbejde. Den samme metode skabte de RPV-gevinster, der blev vist tidligere i denne præsentation (se "RPV-sejre vi har leveret"): tillid, sticky læg i kurv og mængdetilbud, hver især kørt til statistisk signifikans.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Samarbejde med EcomHouse · Honorar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Vi vinder, når du vinder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Et resultatbaseret honorar på hver vindende test, der rulles ud til 100% af trafikken. Engangsbetaling per test, intet attributionsvindue, ingen løbende hale.</a:t>
            </a:r>
          </a:p>
        </p:txBody>
      </p:sp>
      <p:sp>
        <p:nvSpPr>
          <p:cNvPr id="10" name="Oval 9"/>
          <p:cNvSpPr/>
          <p:nvPr/>
        </p:nvSpPr>
        <p:spPr>
          <a:xfrm>
            <a:off x="777240" y="21122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1560" y="206654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Beregnet ud fra dine egne data. </a:t>
            </a:r>
            <a:r>
              <a:rPr sz="1050" b="0" i="0">
                <a:solidFill>
                  <a:srgbClr val="CCCCCC"/>
                </a:solidFill>
                <a:latin typeface="Helvetica Neue"/>
              </a:rPr>
              <a:t>Honoraret er en procentdel af testens estimerede månedlige omsætningsløft, med den aftalte stadiemultiplikator fra Schedule A anvendt på tests i den øvre del af tragten, hvor løftet er projekteret frem for direkte målt.</a:t>
            </a:r>
          </a:p>
        </p:txBody>
      </p:sp>
      <p:sp>
        <p:nvSpPr>
          <p:cNvPr id="12" name="Oval 11"/>
          <p:cNvSpPr/>
          <p:nvPr/>
        </p:nvSpPr>
        <p:spPr>
          <a:xfrm>
            <a:off x="777240" y="2551176"/>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50545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Ingen løbende hale, intet attributionsvindue. </a:t>
            </a:r>
            <a:r>
              <a:rPr sz="1050" b="0" i="0">
                <a:solidFill>
                  <a:srgbClr val="CCCCCC"/>
                </a:solidFill>
                <a:latin typeface="Helvetica Neue"/>
              </a:rPr>
              <a:t>Én faktura per vindende test ved udrulning, i SEK, aldrig en månedlig procentdel af omsætningen.</a:t>
            </a:r>
          </a:p>
        </p:txBody>
      </p:sp>
      <p:sp>
        <p:nvSpPr>
          <p:cNvPr id="14" name="Oval 13"/>
          <p:cNvSpPr/>
          <p:nvPr/>
        </p:nvSpPr>
        <p:spPr>
          <a:xfrm>
            <a:off x="777240" y="29900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294436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Valgfrit fast månedligt retainer </a:t>
            </a:r>
            <a:r>
              <a:rPr sz="1050" b="0" i="0">
                <a:solidFill>
                  <a:srgbClr val="CCCCCC"/>
                </a:solidFill>
                <a:latin typeface="Helvetica Neue"/>
              </a:rPr>
              <a:t>i SEK, hvis du foretrækker et forudsigeligt budget. Det kan lægges oven i resultathonoraret eller erstatte det, og det er ugyldigt, medmindre det aftales.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