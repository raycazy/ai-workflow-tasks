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988820"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988820"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RPV-nordstjerne</a:t>
            </a:r>
          </a:p>
        </p:txBody>
      </p:sp>
      <p:sp>
        <p:nvSpPr>
          <p:cNvPr id="16" name="Rounded Rectangle 15"/>
          <p:cNvSpPr/>
          <p:nvPr/>
        </p:nvSpPr>
        <p:spPr>
          <a:xfrm>
            <a:off x="2299716" y="4160520"/>
            <a:ext cx="1988820"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Benchmarket</a:t>
            </a:r>
          </a:p>
        </p:txBody>
      </p:sp>
      <p:sp>
        <p:nvSpPr>
          <p:cNvPr id="19" name="Rounded Rectangle 18"/>
          <p:cNvSpPr/>
          <p:nvPr/>
        </p:nvSpPr>
        <p:spPr>
          <a:xfrm>
            <a:off x="4453128"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859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59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A/B-roadmap</a:t>
            </a:r>
          </a:p>
        </p:txBody>
      </p:sp>
      <p:sp>
        <p:nvSpPr>
          <p:cNvPr id="22" name="Rounded Rectangle 21"/>
          <p:cNvSpPr/>
          <p:nvPr/>
        </p:nvSpPr>
        <p:spPr>
          <a:xfrm>
            <a:off x="61859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Baseret på Shopify (facit). 90 dage, 25. april til 23. juli 2026: 38.306 ordrer, 33,3M SEK brutto, 868 SEK AOV. GA4 registrerede kun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EcomHouse for dittvin.se.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Omfang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vi analyserede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Hvert tal i dette deck kan spores til en kilde. Hvor en måling er estimeret, er den markeret med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GA4-analyse</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dage, egenskab 461839723. 452,552 sessioner, sekventiel tragt, kanaler, enheder, landingssider.</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Kundens stemme</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Trustpilot-anmeldelser (4.7/5). 300 ordrette anmeldelser udtrukket via widgettens data-API.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Konkurrentsæt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verificerede konkurrenter: Winefinder, Winefamly, KRAN, Supervin, plus Systembolaget som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Ekspertgennemgang</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sidetyper på desktop og mobil: indgang, forside, kollektion, produktside. Verificeret med screenshot.</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og teknik-audit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netværksopsamling af hvert tracking-tag, samtykke og konsolfejl. Ikke et HTML-gæt.</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Shopify-salgsdata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dage af ordre-, produkt- og AOV-eksporter. Facit for RPV, afstemt mod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Branchebenchmarks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Navngivne kilder: Littledata, Baymard, Sovos, SVB, Omnisend. Generel e-handel + vin-DtC, RPV-nordstjerne.</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Uden for omfang</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er installeret og indsamler, men vi havde ingen dashboardadgang. Giv adgang for dybde i session replay.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Ledelsesresumé</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Syv fund der flytter omsætning</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Levering er det største tillidssår. </a:t>
            </a:r>
            <a:r>
              <a:rPr sz="1050" b="0" i="0">
                <a:solidFill>
                  <a:srgbClr val="CCCCCC"/>
                </a:solidFill>
                <a:latin typeface="Helvetica Neue"/>
              </a:rPr>
              <a:t>Sitet lover "1-3 dagar", men 31% af anmeldelserne med få stjerner rapporterer 7 til 16 dage. 86% af klagerne handler om levering, og loyale genkøbere falder fra på grund af det.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løftet, ikke vinen. Dette er et fastholdelseslæk, ikke bare anskaffelse.</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Lovlighedsspørgsmålet er ubesvaret. </a:t>
            </a:r>
            <a:r>
              <a:rPr sz="1050" b="0" i="0">
                <a:solidFill>
                  <a:srgbClr val="CCCCCC"/>
                </a:solidFill>
                <a:latin typeface="Helvetica Neue"/>
              </a:rPr>
              <a:t>På et monopolmarked har en svensk førstegangskøber brug for at vide, at dette er lovligt. dittvin forklarer intet, mens KRAN og Winefamly skaber tryghed direkte. Frygten tipper over i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De fleste købere er førstegangsbesøgende, og de har brug for denne tryghed.</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Smag er usynlig online. </a:t>
            </a:r>
            <a:r>
              <a:rPr sz="1050" b="0" i="0">
                <a:solidFill>
                  <a:srgbClr val="CCCCCC"/>
                </a:solidFill>
                <a:latin typeface="Helvetica Neue"/>
              </a:rPr>
              <a:t>Den største barriere i onlinevin er ikke at vide, hvordan den smager. dittvins kasser angiver region og drue, men oversætter dem sjældent til sødme, fylde og madmatchning, som en butiksassistent ville, så køberne tøver.</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Gør smag læselig på hver kasse: smagsprofiler, madmatchninger og Vivino-scorer.</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Afbrudt checkout er den største lækage. </a:t>
            </a:r>
            <a:r>
              <a:rPr sz="1050" b="0" i="0">
                <a:solidFill>
                  <a:srgbClr val="CCCCCC"/>
                </a:solidFill>
                <a:latin typeface="Helvetica Neue"/>
              </a:rPr>
              <a:t>58.9% af de sessioner, der når frem til checkout, gennemfører ikke (17,785 af 30,200). Leveringstvivl, løftet "1-3 dagar", og 90+ websitefejl er hovedmistænkte.</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Højeste intention, billigst at genvinde. Est. 3 til 5M SEK/kvartal.</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Nye kunder konverterer langt under tilbagevendende. </a:t>
            </a:r>
            <a:r>
              <a:rPr sz="1050" b="0" i="0">
                <a:solidFill>
                  <a:srgbClr val="CCCCCC"/>
                </a:solidFill>
                <a:latin typeface="Helvetica Neue"/>
              </a:rPr>
              <a:t>GA4 viser, at nye besøgende konverterer ved 2.62% mod 3.42% for tilbagevendende, og de udgør størstedelen af trafikken, men kun en fjerdedel af omsætningen. At lukke det gab er den største vækstløftestang.</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Smagsklarhed og tillid løfter nye kunders konvertering. Est. +3,3M SEK pr. kvartal.</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Fastholdelse er stærk, men abonnementet er uudnyttet. </a:t>
            </a:r>
            <a:r>
              <a:rPr sz="1050" b="0" i="0">
                <a:solidFill>
                  <a:srgbClr val="CCCCCC"/>
                </a:solidFill>
                <a:latin typeface="Helvetica Neue"/>
              </a:rPr>
              <a:t>66% af køberne vender tilbage, men abonnementet (Vin, Gin, Champagne, 749 til 849 SEK) er kun 0.2% af salget. Motoren findes, men er knap nok slået til.</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Udbyg det mod 3 til 5% for ~1 til 1,8M SEK i tilbagevendende omsætning, og gør det synligt på flere produktsider.</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sporer ikke korrekt. </a:t>
            </a:r>
            <a:r>
              <a:rPr sz="1050" b="0" i="0">
                <a:solidFill>
                  <a:srgbClr val="CCCCCC"/>
                </a:solidFill>
                <a:latin typeface="Helvetica Neue"/>
              </a:rPr>
              <a:t>Den registrerer kun 31% af ordrerne (11,689 mod 38,306) og oppuster sessioner med skrald. En Google Ads-konvertering udløses også på forsiden. Beslutninger skal køre på Shopify, indtil den er bygget om.</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målingen med server side-sporing (Meta), så annonceplatformene byder på det fulde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dage, 25. april til 23. juli 2026. De rigtige tal: 336,855 sessioner, 38,306 ordrer, 33.3M SEK. Hvor trafikken kommer fra, hvor den konverterer, og hvor den lækker. GA4 dækkes på ét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Sessioner</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Sverige</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Ordrer</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kunder</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Bruttosalg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inkl. moms</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reel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stærkt genkøbsgrundlag</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Gennemsnitlig ordreværdi</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stabil over 90 dage</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Total sales + Conversion rate-rapporter, 90 dage (25. april til 23. juli 2026). Bruttosalg ekskluderer moms, rabatter og refunderinger; samlet salg 41.5M inkluderer moms (8.34M) og fragt. AOV er brutto divideret med ordrer.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Sessioner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Konverteringstragten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egen sessionstragt. To lækager skiller sig ud: kun 12.6% af sessionerne lægger i kurv, og 58.9% af dem, der når frem til checkout, gennemfører aldrig.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rate-rapport. Session-attribuerede gennemførelser (12,415) er en delmængde af de 38,306 rigtige ordrer, fordi ~2/3 af ordrerne ikke har nogen sporbar session (samtykke, in-app-browsere). Det er raterne, der betyder noget: butikken taber mest ved læg i kurv og ved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Verificerede kilder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Foran på konvertering, ordreværdi og genkøbsrate; opsiden er abonnementstilmeldinger og e-mail. Dette er generelle ecom-benchmarks, den retfærdige sammenligning for en nordisk forhandler, fordi der ikke findes en offentliggjort vinspecifik benchmark for Danmark eller Europa.</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METRIK</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ECOM-BENCHMARK (KILDE)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DOM</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Konverteringsrate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gns.,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Gennemsnitlig ordreværdi</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gns.,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På niveau</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reelt</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Kurvafbrydelse</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af 50 studier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Foran</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Andel af tilbagevendende kunder</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til 30% typisk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E-mailandel af ordrer</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til 30% af DTC-omsætning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Bagud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Abonnementstilmeldinger</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ordrer, 0.2% af salget</a:t>
                      </a:r>
                    </a:p>
                  </a:txBody>
                  <a:tcPr marL="73152" marR="73152" marT="18288" marB="18288" anchor="ctr">
                    <a:solidFill>
                      <a:srgbClr val="000000"/>
                    </a:solidFill>
                  </a:tcPr>
                </a:tc>
                <a:tc>
                  <a:txBody>
                    <a:bodyPr wrap="square"/>
                    <a:lstStyle/>
                    <a:p>
                      <a:pPr algn="l"/>
                      <a:r>
                        <a:rPr sz="1100" b="0">
                          <a:solidFill>
                            <a:srgbClr val="EFEEEE"/>
                          </a:solidFill>
                          <a:latin typeface="Helvetica Neue"/>
                        </a:rPr>
                        <a:t>Ingen standard ecom-benchmark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Mobilandel af trafik</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 ~37% under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Kilder: Littledata (2.800 Shopify-sider, 2023), Baymard Institute (2025), OpenSend og MetricUno (2024), Omnisend (2024), Klaviyo (2025). Dette er generelle ecom-benchmarks; der findes ingen offentliggjort vinspecifik benchmark for Danmark eller Europa, så de er de nærmeste retfærdige sammenligninger for en nordisk forhandler. RPV er afledt (AOV x CVR); ingen udgiver rapporterer en vin-RPV.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Fortolkningen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 i toppen, svag hvor det akkumulerer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Tragten og ordreværdien er ægte styrker. RPV-potentialet handler ikke om at reparere en ødelagt butik, men om at tjene på fastholdelse i den kategori, der er bygget til det.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Allerede foran</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Konvertering 3.69%, ~2.7x Shopify-gennemsnittet </a:t>
            </a:r>
            <a:r>
              <a:rPr sz="1100" b="0" i="0">
                <a:solidFill>
                  <a:srgbClr val="CCCCCC"/>
                </a:solidFill>
                <a:latin typeface="Helvetica Neue"/>
              </a:rPr>
              <a:t>, og det er på ~86% mobil, den lavest konverterende enhed.</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over Shopify-linjen </a:t>
            </a:r>
            <a:r>
              <a:rPr sz="1100" b="0" i="0">
                <a:solidFill>
                  <a:srgbClr val="CCCCCC"/>
                </a:solidFill>
                <a:latin typeface="Helvetica Neue"/>
              </a:rPr>
              <a:t>ved ~2 flasker pr. ordre, drevet af kasseformatet.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tilbagevendende kunder </a:t>
            </a:r>
            <a:r>
              <a:rPr sz="1100" b="0" i="0">
                <a:solidFill>
                  <a:srgbClr val="CCCCCC"/>
                </a:solidFill>
                <a:latin typeface="Helvetica Neue"/>
              </a:rPr>
              <a:t>, langt over det typiske e-com-genkøbsinterval. Fastholdelse er en ægte styrke.</a:t>
            </a:r>
          </a:p>
        </p:txBody>
      </p:sp>
      <p:sp>
        <p:nvSpPr>
          <p:cNvPr id="18" name="Oval 17"/>
          <p:cNvSpPr/>
          <p:nvPr/>
        </p:nvSpPr>
        <p:spPr>
          <a:xfrm>
            <a:off x="1203807" y="457200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Kurvafbrydelse 10 point bedre </a:t>
            </a:r>
            <a:r>
              <a:rPr sz="1100" b="0" i="0">
                <a:solidFill>
                  <a:srgbClr val="CCCCCC"/>
                </a:solidFill>
                <a:latin typeface="Helvetica Neue"/>
              </a:rPr>
              <a:t>end Baymard, på trods af aldersbekræftelsen og alkoholfriktionen.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Væksthullerne</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Afbrudt checkout 58.9% </a:t>
            </a:r>
            <a:r>
              <a:rPr sz="1100" b="0" i="0">
                <a:solidFill>
                  <a:srgbClr val="CCCCCC"/>
                </a:solidFill>
                <a:latin typeface="Helvetica Neue"/>
              </a:rPr>
              <a:t>er den største lækage, der kan genvindes, og den billigste at vinde tilbage.</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af ordrerne </a:t>
            </a:r>
            <a:r>
              <a:rPr sz="1100" b="0" i="0">
                <a:solidFill>
                  <a:srgbClr val="CCCCCC"/>
                </a:solidFill>
                <a:latin typeface="Helvetica Neue"/>
              </a:rPr>
              <a:t>mod en ejet norm på ~20 til 30%. Automatiseringer er den urørte del med højest ROI.</a:t>
            </a:r>
          </a:p>
        </p:txBody>
      </p:sp>
      <p:sp>
        <p:nvSpPr>
          <p:cNvPr id="26" name="Oval 25"/>
          <p:cNvSpPr/>
          <p:nvPr/>
        </p:nvSpPr>
        <p:spPr>
          <a:xfrm>
            <a:off x="6553047" y="391820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Abonnementstilmeldinger er lave. </a:t>
            </a:r>
            <a:r>
              <a:rPr sz="1100" b="0" i="0">
                <a:solidFill>
                  <a:srgbClr val="CCCCCC"/>
                </a:solidFill>
                <a:latin typeface="Helvetica Neue"/>
              </a:rPr>
              <a:t>Klubben med 3 niveauer findes, men fremhæves næsten ikke. Vinklubber er 39% af winery DtC.</a:t>
            </a:r>
          </a:p>
        </p:txBody>
      </p:sp>
      <p:sp>
        <p:nvSpPr>
          <p:cNvPr id="28" name="Oval 27"/>
          <p:cNvSpPr/>
          <p:nvPr/>
        </p:nvSpPr>
        <p:spPr>
          <a:xfrm>
            <a:off x="6553047" y="457200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 er 86% af trafikken </a:t>
            </a:r>
            <a:r>
              <a:rPr sz="1100" b="0" i="0">
                <a:solidFill>
                  <a:srgbClr val="CCCCCC"/>
                </a:solidFill>
                <a:latin typeface="Helvetica Neue"/>
              </a:rPr>
              <a:t>på den lavest konverterende enhed. At lukke gabet flytter flest sessioner.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tre største læk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Rangeret efter, hvor billigt omsætningen kan vindes tilbage, ikke kun efter størrelse.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til køb</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af 30,200 sessioner, der når frem til checkout, gennemfører aldrig. Den målgruppe med højeste intention og laveste omkostning at genvinde. Leveringstvivl, løftet "1-3 dagar" og 90+ websitefejl er hovedmistænkte.</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Højeste intention. Billigste gevinst. Est. 3 til 5M SEK/kvt</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til læg i kurv</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Kun 12.6% af sessionerne lægger i kurv. Box-produktsider ligger allerede på 18 til 20%, men forsiden (12%) og kollektionen (10%) trækker det ned. Tillidshuller på produktsiden og svag produktpræsentation dæmper læg i kurv.</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Lovlighedsbevis, detalje pr. vin, kollektion med vinkasser først</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Kurv til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af kurvene når aldrig frem til checkout. Fragtoverraskelse (695 SEK-grænse, kun Airmee) og intet klart skub til at fortsætte. Mindre end de to andre, men en hurtig gevinst i kurv-drawer.</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Klarhed om fragt i kurven + fortsæt-trin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Enhed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 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Næsten 9 ud af 10 Shopify-sessioner er mobil (88%), men mobil konverterer under tablet (3.71% mod 4.66%). Hver rettelse i dette deck er en mobilrettelse først.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ENHED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device-rapporten. Andele og rater er faktiske Shopify-tal; sessionsantal er indekseret til 90-dages-vinduet (25. april til 23. juli 2026). Mobil ejer volumen, men er den svageste konverter, så rettelser i checkout og produktside skal valideres på mobil Safari først.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Henvisninger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Direkte og Meta bærer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Direkte (49%) og Meta (Facebook og Instagram, 33%) driver fire ud af fem sessioner. Google bidrager med 16%. Tagget e-mail er kun 1%, det tydeligste hul for en butik med 66% tilbagevendende kunder.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KANAL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Direkte</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referrer-rapport (top 5 kanaler = 99% af sessionerne). Andele og CVR er Shopify-faktiske; sessionstal er indekseret til 90-dages vinduet. "Direkte" samler tilbagevendende besøgende og utaggede e-mails eller SMS, så betalt social er den største sporbare anskaffelseskilde. Social konverterer bedst (4.1 til 4.3%). Klaviyo tilskriver ~16% af ordrerne, selvom taggede e-mail-sessioner er ~1%, så ejet e-mail er knap nok instrumenteret, ikke uden betydning.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Fastholdelse er en styrke, der skal skaleres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tredjedele af køberne er tilbagevendende kunder, og dittvin driver allerede et rigtigt abonnement. Opgaven er at vokse det, ikke at bygge det.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kunder</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af 31,860 købere</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kunder</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af køberne</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6-måneders fastholdelse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stabil cohort-hale</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cohort-rapport. Abonnementet koster 749 til 849 SEK pr. kasse (månedligt, med en introkasse først). Muligheden er at gøre det mere synligt og placere det på flere produktsider, så flere købere ser og vælger det. Dette vender den tidligere GA4-læsning om, at fastholdelse var svag.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Fastholdelse · Abonnement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Abonnement er den effektive LTV-løftestang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af køberne vender allerede tilbage, men det genkøb tjenes hjem med e-mail, retargeting og kampagner hver gang. Abonnement gør det automatisk: højere livstidsværdi, lavere marketingomkostning, forudsigelig omsætning. I dag er det 0.2% af salget, den tydeligste uudnyttede løftestang.</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Abonnementets andel af salget</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ordrer, 66k SEK på 90 dage</a:t>
            </a:r>
          </a:p>
        </p:txBody>
      </p:sp>
      <p:sp>
        <p:nvSpPr>
          <p:cNvPr id="15" name="Rounded Rectangle 14"/>
          <p:cNvSpPr/>
          <p:nvPr/>
        </p:nvSpPr>
        <p:spPr>
          <a:xfrm>
            <a:off x="351266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Abonnementsprodukter</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Vin-, Gin-, Champagnekasser</a:t>
            </a:r>
          </a:p>
        </p:txBody>
      </p:sp>
      <p:sp>
        <p:nvSpPr>
          <p:cNvPr id="19" name="Rounded Rectangle 18"/>
          <p:cNvSpPr/>
          <p:nvPr/>
        </p:nvSpPr>
        <p:spPr>
          <a:xfrm>
            <a:off x="623300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Topkasser med abonnementsmulighed</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kun 3 nicheprodukter har den</a:t>
            </a:r>
          </a:p>
        </p:txBody>
      </p:sp>
      <p:sp>
        <p:nvSpPr>
          <p:cNvPr id="23" name="Rounded Rectangle 22"/>
          <p:cNvSpPr/>
          <p:nvPr/>
        </p:nvSpPr>
        <p:spPr>
          <a:xfrm>
            <a:off x="895334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ved 3 til 5% (Est.)</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mod 66k SEK i dag</a:t>
            </a:r>
          </a:p>
        </p:txBody>
      </p:sp>
      <p:graphicFrame>
        <p:nvGraphicFramePr>
          <p:cNvPr id="27" name="Table 26"/>
          <p:cNvGraphicFramePr>
            <a:graphicFrameLocks noGrp="1"/>
          </p:cNvGraphicFramePr>
          <p:nvPr/>
        </p:nvGraphicFramePr>
        <p:xfrm>
          <a:off x="883767" y="4233672"/>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ASPEKT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GENKØB I DAG (MARKETINGDREVET)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PÅ ABONNEMENT</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Genbestillingsudløser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kampagne hver gang</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Automatisk, tilbagevendende</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Frekvens</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Sporadisk, kampagnedrevet</a:t>
                      </a:r>
                    </a:p>
                  </a:txBody>
                  <a:tcPr marL="73152" marR="73152" marT="18288" marB="18288" anchor="ctr">
                    <a:solidFill>
                      <a:srgbClr val="0B0B0B"/>
                    </a:solidFill>
                  </a:tcPr>
                </a:tc>
                <a:tc>
                  <a:txBody>
                    <a:bodyPr wrap="square"/>
                    <a:lstStyle/>
                    <a:p>
                      <a:pPr algn="l"/>
                      <a:r>
                        <a:rPr sz="1000" b="0">
                          <a:solidFill>
                            <a:srgbClr val="22C55E"/>
                          </a:solidFill>
                          <a:latin typeface="Helvetica Neue"/>
                        </a:rPr>
                        <a:t>Fast kadence, månedligt eller oftere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Marketingomkostning pr. genbestilling</a:t>
                      </a:r>
                    </a:p>
                  </a:txBody>
                  <a:tcPr marL="73152" marR="73152" marT="18288" marB="18288" anchor="ctr">
                    <a:solidFill>
                      <a:srgbClr val="000000"/>
                    </a:solidFill>
                  </a:tcPr>
                </a:tc>
                <a:tc>
                  <a:txBody>
                    <a:bodyPr wrap="square"/>
                    <a:lstStyle/>
                    <a:p>
                      <a:pPr algn="l"/>
                      <a:r>
                        <a:rPr sz="1000" b="0">
                          <a:solidFill>
                            <a:srgbClr val="F59E0B"/>
                          </a:solidFill>
                          <a:latin typeface="Helvetica Neue"/>
                        </a:rPr>
                        <a:t>Høj</a:t>
                      </a:r>
                    </a:p>
                  </a:txBody>
                  <a:tcPr marL="73152" marR="73152" marT="18288" marB="18288" anchor="ctr">
                    <a:solidFill>
                      <a:srgbClr val="000000"/>
                    </a:solidFill>
                  </a:tcPr>
                </a:tc>
                <a:tc>
                  <a:txBody>
                    <a:bodyPr wrap="square"/>
                    <a:lstStyle/>
                    <a:p>
                      <a:pPr algn="l"/>
                      <a:r>
                        <a:rPr sz="1000" b="0">
                          <a:solidFill>
                            <a:srgbClr val="22C55E"/>
                          </a:solidFill>
                          <a:latin typeface="Helvetica Neue"/>
                        </a:rPr>
                        <a:t>Nær nul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Forudsigelig omsætning</a:t>
                      </a:r>
                    </a:p>
                  </a:txBody>
                  <a:tcPr marL="73152" marR="73152" marT="18288" marB="18288" anchor="ctr">
                    <a:solidFill>
                      <a:srgbClr val="0B0B0B"/>
                    </a:solidFill>
                  </a:tcPr>
                </a:tc>
                <a:tc>
                  <a:txBody>
                    <a:bodyPr wrap="square"/>
                    <a:lstStyle/>
                    <a:p>
                      <a:pPr algn="l"/>
                      <a:r>
                        <a:rPr sz="1000" b="0">
                          <a:solidFill>
                            <a:srgbClr val="F59E0B"/>
                          </a:solidFill>
                          <a:latin typeface="Helvetica Neue"/>
                        </a:rPr>
                        <a:t>Lav</a:t>
                      </a:r>
                    </a:p>
                  </a:txBody>
                  <a:tcPr marL="73152" marR="73152" marT="18288" marB="18288" anchor="ctr">
                    <a:solidFill>
                      <a:srgbClr val="0B0B0B"/>
                    </a:solidFill>
                  </a:tcPr>
                </a:tc>
                <a:tc>
                  <a:txBody>
                    <a:bodyPr wrap="square"/>
                    <a:lstStyle/>
                    <a:p>
                      <a:pPr algn="l"/>
                      <a:r>
                        <a:rPr sz="1000" b="0">
                          <a:solidFill>
                            <a:srgbClr val="22C55E"/>
                          </a:solidFill>
                          <a:latin typeface="Helvetica Neue"/>
                        </a:rPr>
                        <a:t>Høj</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Sådan har vi målt: fra Shopifys Subscription vs one-time sales-rapport, 101 abonnementsordrer til en værdi af 66,033 SEK på 90 dage (0.2% af salget). Vi har ikke Recharge-adgang, så aktive abonnenter, churn og MRR er ikke synlige. Mulighed: ved beskedne 3 til 5% af salget ville abonnementet være ~1,0 til 1,8M SEK i tilbagevendende omsætning pr. kvartal. Løftestangen: føj en abonnementsmulighed til de bedst sælgende kasser og gør den synlig på flere produktsider.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Produktsider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Kassesider slår enkeltvinssider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Sammenlignet side for side lægger kasseproduktsider i kurv ved 16.4% og giver anslået ~80 SEK pr. besøg, et godt stykke over enkeltvinssider (13.3%, ~62 SEK). En mere retfærdig test end forside eller kollektion, og den favoriserer stadig kassen som det bedre første køb.</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PRODUKTSIDE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NÅEDE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ANSLÅET RPV / BESØG</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Kassesider (gennemsnit af 336)</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Enkeltvinssider (gennemsnit af 1,894)</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Anslået RPV pr. besøg = sidens andel der nåede checkout x butikkens reelle ordrerate (38,306 ordrer / 30,200 checkout-sessioner) x 868 AOV; butikkens samlede RPV er 99 SEK, og kassesider kører sandsynligvis højere på reel ordreværdi, så dette er konservativt. Bemærk at premium enkeltflasker også konverterer godt (Carapaia magnum når 10.9%), en sekundær løftestang ved siden af kasserne.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Det ene GA4-slide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denne audit bruger Shopify, ikke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I samme periode registrerer GA4 kun cirka en tredjedel af forretningen. Den oppuster også sessioner med skrald. Derfor kommer hvert tal i denne præsentation fra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SAMME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(FACIT)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Bruttoomsætning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Sessioner</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overvurderer</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underregistrerer ordrer (Cookiebot-samtykkeafvisning, tab af attribution i Facebooks in-app-browser, 4 parallelle GA4-ejendomme), mens den overtæller sessioner med bot- og prefetch-støj, så den både skjuler omsætning og udvander konverteringsraten. Løsning: server side-GTM + Meta server side-sporing + én GA4. Indtil da er Shopify kilden til sandheden, og annonceplatformene byder på en tredjedel af signalet.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Når Sverige køber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Tirsdag og onsdag fører på ordrer; lørdag er svagest. Et lille budgetskift mod midt på ugen er værd at teste.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OMSÆTNING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Tirsdag</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Onsdag</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Søndag</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Mandag</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Torsdag</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Fredag</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Lørdag</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Kundens stemme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ud af 5 på 5,985 Trustpilot-anmeldelser. Vi læste 300 ordret for at finde, hvad der driver købet, og hvad der bryder tilliden.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Verificeret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Et elsket brand med en skarp hale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af anmeldelserne ligger på 4 eller 5 stjerner. Den lille negative hale er stærkt koncentreret om ét problem, hvilket gør den meget håndterbar.</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Vurderingsfordeling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Hurtig levering, når den virker</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Nemt at bestille, glat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Pris og værdi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Kærlighed til discovery-kasser</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Vinkvalitet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Temaprocenter gælder inden for de udvalgte anmeldelser, ikke butiksdækkende rater. De officielle totaler (4.7, 5,985, fordeling) er Trustpilots egne.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folk køber (med deres egne ord)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Denne tekst lever allerede i jeres anmeldelser. Den er stærkere end nogen marketinglinje, fordi det er kunden, der sætter værdien op mod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Glat, nemt, god værdi, gode vine. Og ingen begrænsede åbningstider at forholde sig til.</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Færdigsammensatte blandede kasser giver en reel chance for at finde nye favoritter, man ellers ville gå glip af.</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Dejligt at prøve vine fra mindre kendte vingårde til overkommelige priser.</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Meget gode alkoholfrie muligheder, både hvid og mousserende. Et nicheagtigt, men loyalt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Kerneproblemet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bryder tilliden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Forsiden lover levering på 1 til 3 dage 8 steder. Kunder rapporterer gentagne gange 7 til 16 dage. Dette ene gab driver hele den negative hale.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Sitet siger 1-3 dage. Ventede 11 dage uden ETA. Var skeptisk, men prøvede. Første og sidste gang.</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Vildledende markedsføring. Levering er aldrig de 1-3 dage, sitet hævder. Anden gang for sent før en stor fest.</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Gode priser og ok vine, men et stort problem med leveringstid. Lover 1-3 dage, men det er nærmere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Skulle ankomme 17-22, udskudt til 23, derefter aflyst 5 minutter før levering. Alkohol kræver, at nogen er hjemme.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af de udvalgte klager nævner levering. 31% henviser til det brudte "1-3 dagar"-løfte. 23% beskriver problemet med at være hjemme / aflyst tidsvindue. Flere er genkøbere, der falder fra udelukkende på grund af levering.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Sekundære friktioner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Kvalitetstvivl og robotservice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mindre, men omdømmemæssigt skarpe temaer, som en stærkere produktside og et hurtigere menneskeligt svar ville neutralisere.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Købte 12 såkaldte kvalitetsvine. Flere knap drikkelige og værre end Systembolagets budget. Hævdede 57% rabat.</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Vinene smager som saft. Underminerer "kvalitetsviner"-positioneringen. 14% af klagerne nævner smag.</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Kundeservice er et automatisk AI-svar, der undskylder og noterer feedbacken. 38% af klagerne nævner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En flaske var beskadiget, løst hurtigt. God e-mailopfølgning. Når service er hurtig, bliver den en grund til 5 stjerner.</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Påstanden om 57% rabat på vine, der er vurderet under Systembolagets budget, er også en svensk prismarkedsføringsrisiko. Kontrollér, at før-priserne er reelle referencepriser.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Den største tøven før købet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Du kan ikke smage før du køber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 er den største tøven ved onlinevin. Alle kan lide noget forskelligt (tørt eller sødt, let eller fyldigt, frugtigt eller bittert), og ingen kan smage før de køber. Når smagen er et gamble, tøver folk, falder tilbage på pris og vælger ofte en vin, de ikke nyder, og giver så butikken skylden. Vis smagen tydeligt fra start, og hver køber vælger en vin, de faktisk vil elske.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Problemet, i jeres egne anmeldelser</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At købe i blinde fører til den forkerte flaske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af klagerne handler om smag. En boks med 12 ukendte vine er et tillidsspring, så pris og rabat bliver det eneste, man kan gå efter. Når vinen ikke matcher det, nogen forventede, føler de sig skuffede, selv når det er en god vin. Denne køber ville have noget tørrere. Med en simpel smagsprofil ville de have valgt en anden vin og været tilfredse.</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Løsningen: en smagsprofil på hver vin og kasse</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Vis smagen før købet</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Den indholdsrettelse med størst løftestang på en vin-produktside. En smagsprofil (tørt til sødt, let til fyldigt, enkle smagsnoter, den Vivino-score I allerede har, og madparring), plus en kort "hitta din smak" smagsmatch-quiz, gør en blind boks til et informeret valg. Hver køber vælger selv den stil, de kan lide, hvilket løfter læg i kurv, driver boks-stigen og skærer ned på både "smakar som saft"-klagerne og de returneringer, de forårsager.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Tillidsligningen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 svensk onlinealkohol afgør to løftestænger det første køb: er det lovligt, og kommer det frem. dittvin er tavs om det første og upålidelig på det andet.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Markedskontekst · Størst løftestang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Ingen fortalte svenskeren, at det er lovligt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Sverige driver Systembolaget-monopolet. dittvin sender lovligt som grænseoverskridende dansk privatimportør (Vinhuset ApS). Det forklares aldrig, så tvivlen fylder tomrummet.</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dittvin gør i dag</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Tavshed om lovlighed</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Ingen omtale af Systembolaget, privatimport, svensk alkoholskat eller at moms er inkluderet. Den danske operatørs identitet er begravet i footeren. De ægte aktiver (en 4.7 Trustpilot, prismedaljer, Løvens Hule-tv-opbakning) ligger langt fra tvivlspunktet.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den bedste konkurrent gør</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siger det ligeud</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skaber tryghed med "Alla priser inkl. svensk alkoholskatt &amp; moms." Winefinder, Winefamly og Supervin viser også Trygg E-handel-tillidsmærket. dittvin viser intet af det.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Strategi</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Tre overbevisninger, der skal nedbrydes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 svensk førstegangskøber bærer på disse. Hver især har et konkret, dokumenteret modsvar, som dittvin allerede har til rådighed.</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"At købe vin privat i Sverige er måske ulovligt eller lyssky."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Nedbryd den med en lovlighedsblok i klart sprog: lovlig dansk privatimport, aldersverificeret, Vinhuset ApS nævnt, skat og moms inkluderet, og beviset 4.7 på 5,985 Trustpilot placeret ved tøvepunktet.</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 leverer ikke til tiden."</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Dette er den reelle overbevisning, der driver den negative hale. Nedbryd den ved at rette løftet, ikke vinen. Erstat "1-3 dagar" med en ærlig, ordrespecifik ETA og proaktive statusopdateringer, og lad kunderne vælge et leveringsvindue.</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"'Kvalitetsvinene' er bare billig, sød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Knus den med rigtige specifikationer pr. vin på box-produktsider: drue, region, en skala fra tørt til sødt og den Vivino-score, I allerede har. En boks bør ikke være et blindt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Ekspertgennemgang</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Indgang, forside, kollektion og produktside, gennemgået på den mobiloplevelse, der bærer 86% af butikken. Hver påstand er verificeret med screenshot.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Indgang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 mure før et eneste produkt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Kolde Facebook-besøgende (41% af trafikken) lander og møder en lovpligtig alderskontrol oven på en lykkehjuls-popup til e-mail, før de ser en eneste vin.</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To popups i træk. </a:t>
            </a:r>
            <a:r>
              <a:rPr sz="1100" b="0" i="0">
                <a:solidFill>
                  <a:srgbClr val="CCCCCC"/>
                </a:solidFill>
                <a:latin typeface="Helvetica Neue"/>
              </a:rPr>
              <a:t>Alderskontrollen ("bekräfta att du är 20 år eller äldre") er lovpligtig, men en "Snurra på hjulet" lykkehjuls-popup lægger sig oven på. Folk skal lukke to popups, før de ser en eneste vin.</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Kombinér dem til ét trin, og husk valget med en cookie, så gentagne besøgende ikke bliver spurgt igen.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Gør aldersbekræftelsen til et tillidsøjeblik. </a:t>
            </a:r>
            <a:r>
              <a:rPr sz="1100" b="0" i="0">
                <a:solidFill>
                  <a:srgbClr val="CCCCCC"/>
                </a:solidFill>
                <a:latin typeface="Helvetica Neue"/>
              </a:rPr>
              <a:t>Lige nu blokerer den kun. Tilføj én linje: lovlig dansk import, moms inkluderet. Det er det perfekte sted at besvare lovlighedsspørgsmålet.</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Emojitung promobar. </a:t>
            </a:r>
            <a:r>
              <a:rPr sz="1100" b="0" i="0">
                <a:solidFill>
                  <a:srgbClr val="CCCCCC"/>
                </a:solidFill>
                <a:latin typeface="Helvetica Neue"/>
              </a:rPr>
              <a:t>Topbaren (fest- og ur-emoji) kolliderer med et "kvalitetsviner"-premiumløfte på et vinbrand.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og Klaviyo til stede. </a:t>
            </a:r>
            <a:r>
              <a:rPr sz="1100" b="0" i="0">
                <a:solidFill>
                  <a:srgbClr val="CCCCCC"/>
                </a:solidFill>
                <a:latin typeface="Helvetica Neue"/>
              </a:rPr>
              <a:t>Support- og opsamlingsværktøjer er aktive. Problemet er stabling og rækkefølge, ikke fravær.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Forside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Stærkt fundament, to reelle revner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Tydelig kategorinavigation og kassekaruseller giver en afvisningsprocent på 24.9%. Men gennemgående rabatter og ødelagte sektioner underminerer premiumfortællingen.</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Tydelige kategoricirkler. </a:t>
            </a:r>
            <a:r>
              <a:rPr sz="1100" b="0" i="0">
                <a:solidFill>
                  <a:srgbClr val="CCCCCC"/>
                </a:solidFill>
                <a:latin typeface="Helvetica Neue"/>
              </a:rPr>
              <a:t>Rött, Vitt, Mousserande, Rosé, Gin, Vinlådor, Erbjudanden, Abonnemang, Alkoholfri 0%. Nem orientering, med Vivino-badges på produkter.</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Alt er på udsalg. </a:t>
            </a:r>
            <a:r>
              <a:rPr sz="1100" b="0" i="0">
                <a:solidFill>
                  <a:srgbClr val="CCCCCC"/>
                </a:solidFill>
                <a:latin typeface="Helvetica Neue"/>
              </a:rPr>
              <a:t>Hvert produkt bærer et rødt rabatmærke (-45%, -51%) plus "Spara X kr". Permanent rabat udhuler urgens og virker generisk, ikke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Reservér rabat til reelle tilbud. Fremhæv udmærkelser og Vivino-scorer som beviset i stedet.</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Sektioner vises inkonsekvent. </a:t>
            </a:r>
            <a:r>
              <a:rPr sz="1100" b="0" i="0">
                <a:solidFill>
                  <a:srgbClr val="CCCCCC"/>
                </a:solidFill>
                <a:latin typeface="Helvetica Neue"/>
              </a:rPr>
              <a:t>"Upplev både nya..." og "Kunskap och inspiration" indlæstes som tomme bånd på ét skærmbillede og udfyldt på det næste, i tråd med de 90+ websitefejl.</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Ustabile blokke til produktpræsentation. Ret fejlene, og bekræft, at sektioner renderer pålideligt på mobil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Tillidsaktiver begravet. </a:t>
            </a:r>
            <a:r>
              <a:rPr sz="1100" b="0" i="0">
                <a:solidFill>
                  <a:srgbClr val="CCCCCC"/>
                </a:solidFill>
                <a:latin typeface="Helvetica Neue"/>
              </a:rPr>
              <a:t>Linjen om den danske operatør og Løvens Hule-opbakningen ligger kun i footeren, langt fra der, hvor tvivlen opstår.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Kollektion og produktside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God produktside, manglende tryghed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Produktsiden har en sticky læg i kurv, social proof og en bjælke med gratis fragt, men den fortæller aldrig køberne, at ordren er lovlig, siger næsten intet om, hvordan hver vin smager, og lækker dansk tekst.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Solide fundamenter. </a:t>
            </a:r>
            <a:r>
              <a:rPr sz="1100" b="0" i="0">
                <a:solidFill>
                  <a:srgbClr val="CCCCCC"/>
                </a:solidFill>
                <a:latin typeface="Helvetica Neue"/>
              </a:rPr>
              <a:t>Klæbende læg i kurv, overstreget pris, "+75.000 vinälskare" social proof, Trustpilot- og prisbadges og en progressbar for fri fragt.</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Ingen lovlighedsblok ved beslutningspunktet. </a:t>
            </a:r>
            <a:r>
              <a:rPr sz="1100" b="0" i="0">
                <a:solidFill>
                  <a:srgbClr val="CCCCCC"/>
                </a:solidFill>
                <a:latin typeface="Helvetica Neue"/>
              </a:rPr>
              <a:t>Netop dér, hvor KRAN og Winefamly skaber tryghed, forbliver dittvin tavs. Det undertrykker de 64%, der ser, men aldrig lægger i kurv.</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Du kan ikke se, hvordan vinen smager. </a:t>
            </a:r>
            <a:r>
              <a:rPr sz="1100" b="0" i="0">
                <a:solidFill>
                  <a:srgbClr val="CCCCCC"/>
                </a:solidFill>
                <a:latin typeface="Helvetica Neue"/>
              </a:rPr>
              <a:t>En boks med 12 flasker viser kun 3 billeder og ingen smagsnoter for vinene indeni: ingen drue, ingen sødme eller fylde, ingen madparring og ingen Vivino-rating. Folk bliver bedt om at købe uden at vide, hvad de faktisk skal drikke.</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Kunder spørger direkte: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Danske udslip og fragtforbehold. </a:t>
            </a:r>
            <a:r>
              <a:rPr sz="1100" b="0" i="0">
                <a:solidFill>
                  <a:srgbClr val="CCCCCC"/>
                </a:solidFill>
                <a:latin typeface="Helvetica Neue"/>
              </a:rPr>
              <a:t>Sidetitlen lyder "Kjøb hos Dittvin.se" (dansk), og fri fragt er stille begrænset til fragtføreren Airmee, hvilket forvirrer købere, der så ser et Bring-gebyr.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Styrker, der skal beskyttes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Dette er en stærk butik. Disse aktiver bør bevares og forstærkes, ikke røres under optimeringen.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Kasseledet sortiment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Vinkasseformatet er både den bedste konverter (5.54%) og en ægte kundekærlighed ("hitta nya favoriter"). En sjælden enighed mellem produkt og data.</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på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En dyb, troværdig anmeldelsesbase. Underudnyttet på sitet, men et stærkt bevisaktiv mod indvendingerne om lovlighed og kvalitet.</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Lav afvisning på forsiden</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afvisning på forsidelandingen er fremragende. Toppen af oplevelsen virker; lækkene ligger dybere i tragten.</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Klæbende ATC og bar for fri fragt</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Mobilens købsboksmekanik er allerede på plads, inklusive en progressbar i kurven mod fri fragt.</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Reelle differentiatorer</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Abonnement plus kasser, alkoholfrit sortiment, prismedaljer og en tv-vist Løvens Hule-opbakning, som konkurrenterne mangler.</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Stærke ejede kanaler</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Klaviyo-e-mail driver allerede 16% af ordrerne ved en CVR på 2.55%. En klar løftestang til at reducere afhængigheden af paid.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Konkurrentlandskab</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Fem verificerede konkurrenter plus monopolet. Hver konkurrentside blev hentet før enhver påstand. Mønsteret er tydeligt: alle skaber tryghed om lovlighed undtagen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Verificeret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i tabellen om nødvendigt. "Ikke vist" betyder, at signalet manglede på den hentede side, hvilket i sig selv er et fund. Den Sidste Flaske er dittvins danske markedsreference (samme kasse- og klubmodel); den vinder på gratis fragt uden minimum og en 100% tilfredshedsgaranti, som dittvin begge mangler.</a:t>
            </a:r>
          </a:p>
        </p:txBody>
      </p:sp>
      <p:graphicFrame>
        <p:nvGraphicFramePr>
          <p:cNvPr id="10" name="Table 9"/>
          <p:cNvGraphicFramePr>
            <a:graphicFrameLocks noGrp="1"/>
          </p:cNvGraphicFramePr>
          <p:nvPr/>
        </p:nvGraphicFramePr>
        <p:xfrm>
          <a:off x="457200" y="2505456"/>
          <a:ext cx="11274547" cy="4023360"/>
        </p:xfrm>
        <a:graphic>
          <a:graphicData uri="http://schemas.openxmlformats.org/drawingml/2006/table">
            <a:tbl>
              <a:tblPr>
                <a:tableStyleId>{2D5ABB26-0587-4C30-8999-92F81FD0307C}</a:tableStyleId>
              </a:tblPr>
              <a:tblGrid>
                <a:gridCol w="2406926"/>
                <a:gridCol w="1266803"/>
                <a:gridCol w="1266803"/>
                <a:gridCol w="1266803"/>
                <a:gridCol w="1266803"/>
                <a:gridCol w="1266803"/>
                <a:gridCol w="1266803"/>
                <a:gridCol w="1266803"/>
              </a:tblGrid>
              <a:tr h="365760">
                <a:tc>
                  <a:txBody>
                    <a:bodyPr wrap="square"/>
                    <a:lstStyle/>
                    <a:p>
                      <a:pPr algn="l"/>
                      <a:r>
                        <a:rPr sz="900" b="1" spc="100">
                          <a:solidFill>
                            <a:srgbClr val="999999"/>
                          </a:solidFill>
                          <a:latin typeface="Helvetica Neue"/>
                        </a:rPr>
                        <a:t>FUNKTION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SIDSTE FLASKE (DK)</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Lovligheds- / skattebudskab</a:t>
                      </a:r>
                    </a:p>
                  </a:txBody>
                  <a:tcPr marL="73152" marR="73152" marT="18288" marB="18288" anchor="ctr">
                    <a:solidFill>
                      <a:srgbClr val="000000"/>
                    </a:solidFill>
                  </a:tcPr>
                </a:tc>
                <a:tc>
                  <a:txBody>
                    <a:bodyPr wrap="square"/>
                    <a:lstStyle/>
                    <a:p>
                      <a:pPr algn="l"/>
                      <a:r>
                        <a:rPr sz="900" b="0">
                          <a:solidFill>
                            <a:srgbClr val="EF4444"/>
                          </a:solidFill>
                          <a:latin typeface="Helvetica Neue"/>
                        </a:rPr>
                        <a:t>Ingen</a:t>
                      </a:r>
                    </a:p>
                  </a:txBody>
                  <a:tcPr marL="73152" marR="73152" marT="18288" marB="18288" anchor="ctr">
                    <a:solidFill>
                      <a:srgbClr val="000000"/>
                    </a:solidFill>
                  </a:tcPr>
                </a:tc>
                <a:tc>
                  <a:txBody>
                    <a:bodyPr wrap="square"/>
                    <a:lstStyle/>
                    <a:p>
                      <a:pPr algn="l"/>
                      <a:r>
                        <a:rPr sz="900" b="0">
                          <a:solidFill>
                            <a:srgbClr val="F59E0B"/>
                          </a:solidFill>
                          <a:latin typeface="Helvetica Neue"/>
                        </a:rPr>
                        <a:t>Trygg-mærke</a:t>
                      </a:r>
                    </a:p>
                  </a:txBody>
                  <a:tcPr marL="73152" marR="73152" marT="18288" marB="18288" anchor="ctr">
                    <a:solidFill>
                      <a:srgbClr val="000000"/>
                    </a:solidFill>
                  </a:tcPr>
                </a:tc>
                <a:tc>
                  <a:txBody>
                    <a:bodyPr wrap="square"/>
                    <a:lstStyle/>
                    <a:p>
                      <a:pPr algn="l"/>
                      <a:r>
                        <a:rPr sz="900" b="0">
                          <a:solidFill>
                            <a:srgbClr val="22C55E"/>
                          </a:solidFill>
                          <a:latin typeface="Helvetica Neue"/>
                        </a:rPr>
                        <a:t>Skat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oplyst</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Er kanalen</a:t>
                      </a:r>
                    </a:p>
                  </a:txBody>
                  <a:tcPr marL="73152" marR="73152" marT="18288" marB="18288" anchor="ctr">
                    <a:solidFill>
                      <a:srgbClr val="000000"/>
                    </a:solidFill>
                  </a:tcPr>
                </a:tc>
                <a:tc>
                  <a:txBody>
                    <a:bodyPr wrap="square"/>
                    <a:lstStyle/>
                    <a:p>
                      <a:pPr algn="l"/>
                      <a:r>
                        <a:rPr sz="900" b="0">
                          <a:solidFill>
                            <a:srgbClr val="EFEEEE"/>
                          </a:solidFill>
                          <a:latin typeface="Helvetica Neue"/>
                        </a:rPr>
                        <a:t>N/A, DK-marked</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c>
                  <a:txBody>
                    <a:bodyPr wrap="square"/>
                    <a:lstStyle/>
                    <a:p>
                      <a:pPr algn="l"/>
                      <a:r>
                        <a:rPr sz="900" b="0">
                          <a:solidFill>
                            <a:srgbClr val="EFEEEE"/>
                          </a:solidFill>
                          <a:latin typeface="Helvetica Neue"/>
                        </a:rPr>
                        <a:t>N/A (DK), e-mærke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Fragtpris / hastighed vist</a:t>
                      </a:r>
                    </a:p>
                  </a:txBody>
                  <a:tcPr marL="73152" marR="73152" marT="18288" marB="18288" anchor="ctr">
                    <a:solidFill>
                      <a:srgbClr val="000000"/>
                    </a:solidFill>
                  </a:tcPr>
                </a:tc>
                <a:tc>
                  <a:txBody>
                    <a:bodyPr wrap="square"/>
                    <a:lstStyle/>
                    <a:p>
                      <a:pPr algn="l"/>
                      <a:r>
                        <a:rPr sz="900" b="0">
                          <a:solidFill>
                            <a:srgbClr val="F59E0B"/>
                          </a:solidFill>
                          <a:latin typeface="Helvetica Neue"/>
                        </a:rPr>
                        <a:t>Vag, kun Airmee</a:t>
                      </a:r>
                    </a:p>
                  </a:txBody>
                  <a:tcPr marL="73152" marR="73152" marT="18288" marB="18288" anchor="ctr">
                    <a:solidFill>
                      <a:srgbClr val="000000"/>
                    </a:solidFill>
                  </a:tcPr>
                </a:tc>
                <a:tc>
                  <a:txBody>
                    <a:bodyPr wrap="square"/>
                    <a:lstStyle/>
                    <a:p>
                      <a:pPr algn="l"/>
                      <a:r>
                        <a:rPr sz="900" b="0">
                          <a:solidFill>
                            <a:srgbClr val="F59E0B"/>
                          </a:solidFill>
                          <a:latin typeface="Helvetica Neue"/>
                        </a:rPr>
                        <a:t>Fragtførere nævnt</a:t>
                      </a:r>
                    </a:p>
                  </a:txBody>
                  <a:tcPr marL="73152" marR="73152" marT="18288" marB="18288" anchor="ctr">
                    <a:solidFill>
                      <a:srgbClr val="000000"/>
                    </a:solidFill>
                  </a:tcPr>
                </a:tc>
                <a:tc>
                  <a:txBody>
                    <a:bodyPr wrap="square"/>
                    <a:lstStyle/>
                    <a:p>
                      <a:pPr algn="l"/>
                      <a:r>
                        <a:rPr sz="900" b="0">
                          <a:solidFill>
                            <a:srgbClr val="F59E0B"/>
                          </a:solidFill>
                          <a:latin typeface="Helvetica Neue"/>
                        </a:rPr>
                        <a:t>Hjemmelevering</a:t>
                      </a:r>
                    </a:p>
                  </a:txBody>
                  <a:tcPr marL="73152" marR="73152" marT="18288" marB="18288" anchor="ctr">
                    <a:solidFill>
                      <a:srgbClr val="000000"/>
                    </a:solidFill>
                  </a:tcPr>
                </a:tc>
                <a:tc>
                  <a:txBody>
                    <a:bodyPr wrap="square"/>
                    <a:lstStyle/>
                    <a:p>
                      <a:pPr algn="l"/>
                      <a:r>
                        <a:rPr sz="900" b="0">
                          <a:solidFill>
                            <a:srgbClr val="F59E0B"/>
                          </a:solidFill>
                          <a:latin typeface="Helvetica Neue"/>
                        </a:rPr>
                        <a:t>Ikke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Fra 29 kr, 2-5 dage</a:t>
                      </a:r>
                    </a:p>
                  </a:txBody>
                  <a:tcPr marL="73152" marR="73152" marT="18288" marB="18288" anchor="ctr">
                    <a:solidFill>
                      <a:srgbClr val="000000"/>
                    </a:solidFill>
                  </a:tcPr>
                </a:tc>
                <a:tc>
                  <a:txBody>
                    <a:bodyPr wrap="square"/>
                    <a:lstStyle/>
                    <a:p>
                      <a:pPr algn="l"/>
                      <a:r>
                        <a:rPr sz="900" b="0">
                          <a:solidFill>
                            <a:srgbClr val="F59E0B"/>
                          </a:solidFill>
                          <a:latin typeface="Helvetica Neue"/>
                        </a:rPr>
                        <a:t>Flere</a:t>
                      </a:r>
                    </a:p>
                  </a:txBody>
                  <a:tcPr marL="73152" marR="73152" marT="18288" marB="18288" anchor="ctr">
                    <a:solidFill>
                      <a:srgbClr val="000000"/>
                    </a:solidFill>
                  </a:tcPr>
                </a:tc>
                <a:tc>
                  <a:txBody>
                    <a:bodyPr wrap="square"/>
                    <a:lstStyle/>
                    <a:p>
                      <a:pPr algn="l"/>
                      <a:r>
                        <a:rPr sz="900" b="0">
                          <a:solidFill>
                            <a:srgbClr val="EFEEEE"/>
                          </a:solidFill>
                          <a:latin typeface="Helvetica Neue"/>
                        </a:rPr>
                        <a:t>Gratis, intet minimum</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Abonnement</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Kasser</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Release-klub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EEEE"/>
                          </a:solidFill>
                          <a:latin typeface="Helvetica Neue"/>
                        </a:rPr>
                        <a:t>Ja, Vinklub</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Vinkasser / kasser</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c>
                  <a:txBody>
                    <a:bodyPr wrap="square"/>
                    <a:lstStyle/>
                    <a:p>
                      <a:pPr algn="l"/>
                      <a:r>
                        <a:rPr sz="900" b="0">
                          <a:solidFill>
                            <a:srgbClr val="EFEEEE"/>
                          </a:solidFill>
                          <a:latin typeface="Helvetica Neue"/>
                        </a:rPr>
                        <a:t>Ja, Smagekasser</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Anmeldelser fremhævet</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medaljer</a:t>
                      </a:r>
                    </a:p>
                  </a:txBody>
                  <a:tcPr marL="73152" marR="73152" marT="18288" marB="18288" anchor="ctr">
                    <a:solidFill>
                      <a:srgbClr val="0B0B0B"/>
                    </a:solidFill>
                  </a:tcPr>
                </a:tc>
                <a:tc>
                  <a:txBody>
                    <a:bodyPr wrap="square"/>
                    <a:lstStyle/>
                    <a:p>
                      <a:pPr algn="l"/>
                      <a:r>
                        <a:rPr sz="900" b="0">
                          <a:solidFill>
                            <a:srgbClr val="22C55E"/>
                          </a:solidFill>
                          <a:latin typeface="Helvetica Neue"/>
                        </a:rPr>
                        <a:t>Kritiker + stjerner</a:t>
                      </a:r>
                    </a:p>
                  </a:txBody>
                  <a:tcPr marL="73152" marR="73152" marT="18288" marB="18288" anchor="ctr">
                    <a:solidFill>
                      <a:srgbClr val="0B0B0B"/>
                    </a:solidFill>
                  </a:tcPr>
                </a:tc>
                <a:tc>
                  <a:txBody>
                    <a:bodyPr wrap="square"/>
                    <a:lstStyle/>
                    <a:p>
                      <a:pPr algn="l"/>
                      <a:r>
                        <a:rPr sz="900" b="0">
                          <a:solidFill>
                            <a:srgbClr val="F59E0B"/>
                          </a:solidFill>
                          <a:latin typeface="Helvetica Neue"/>
                        </a:rPr>
                        <a:t>Ikke vist</a:t>
                      </a:r>
                    </a:p>
                  </a:txBody>
                  <a:tcPr marL="73152" marR="73152" marT="18288" marB="18288" anchor="ctr">
                    <a:solidFill>
                      <a:srgbClr val="0B0B0B"/>
                    </a:solidFill>
                  </a:tcPr>
                </a:tc>
                <a:tc>
                  <a:txBody>
                    <a:bodyPr wrap="square"/>
                    <a:lstStyle/>
                    <a:p>
                      <a:pPr algn="l"/>
                      <a:r>
                        <a:rPr sz="900" b="0">
                          <a:solidFill>
                            <a:srgbClr val="F59E0B"/>
                          </a:solidFill>
                          <a:latin typeface="Helvetica Neue"/>
                        </a:rPr>
                        <a:t>Pressecitater</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Trustpilot-embed</a:t>
                      </a:r>
                    </a:p>
                  </a:txBody>
                  <a:tcPr marL="73152" marR="73152" marT="18288" marB="18288" anchor="ctr">
                    <a:solidFill>
                      <a:srgbClr val="0B0B0B"/>
                    </a:solidFill>
                  </a:tcPr>
                </a:tc>
                <a:tc>
                  <a:txBody>
                    <a:bodyPr wrap="square"/>
                    <a:lstStyle/>
                    <a:p>
                      <a:pPr algn="l"/>
                      <a:r>
                        <a:rPr sz="900" b="0">
                          <a:solidFill>
                            <a:srgbClr val="EF4444"/>
                          </a:solidFill>
                          <a:latin typeface="Helvetica Neue"/>
                        </a:rPr>
                        <a:t>Ingen</a:t>
                      </a:r>
                    </a:p>
                  </a:txBody>
                  <a:tcPr marL="73152" marR="73152" marT="18288" marB="18288" anchor="ctr">
                    <a:solidFill>
                      <a:srgbClr val="0B0B0B"/>
                    </a:solidFill>
                  </a:tcPr>
                </a:tc>
                <a:tc>
                  <a:txBody>
                    <a:bodyPr wrap="square"/>
                    <a:lstStyle/>
                    <a:p>
                      <a:pPr algn="l"/>
                      <a:r>
                        <a:rPr sz="900" b="0">
                          <a:solidFill>
                            <a:srgbClr val="EFEEEE"/>
                          </a:solidFill>
                          <a:latin typeface="Helvetica Neue"/>
                        </a:rPr>
                        <a:t>Trustpilot 4,6 + Vivino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Alkoholfrit sortiment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EEEE"/>
                          </a:solidFill>
                          <a:latin typeface="Helvetica Neue"/>
                        </a:rPr>
                        <a:t>Ja</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Filtrering / søgning</a:t>
                      </a:r>
                    </a:p>
                  </a:txBody>
                  <a:tcPr marL="73152" marR="73152" marT="18288" marB="18288" anchor="ctr">
                    <a:solidFill>
                      <a:srgbClr val="0B0B0B"/>
                    </a:solidFill>
                  </a:tcPr>
                </a:tc>
                <a:tc>
                  <a:txBody>
                    <a:bodyPr wrap="square"/>
                    <a:lstStyle/>
                    <a:p>
                      <a:pPr algn="l"/>
                      <a:r>
                        <a:rPr sz="900" b="0">
                          <a:solidFill>
                            <a:srgbClr val="F59E0B"/>
                          </a:solidFill>
                          <a:latin typeface="Helvetica Neue"/>
                        </a:rPr>
                        <a:t>Basal</a:t>
                      </a:r>
                    </a:p>
                  </a:txBody>
                  <a:tcPr marL="73152" marR="73152" marT="18288" marB="18288" anchor="ctr">
                    <a:solidFill>
                      <a:srgbClr val="0B0B0B"/>
                    </a:solidFill>
                  </a:tcPr>
                </a:tc>
                <a:tc>
                  <a:txBody>
                    <a:bodyPr wrap="square"/>
                    <a:lstStyle/>
                    <a:p>
                      <a:pPr algn="l"/>
                      <a:r>
                        <a:rPr sz="900" b="0">
                          <a:solidFill>
                            <a:srgbClr val="22C55E"/>
                          </a:solidFill>
                          <a:latin typeface="Helvetica Neue"/>
                        </a:rPr>
                        <a:t>Facetteret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22C55E"/>
                          </a:solidFill>
                          <a:latin typeface="Helvetica Neue"/>
                        </a:rPr>
                        <a:t>Madmatch</a:t>
                      </a:r>
                    </a:p>
                  </a:txBody>
                  <a:tcPr marL="73152" marR="73152" marT="18288" marB="18288" anchor="ctr">
                    <a:solidFill>
                      <a:srgbClr val="0B0B0B"/>
                    </a:solidFill>
                  </a:tcPr>
                </a:tc>
                <a:tc>
                  <a:txBody>
                    <a:bodyPr wrap="square"/>
                    <a:lstStyle/>
                    <a:p>
                      <a:pPr algn="l"/>
                      <a:r>
                        <a:rPr sz="900" b="0">
                          <a:solidFill>
                            <a:srgbClr val="EFEEEE"/>
                          </a:solidFill>
                          <a:latin typeface="Helvetica Neue"/>
                        </a:rPr>
                        <a:t>Kategori</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Mulighed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gab, én stor kile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Luk gabene, og gør så det største til en differentiator, ingen konkurrent ejer godt.</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Tag ejerskab over lovligheden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Kategoriens største indvending, og kun KRAN besvarer den (begravet i tekst). En venlig, synlig "hvorfor dette er lovligt"-sektion ville berolige bedre end alle andre.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Tilføj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Tre af fire direkte konkurrenter viser det svenske tillidsmærke. dittvin læner sig op ad en dansk tv-anbefaling, der bærer mindre "sikker svensk butik"-signal.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Gør levering konkret</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oplyser "fra 29 kr, fri over 999, 2-5 dage". dittvin siger kun "snabb" med en forbeholdt 695 kr Airmee-grænse. Konkret slår vagt.</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Lokalisér fuldt til svensk</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Danske produkttyper og sidetitler siver igennem ("Kjøb", "Smagekasser"). Det virker usvensk og skader både tillid og synlighed.</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Fremhæv beviser, ikke kun rabatter</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prismedaljer, Vivino-scorer og 4.7 Trustpilot, men læner sig på en generel 10% rabat. Ej "kuraterede vine til ærlige priser, med beviset".</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Fastholdelsesvolden, konkurrenterne mangler</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allerede abonnement plus kasser. Winefinder og Supervin har slet intet abonnement. Ej "den tilbagevendende discovery-kasse for helt almindelige svenskere".</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Teknisk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Verificeret via live netværksopsamling, ikke en HTML-scanning. Alle tags er til stede, men konfigurationen er støjende og delvist forkert.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Teknisk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Rens data, før du stoler på dem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Alt affyres (GTM, GA4, Meta Pixel, Google Ads, Klaviyo, Clarity, Cookiebot). Problemet er redundans og én tydelig fejlkonfiguration.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Konvertering affyres på forsiden</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Et Google Ads-konverterings-tag (AW-16748333837) affyrer "en=conversion, value 1.43 SEK" ved indlæsning af forsiden. Hvert besøg logger en konvertering, forurener Ads-data og vildleder budgivning.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Høj effekt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Fire GA4-egenskaber på én gang</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Høj effekt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Døde og duplikerede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Ældre Universal Analytics (UA-234356383-1) ligger stadig i GTM (død siden 2023), og to Google Ads-konti affyres. Beskær for at undgå dobbelttælling.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Middel effekt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konsolfejl pr. indlæsning</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Hver side kaster 90 til 190 JS-fejl. Det er den sandsynlige årsag til de tomme forsidesektioner og en mistænkt i frafald ved checkout.</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Middel effekt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er allerede installeret</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(projekt v7fb9kby3w) er aktivt og indsamler session replays. I sidder på adfærdsdata, I ikke bruger. Giv dashboardadgang.</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Ingen indsats · Indsigt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Genvind "(not set)"-signalet</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side-GTM plus Meta server side-sporing og consent mode-modellering ville genvinde de 29% af sessionerne, der i dag går tabt, og give bedre data til den annoncekanal, I er afhængige af.</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Høj indsats · Høj effekt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Teknik · Hastighed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For mange tags gør butikken langsom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Butikken indlæser mange tredjeparts-tags og scripts på hver side. På mobil, hvor 86% af køberne er, gør al den ekstra vægt siden langsommere. Løsningen er smart tag-styring: fjern det, der ikke er nødvendigt, og kombinér resten.</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Ting der indlæses på forsiden</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En tung bunke tredjeparts-scripts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Fejl på hver side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Kodefejl der skal ryddes</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og Ads-tags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Hastighedsscore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Hastighedstesten ramte en daglig grænse; mål reel hastighed i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Hastighedstesten blev blokeret af en daglig grænse, så der er ingen 0 til 100-score her. Shopify-hastighedsscorer læses også lavere end virkeligheden, så behandl hastighed som basal hygiejne: skær tag-vægten ned, ryd fejlene, og spor derefter reel besøgshastighed i Clarity og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Nordstjernen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Omsætning pr. besøgende = konvertering x ordreværdi, forstærket af genkøb. Før vi kan vokse den, skal vi kunne se den. På Shopify-tal er her, hvor den står, og hvordan vi vokser den.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De rigtige tal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Omsætningsgrundlaget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omsætning pr. besøgende. Her er det reelle 90-dages grundlag, det ganges op fra, direkte fra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MÅLTAL (SHOPIFY,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VÆRDI</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kunder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Bruttosalg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ekskl. moms, rabatter, refunderinger</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Samlet salg inkl. moms + fragt</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opkrævet beløb</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Nettosalg</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indregnet omsætning</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brutto / ordrer</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cirka 135M SEK/år brutto, 165M inkl. moms. GA4 ville antyde cirka en tredjedel af det, og derfor er måling løftestang nummer et. RPV vokser ved at løfte konvertering (checkout), ordreværdi (vinkassestige) og genkøb (abonnement).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Ligningen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Konvertering x Ordreværdi</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Fire løftestænger flytter nordstjernen: trafikkvalitet, konvertering, ordreværdi og genkøb. De reelle tal, korrigeret mod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Reel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overvurderede den til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sessioner</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Rigtige ordrer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GA4-tallet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genkøbsmotoren kører</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brutto 33.3M / Shopify-sessioner 336,855 = ~99 SEK pr. session, cirka 2.7x Shopify-benchmarken. Løftestængerne med mest plads er checkout-konvertering og abonnementstilmeldinger; måling er det, der lader os styre dem.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GA4-rater + Shopify-omsætning · Retningsgivende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Konverteringsgabet for nye kunder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Nye besøgende er cirka dobbelt så mange som tilbagevendende, men de konverterer lavere og bidrager kun med en fjerdedel af omsætningen. At løfte nye kunders konvertering mod de tilbagevendendes rate er det største løft på både kort og lang sigt, og smagsklarhed er løftestangen.</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sp>
        <p:nvSpPr>
          <p:cNvPr id="11" name="Rounded Rectangle 10"/>
          <p:cNvSpPr/>
          <p:nvPr/>
        </p:nvSpPr>
        <p:spPr>
          <a:xfrm>
            <a:off x="79232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nye besøgende</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retningsgivende</a:t>
            </a:r>
          </a:p>
        </p:txBody>
      </p:sp>
      <p:sp>
        <p:nvSpPr>
          <p:cNvPr id="15" name="Rounded Rectangle 14"/>
          <p:cNvSpPr/>
          <p:nvPr/>
        </p:nvSpPr>
        <p:spPr>
          <a:xfrm>
            <a:off x="351266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tilbagevendende besøgende</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nye (GA4)</a:t>
            </a:r>
          </a:p>
        </p:txBody>
      </p:sp>
      <p:sp>
        <p:nvSpPr>
          <p:cNvPr id="19" name="Rounded Rectangle 18"/>
          <p:cNvSpPr/>
          <p:nvPr/>
        </p:nvSpPr>
        <p:spPr>
          <a:xfrm>
            <a:off x="623300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fra nye kunder</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af 43,7M</a:t>
            </a:r>
          </a:p>
        </p:txBody>
      </p:sp>
      <p:sp>
        <p:nvSpPr>
          <p:cNvPr id="23" name="Rounded Rectangle 22"/>
          <p:cNvSpPr/>
          <p:nvPr/>
        </p:nvSpPr>
        <p:spPr>
          <a:xfrm>
            <a:off x="895334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ordrer hvis gabet lukkes</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ordrer,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sporer færre køb end Shopify (cirka 31% af ordrerne), så læs tallene som retningsgivende; vi bruger raterne, ikke de absolutte tal, og gabet holder uanset undertællingen. Omsætningsfordelingen er fra Shopify (facit): nye kunder står for 26% af ordrerne og 25% af omsætningen. Løftestangen til at lukke gabet er at fjerne de største tøvepunkter for nye købere: smagsklarhed først, derefter tryghed om lovlighed og et troværdigt leveringsløfte. Hver ny kunde, der konverteres, forstærkes, fordi de bliver den tilbagevendende base, der allerede driver 75% af omsætningen.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AOV-motoren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Kasser er forretningen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Smagekasser udgør 76% af nettosalget til næsten fuld pris. Den realiserede samlede rabat er kun 3.4%, så de "-45%"-mærkater på sitet er teater, ikke tab af margin.</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ENHEDER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 AF NETTOSALG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GNS. PRIS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REALISERET RABAT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Smagekasser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Enkelte rødvinsflasker</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Premiumkasser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til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Abonnement (3 niveauer)</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ordrer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SKU'er (THE FANTINI BOX, XL Introlåda) = 26.5% af nettosalget. Top 30 SKU'er (6% af kataloget) = 80%. AOV-løftestangen er en boks-stige (flyt 567 SEK-køberen op til premium-niveauerne på 700 SEK+) plus vækst i de eksisterende abonnementstilmeldinger, ikke mere rabat.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Beviste vindere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RPV-sejre vi har leveret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 samme løftestænger som i denne roadmap, kørt som A/B-tests for andre EU-ecombrands. Kundenavne under NDA, hver eneste løftede omsætning pr. besøgende.</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(PÅ PRODUKTSIDEN)</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Tillidssektion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læg i kurv</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Visning af mængderabat</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Produkttillidsmærker</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Mængdevælger-badge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Redesign over folden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Seks A/B-tests EcomHouse kørte for andre EU-ecommercebrands (kundenavne under NDA), alle på produktsider og alle kørt til statistisk signifikans (86 til 96%). De matcher direkte denne roadmap: tillid, sticky læg i kurv og volumen- eller mængdetilbud. Hver eneste løftede omsætning pr. besøgende, den samme northstar vi optimerer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Sekventeret efter effekt og evidens. Ret tillid og lækagen i kurven først, derefter produktsiden og leveringsoplevelsen, så finpudsning og den tekniske infrastruktur.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RPV-vækstplanen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løftestænger, i rækkefølge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Prioriteret efter gearing på omsætning pr. besøgende. Måling først, fordi det multiplicerer hver anden løftestang og hver betalt krone.</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TILTAG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HVORFOR DET FLYTTER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INDSATS</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Måling</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side-GTM + Consent Mode-modellering + Meta server side-sporing; konsolidér til én GA4</a:t>
                      </a:r>
                    </a:p>
                  </a:txBody>
                  <a:tcPr marL="73152" marR="73152" marT="18288" marB="18288" anchor="ctr">
                    <a:solidFill>
                      <a:srgbClr val="000000"/>
                    </a:solidFill>
                  </a:tcPr>
                </a:tc>
                <a:tc>
                  <a:txBody>
                    <a:bodyPr wrap="square"/>
                    <a:lstStyle/>
                    <a:p>
                      <a:pPr algn="l"/>
                      <a:r>
                        <a:rPr sz="900" b="0">
                          <a:solidFill>
                            <a:srgbClr val="EFEEEE"/>
                          </a:solidFill>
                          <a:latin typeface="Helvetica Neue"/>
                        </a:rPr>
                        <a:t>Låser reel RPV op og giver annoncealgoritmerne 3x konverteringssignalet, hvilket løfter ROAS på samme forbrug</a:t>
                      </a:r>
                    </a:p>
                  </a:txBody>
                  <a:tcPr marL="73152" marR="73152" marT="18288" marB="18288" anchor="ctr">
                    <a:solidFill>
                      <a:srgbClr val="000000"/>
                    </a:solidFill>
                  </a:tcPr>
                </a:tc>
                <a:tc>
                  <a:txBody>
                    <a:bodyPr wrap="square"/>
                    <a:lstStyle/>
                    <a:p>
                      <a:pPr algn="r"/>
                      <a:r>
                        <a:rPr sz="900" b="0">
                          <a:solidFill>
                            <a:srgbClr val="EFEEEE"/>
                          </a:solidFill>
                          <a:latin typeface="Menlo"/>
                        </a:rPr>
                        <a:t>Høj</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Abonnement</a:t>
                      </a:r>
                    </a:p>
                  </a:txBody>
                  <a:tcPr marL="73152" marR="73152" marT="18288" marB="18288" anchor="ctr">
                    <a:solidFill>
                      <a:srgbClr val="0B0B0B"/>
                    </a:solidFill>
                  </a:tcPr>
                </a:tc>
                <a:tc>
                  <a:txBody>
                    <a:bodyPr wrap="square"/>
                    <a:lstStyle/>
                    <a:p>
                      <a:pPr algn="l"/>
                      <a:r>
                        <a:rPr sz="900" b="0">
                          <a:solidFill>
                            <a:srgbClr val="EFEEEE"/>
                          </a:solidFill>
                          <a:latin typeface="Helvetica Neue"/>
                        </a:rPr>
                        <a:t>Udbyg det eksisterende abonnement (Wine, Gin, Champagne 749 til 849 SEK): fremhæv det, tilføj tilmeldingsprompter på produktside og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Genkøb er allerede stærkt (66%); et større abonnementsgrundlag gør det til forudsigelig tilbagevendende RPV</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AOV-stige</a:t>
                      </a:r>
                    </a:p>
                  </a:txBody>
                  <a:tcPr marL="73152" marR="73152" marT="18288" marB="18288" anchor="ctr">
                    <a:solidFill>
                      <a:srgbClr val="000000"/>
                    </a:solidFill>
                  </a:tcPr>
                </a:tc>
                <a:tc>
                  <a:txBody>
                    <a:bodyPr wrap="square"/>
                    <a:lstStyle/>
                    <a:p>
                      <a:pPr algn="l"/>
                      <a:r>
                        <a:rPr sz="900" b="0">
                          <a:solidFill>
                            <a:srgbClr val="EFEEEE"/>
                          </a:solidFill>
                          <a:latin typeface="Helvetica Neue"/>
                        </a:rPr>
                        <a:t>Forankr og mersælg 567 SEK-købere til bokse på 700 SEK+; Rebuy-kurv-tilføjelser; justér grænsen for fri fragt</a:t>
                      </a:r>
                    </a:p>
                  </a:txBody>
                  <a:tcPr marL="73152" marR="73152" marT="18288" marB="18288" anchor="ctr">
                    <a:solidFill>
                      <a:srgbClr val="000000"/>
                    </a:solidFill>
                  </a:tcPr>
                </a:tc>
                <a:tc>
                  <a:txBody>
                    <a:bodyPr wrap="square"/>
                    <a:lstStyle/>
                    <a:p>
                      <a:pPr algn="l"/>
                      <a:r>
                        <a:rPr sz="900" b="0">
                          <a:solidFill>
                            <a:srgbClr val="EFEEEE"/>
                          </a:solidFill>
                          <a:latin typeface="Helvetica Neue"/>
                        </a:rPr>
                        <a:t>Bokse er 76% af omsætningen; at flytte boks-niveau og tilmeldingsrate løfter AOV-halvdelen af RPV uden ny trafik</a:t>
                      </a:r>
                    </a:p>
                  </a:txBody>
                  <a:tcPr marL="73152" marR="73152" marT="18288" marB="18288" anchor="ctr">
                    <a:solidFill>
                      <a:srgbClr val="000000"/>
                    </a:solidFill>
                  </a:tcPr>
                </a:tc>
                <a:tc>
                  <a:txBody>
                    <a:bodyPr wrap="square"/>
                    <a:lstStyle/>
                    <a:p>
                      <a:pPr algn="r"/>
                      <a:r>
                        <a:rPr sz="900" b="0">
                          <a:solidFill>
                            <a:srgbClr val="EFEEEE"/>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Konvertering</a:t>
                      </a:r>
                    </a:p>
                  </a:txBody>
                  <a:tcPr marL="73152" marR="73152" marT="18288" marB="18288" anchor="ctr">
                    <a:solidFill>
                      <a:srgbClr val="0B0B0B"/>
                    </a:solidFill>
                  </a:tcPr>
                </a:tc>
                <a:tc>
                  <a:txBody>
                    <a:bodyPr wrap="square"/>
                    <a:lstStyle/>
                    <a:p>
                      <a:pPr algn="l"/>
                      <a:r>
                        <a:rPr sz="900" b="0">
                          <a:solidFill>
                            <a:srgbClr val="EFEEEE"/>
                          </a:solidFill>
                          <a:latin typeface="Helvetica Neue"/>
                        </a:rPr>
                        <a:t>Smagsprofiler på hver kasse + tryghedsblok om lovlighed + ærligt leveringsløfte + klarhed om fragt i kurven</a:t>
                      </a:r>
                    </a:p>
                  </a:txBody>
                  <a:tcPr marL="73152" marR="73152" marT="18288" marB="18288" anchor="ctr">
                    <a:solidFill>
                      <a:srgbClr val="0B0B0B"/>
                    </a:solidFill>
                  </a:tcPr>
                </a:tc>
                <a:tc>
                  <a:txBody>
                    <a:bodyPr wrap="square"/>
                    <a:lstStyle/>
                    <a:p>
                      <a:pPr algn="l"/>
                      <a:r>
                        <a:rPr sz="900" b="0">
                          <a:solidFill>
                            <a:srgbClr val="EFEEEE"/>
                          </a:solidFill>
                          <a:latin typeface="Helvetica Neue"/>
                        </a:rPr>
                        <a:t>Løfter konverteringshalvdelen af RPV ved at lukke gabet for nye kunder (2.62% mod 3.42% tilbagevendende), og nye besøgende udgør størstedelen af trafikken</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Trafikmix</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organisk søgning og balancér den betalte social-mix (49% direkte, 33% Meta i dag)</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billigere trafik reducerer risikoen ved den ~33% afhængighed af betalt social og stabiliserer den samlede RPV</a:t>
                      </a:r>
                    </a:p>
                  </a:txBody>
                  <a:tcPr marL="73152" marR="73152" marT="18288" marB="18288" anchor="ctr">
                    <a:solidFill>
                      <a:srgbClr val="000000"/>
                    </a:solidFill>
                  </a:tcPr>
                </a:tc>
                <a:tc>
                  <a:txBody>
                    <a:bodyPr wrap="square"/>
                    <a:lstStyle/>
                    <a:p>
                      <a:pPr algn="r"/>
                      <a:r>
                        <a:rPr sz="900" b="0">
                          <a:solidFill>
                            <a:srgbClr val="EFEEEE"/>
                          </a:solidFill>
                          <a:latin typeface="Menlo"/>
                        </a:rPr>
                        <a:t>Strategisk</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Løftestang 1 og 2 er RPV-multiplikatorerne. Løftestang 3 og 4 er CRO-roadmappen, der følger. Løftestang 5 beskytter hele systemet.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Forventet løft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90 dages CRO er værd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Programmet løfter omsætning pr. besøgende ved at fjerne købstøven (smag, lovlighed, levering), så flere af dagens besøgende køber, og ved at skubbe ordreværdien op. Et løft i RPV på 5 til 10% på 90 dage bygger også det konverteringsfundament, der skal indfange højsæsonens trafiktop, hvor de samme rettelser betaler sig på langt mere trafik.</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RPV-løft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90-dages mål</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Mål-RPV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fra 99 SEK i dag</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 / 90 dage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på det nuværende grundlag</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Årsbasis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før højsæsonens ekstra løft</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 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MÅL</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HVORDAN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Gennemført checkout</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Leveringsklarhed, tryghed om lovlighed, færre websitefejl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Læg i kurv</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Klarere smag og tillid på produktsider</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Gennemsnitlig ordreværdi</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til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Kassestige, tilvalg, abonnementstilmeldinger</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Modelleret på Shopifys 90-dages grundlag, et konservativt løft i RPV på 5 til 10%. Løftestængerne er de billigste og mest købsklare: genvind checkout, løft læg i kurv med klarere smag og tillid, og skub ordreværdien. Den største gevinst er timing: et stærkere konverteringsfundament før højsæsonen betyder, at butikken konverterer mere af sæsontoppen, ikke kun dagens trafik.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Gør først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to tillidsløftestænger</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produktside / Kurv</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en lovlighedstillidsblok i klart sprog (lovlig dansk import, moms inkluderet, aldersverificeret,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At neutralisere monopoltvivlen løfter førstegangskøberes læg i kurv og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Nul lovlighedstekst på sitet; svindelsprog i anmeldelser; KRAN og Winefamly skaber tryghed</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Leveringsløfte</a:t>
                      </a:r>
                    </a:p>
                  </a:txBody>
                  <a:tcPr marL="73152" marR="73152" marT="18288" marB="18288" anchor="ctr">
                    <a:solidFill>
                      <a:srgbClr val="0B0B0B"/>
                    </a:solidFill>
                  </a:tcPr>
                </a:tc>
                <a:tc>
                  <a:txBody>
                    <a:bodyPr wrap="square"/>
                    <a:lstStyle/>
                    <a:p>
                      <a:pPr algn="l"/>
                      <a:r>
                        <a:rPr sz="900" b="0">
                          <a:solidFill>
                            <a:srgbClr val="EFEEEE"/>
                          </a:solidFill>
                          <a:latin typeface="Helvetica Neue"/>
                        </a:rPr>
                        <a:t>Erstat "1-3 dagar" med en ærlig, ordrespecifik ETA og proaktive statusopdateringer</a:t>
                      </a:r>
                    </a:p>
                  </a:txBody>
                  <a:tcPr marL="73152" marR="73152" marT="18288" marB="18288" anchor="ctr">
                    <a:solidFill>
                      <a:srgbClr val="0B0B0B"/>
                    </a:solidFill>
                  </a:tcPr>
                </a:tc>
                <a:tc>
                  <a:txBody>
                    <a:bodyPr wrap="square"/>
                    <a:lstStyle/>
                    <a:p>
                      <a:pPr algn="l"/>
                      <a:r>
                        <a:rPr sz="900" b="0">
                          <a:solidFill>
                            <a:srgbClr val="EFEEEE"/>
                          </a:solidFill>
                          <a:latin typeface="Helvetica Neue"/>
                        </a:rPr>
                        <a:t>Et præcist løfte skærer den negative hale væk og beskytter genkøbsomsætningen</a:t>
                      </a:r>
                    </a:p>
                  </a:txBody>
                  <a:tcPr marL="73152" marR="73152" marT="18288" marB="18288" anchor="ctr">
                    <a:solidFill>
                      <a:srgbClr val="0B0B0B"/>
                    </a:solidFill>
                  </a:tcPr>
                </a:tc>
                <a:tc>
                  <a:txBody>
                    <a:bodyPr wrap="square"/>
                    <a:lstStyle/>
                    <a:p>
                      <a:pPr algn="l"/>
                      <a:r>
                        <a:rPr sz="900" b="0">
                          <a:solidFill>
                            <a:srgbClr val="EFEEEE"/>
                          </a:solidFill>
                          <a:latin typeface="Helvetica Neue"/>
                        </a:rPr>
                        <a:t>86% af klagerne, 31% nævner det brudte løfte, genkøbere falder fra</a:t>
                      </a:r>
                    </a:p>
                  </a:txBody>
                  <a:tcPr marL="73152" marR="73152" marT="18288" marB="18288" anchor="ctr">
                    <a:solidFill>
                      <a:srgbClr val="0B0B0B"/>
                    </a:solidFill>
                  </a:tcPr>
                </a:tc>
                <a:tc>
                  <a:txBody>
                    <a:bodyPr wrap="square"/>
                    <a:lstStyle/>
                    <a:p>
                      <a:pPr algn="r"/>
                      <a:r>
                        <a:rPr sz="900" b="0">
                          <a:solidFill>
                            <a:srgbClr val="F7D007"/>
                          </a:solidFill>
                          <a:latin typeface="Menlo"/>
                        </a:rPr>
                        <a:t>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Kurv til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Vis fragtregel og grænse for fri fragt i kurven, tilføj et tydeligt trin til at fortsætte</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fragtoverraskelsen genvinder den største afbrydelsespulje</a:t>
                      </a:r>
                    </a:p>
                  </a:txBody>
                  <a:tcPr marL="73152" marR="73152" marT="18288" marB="18288" anchor="ctr">
                    <a:solidFill>
                      <a:srgbClr val="000000"/>
                    </a:solidFill>
                  </a:tcPr>
                </a:tc>
                <a:tc>
                  <a:txBody>
                    <a:bodyPr wrap="square"/>
                    <a:lstStyle/>
                    <a:p>
                      <a:pPr algn="l"/>
                      <a:r>
                        <a:rPr sz="900" b="0">
                          <a:solidFill>
                            <a:srgbClr val="EFEEEE"/>
                          </a:solidFill>
                          <a:latin typeface="Helvetica Neue"/>
                        </a:rPr>
                        <a:t>60.2% kurvafbrydelse, 32,859 brugere/90 dage; forvirring om fri fragt i anmeldelser</a:t>
                      </a:r>
                    </a:p>
                  </a:txBody>
                  <a:tcPr marL="73152" marR="73152" marT="18288" marB="18288" anchor="ctr">
                    <a:solidFill>
                      <a:srgbClr val="000000"/>
                    </a:solidFill>
                  </a:tcPr>
                </a:tc>
                <a:tc>
                  <a:txBody>
                    <a:bodyPr wrap="square"/>
                    <a:lstStyle/>
                    <a:p>
                      <a:pPr algn="r"/>
                      <a:r>
                        <a:rPr sz="900" b="0">
                          <a:solidFill>
                            <a:srgbClr val="F7D007"/>
                          </a:solidFill>
                          <a:latin typeface="Menlo"/>
                        </a:rPr>
                        <a:t>1.5 til 1.8M SEK/kvt.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Gør dernæst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 og produktdybde</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Diagnosticér og ryd website-fejlene, verificér betalingsstien på mobil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checkout-fejl genvinder den målgruppe med højest intention og lavest pris</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checkout-afbrydelse; 90+ JS-fejl pr. indlæsning</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Box-produktside</a:t>
                      </a:r>
                    </a:p>
                  </a:txBody>
                  <a:tcPr marL="73152" marR="73152" marT="18288" marB="18288" anchor="ctr">
                    <a:solidFill>
                      <a:srgbClr val="0B0B0B"/>
                    </a:solidFill>
                  </a:tcPr>
                </a:tc>
                <a:tc>
                  <a:txBody>
                    <a:bodyPr wrap="square"/>
                    <a:lstStyle/>
                    <a:p>
                      <a:pPr algn="l"/>
                      <a:r>
                        <a:rPr sz="900" b="0">
                          <a:solidFill>
                            <a:srgbClr val="EFEEEE"/>
                          </a:solidFill>
                          <a:latin typeface="Helvetica Neue"/>
                        </a:rPr>
                        <a:t>Tilføj detalje pr. vin: drue, region, skala fra tør til sød, Vivino-score, flere billeder</a:t>
                      </a:r>
                    </a:p>
                  </a:txBody>
                  <a:tcPr marL="73152" marR="73152" marT="18288" marB="18288" anchor="ctr">
                    <a:solidFill>
                      <a:srgbClr val="0B0B0B"/>
                    </a:solidFill>
                  </a:tcPr>
                </a:tc>
                <a:tc>
                  <a:txBody>
                    <a:bodyPr wrap="square"/>
                    <a:lstStyle/>
                    <a:p>
                      <a:pPr algn="l"/>
                      <a:r>
                        <a:rPr sz="900" b="0">
                          <a:solidFill>
                            <a:srgbClr val="EFEEEE"/>
                          </a:solidFill>
                          <a:latin typeface="Helvetica Neue"/>
                        </a:rPr>
                        <a:t>At gøre en blind kasse til et informeret valg løfter læg i kurv og skærer smagsklager</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smagsklager; kun 3 billeder</a:t>
                      </a:r>
                    </a:p>
                  </a:txBody>
                  <a:tcPr marL="73152" marR="73152" marT="18288" marB="18288" anchor="ctr">
                    <a:solidFill>
                      <a:srgbClr val="0B0B0B"/>
                    </a:solidFill>
                  </a:tcPr>
                </a:tc>
                <a:tc>
                  <a:txBody>
                    <a:bodyPr wrap="square"/>
                    <a:lstStyle/>
                    <a:p>
                      <a:pPr algn="r"/>
                      <a:r>
                        <a:rPr sz="900" b="0">
                          <a:solidFill>
                            <a:srgbClr val="F7D007"/>
                          </a:solidFill>
                          <a:latin typeface="Menlo"/>
                        </a:rPr>
                        <a:t>Middel til 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Leverings-UX</a:t>
                      </a:r>
                    </a:p>
                  </a:txBody>
                  <a:tcPr marL="73152" marR="73152" marT="18288" marB="18288" anchor="ctr">
                    <a:solidFill>
                      <a:srgbClr val="000000"/>
                    </a:solidFill>
                  </a:tcPr>
                </a:tc>
                <a:tc>
                  <a:txBody>
                    <a:bodyPr wrap="square"/>
                    <a:lstStyle/>
                    <a:p>
                      <a:pPr algn="l"/>
                      <a:r>
                        <a:rPr sz="900" b="0">
                          <a:solidFill>
                            <a:srgbClr val="EFEEEE"/>
                          </a:solidFill>
                          <a:latin typeface="Helvetica Neue"/>
                        </a:rPr>
                        <a:t>Lad kunderne vælge leveringsdag/-vindue, afstem forventninger til fragtfører</a:t>
                      </a:r>
                    </a:p>
                  </a:txBody>
                  <a:tcPr marL="73152" marR="73152" marT="18288" marB="18288" anchor="ctr">
                    <a:solidFill>
                      <a:srgbClr val="000000"/>
                    </a:solidFill>
                  </a:tcPr>
                </a:tc>
                <a:tc>
                  <a:txBody>
                    <a:bodyPr wrap="square"/>
                    <a:lstStyle/>
                    <a:p>
                      <a:pPr algn="l"/>
                      <a:r>
                        <a:rPr sz="900" b="0">
                          <a:solidFill>
                            <a:srgbClr val="EFEEEE"/>
                          </a:solidFill>
                          <a:latin typeface="Helvetica Neue"/>
                        </a:rPr>
                        <a:t>At løse problemet med at være hjemme reducerer aflysninger og anmeldelser på 1 til 3 stjerner</a:t>
                      </a:r>
                    </a:p>
                  </a:txBody>
                  <a:tcPr marL="73152" marR="73152" marT="18288" marB="18288" anchor="ctr">
                    <a:solidFill>
                      <a:srgbClr val="000000"/>
                    </a:solidFill>
                  </a:tcPr>
                </a:tc>
                <a:tc>
                  <a:txBody>
                    <a:bodyPr wrap="square"/>
                    <a:lstStyle/>
                    <a:p>
                      <a:pPr algn="l"/>
                      <a:r>
                        <a:rPr sz="900" b="0">
                          <a:solidFill>
                            <a:srgbClr val="EFEEEE"/>
                          </a:solidFill>
                          <a:latin typeface="Helvetica Neue"/>
                        </a:rPr>
                        <a:t>23% nævner problemet med aflyst vindue / at være hjemme</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Kollektion</a:t>
                      </a:r>
                    </a:p>
                  </a:txBody>
                  <a:tcPr marL="73152" marR="73152" marT="18288" marB="18288" anchor="ctr">
                    <a:solidFill>
                      <a:srgbClr val="0B0B0B"/>
                    </a:solidFill>
                  </a:tcPr>
                </a:tc>
                <a:tc>
                  <a:txBody>
                    <a:bodyPr wrap="square"/>
                    <a:lstStyle/>
                    <a:p>
                      <a:pPr algn="l"/>
                      <a:r>
                        <a:rPr sz="900" b="0">
                          <a:solidFill>
                            <a:srgbClr val="EFEEEE"/>
                          </a:solidFill>
                          <a:latin typeface="Helvetica Neue"/>
                        </a:rPr>
                        <a:t>Layout med kasserne først, stærkere facetteret filtrering (drue, sødme, anledning)</a:t>
                      </a:r>
                    </a:p>
                  </a:txBody>
                  <a:tcPr marL="73152" marR="73152" marT="18288" marB="18288" anchor="ctr">
                    <a:solidFill>
                      <a:srgbClr val="0B0B0B"/>
                    </a:solidFill>
                  </a:tcPr>
                </a:tc>
                <a:tc>
                  <a:txBody>
                    <a:bodyPr wrap="square"/>
                    <a:lstStyle/>
                    <a:p>
                      <a:pPr algn="l"/>
                      <a:r>
                        <a:rPr sz="900" b="0">
                          <a:solidFill>
                            <a:srgbClr val="EFEEEE"/>
                          </a:solidFill>
                          <a:latin typeface="Helvetica Neue"/>
                        </a:rPr>
                        <a:t>Bedre discovery løfter kollektionssiden fra 2.6% mod kasseniveau-CVR</a:t>
                      </a:r>
                    </a:p>
                  </a:txBody>
                  <a:tcPr marL="73152" marR="73152" marT="18288" marB="18288" anchor="ctr">
                    <a:solidFill>
                      <a:srgbClr val="0B0B0B"/>
                    </a:solidFill>
                  </a:tcPr>
                </a:tc>
                <a:tc>
                  <a:txBody>
                    <a:bodyPr wrap="square"/>
                    <a:lstStyle/>
                    <a:p>
                      <a:pPr algn="l"/>
                      <a:r>
                        <a:rPr sz="900" b="0">
                          <a:solidFill>
                            <a:srgbClr val="EFEEEE"/>
                          </a:solidFill>
                          <a:latin typeface="Helvetica Neue"/>
                        </a:rPr>
                        <a:t>Kollektion 2.6% mod kasser 4 til 5.5%; ønsker om en sorterbar liste</a:t>
                      </a:r>
                    </a:p>
                  </a:txBody>
                  <a:tcPr marL="73152" marR="73152" marT="18288" marB="18288" anchor="ctr">
                    <a:solidFill>
                      <a:srgbClr val="0B0B0B"/>
                    </a:solidFill>
                  </a:tcPr>
                </a:tc>
                <a:tc>
                  <a:txBody>
                    <a:bodyPr wrap="square"/>
                    <a:lstStyle/>
                    <a:p>
                      <a:pPr algn="r"/>
                      <a:r>
                        <a:rPr sz="900" b="0">
                          <a:solidFill>
                            <a:srgbClr val="F7D007"/>
                          </a:solidFill>
                          <a:latin typeface="Menlo"/>
                        </a:rPr>
                        <a:t>Middel</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Finpudsning og infrastruktur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Ryd op og reducér risiko</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Indgang</a:t>
                      </a:r>
                    </a:p>
                  </a:txBody>
                  <a:tcPr marL="73152" marR="73152" marT="18288" marB="18288" anchor="ctr">
                    <a:solidFill>
                      <a:srgbClr val="000000"/>
                    </a:solidFill>
                  </a:tcPr>
                </a:tc>
                <a:tc>
                  <a:txBody>
                    <a:bodyPr wrap="square"/>
                    <a:lstStyle/>
                    <a:p>
                      <a:pPr algn="l"/>
                      <a:r>
                        <a:rPr sz="900" b="0">
                          <a:solidFill>
                            <a:srgbClr val="EFEEEE"/>
                          </a:solidFill>
                          <a:latin typeface="Helvetica Neue"/>
                        </a:rPr>
                        <a:t>Slå aldersbekræftelse og lykkehjul sammen til ét trin, husk valget</a:t>
                      </a:r>
                    </a:p>
                  </a:txBody>
                  <a:tcPr marL="73152" marR="73152" marT="18288" marB="18288" anchor="ctr">
                    <a:solidFill>
                      <a:srgbClr val="000000"/>
                    </a:solidFill>
                  </a:tcPr>
                </a:tc>
                <a:tc>
                  <a:txBody>
                    <a:bodyPr wrap="square"/>
                    <a:lstStyle/>
                    <a:p>
                      <a:pPr algn="l"/>
                      <a:r>
                        <a:rPr sz="900" b="0">
                          <a:solidFill>
                            <a:srgbClr val="EFEEEE"/>
                          </a:solidFill>
                          <a:latin typeface="Helvetica Neue"/>
                        </a:rPr>
                        <a:t>Én ren bekræftelse reducerer indgangsfriktion på kold paid-trafik</a:t>
                      </a:r>
                    </a:p>
                  </a:txBody>
                  <a:tcPr marL="73152" marR="73152" marT="18288" marB="18288" anchor="ctr">
                    <a:solidFill>
                      <a:srgbClr val="000000"/>
                    </a:solidFill>
                  </a:tcPr>
                </a:tc>
                <a:tc>
                  <a:txBody>
                    <a:bodyPr wrap="square"/>
                    <a:lstStyle/>
                    <a:p>
                      <a:pPr algn="l"/>
                      <a:r>
                        <a:rPr sz="900" b="0">
                          <a:solidFill>
                            <a:srgbClr val="EFEEEE"/>
                          </a:solidFill>
                          <a:latin typeface="Helvetica Neue"/>
                        </a:rPr>
                        <a:t>Dobbelt-popup verificeret på mobil; 41% kold Facebook-trafik</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Ret forsidens konverterings-tag, konsolidér til én GA4, fjern død UA</a:t>
                      </a:r>
                    </a:p>
                  </a:txBody>
                  <a:tcPr marL="73152" marR="73152" marT="18288" marB="18288" anchor="ctr">
                    <a:solidFill>
                      <a:srgbClr val="0B0B0B"/>
                    </a:solidFill>
                  </a:tcPr>
                </a:tc>
                <a:tc>
                  <a:txBody>
                    <a:bodyPr wrap="square"/>
                    <a:lstStyle/>
                    <a:p>
                      <a:pPr algn="l"/>
                      <a:r>
                        <a:rPr sz="900" b="0">
                          <a:solidFill>
                            <a:srgbClr val="EFEEEE"/>
                          </a:solidFill>
                          <a:latin typeface="Helvetica Neue"/>
                        </a:rPr>
                        <a:t>Rene data forbedrer annonceoptimering og beslutningskvalitet</a:t>
                      </a:r>
                    </a:p>
                  </a:txBody>
                  <a:tcPr marL="73152" marR="73152" marT="18288" marB="18288" anchor="ctr">
                    <a:solidFill>
                      <a:srgbClr val="0B0B0B"/>
                    </a:solidFill>
                  </a:tcPr>
                </a:tc>
                <a:tc>
                  <a:txBody>
                    <a:bodyPr wrap="square"/>
                    <a:lstStyle/>
                    <a:p>
                      <a:pPr algn="l"/>
                      <a:r>
                        <a:rPr sz="900" b="0">
                          <a:solidFill>
                            <a:srgbClr val="EFEEEE"/>
                          </a:solidFill>
                          <a:latin typeface="Helvetica Neue"/>
                        </a:rPr>
                        <a:t>Konvertering ved pageview; 4 GA4 + død UA verificeret</a:t>
                      </a:r>
                    </a:p>
                  </a:txBody>
                  <a:tcPr marL="73152" marR="73152" marT="18288" marB="18288" anchor="ctr">
                    <a:solidFill>
                      <a:srgbClr val="0B0B0B"/>
                    </a:solidFill>
                  </a:tcPr>
                </a:tc>
                <a:tc>
                  <a:txBody>
                    <a:bodyPr wrap="square"/>
                    <a:lstStyle/>
                    <a:p>
                      <a:pPr algn="r"/>
                      <a:r>
                        <a:rPr sz="900" b="0">
                          <a:solidFill>
                            <a:srgbClr val="F7D007"/>
                          </a:solidFill>
                          <a:latin typeface="Menlo"/>
                        </a:rPr>
                        <a:t>Høj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Tillidsmærker</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Trygg E-handel, vis dansk operatør og Løvens Hule højere oppe</a:t>
                      </a:r>
                    </a:p>
                  </a:txBody>
                  <a:tcPr marL="73152" marR="73152" marT="18288" marB="18288" anchor="ctr">
                    <a:solidFill>
                      <a:srgbClr val="000000"/>
                    </a:solidFill>
                  </a:tcPr>
                </a:tc>
                <a:tc>
                  <a:txBody>
                    <a:bodyPr wrap="square"/>
                    <a:lstStyle/>
                    <a:p>
                      <a:pPr algn="l"/>
                      <a:r>
                        <a:rPr sz="900" b="0">
                          <a:solidFill>
                            <a:srgbClr val="EFEEEE"/>
                          </a:solidFill>
                          <a:latin typeface="Helvetica Neue"/>
                        </a:rPr>
                        <a:t>Anerkendte svenske tillidsmærker løfter legitimiteten for nye købere</a:t>
                      </a:r>
                    </a:p>
                  </a:txBody>
                  <a:tcPr marL="73152" marR="73152" marT="18288" marB="18288" anchor="ctr">
                    <a:solidFill>
                      <a:srgbClr val="000000"/>
                    </a:solidFill>
                  </a:tcPr>
                </a:tc>
                <a:tc>
                  <a:txBody>
                    <a:bodyPr wrap="square"/>
                    <a:lstStyle/>
                    <a:p>
                      <a:pPr algn="l"/>
                      <a:r>
                        <a:rPr sz="900" b="0">
                          <a:solidFill>
                            <a:srgbClr val="EFEEEE"/>
                          </a:solidFill>
                          <a:latin typeface="Helvetica Neue"/>
                        </a:rPr>
                        <a:t>3 af 4 konkurrenter viser Trygg; aktiver begravet i footeren</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Lokalisering</a:t>
                      </a:r>
                    </a:p>
                  </a:txBody>
                  <a:tcPr marL="73152" marR="73152" marT="18288" marB="18288" anchor="ctr">
                    <a:solidFill>
                      <a:srgbClr val="0B0B0B"/>
                    </a:solidFill>
                  </a:tcPr>
                </a:tc>
                <a:tc>
                  <a:txBody>
                    <a:bodyPr wrap="square"/>
                    <a:lstStyle/>
                    <a:p>
                      <a:pPr algn="l"/>
                      <a:r>
                        <a:rPr sz="900" b="0">
                          <a:solidFill>
                            <a:srgbClr val="EFEEEE"/>
                          </a:solidFill>
                          <a:latin typeface="Helvetica Neue"/>
                        </a:rPr>
                        <a:t>Fjern danske udslip ("Kjøb", "Smagekasser") og den løsrevne .dk-Trustpilot-widget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Fuld svensk finpudsning fjerner tillidsdissonans</a:t>
                      </a:r>
                    </a:p>
                  </a:txBody>
                  <a:tcPr marL="73152" marR="73152" marT="18288" marB="18288" anchor="ctr">
                    <a:solidFill>
                      <a:srgbClr val="0B0B0B"/>
                    </a:solidFill>
                  </a:tcPr>
                </a:tc>
                <a:tc>
                  <a:txBody>
                    <a:bodyPr wrap="square"/>
                    <a:lstStyle/>
                    <a:p>
                      <a:pPr algn="l"/>
                      <a:r>
                        <a:rPr sz="900" b="0">
                          <a:solidFill>
                            <a:srgbClr val="EFEEEE"/>
                          </a:solidFill>
                          <a:latin typeface="Helvetica Neue"/>
                        </a:rPr>
                        <a:t>Dansk sidetitel + .dk-widget vist til svenskere</a:t>
                      </a:r>
                    </a:p>
                  </a:txBody>
                  <a:tcPr marL="73152" marR="73152" marT="18288" marB="18288" anchor="ctr">
                    <a:solidFill>
                      <a:srgbClr val="0B0B0B"/>
                    </a:solidFill>
                  </a:tcPr>
                </a:tc>
                <a:tc>
                  <a:txBody>
                    <a:bodyPr wrap="square"/>
                    <a:lstStyle/>
                    <a:p>
                      <a:pPr algn="r"/>
                      <a:r>
                        <a:rPr sz="900" b="0">
                          <a:solidFill>
                            <a:srgbClr val="F7D007"/>
                          </a:solidFill>
                          <a:latin typeface="Menlo"/>
                        </a:rPr>
                        <a:t>Lav</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Ejede kanaler</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e-mail og søgning for at balancere den ~33% betalte social-andel</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efterspørgsel reducerer risikoen for hele forretningen</a:t>
                      </a:r>
                    </a:p>
                  </a:txBody>
                  <a:tcPr marL="73152" marR="73152" marT="18288" marB="18288" anchor="ctr">
                    <a:solidFill>
                      <a:srgbClr val="000000"/>
                    </a:solidFill>
                  </a:tcPr>
                </a:tc>
                <a:tc>
                  <a:txBody>
                    <a:bodyPr wrap="square"/>
                    <a:lstStyle/>
                    <a:p>
                      <a:pPr algn="l"/>
                      <a:r>
                        <a:rPr sz="900" b="0">
                          <a:solidFill>
                            <a:srgbClr val="EFEEEE"/>
                          </a:solidFill>
                          <a:latin typeface="Helvetica Neue"/>
                        </a:rPr>
                        <a:t>Betalt social ~33% af sessionerne; tagget e-mail ~1% af sessionerne, men ~16% af ordrerne, knap nok instrumenteret</a:t>
                      </a:r>
                    </a:p>
                  </a:txBody>
                  <a:tcPr marL="73152" marR="73152" marT="18288" marB="18288" anchor="ctr">
                    <a:solidFill>
                      <a:srgbClr val="000000"/>
                    </a:solidFill>
                  </a:tcPr>
                </a:tc>
                <a:tc>
                  <a:txBody>
                    <a:bodyPr wrap="square"/>
                    <a:lstStyle/>
                    <a:p>
                      <a:pPr algn="r"/>
                      <a:r>
                        <a:rPr sz="900" b="0">
                          <a:solidFill>
                            <a:srgbClr val="F7D007"/>
                          </a:solidFill>
                          <a:latin typeface="Menlo"/>
                        </a:rPr>
                        <a:t>Strategisk</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Overblik på én 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Hvis du kun gør tre ting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Disse tre ligger i skæringspunktet mellem størst evidens og lavest indsats. Start her.</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Besvar lovlighedsspørgsmålet</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En synlig "hvorfor dette er lovligt"-blok på produktside og kurv, med alderskontrollen, den danske importmodel, moms inkluderet og jeres 4.7 Trustpilot-bevis.</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Løfter førstegangskøbere</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Ret leveringsløftet</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Erstat "1-3 dagar" med en ærlig ETA og proaktive opdateringer. Beskytter de 40% af omsætningen, der kommer fra genkøbere.</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Fjerner 86% af klagerne ved kilden</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Genvind kurvlækket</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Vis fragtregler i kurven og tilføj et tydeligt trin til at fortsætte. 60.2% af kurvene når aldrig checkout i dag.</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pr. kvartal ved nuværende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Anbefalede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De første tre tests, hver med en hypotese, en primær metric og et forhåndsaftalt mål. Bygget og QA'et af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legalitets- og tryghedsblok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af produktbesøgende lægger aldrig i kurv.</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Ingen legalitetstekst på siden i et monopolmarked.</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af køberne er førstegangskøbere og nye i privatimport.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besvare "er det lovligt?" ved købsboksen (dansk import, Skatteverket, moms inkluderet) fjerner den største indvending og løfter læg i kurv for nye købere.</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Visning til læg i kurv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til køb</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Konverteringsrate for nye besøgende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LEGALITETSBLOK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Kurv-drawer: leveringsklarhed</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af læg i kurv starter aldrig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Leveringsestimat er skjult; "1-3 dagar"-løftet holder ikke.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Fri fragt er stille kun Airmee, hvilket forvirrer købere.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fremhæve en ærlig levering på 2 til 5 dage med valgbar dag, plus moms inkluderet og betalingstryghed ved checkout, genvinder lækagen fra kurv til checkout.</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Kurv til startet checkout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Gennemført checkout</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Omsætning pr.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Kurv→CO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1,5-1,8M/kvt</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KURV-KLARHED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Box-PDP: AOV-stige og smagsdetalje</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Bokse er 76% af omsætningen; gns. boks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Premium-niveauer på 700 SEK+ findes, men sælger i lavt volumen.</a:t>
            </a:r>
          </a:p>
        </p:txBody>
      </p:sp>
      <p:sp>
        <p:nvSpPr>
          <p:cNvPr id="17" name="TextBox 16"/>
          <p:cNvSpPr txBox="1"/>
          <p:nvPr/>
        </p:nvSpPr>
        <p:spPr>
          <a:xfrm>
            <a:off x="457200" y="307238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307238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Købere kan ikke smage; 14% af klager handler om smag.</a:t>
            </a:r>
          </a:p>
        </p:txBody>
      </p:sp>
      <p:sp>
        <p:nvSpPr>
          <p:cNvPr id="19" name="TextBox 18"/>
          <p:cNvSpPr txBox="1"/>
          <p:nvPr/>
        </p:nvSpPr>
        <p:spPr>
          <a:xfrm>
            <a:off x="457200" y="3401568"/>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621024"/>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749040"/>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En niveaustige (6 / 12 XL / 12 Guld) med pris pr. flaske og en smagsprofil pr. vin løfter ordreværdi og læg i kurv ved at fjerne risikoen ved en blind boks.</a:t>
            </a:r>
          </a:p>
        </p:txBody>
      </p:sp>
      <p:sp>
        <p:nvSpPr>
          <p:cNvPr id="22" name="TextBox 21"/>
          <p:cNvSpPr txBox="1"/>
          <p:nvPr/>
        </p:nvSpPr>
        <p:spPr>
          <a:xfrm>
            <a:off x="457200" y="4572000"/>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791456"/>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19472"/>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919472"/>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Omsætning pr. session (primær)</a:t>
            </a:r>
          </a:p>
        </p:txBody>
      </p:sp>
      <p:sp>
        <p:nvSpPr>
          <p:cNvPr id="26" name="TextBox 25"/>
          <p:cNvSpPr txBox="1"/>
          <p:nvPr/>
        </p:nvSpPr>
        <p:spPr>
          <a:xfrm>
            <a:off x="457200" y="5175504"/>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175504"/>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Gennemsnitlig ordreværdi</a:t>
            </a:r>
          </a:p>
        </p:txBody>
      </p:sp>
      <p:sp>
        <p:nvSpPr>
          <p:cNvPr id="28" name="TextBox 27"/>
          <p:cNvSpPr txBox="1"/>
          <p:nvPr/>
        </p:nvSpPr>
        <p:spPr>
          <a:xfrm>
            <a:off x="457200" y="5431536"/>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431536"/>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Læg i kurv-rate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AOV-STIGE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Sådan arbejder vi med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Du godkender, vi eksekverer. Fra research til udrulning, betalt på gevinsterne. Seneste resultater fra andre kunder.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Comforth · Produkt-tags på PDP'en</a:t>
            </a:r>
          </a:p>
        </p:txBody>
      </p:sp>
      <p:pic>
        <p:nvPicPr>
          <p:cNvPr id="9" name="Picture 8" descr="case-cfs-tags-control.png"/>
          <p:cNvPicPr>
            <a:picLocks noChangeAspect="1"/>
          </p:cNvPicPr>
          <p:nvPr/>
        </p:nvPicPr>
        <p:blipFill>
          <a:blip r:embed="rId3"/>
          <a:stretch>
            <a:fillRect/>
          </a:stretch>
        </p:blipFill>
        <p:spPr>
          <a:xfrm>
            <a:off x="977071" y="2331720"/>
            <a:ext cx="1474857" cy="3200400"/>
          </a:xfrm>
          <a:prstGeom prst="rect">
            <a:avLst/>
          </a:prstGeom>
        </p:spPr>
      </p:pic>
      <p:sp>
        <p:nvSpPr>
          <p:cNvPr id="10" name="Rounded Rectangle 9"/>
          <p:cNvSpPr/>
          <p:nvPr/>
        </p:nvSpPr>
        <p:spPr>
          <a:xfrm>
            <a:off x="940495" y="2295144"/>
            <a:ext cx="1548009" cy="327355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se-cfs-tags-variant.png"/>
          <p:cNvPicPr>
            <a:picLocks noChangeAspect="1"/>
          </p:cNvPicPr>
          <p:nvPr/>
        </p:nvPicPr>
        <p:blipFill>
          <a:blip r:embed="rId4"/>
          <a:stretch>
            <a:fillRect/>
          </a:stretch>
        </p:blipFill>
        <p:spPr>
          <a:xfrm>
            <a:off x="3655666" y="2331720"/>
            <a:ext cx="1512627" cy="3200400"/>
          </a:xfrm>
          <a:prstGeom prst="rect">
            <a:avLst/>
          </a:prstGeom>
        </p:spPr>
      </p:pic>
      <p:sp>
        <p:nvSpPr>
          <p:cNvPr id="12" name="Rounded Rectangle 11"/>
          <p:cNvSpPr/>
          <p:nvPr/>
        </p:nvSpPr>
        <p:spPr>
          <a:xfrm>
            <a:off x="3619090" y="2295144"/>
            <a:ext cx="1585779" cy="327355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623560"/>
            <a:ext cx="251460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14" name="TextBox 13"/>
          <p:cNvSpPr txBox="1"/>
          <p:nvPr/>
        </p:nvSpPr>
        <p:spPr>
          <a:xfrm>
            <a:off x="3154680" y="5623560"/>
            <a:ext cx="251460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15" name="Rounded Rectangle 14"/>
          <p:cNvSpPr/>
          <p:nvPr/>
        </p:nvSpPr>
        <p:spPr>
          <a:xfrm>
            <a:off x="5943600" y="2331720"/>
            <a:ext cx="579089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606040"/>
            <a:ext cx="5059375" cy="228600"/>
          </a:xfrm>
          <a:prstGeom prst="rect">
            <a:avLst/>
          </a:prstGeom>
          <a:noFill/>
        </p:spPr>
        <p:txBody>
          <a:bodyPr wrap="square" lIns="0" rIns="0" tIns="0" bIns="0" anchor="t">
            <a:spAutoFit/>
          </a:bodyPr>
          <a:lstStyle/>
          <a:p>
            <a:pPr algn="l"/>
            <a:r>
              <a:rPr sz="1000" b="1" i="0" spc="200">
                <a:solidFill>
                  <a:srgbClr val="F7D007"/>
                </a:solidFill>
                <a:latin typeface="Menlo"/>
              </a:rPr>
              <a:t>OMSÆTNING PR. BESØGENDE (PRIMARY)</a:t>
            </a:r>
          </a:p>
        </p:txBody>
      </p:sp>
      <p:sp>
        <p:nvSpPr>
          <p:cNvPr id="17" name="TextBox 16"/>
          <p:cNvSpPr txBox="1"/>
          <p:nvPr/>
        </p:nvSpPr>
        <p:spPr>
          <a:xfrm>
            <a:off x="6309360" y="2834640"/>
            <a:ext cx="5059375" cy="822960"/>
          </a:xfrm>
          <a:prstGeom prst="rect">
            <a:avLst/>
          </a:prstGeom>
          <a:noFill/>
        </p:spPr>
        <p:txBody>
          <a:bodyPr wrap="square" lIns="0" rIns="0" tIns="0" bIns="0" anchor="t">
            <a:spAutoFit/>
          </a:bodyPr>
          <a:lstStyle/>
          <a:p>
            <a:pPr algn="l"/>
            <a:r>
              <a:rPr sz="5000" b="1" i="0">
                <a:solidFill>
                  <a:srgbClr val="F7D007"/>
                </a:solidFill>
                <a:latin typeface="Menlo"/>
              </a:rPr>
              <a:t>+10,83%</a:t>
            </a:r>
          </a:p>
        </p:txBody>
      </p:sp>
      <p:sp>
        <p:nvSpPr>
          <p:cNvPr id="18" name="TextBox 17"/>
          <p:cNvSpPr txBox="1"/>
          <p:nvPr/>
        </p:nvSpPr>
        <p:spPr>
          <a:xfrm>
            <a:off x="6309360" y="3749040"/>
            <a:ext cx="5059375" cy="320040"/>
          </a:xfrm>
          <a:prstGeom prst="rect">
            <a:avLst/>
          </a:prstGeom>
          <a:noFill/>
        </p:spPr>
        <p:txBody>
          <a:bodyPr wrap="square" lIns="0" rIns="0" tIns="0" bIns="0" anchor="t">
            <a:spAutoFit/>
          </a:bodyPr>
          <a:lstStyle/>
          <a:p>
            <a:pPr algn="l"/>
            <a:r>
              <a:rPr sz="1400" b="1" i="0">
                <a:solidFill>
                  <a:srgbClr val="FFFFFF"/>
                </a:solidFill>
                <a:latin typeface="Menlo"/>
              </a:rPr>
              <a:t>+183.515 kr / måned projekteret</a:t>
            </a:r>
          </a:p>
        </p:txBody>
      </p:sp>
      <p:sp>
        <p:nvSpPr>
          <p:cNvPr id="19" name="Rectangle 18"/>
          <p:cNvSpPr/>
          <p:nvPr/>
        </p:nvSpPr>
        <p:spPr>
          <a:xfrm>
            <a:off x="6309360" y="4206239"/>
            <a:ext cx="505937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361688"/>
            <a:ext cx="1554480" cy="228600"/>
          </a:xfrm>
          <a:prstGeom prst="rect">
            <a:avLst/>
          </a:prstGeom>
          <a:noFill/>
        </p:spPr>
        <p:txBody>
          <a:bodyPr wrap="square" lIns="0" rIns="0" tIns="0" bIns="0" anchor="t">
            <a:spAutoFit/>
          </a:bodyPr>
          <a:lstStyle/>
          <a:p>
            <a:pPr algn="l"/>
            <a:r>
              <a:rPr sz="900" b="1" i="0" spc="150">
                <a:solidFill>
                  <a:srgbClr val="999999"/>
                </a:solidFill>
                <a:latin typeface="Helvetica Neue"/>
              </a:rPr>
              <a:t>METRIC</a:t>
            </a:r>
          </a:p>
        </p:txBody>
      </p:sp>
      <p:sp>
        <p:nvSpPr>
          <p:cNvPr id="21" name="TextBox 20"/>
          <p:cNvSpPr txBox="1"/>
          <p:nvPr/>
        </p:nvSpPr>
        <p:spPr>
          <a:xfrm>
            <a:off x="7955280" y="4361688"/>
            <a:ext cx="1280160" cy="228600"/>
          </a:xfrm>
          <a:prstGeom prst="rect">
            <a:avLst/>
          </a:prstGeom>
          <a:noFill/>
        </p:spPr>
        <p:txBody>
          <a:bodyPr wrap="square" lIns="0" rIns="0" tIns="0" bIns="0" anchor="t">
            <a:spAutoFit/>
          </a:bodyPr>
          <a:lstStyle/>
          <a:p>
            <a:pPr algn="r"/>
            <a:r>
              <a:rPr sz="900" b="1" i="0" spc="150">
                <a:solidFill>
                  <a:srgbClr val="999999"/>
                </a:solidFill>
                <a:latin typeface="Helvetica Neue"/>
              </a:rPr>
              <a:t>CONTROL</a:t>
            </a:r>
          </a:p>
        </p:txBody>
      </p:sp>
      <p:sp>
        <p:nvSpPr>
          <p:cNvPr id="22" name="TextBox 21"/>
          <p:cNvSpPr txBox="1"/>
          <p:nvPr/>
        </p:nvSpPr>
        <p:spPr>
          <a:xfrm>
            <a:off x="9326880" y="4361688"/>
            <a:ext cx="1280160" cy="228600"/>
          </a:xfrm>
          <a:prstGeom prst="rect">
            <a:avLst/>
          </a:prstGeom>
          <a:noFill/>
        </p:spPr>
        <p:txBody>
          <a:bodyPr wrap="square" lIns="0" rIns="0" tIns="0" bIns="0" anchor="t">
            <a:spAutoFit/>
          </a:bodyPr>
          <a:lstStyle/>
          <a:p>
            <a:pPr algn="r"/>
            <a:r>
              <a:rPr sz="900" b="1" i="0" spc="150">
                <a:solidFill>
                  <a:srgbClr val="F7D007"/>
                </a:solidFill>
                <a:latin typeface="Helvetica Neue"/>
              </a:rPr>
              <a:t>VARIANT</a:t>
            </a:r>
          </a:p>
        </p:txBody>
      </p:sp>
      <p:sp>
        <p:nvSpPr>
          <p:cNvPr id="23" name="TextBox 22"/>
          <p:cNvSpPr txBox="1"/>
          <p:nvPr/>
        </p:nvSpPr>
        <p:spPr>
          <a:xfrm>
            <a:off x="10607040" y="4361688"/>
            <a:ext cx="1005840" cy="228600"/>
          </a:xfrm>
          <a:prstGeom prst="rect">
            <a:avLst/>
          </a:prstGeom>
          <a:noFill/>
        </p:spPr>
        <p:txBody>
          <a:bodyPr wrap="square" lIns="0" rIns="0" tIns="0" bIns="0" anchor="t">
            <a:spAutoFit/>
          </a:bodyPr>
          <a:lstStyle/>
          <a:p>
            <a:pPr algn="r"/>
            <a:r>
              <a:rPr sz="900" b="1" i="0" spc="150">
                <a:solidFill>
                  <a:srgbClr val="999999"/>
                </a:solidFill>
                <a:latin typeface="Helvetica Neue"/>
              </a:rPr>
              <a:t>Δ</a:t>
            </a:r>
          </a:p>
        </p:txBody>
      </p:sp>
      <p:sp>
        <p:nvSpPr>
          <p:cNvPr id="24" name="TextBox 23"/>
          <p:cNvSpPr txBox="1"/>
          <p:nvPr/>
        </p:nvSpPr>
        <p:spPr>
          <a:xfrm>
            <a:off x="6309360" y="469087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Omsætning / besøgende</a:t>
            </a:r>
          </a:p>
        </p:txBody>
      </p:sp>
      <p:sp>
        <p:nvSpPr>
          <p:cNvPr id="25" name="TextBox 24"/>
          <p:cNvSpPr txBox="1"/>
          <p:nvPr/>
        </p:nvSpPr>
        <p:spPr>
          <a:xfrm>
            <a:off x="7955280" y="4690872"/>
            <a:ext cx="1280160" cy="228600"/>
          </a:xfrm>
          <a:prstGeom prst="rect">
            <a:avLst/>
          </a:prstGeom>
          <a:noFill/>
        </p:spPr>
        <p:txBody>
          <a:bodyPr wrap="square" lIns="0" rIns="0" tIns="0" bIns="0" anchor="t">
            <a:spAutoFit/>
          </a:bodyPr>
          <a:lstStyle/>
          <a:p>
            <a:pPr algn="r"/>
            <a:r>
              <a:rPr sz="1000" b="0" i="0">
                <a:solidFill>
                  <a:srgbClr val="CCCCCC"/>
                </a:solidFill>
                <a:latin typeface="Menlo"/>
              </a:rPr>
              <a:t>27,37 kr</a:t>
            </a:r>
          </a:p>
        </p:txBody>
      </p:sp>
      <p:sp>
        <p:nvSpPr>
          <p:cNvPr id="26" name="TextBox 25"/>
          <p:cNvSpPr txBox="1"/>
          <p:nvPr/>
        </p:nvSpPr>
        <p:spPr>
          <a:xfrm>
            <a:off x="9326880" y="4690872"/>
            <a:ext cx="1280160" cy="228600"/>
          </a:xfrm>
          <a:prstGeom prst="rect">
            <a:avLst/>
          </a:prstGeom>
          <a:noFill/>
        </p:spPr>
        <p:txBody>
          <a:bodyPr wrap="square" lIns="0" rIns="0" tIns="0" bIns="0" anchor="t">
            <a:spAutoFit/>
          </a:bodyPr>
          <a:lstStyle/>
          <a:p>
            <a:pPr algn="r"/>
            <a:r>
              <a:rPr sz="1000" b="1" i="0">
                <a:solidFill>
                  <a:srgbClr val="FFFFFF"/>
                </a:solidFill>
                <a:latin typeface="Menlo"/>
              </a:rPr>
              <a:t>30,34 kr</a:t>
            </a:r>
          </a:p>
        </p:txBody>
      </p:sp>
      <p:sp>
        <p:nvSpPr>
          <p:cNvPr id="27" name="TextBox 26"/>
          <p:cNvSpPr txBox="1"/>
          <p:nvPr/>
        </p:nvSpPr>
        <p:spPr>
          <a:xfrm>
            <a:off x="10607040" y="4690872"/>
            <a:ext cx="1005840" cy="228600"/>
          </a:xfrm>
          <a:prstGeom prst="rect">
            <a:avLst/>
          </a:prstGeom>
          <a:noFill/>
        </p:spPr>
        <p:txBody>
          <a:bodyPr wrap="square" lIns="0" rIns="0" tIns="0" bIns="0" anchor="t">
            <a:spAutoFit/>
          </a:bodyPr>
          <a:lstStyle/>
          <a:p>
            <a:pPr algn="r"/>
            <a:r>
              <a:rPr sz="1000" b="1" i="0">
                <a:solidFill>
                  <a:srgbClr val="F7D007"/>
                </a:solidFill>
                <a:latin typeface="Menlo"/>
              </a:rPr>
              <a:t>+10,83%</a:t>
            </a:r>
          </a:p>
        </p:txBody>
      </p:sp>
      <p:sp>
        <p:nvSpPr>
          <p:cNvPr id="28" name="TextBox 27"/>
          <p:cNvSpPr txBox="1"/>
          <p:nvPr/>
        </p:nvSpPr>
        <p:spPr>
          <a:xfrm>
            <a:off x="6309360" y="505663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Verdict</a:t>
            </a:r>
          </a:p>
        </p:txBody>
      </p:sp>
      <p:sp>
        <p:nvSpPr>
          <p:cNvPr id="29" name="TextBox 28"/>
          <p:cNvSpPr txBox="1"/>
          <p:nvPr/>
        </p:nvSpPr>
        <p:spPr>
          <a:xfrm>
            <a:off x="9326880" y="5056632"/>
            <a:ext cx="1280160" cy="228600"/>
          </a:xfrm>
          <a:prstGeom prst="rect">
            <a:avLst/>
          </a:prstGeom>
          <a:noFill/>
        </p:spPr>
        <p:txBody>
          <a:bodyPr wrap="square" lIns="0" rIns="0" tIns="0" bIns="0" anchor="t">
            <a:spAutoFit/>
          </a:bodyPr>
          <a:lstStyle/>
          <a:p>
            <a:pPr algn="r"/>
            <a:r>
              <a:rPr sz="1000" b="1" i="0">
                <a:solidFill>
                  <a:srgbClr val="22C55E"/>
                </a:solidFill>
                <a:latin typeface="Menlo"/>
              </a:rPr>
              <a:t>Winner</a:t>
            </a:r>
          </a:p>
        </p:txBody>
      </p:sp>
      <p:sp>
        <p:nvSpPr>
          <p:cNvPr id="30" name="TextBox 29"/>
          <p:cNvSpPr txBox="1"/>
          <p:nvPr/>
        </p:nvSpPr>
        <p:spPr>
          <a:xfrm>
            <a:off x="457200" y="6382512"/>
            <a:ext cx="11277295" cy="365760"/>
          </a:xfrm>
          <a:prstGeom prst="rect">
            <a:avLst/>
          </a:prstGeom>
          <a:noFill/>
        </p:spPr>
        <p:txBody>
          <a:bodyPr wrap="square" lIns="0" rIns="0" tIns="0" bIns="0" anchor="t">
            <a:spAutoFit/>
          </a:bodyPr>
          <a:lstStyle/>
          <a:p>
            <a:pPr algn="ctr"/>
            <a:r>
              <a:rPr sz="1200" b="0" i="0">
                <a:solidFill>
                  <a:srgbClr val="CCCCCC"/>
                </a:solidFill>
                <a:latin typeface="Helvetica Neue"/>
              </a:rPr>
              <a:t>dittvin DV-03 gør det samme med smag og boksdetalje over folden.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Comforth · Redesign af kurv-drawer</a:t>
            </a:r>
          </a:p>
        </p:txBody>
      </p:sp>
      <p:pic>
        <p:nvPicPr>
          <p:cNvPr id="9" name="Picture 8" descr="case-cfs-cart-control.png"/>
          <p:cNvPicPr>
            <a:picLocks noChangeAspect="1"/>
          </p:cNvPicPr>
          <p:nvPr/>
        </p:nvPicPr>
        <p:blipFill>
          <a:blip r:embed="rId3"/>
          <a:stretch>
            <a:fillRect/>
          </a:stretch>
        </p:blipFill>
        <p:spPr>
          <a:xfrm>
            <a:off x="888361" y="2331720"/>
            <a:ext cx="1652277" cy="3200399"/>
          </a:xfrm>
          <a:prstGeom prst="rect">
            <a:avLst/>
          </a:prstGeom>
        </p:spPr>
      </p:pic>
      <p:sp>
        <p:nvSpPr>
          <p:cNvPr id="10" name="Rounded Rectangle 9"/>
          <p:cNvSpPr/>
          <p:nvPr/>
        </p:nvSpPr>
        <p:spPr>
          <a:xfrm>
            <a:off x="851785" y="2295144"/>
            <a:ext cx="1725429" cy="3273551"/>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se-cfs-cart-variant.png"/>
          <p:cNvPicPr>
            <a:picLocks noChangeAspect="1"/>
          </p:cNvPicPr>
          <p:nvPr/>
        </p:nvPicPr>
        <p:blipFill>
          <a:blip r:embed="rId4"/>
          <a:stretch>
            <a:fillRect/>
          </a:stretch>
        </p:blipFill>
        <p:spPr>
          <a:xfrm>
            <a:off x="3629148" y="2331720"/>
            <a:ext cx="1565663" cy="3200400"/>
          </a:xfrm>
          <a:prstGeom prst="rect">
            <a:avLst/>
          </a:prstGeom>
        </p:spPr>
      </p:pic>
      <p:sp>
        <p:nvSpPr>
          <p:cNvPr id="12" name="Rounded Rectangle 11"/>
          <p:cNvSpPr/>
          <p:nvPr/>
        </p:nvSpPr>
        <p:spPr>
          <a:xfrm>
            <a:off x="3592572" y="2295144"/>
            <a:ext cx="1638815" cy="327355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623560"/>
            <a:ext cx="251460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14" name="TextBox 13"/>
          <p:cNvSpPr txBox="1"/>
          <p:nvPr/>
        </p:nvSpPr>
        <p:spPr>
          <a:xfrm>
            <a:off x="3154680" y="5623560"/>
            <a:ext cx="251460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15" name="Rounded Rectangle 14"/>
          <p:cNvSpPr/>
          <p:nvPr/>
        </p:nvSpPr>
        <p:spPr>
          <a:xfrm>
            <a:off x="5943600" y="2331720"/>
            <a:ext cx="579089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606040"/>
            <a:ext cx="5059375" cy="228600"/>
          </a:xfrm>
          <a:prstGeom prst="rect">
            <a:avLst/>
          </a:prstGeom>
          <a:noFill/>
        </p:spPr>
        <p:txBody>
          <a:bodyPr wrap="square" lIns="0" rIns="0" tIns="0" bIns="0" anchor="t">
            <a:spAutoFit/>
          </a:bodyPr>
          <a:lstStyle/>
          <a:p>
            <a:pPr algn="l"/>
            <a:r>
              <a:rPr sz="1000" b="1" i="0" spc="200">
                <a:solidFill>
                  <a:srgbClr val="F7D007"/>
                </a:solidFill>
                <a:latin typeface="Menlo"/>
              </a:rPr>
              <a:t>OMSÆTNING PR. BESØGENDE (PRIMARY)</a:t>
            </a:r>
          </a:p>
        </p:txBody>
      </p:sp>
      <p:sp>
        <p:nvSpPr>
          <p:cNvPr id="17" name="TextBox 16"/>
          <p:cNvSpPr txBox="1"/>
          <p:nvPr/>
        </p:nvSpPr>
        <p:spPr>
          <a:xfrm>
            <a:off x="6309360" y="2834640"/>
            <a:ext cx="5059375" cy="822960"/>
          </a:xfrm>
          <a:prstGeom prst="rect">
            <a:avLst/>
          </a:prstGeom>
          <a:noFill/>
        </p:spPr>
        <p:txBody>
          <a:bodyPr wrap="square" lIns="0" rIns="0" tIns="0" bIns="0" anchor="t">
            <a:spAutoFit/>
          </a:bodyPr>
          <a:lstStyle/>
          <a:p>
            <a:pPr algn="l"/>
            <a:r>
              <a:rPr sz="5000" b="1" i="0">
                <a:solidFill>
                  <a:srgbClr val="F7D007"/>
                </a:solidFill>
                <a:latin typeface="Menlo"/>
              </a:rPr>
              <a:t>+15,52%</a:t>
            </a:r>
          </a:p>
        </p:txBody>
      </p:sp>
      <p:sp>
        <p:nvSpPr>
          <p:cNvPr id="18" name="TextBox 17"/>
          <p:cNvSpPr txBox="1"/>
          <p:nvPr/>
        </p:nvSpPr>
        <p:spPr>
          <a:xfrm>
            <a:off x="6309360" y="3749040"/>
            <a:ext cx="5059375" cy="320040"/>
          </a:xfrm>
          <a:prstGeom prst="rect">
            <a:avLst/>
          </a:prstGeom>
          <a:noFill/>
        </p:spPr>
        <p:txBody>
          <a:bodyPr wrap="square" lIns="0" rIns="0" tIns="0" bIns="0" anchor="t">
            <a:spAutoFit/>
          </a:bodyPr>
          <a:lstStyle/>
          <a:p>
            <a:pPr algn="l"/>
            <a:r>
              <a:rPr sz="1400" b="1" i="0">
                <a:solidFill>
                  <a:srgbClr val="FFFFFF"/>
                </a:solidFill>
                <a:latin typeface="Menlo"/>
              </a:rPr>
              <a:t>+171.285 kr / måned projekteret</a:t>
            </a:r>
          </a:p>
        </p:txBody>
      </p:sp>
      <p:sp>
        <p:nvSpPr>
          <p:cNvPr id="19" name="Rectangle 18"/>
          <p:cNvSpPr/>
          <p:nvPr/>
        </p:nvSpPr>
        <p:spPr>
          <a:xfrm>
            <a:off x="6309360" y="4206239"/>
            <a:ext cx="505937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361688"/>
            <a:ext cx="1554480" cy="228600"/>
          </a:xfrm>
          <a:prstGeom prst="rect">
            <a:avLst/>
          </a:prstGeom>
          <a:noFill/>
        </p:spPr>
        <p:txBody>
          <a:bodyPr wrap="square" lIns="0" rIns="0" tIns="0" bIns="0" anchor="t">
            <a:spAutoFit/>
          </a:bodyPr>
          <a:lstStyle/>
          <a:p>
            <a:pPr algn="l"/>
            <a:r>
              <a:rPr sz="900" b="1" i="0" spc="150">
                <a:solidFill>
                  <a:srgbClr val="999999"/>
                </a:solidFill>
                <a:latin typeface="Helvetica Neue"/>
              </a:rPr>
              <a:t>METRIC</a:t>
            </a:r>
          </a:p>
        </p:txBody>
      </p:sp>
      <p:sp>
        <p:nvSpPr>
          <p:cNvPr id="21" name="TextBox 20"/>
          <p:cNvSpPr txBox="1"/>
          <p:nvPr/>
        </p:nvSpPr>
        <p:spPr>
          <a:xfrm>
            <a:off x="7955280" y="4361688"/>
            <a:ext cx="1280160" cy="228600"/>
          </a:xfrm>
          <a:prstGeom prst="rect">
            <a:avLst/>
          </a:prstGeom>
          <a:noFill/>
        </p:spPr>
        <p:txBody>
          <a:bodyPr wrap="square" lIns="0" rIns="0" tIns="0" bIns="0" anchor="t">
            <a:spAutoFit/>
          </a:bodyPr>
          <a:lstStyle/>
          <a:p>
            <a:pPr algn="r"/>
            <a:r>
              <a:rPr sz="900" b="1" i="0" spc="150">
                <a:solidFill>
                  <a:srgbClr val="999999"/>
                </a:solidFill>
                <a:latin typeface="Helvetica Neue"/>
              </a:rPr>
              <a:t>CONTROL</a:t>
            </a:r>
          </a:p>
        </p:txBody>
      </p:sp>
      <p:sp>
        <p:nvSpPr>
          <p:cNvPr id="22" name="TextBox 21"/>
          <p:cNvSpPr txBox="1"/>
          <p:nvPr/>
        </p:nvSpPr>
        <p:spPr>
          <a:xfrm>
            <a:off x="9326880" y="4361688"/>
            <a:ext cx="1280160" cy="228600"/>
          </a:xfrm>
          <a:prstGeom prst="rect">
            <a:avLst/>
          </a:prstGeom>
          <a:noFill/>
        </p:spPr>
        <p:txBody>
          <a:bodyPr wrap="square" lIns="0" rIns="0" tIns="0" bIns="0" anchor="t">
            <a:spAutoFit/>
          </a:bodyPr>
          <a:lstStyle/>
          <a:p>
            <a:pPr algn="r"/>
            <a:r>
              <a:rPr sz="900" b="1" i="0" spc="150">
                <a:solidFill>
                  <a:srgbClr val="F7D007"/>
                </a:solidFill>
                <a:latin typeface="Helvetica Neue"/>
              </a:rPr>
              <a:t>VARIANT</a:t>
            </a:r>
          </a:p>
        </p:txBody>
      </p:sp>
      <p:sp>
        <p:nvSpPr>
          <p:cNvPr id="23" name="TextBox 22"/>
          <p:cNvSpPr txBox="1"/>
          <p:nvPr/>
        </p:nvSpPr>
        <p:spPr>
          <a:xfrm>
            <a:off x="10607040" y="4361688"/>
            <a:ext cx="1005840" cy="228600"/>
          </a:xfrm>
          <a:prstGeom prst="rect">
            <a:avLst/>
          </a:prstGeom>
          <a:noFill/>
        </p:spPr>
        <p:txBody>
          <a:bodyPr wrap="square" lIns="0" rIns="0" tIns="0" bIns="0" anchor="t">
            <a:spAutoFit/>
          </a:bodyPr>
          <a:lstStyle/>
          <a:p>
            <a:pPr algn="r"/>
            <a:r>
              <a:rPr sz="900" b="1" i="0" spc="150">
                <a:solidFill>
                  <a:srgbClr val="999999"/>
                </a:solidFill>
                <a:latin typeface="Helvetica Neue"/>
              </a:rPr>
              <a:t>Δ</a:t>
            </a:r>
          </a:p>
        </p:txBody>
      </p:sp>
      <p:sp>
        <p:nvSpPr>
          <p:cNvPr id="24" name="TextBox 23"/>
          <p:cNvSpPr txBox="1"/>
          <p:nvPr/>
        </p:nvSpPr>
        <p:spPr>
          <a:xfrm>
            <a:off x="6309360" y="469087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Omsætning / besøgende</a:t>
            </a:r>
          </a:p>
        </p:txBody>
      </p:sp>
      <p:sp>
        <p:nvSpPr>
          <p:cNvPr id="25" name="TextBox 24"/>
          <p:cNvSpPr txBox="1"/>
          <p:nvPr/>
        </p:nvSpPr>
        <p:spPr>
          <a:xfrm>
            <a:off x="7955280" y="4690872"/>
            <a:ext cx="1280160" cy="228600"/>
          </a:xfrm>
          <a:prstGeom prst="rect">
            <a:avLst/>
          </a:prstGeom>
          <a:noFill/>
        </p:spPr>
        <p:txBody>
          <a:bodyPr wrap="square" lIns="0" rIns="0" tIns="0" bIns="0" anchor="t">
            <a:spAutoFit/>
          </a:bodyPr>
          <a:lstStyle/>
          <a:p>
            <a:pPr algn="r"/>
            <a:r>
              <a:rPr sz="1000" b="0" i="0">
                <a:solidFill>
                  <a:srgbClr val="CCCCCC"/>
                </a:solidFill>
                <a:latin typeface="Menlo"/>
              </a:rPr>
              <a:t>20,14 kr</a:t>
            </a:r>
          </a:p>
        </p:txBody>
      </p:sp>
      <p:sp>
        <p:nvSpPr>
          <p:cNvPr id="26" name="TextBox 25"/>
          <p:cNvSpPr txBox="1"/>
          <p:nvPr/>
        </p:nvSpPr>
        <p:spPr>
          <a:xfrm>
            <a:off x="9326880" y="4690872"/>
            <a:ext cx="1280160" cy="228600"/>
          </a:xfrm>
          <a:prstGeom prst="rect">
            <a:avLst/>
          </a:prstGeom>
          <a:noFill/>
        </p:spPr>
        <p:txBody>
          <a:bodyPr wrap="square" lIns="0" rIns="0" tIns="0" bIns="0" anchor="t">
            <a:spAutoFit/>
          </a:bodyPr>
          <a:lstStyle/>
          <a:p>
            <a:pPr algn="r"/>
            <a:r>
              <a:rPr sz="1000" b="1" i="0">
                <a:solidFill>
                  <a:srgbClr val="FFFFFF"/>
                </a:solidFill>
                <a:latin typeface="Menlo"/>
              </a:rPr>
              <a:t>23,26 kr</a:t>
            </a:r>
          </a:p>
        </p:txBody>
      </p:sp>
      <p:sp>
        <p:nvSpPr>
          <p:cNvPr id="27" name="TextBox 26"/>
          <p:cNvSpPr txBox="1"/>
          <p:nvPr/>
        </p:nvSpPr>
        <p:spPr>
          <a:xfrm>
            <a:off x="10607040" y="4690872"/>
            <a:ext cx="1005840" cy="228600"/>
          </a:xfrm>
          <a:prstGeom prst="rect">
            <a:avLst/>
          </a:prstGeom>
          <a:noFill/>
        </p:spPr>
        <p:txBody>
          <a:bodyPr wrap="square" lIns="0" rIns="0" tIns="0" bIns="0" anchor="t">
            <a:spAutoFit/>
          </a:bodyPr>
          <a:lstStyle/>
          <a:p>
            <a:pPr algn="r"/>
            <a:r>
              <a:rPr sz="1000" b="1" i="0">
                <a:solidFill>
                  <a:srgbClr val="F7D007"/>
                </a:solidFill>
                <a:latin typeface="Menlo"/>
              </a:rPr>
              <a:t>+15,52%</a:t>
            </a:r>
          </a:p>
        </p:txBody>
      </p:sp>
      <p:sp>
        <p:nvSpPr>
          <p:cNvPr id="28" name="TextBox 27"/>
          <p:cNvSpPr txBox="1"/>
          <p:nvPr/>
        </p:nvSpPr>
        <p:spPr>
          <a:xfrm>
            <a:off x="6309360" y="505663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Verdict</a:t>
            </a:r>
          </a:p>
        </p:txBody>
      </p:sp>
      <p:sp>
        <p:nvSpPr>
          <p:cNvPr id="29" name="TextBox 28"/>
          <p:cNvSpPr txBox="1"/>
          <p:nvPr/>
        </p:nvSpPr>
        <p:spPr>
          <a:xfrm>
            <a:off x="9326880" y="5056632"/>
            <a:ext cx="1280160" cy="228600"/>
          </a:xfrm>
          <a:prstGeom prst="rect">
            <a:avLst/>
          </a:prstGeom>
          <a:noFill/>
        </p:spPr>
        <p:txBody>
          <a:bodyPr wrap="square" lIns="0" rIns="0" tIns="0" bIns="0" anchor="t">
            <a:spAutoFit/>
          </a:bodyPr>
          <a:lstStyle/>
          <a:p>
            <a:pPr algn="r"/>
            <a:r>
              <a:rPr sz="1000" b="1" i="0">
                <a:solidFill>
                  <a:srgbClr val="22C55E"/>
                </a:solidFill>
                <a:latin typeface="Menlo"/>
              </a:rPr>
              <a:t>Winner</a:t>
            </a:r>
          </a:p>
        </p:txBody>
      </p:sp>
      <p:sp>
        <p:nvSpPr>
          <p:cNvPr id="30" name="TextBox 29"/>
          <p:cNvSpPr txBox="1"/>
          <p:nvPr/>
        </p:nvSpPr>
        <p:spPr>
          <a:xfrm>
            <a:off x="457200" y="6382512"/>
            <a:ext cx="11277295" cy="365760"/>
          </a:xfrm>
          <a:prstGeom prst="rect">
            <a:avLst/>
          </a:prstGeom>
          <a:noFill/>
        </p:spPr>
        <p:txBody>
          <a:bodyPr wrap="square" lIns="0" rIns="0" tIns="0" bIns="0" anchor="t">
            <a:spAutoFit/>
          </a:bodyPr>
          <a:lstStyle/>
          <a:p>
            <a:pPr algn="ctr"/>
            <a:r>
              <a:rPr sz="1200" b="0" i="0">
                <a:solidFill>
                  <a:srgbClr val="CCCCCC"/>
                </a:solidFill>
                <a:latin typeface="Helvetica Neue"/>
              </a:rPr>
              <a:t>dittvin DV-02 rammer den samme lækage fra kurv til checkout.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IWAO</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IWAO · Tillidssektion på en high-AOV PDP</a:t>
            </a:r>
          </a:p>
        </p:txBody>
      </p:sp>
      <p:pic>
        <p:nvPicPr>
          <p:cNvPr id="9" name="Picture 8" descr="case-iwao-trust-control.png"/>
          <p:cNvPicPr>
            <a:picLocks noChangeAspect="1"/>
          </p:cNvPicPr>
          <p:nvPr/>
        </p:nvPicPr>
        <p:blipFill>
          <a:blip r:embed="rId3"/>
          <a:stretch>
            <a:fillRect/>
          </a:stretch>
        </p:blipFill>
        <p:spPr>
          <a:xfrm>
            <a:off x="457200" y="3328180"/>
            <a:ext cx="2514600" cy="1207479"/>
          </a:xfrm>
          <a:prstGeom prst="rect">
            <a:avLst/>
          </a:prstGeom>
        </p:spPr>
      </p:pic>
      <p:sp>
        <p:nvSpPr>
          <p:cNvPr id="10" name="Rounded Rectangle 9"/>
          <p:cNvSpPr/>
          <p:nvPr/>
        </p:nvSpPr>
        <p:spPr>
          <a:xfrm>
            <a:off x="420624" y="3291604"/>
            <a:ext cx="2587752" cy="1280631"/>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se-iwao-trust-variant.png"/>
          <p:cNvPicPr>
            <a:picLocks noChangeAspect="1"/>
          </p:cNvPicPr>
          <p:nvPr/>
        </p:nvPicPr>
        <p:blipFill>
          <a:blip r:embed="rId4"/>
          <a:stretch>
            <a:fillRect/>
          </a:stretch>
        </p:blipFill>
        <p:spPr>
          <a:xfrm>
            <a:off x="3154680" y="3376568"/>
            <a:ext cx="2514600" cy="1110703"/>
          </a:xfrm>
          <a:prstGeom prst="rect">
            <a:avLst/>
          </a:prstGeom>
        </p:spPr>
      </p:pic>
      <p:sp>
        <p:nvSpPr>
          <p:cNvPr id="12" name="Rounded Rectangle 11"/>
          <p:cNvSpPr/>
          <p:nvPr/>
        </p:nvSpPr>
        <p:spPr>
          <a:xfrm>
            <a:off x="3118104" y="3339992"/>
            <a:ext cx="2587752" cy="1183855"/>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623560"/>
            <a:ext cx="251460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14" name="TextBox 13"/>
          <p:cNvSpPr txBox="1"/>
          <p:nvPr/>
        </p:nvSpPr>
        <p:spPr>
          <a:xfrm>
            <a:off x="3154680" y="5623560"/>
            <a:ext cx="251460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15" name="Rounded Rectangle 14"/>
          <p:cNvSpPr/>
          <p:nvPr/>
        </p:nvSpPr>
        <p:spPr>
          <a:xfrm>
            <a:off x="5943600" y="2331720"/>
            <a:ext cx="579089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606040"/>
            <a:ext cx="5059375" cy="228600"/>
          </a:xfrm>
          <a:prstGeom prst="rect">
            <a:avLst/>
          </a:prstGeom>
          <a:noFill/>
        </p:spPr>
        <p:txBody>
          <a:bodyPr wrap="square" lIns="0" rIns="0" tIns="0" bIns="0" anchor="t">
            <a:spAutoFit/>
          </a:bodyPr>
          <a:lstStyle/>
          <a:p>
            <a:pPr algn="l"/>
            <a:r>
              <a:rPr sz="1000" b="1" i="0" spc="200">
                <a:solidFill>
                  <a:srgbClr val="F7D007"/>
                </a:solidFill>
                <a:latin typeface="Menlo"/>
              </a:rPr>
              <a:t>LÆG I KURV-RATE (PRIMARY)</a:t>
            </a:r>
          </a:p>
        </p:txBody>
      </p:sp>
      <p:sp>
        <p:nvSpPr>
          <p:cNvPr id="17" name="TextBox 16"/>
          <p:cNvSpPr txBox="1"/>
          <p:nvPr/>
        </p:nvSpPr>
        <p:spPr>
          <a:xfrm>
            <a:off x="6309360" y="2834640"/>
            <a:ext cx="5059375" cy="822960"/>
          </a:xfrm>
          <a:prstGeom prst="rect">
            <a:avLst/>
          </a:prstGeom>
          <a:noFill/>
        </p:spPr>
        <p:txBody>
          <a:bodyPr wrap="square" lIns="0" rIns="0" tIns="0" bIns="0" anchor="t">
            <a:spAutoFit/>
          </a:bodyPr>
          <a:lstStyle/>
          <a:p>
            <a:pPr algn="l"/>
            <a:r>
              <a:rPr sz="5000" b="1" i="0">
                <a:solidFill>
                  <a:srgbClr val="F7D007"/>
                </a:solidFill>
                <a:latin typeface="Menlo"/>
              </a:rPr>
              <a:t>+38,03%</a:t>
            </a:r>
          </a:p>
        </p:txBody>
      </p:sp>
      <p:sp>
        <p:nvSpPr>
          <p:cNvPr id="18" name="TextBox 17"/>
          <p:cNvSpPr txBox="1"/>
          <p:nvPr/>
        </p:nvSpPr>
        <p:spPr>
          <a:xfrm>
            <a:off x="6309360" y="3749040"/>
            <a:ext cx="5059375" cy="320040"/>
          </a:xfrm>
          <a:prstGeom prst="rect">
            <a:avLst/>
          </a:prstGeom>
          <a:noFill/>
        </p:spPr>
        <p:txBody>
          <a:bodyPr wrap="square" lIns="0" rIns="0" tIns="0" bIns="0" anchor="t">
            <a:spAutoFit/>
          </a:bodyPr>
          <a:lstStyle/>
          <a:p>
            <a:pPr algn="l"/>
            <a:r>
              <a:rPr sz="1400" b="1" i="0">
                <a:solidFill>
                  <a:srgbClr val="FFFFFF"/>
                </a:solidFill>
                <a:latin typeface="Menlo"/>
              </a:rPr>
              <a:t>+27.931 kr / måned projekteret</a:t>
            </a:r>
          </a:p>
        </p:txBody>
      </p:sp>
      <p:sp>
        <p:nvSpPr>
          <p:cNvPr id="19" name="Rectangle 18"/>
          <p:cNvSpPr/>
          <p:nvPr/>
        </p:nvSpPr>
        <p:spPr>
          <a:xfrm>
            <a:off x="6309360" y="4206239"/>
            <a:ext cx="505937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361688"/>
            <a:ext cx="1554480" cy="228600"/>
          </a:xfrm>
          <a:prstGeom prst="rect">
            <a:avLst/>
          </a:prstGeom>
          <a:noFill/>
        </p:spPr>
        <p:txBody>
          <a:bodyPr wrap="square" lIns="0" rIns="0" tIns="0" bIns="0" anchor="t">
            <a:spAutoFit/>
          </a:bodyPr>
          <a:lstStyle/>
          <a:p>
            <a:pPr algn="l"/>
            <a:r>
              <a:rPr sz="900" b="1" i="0" spc="150">
                <a:solidFill>
                  <a:srgbClr val="999999"/>
                </a:solidFill>
                <a:latin typeface="Helvetica Neue"/>
              </a:rPr>
              <a:t>METRIC</a:t>
            </a:r>
          </a:p>
        </p:txBody>
      </p:sp>
      <p:sp>
        <p:nvSpPr>
          <p:cNvPr id="21" name="TextBox 20"/>
          <p:cNvSpPr txBox="1"/>
          <p:nvPr/>
        </p:nvSpPr>
        <p:spPr>
          <a:xfrm>
            <a:off x="7955280" y="4361688"/>
            <a:ext cx="1280160" cy="228600"/>
          </a:xfrm>
          <a:prstGeom prst="rect">
            <a:avLst/>
          </a:prstGeom>
          <a:noFill/>
        </p:spPr>
        <p:txBody>
          <a:bodyPr wrap="square" lIns="0" rIns="0" tIns="0" bIns="0" anchor="t">
            <a:spAutoFit/>
          </a:bodyPr>
          <a:lstStyle/>
          <a:p>
            <a:pPr algn="r"/>
            <a:r>
              <a:rPr sz="900" b="1" i="0" spc="150">
                <a:solidFill>
                  <a:srgbClr val="999999"/>
                </a:solidFill>
                <a:latin typeface="Helvetica Neue"/>
              </a:rPr>
              <a:t>CONTROL</a:t>
            </a:r>
          </a:p>
        </p:txBody>
      </p:sp>
      <p:sp>
        <p:nvSpPr>
          <p:cNvPr id="22" name="TextBox 21"/>
          <p:cNvSpPr txBox="1"/>
          <p:nvPr/>
        </p:nvSpPr>
        <p:spPr>
          <a:xfrm>
            <a:off x="9326880" y="4361688"/>
            <a:ext cx="1280160" cy="228600"/>
          </a:xfrm>
          <a:prstGeom prst="rect">
            <a:avLst/>
          </a:prstGeom>
          <a:noFill/>
        </p:spPr>
        <p:txBody>
          <a:bodyPr wrap="square" lIns="0" rIns="0" tIns="0" bIns="0" anchor="t">
            <a:spAutoFit/>
          </a:bodyPr>
          <a:lstStyle/>
          <a:p>
            <a:pPr algn="r"/>
            <a:r>
              <a:rPr sz="900" b="1" i="0" spc="150">
                <a:solidFill>
                  <a:srgbClr val="F7D007"/>
                </a:solidFill>
                <a:latin typeface="Helvetica Neue"/>
              </a:rPr>
              <a:t>VARIANT</a:t>
            </a:r>
          </a:p>
        </p:txBody>
      </p:sp>
      <p:sp>
        <p:nvSpPr>
          <p:cNvPr id="23" name="TextBox 22"/>
          <p:cNvSpPr txBox="1"/>
          <p:nvPr/>
        </p:nvSpPr>
        <p:spPr>
          <a:xfrm>
            <a:off x="10607040" y="4361688"/>
            <a:ext cx="1005840" cy="228600"/>
          </a:xfrm>
          <a:prstGeom prst="rect">
            <a:avLst/>
          </a:prstGeom>
          <a:noFill/>
        </p:spPr>
        <p:txBody>
          <a:bodyPr wrap="square" lIns="0" rIns="0" tIns="0" bIns="0" anchor="t">
            <a:spAutoFit/>
          </a:bodyPr>
          <a:lstStyle/>
          <a:p>
            <a:pPr algn="r"/>
            <a:r>
              <a:rPr sz="900" b="1" i="0" spc="150">
                <a:solidFill>
                  <a:srgbClr val="999999"/>
                </a:solidFill>
                <a:latin typeface="Helvetica Neue"/>
              </a:rPr>
              <a:t>Δ</a:t>
            </a:r>
          </a:p>
        </p:txBody>
      </p:sp>
      <p:sp>
        <p:nvSpPr>
          <p:cNvPr id="24" name="TextBox 23"/>
          <p:cNvSpPr txBox="1"/>
          <p:nvPr/>
        </p:nvSpPr>
        <p:spPr>
          <a:xfrm>
            <a:off x="6309360" y="469087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Læg i kurv-rate</a:t>
            </a:r>
          </a:p>
        </p:txBody>
      </p:sp>
      <p:sp>
        <p:nvSpPr>
          <p:cNvPr id="25" name="TextBox 24"/>
          <p:cNvSpPr txBox="1"/>
          <p:nvPr/>
        </p:nvSpPr>
        <p:spPr>
          <a:xfrm>
            <a:off x="7955280" y="4690872"/>
            <a:ext cx="1280160" cy="228600"/>
          </a:xfrm>
          <a:prstGeom prst="rect">
            <a:avLst/>
          </a:prstGeom>
          <a:noFill/>
        </p:spPr>
        <p:txBody>
          <a:bodyPr wrap="square" lIns="0" rIns="0" tIns="0" bIns="0" anchor="t">
            <a:spAutoFit/>
          </a:bodyPr>
          <a:lstStyle/>
          <a:p>
            <a:pPr algn="r"/>
            <a:r>
              <a:rPr sz="1000" b="0" i="0">
                <a:solidFill>
                  <a:srgbClr val="CCCCCC"/>
                </a:solidFill>
                <a:latin typeface="Menlo"/>
              </a:rPr>
              <a:t>11,36 %</a:t>
            </a:r>
          </a:p>
        </p:txBody>
      </p:sp>
      <p:sp>
        <p:nvSpPr>
          <p:cNvPr id="26" name="TextBox 25"/>
          <p:cNvSpPr txBox="1"/>
          <p:nvPr/>
        </p:nvSpPr>
        <p:spPr>
          <a:xfrm>
            <a:off x="9326880" y="4690872"/>
            <a:ext cx="1280160" cy="228600"/>
          </a:xfrm>
          <a:prstGeom prst="rect">
            <a:avLst/>
          </a:prstGeom>
          <a:noFill/>
        </p:spPr>
        <p:txBody>
          <a:bodyPr wrap="square" lIns="0" rIns="0" tIns="0" bIns="0" anchor="t">
            <a:spAutoFit/>
          </a:bodyPr>
          <a:lstStyle/>
          <a:p>
            <a:pPr algn="r"/>
            <a:r>
              <a:rPr sz="1000" b="1" i="0">
                <a:solidFill>
                  <a:srgbClr val="FFFFFF"/>
                </a:solidFill>
                <a:latin typeface="Menlo"/>
              </a:rPr>
              <a:t>15,68 %</a:t>
            </a:r>
          </a:p>
        </p:txBody>
      </p:sp>
      <p:sp>
        <p:nvSpPr>
          <p:cNvPr id="27" name="TextBox 26"/>
          <p:cNvSpPr txBox="1"/>
          <p:nvPr/>
        </p:nvSpPr>
        <p:spPr>
          <a:xfrm>
            <a:off x="10607040" y="4690872"/>
            <a:ext cx="1005840" cy="228600"/>
          </a:xfrm>
          <a:prstGeom prst="rect">
            <a:avLst/>
          </a:prstGeom>
          <a:noFill/>
        </p:spPr>
        <p:txBody>
          <a:bodyPr wrap="square" lIns="0" rIns="0" tIns="0" bIns="0" anchor="t">
            <a:spAutoFit/>
          </a:bodyPr>
          <a:lstStyle/>
          <a:p>
            <a:pPr algn="r"/>
            <a:r>
              <a:rPr sz="1000" b="1" i="0">
                <a:solidFill>
                  <a:srgbClr val="F7D007"/>
                </a:solidFill>
                <a:latin typeface="Menlo"/>
              </a:rPr>
              <a:t>+38,03%</a:t>
            </a:r>
          </a:p>
        </p:txBody>
      </p:sp>
      <p:sp>
        <p:nvSpPr>
          <p:cNvPr id="28" name="TextBox 27"/>
          <p:cNvSpPr txBox="1"/>
          <p:nvPr/>
        </p:nvSpPr>
        <p:spPr>
          <a:xfrm>
            <a:off x="6309360" y="505663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Verdict</a:t>
            </a:r>
          </a:p>
        </p:txBody>
      </p:sp>
      <p:sp>
        <p:nvSpPr>
          <p:cNvPr id="29" name="TextBox 28"/>
          <p:cNvSpPr txBox="1"/>
          <p:nvPr/>
        </p:nvSpPr>
        <p:spPr>
          <a:xfrm>
            <a:off x="9326880" y="5056632"/>
            <a:ext cx="1280160" cy="228600"/>
          </a:xfrm>
          <a:prstGeom prst="rect">
            <a:avLst/>
          </a:prstGeom>
          <a:noFill/>
        </p:spPr>
        <p:txBody>
          <a:bodyPr wrap="square" lIns="0" rIns="0" tIns="0" bIns="0" anchor="t">
            <a:spAutoFit/>
          </a:bodyPr>
          <a:lstStyle/>
          <a:p>
            <a:pPr algn="r"/>
            <a:r>
              <a:rPr sz="1000" b="1" i="0">
                <a:solidFill>
                  <a:srgbClr val="22C55E"/>
                </a:solidFill>
                <a:latin typeface="Menlo"/>
              </a:rPr>
              <a:t>Winner</a:t>
            </a:r>
          </a:p>
        </p:txBody>
      </p:sp>
      <p:sp>
        <p:nvSpPr>
          <p:cNvPr id="30" name="TextBox 29"/>
          <p:cNvSpPr txBox="1"/>
          <p:nvPr/>
        </p:nvSpPr>
        <p:spPr>
          <a:xfrm>
            <a:off x="457200" y="6382512"/>
            <a:ext cx="11277295" cy="365760"/>
          </a:xfrm>
          <a:prstGeom prst="rect">
            <a:avLst/>
          </a:prstGeom>
          <a:noFill/>
        </p:spPr>
        <p:txBody>
          <a:bodyPr wrap="square" lIns="0" rIns="0" tIns="0" bIns="0" anchor="t">
            <a:spAutoFit/>
          </a:bodyPr>
          <a:lstStyle/>
          <a:p>
            <a:pPr algn="ctr"/>
            <a:r>
              <a:rPr sz="1200" b="0" i="0">
                <a:solidFill>
                  <a:srgbClr val="CCCCCC"/>
                </a:solidFill>
                <a:latin typeface="Helvetica Neue"/>
              </a:rPr>
              <a:t>IWAO sælger DKK 8K til 125K. dittvin DV-01 legalitets- og tryghedsblok er samme træk for monopolmarkedet.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63</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64</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Tak</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Anbefalet første sprint: lovlighedstillidsblok, leveringsløfte, klarhed om fragt i kurven</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Bhaskar Roy · CRO-audit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