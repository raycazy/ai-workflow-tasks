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Anbefalede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De første tre tests, hver med en hypotese, en primær metric og et forhåndsaftalt mål. Bygget og QA'et af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legalitets- og tryghedsblok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af produktbesøgende lægger aldrig i kurv.</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Ingen legalitetstekst på siden i et monopolmarked.</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af køberne er førstegangskøbere og nye i privatimport.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besvare "er det lovligt?" ved købsboksen (dansk import, Skatteverket, moms inkluderet) fjerner den største indvending og løfter læg i kurv for nye købere.</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Visning til læg i kurv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til køb</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Konverteringsrate for nye besøgende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LEGALITETSBLOK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Kurv-drawer: leveringsklarhed</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af læg i kurv starter aldrig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Leveringsestimat er skjult; "1-3 dagar"-løftet holder ikke.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Fri fragt er stille kun Airmee, hvilket forvirrer købere.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fremhæve en ærlig levering på 2 til 5 dage med valgbar dag, plus moms inkluderet og betalingstryghed ved checkout, genvinder lækagen fra kurv til checkout.</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Kurv til startet checkout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Gennemført checkout</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Omsætning pr.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Kurv→CO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1,5-1,8M/kvt</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KURV-KLARHED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Box-PDP: AOV-stige og smagsdetalje</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Bokse er 76% af omsætningen; gns. boks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Premium-niveauer på 700 SEK+ findes, men sælger i lavt volumen.</a:t>
            </a:r>
          </a:p>
        </p:txBody>
      </p:sp>
      <p:sp>
        <p:nvSpPr>
          <p:cNvPr id="17" name="TextBox 16"/>
          <p:cNvSpPr txBox="1"/>
          <p:nvPr/>
        </p:nvSpPr>
        <p:spPr>
          <a:xfrm>
            <a:off x="457200" y="307238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307238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Købere kan ikke smage; 14% af klager handler om smag.</a:t>
            </a:r>
          </a:p>
        </p:txBody>
      </p:sp>
      <p:sp>
        <p:nvSpPr>
          <p:cNvPr id="19" name="TextBox 18"/>
          <p:cNvSpPr txBox="1"/>
          <p:nvPr/>
        </p:nvSpPr>
        <p:spPr>
          <a:xfrm>
            <a:off x="457200" y="3401568"/>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621024"/>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749040"/>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En niveaustige (6 / 12 XL / 12 Guld) med pris pr. flaske og en smagsprofil pr. vin løfter ordreværdi og læg i kurv ved at fjerne risikoen ved en blind boks.</a:t>
            </a:r>
          </a:p>
        </p:txBody>
      </p:sp>
      <p:sp>
        <p:nvSpPr>
          <p:cNvPr id="22" name="TextBox 21"/>
          <p:cNvSpPr txBox="1"/>
          <p:nvPr/>
        </p:nvSpPr>
        <p:spPr>
          <a:xfrm>
            <a:off x="457200" y="4572000"/>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791456"/>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19472"/>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919472"/>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Omsætning pr. session (primær)</a:t>
            </a:r>
          </a:p>
        </p:txBody>
      </p:sp>
      <p:sp>
        <p:nvSpPr>
          <p:cNvPr id="26" name="TextBox 25"/>
          <p:cNvSpPr txBox="1"/>
          <p:nvPr/>
        </p:nvSpPr>
        <p:spPr>
          <a:xfrm>
            <a:off x="457200" y="5175504"/>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175504"/>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Gennemsnitlig ordreværdi</a:t>
            </a:r>
          </a:p>
        </p:txBody>
      </p:sp>
      <p:sp>
        <p:nvSpPr>
          <p:cNvPr id="28" name="TextBox 27"/>
          <p:cNvSpPr txBox="1"/>
          <p:nvPr/>
        </p:nvSpPr>
        <p:spPr>
          <a:xfrm>
            <a:off x="457200" y="5431536"/>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431536"/>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Læg i kurv-rate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AOV-STIGE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Sådan arbejder vi med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Du godkender, vi eksekverer. Fra research til udrulning, betalt på gevinsterne. Seneste resultater fra andre kunder.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Produkt-tags på produktsiden</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+10,83%</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OMSÆTNING PR. BESØGENDE</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kontrol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27,37</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30,34</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183.515 DKK / md</a:t>
            </a:r>
          </a:p>
        </p:txBody>
      </p:sp>
      <p:pic>
        <p:nvPicPr>
          <p:cNvPr id="18" name="Picture 17" descr="case-cfs-tags-control.png"/>
          <p:cNvPicPr>
            <a:picLocks noChangeAspect="1"/>
          </p:cNvPicPr>
          <p:nvPr/>
        </p:nvPicPr>
        <p:blipFill>
          <a:blip r:embed="rId3"/>
          <a:stretch>
            <a:fillRect/>
          </a:stretch>
        </p:blipFill>
        <p:spPr>
          <a:xfrm>
            <a:off x="2639869" y="2697480"/>
            <a:ext cx="1516996" cy="3291840"/>
          </a:xfrm>
          <a:prstGeom prst="rect">
            <a:avLst/>
          </a:prstGeom>
        </p:spPr>
      </p:pic>
      <p:sp>
        <p:nvSpPr>
          <p:cNvPr id="19" name="Rounded Rectangle 18"/>
          <p:cNvSpPr/>
          <p:nvPr/>
        </p:nvSpPr>
        <p:spPr>
          <a:xfrm>
            <a:off x="2603293" y="2660904"/>
            <a:ext cx="1590148"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cfs-tags-variant.png"/>
          <p:cNvPicPr>
            <a:picLocks noChangeAspect="1"/>
          </p:cNvPicPr>
          <p:nvPr/>
        </p:nvPicPr>
        <p:blipFill>
          <a:blip r:embed="rId4"/>
          <a:stretch>
            <a:fillRect/>
          </a:stretch>
        </p:blipFill>
        <p:spPr>
          <a:xfrm>
            <a:off x="8015405" y="2697480"/>
            <a:ext cx="1555844" cy="3291840"/>
          </a:xfrm>
          <a:prstGeom prst="rect">
            <a:avLst/>
          </a:prstGeom>
        </p:spPr>
      </p:pic>
      <p:sp>
        <p:nvSpPr>
          <p:cNvPr id="21" name="Rounded Rectangle 20"/>
          <p:cNvSpPr/>
          <p:nvPr/>
        </p:nvSpPr>
        <p:spPr>
          <a:xfrm>
            <a:off x="7978829" y="2660904"/>
            <a:ext cx="1628996"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At vise produktinfo over folden løftede RPV 10,83%. dittvin DV-03 gør det samme med smag og boksdetalje.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Redesign af kurv-drawer</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+15,52%</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OMSÆTNING PR. BESØGENDE</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kontrol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20,14</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23,26</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171.285 DKK / md</a:t>
            </a:r>
          </a:p>
        </p:txBody>
      </p:sp>
      <p:pic>
        <p:nvPicPr>
          <p:cNvPr id="18" name="Picture 17" descr="case-cfs-cart-control.png"/>
          <p:cNvPicPr>
            <a:picLocks noChangeAspect="1"/>
          </p:cNvPicPr>
          <p:nvPr/>
        </p:nvPicPr>
        <p:blipFill>
          <a:blip r:embed="rId3"/>
          <a:stretch>
            <a:fillRect/>
          </a:stretch>
        </p:blipFill>
        <p:spPr>
          <a:xfrm>
            <a:off x="2548625" y="2697480"/>
            <a:ext cx="1699484" cy="3291840"/>
          </a:xfrm>
          <a:prstGeom prst="rect">
            <a:avLst/>
          </a:prstGeom>
        </p:spPr>
      </p:pic>
      <p:sp>
        <p:nvSpPr>
          <p:cNvPr id="19" name="Rounded Rectangle 18"/>
          <p:cNvSpPr/>
          <p:nvPr/>
        </p:nvSpPr>
        <p:spPr>
          <a:xfrm>
            <a:off x="2512049" y="2660904"/>
            <a:ext cx="1772636"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cfs-cart-variant.png"/>
          <p:cNvPicPr>
            <a:picLocks noChangeAspect="1"/>
          </p:cNvPicPr>
          <p:nvPr/>
        </p:nvPicPr>
        <p:blipFill>
          <a:blip r:embed="rId4"/>
          <a:stretch>
            <a:fillRect/>
          </a:stretch>
        </p:blipFill>
        <p:spPr>
          <a:xfrm>
            <a:off x="7988129" y="2697480"/>
            <a:ext cx="1610396" cy="3291840"/>
          </a:xfrm>
          <a:prstGeom prst="rect">
            <a:avLst/>
          </a:prstGeom>
        </p:spPr>
      </p:pic>
      <p:sp>
        <p:nvSpPr>
          <p:cNvPr id="21" name="Rounded Rectangle 20"/>
          <p:cNvSpPr/>
          <p:nvPr/>
        </p:nvSpPr>
        <p:spPr>
          <a:xfrm>
            <a:off x="7951553" y="2660904"/>
            <a:ext cx="1683548"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En klarere kurv-drawer med fragt og tryghed løftede RPV 15,52%. dittvin DV-02 rammer den samme checkout-lækage.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IWAO</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Tillidssektion på en high-AOV produktside</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+38,03%</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LÆG I KURV-RATE</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ATC kontrol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11,36</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ATC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15,68</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27.931 DKK / md</a:t>
            </a:r>
          </a:p>
        </p:txBody>
      </p:sp>
      <p:pic>
        <p:nvPicPr>
          <p:cNvPr id="18" name="Picture 17" descr="case-iwao-trust-control.png"/>
          <p:cNvPicPr>
            <a:picLocks noChangeAspect="1"/>
          </p:cNvPicPr>
          <p:nvPr/>
        </p:nvPicPr>
        <p:blipFill>
          <a:blip r:embed="rId3"/>
          <a:stretch>
            <a:fillRect/>
          </a:stretch>
        </p:blipFill>
        <p:spPr>
          <a:xfrm>
            <a:off x="929487" y="3157874"/>
            <a:ext cx="4937760" cy="2371051"/>
          </a:xfrm>
          <a:prstGeom prst="rect">
            <a:avLst/>
          </a:prstGeom>
        </p:spPr>
      </p:pic>
      <p:sp>
        <p:nvSpPr>
          <p:cNvPr id="19" name="Rounded Rectangle 18"/>
          <p:cNvSpPr/>
          <p:nvPr/>
        </p:nvSpPr>
        <p:spPr>
          <a:xfrm>
            <a:off x="892911" y="3121298"/>
            <a:ext cx="5010912" cy="2444203"/>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iwao-trust-variant.png"/>
          <p:cNvPicPr>
            <a:picLocks noChangeAspect="1"/>
          </p:cNvPicPr>
          <p:nvPr/>
        </p:nvPicPr>
        <p:blipFill>
          <a:blip r:embed="rId4"/>
          <a:stretch>
            <a:fillRect/>
          </a:stretch>
        </p:blipFill>
        <p:spPr>
          <a:xfrm>
            <a:off x="6324447" y="3252892"/>
            <a:ext cx="4937760" cy="2181016"/>
          </a:xfrm>
          <a:prstGeom prst="rect">
            <a:avLst/>
          </a:prstGeom>
        </p:spPr>
      </p:pic>
      <p:sp>
        <p:nvSpPr>
          <p:cNvPr id="21" name="Rounded Rectangle 20"/>
          <p:cNvSpPr/>
          <p:nvPr/>
        </p:nvSpPr>
        <p:spPr>
          <a:xfrm>
            <a:off x="6287871" y="3216316"/>
            <a:ext cx="5010912" cy="2254168"/>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IWAO sælger DKK 8K til 125K. En PDP-tillidssektion løftede læg i kurv 38%. dittvin DV-01 legalitets- og tryghedsblok er samme træk for monopolmarkedet.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