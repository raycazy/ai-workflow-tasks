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Recommended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three highest leverage tests to run first, each mocked up on the real page.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01 ·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PDP Legality &amp; Trust Block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Hypothesis: answering "is this legal?" at the buy box lifts add to cart for the first time buyers who are most of the traffic, because the Systembolaget monopoly makes legitimacy the top objection.</a:t>
            </a:r>
          </a:p>
        </p:txBody>
      </p:sp>
      <p:pic>
        <p:nvPicPr>
          <p:cNvPr id="10" name="Picture 9" descr="t1-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mocked on the live PDP</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 plain "Är det lagligt? Ja." block </a:t>
            </a:r>
            <a:r>
              <a:rPr sz="1100" b="0" i="0">
                <a:solidFill>
                  <a:srgbClr val="CCCCCC"/>
                </a:solidFill>
                <a:latin typeface="Helvetica Neue"/>
              </a:rPr>
              <a:t>under the buy box: Danish operator named, Skatteverket distance seller status, tax and VAT already included.</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Trustpilot proof moved to the decision point, </a:t>
            </a:r>
            <a:r>
              <a:rPr sz="1100" b="0" i="0">
                <a:solidFill>
                  <a:srgbClr val="CCCCCC"/>
                </a:solidFill>
                <a:latin typeface="Helvetica Neue"/>
              </a:rPr>
              <a:t>the real 4,7 on 5,985 reviews, a Trygg e-handel mark, and the age check framed as reassurance, not a blocker.</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Honest delivery line </a:t>
            </a:r>
            <a:r>
              <a:rPr sz="1100" b="0" i="0">
                <a:solidFill>
                  <a:srgbClr val="CCCCCC"/>
                </a:solidFill>
                <a:latin typeface="Helvetica Neue"/>
              </a:rPr>
              <a:t>(2 to 5 arbetsdagar) replaces the vague "snabb hemleverans", plus a per bottle price to frame value.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02 · Cart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Cart Drawer: Shipping Clarity &amp; Checkout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Hypothesis: removing shipping and delivery uncertainty inside the cart recovers the biggest leak, where most sessions that reach checkout never complete.</a:t>
            </a:r>
          </a:p>
        </p:txBody>
      </p:sp>
      <p:pic>
        <p:nvPicPr>
          <p:cNvPr id="10" name="Picture 9" descr="t2-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cart drawer, mocked on the live store</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Honest delivery block </a:t>
            </a:r>
            <a:r>
              <a:rPr sz="1100" b="0" i="0">
                <a:solidFill>
                  <a:srgbClr val="CCCCCC"/>
                </a:solidFill>
                <a:latin typeface="Helvetica Neue"/>
              </a:rPr>
              <a:t>with a 2 to 5 day range and a promise you pick the day, replacing the "1-3 dagar" claim behind 86% of complaints.</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Free shipping made unambiguous, </a:t>
            </a:r>
            <a:r>
              <a:rPr sz="1100" b="0" i="0">
                <a:solidFill>
                  <a:srgbClr val="CCCCCC"/>
                </a:solidFill>
                <a:latin typeface="Helvetica Neue"/>
              </a:rPr>
              <a:t>the Airmee condition stated up front and repeated at the total, so no surprise fee later.</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at the moment of payment, </a:t>
            </a:r>
            <a:r>
              <a:rPr sz="1100" b="0" i="0">
                <a:solidFill>
                  <a:srgbClr val="CCCCCC"/>
                </a:solidFill>
                <a:latin typeface="Helvetica Neue"/>
              </a:rPr>
              <a:t>tax and VAT included, Klarna and card marks, "trygg betalning", right before checkout.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03 · Box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PDP: AOV Ladder &amp; Per Wine Taste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Hypothesis: a box tier ladder plus real per wine detail lifts order value and add to cart, because it removes the blind box risk behind the "how does it taste" objection.</a:t>
            </a:r>
          </a:p>
        </p:txBody>
      </p:sp>
      <p:pic>
        <p:nvPicPr>
          <p:cNvPr id="10" name="Picture 9" descr="t3-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box page, mocked on the live PDP</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 three tier box ladder </a:t>
            </a:r>
            <a:r>
              <a:rPr sz="1100" b="0" i="0">
                <a:solidFill>
                  <a:srgbClr val="CCCCCC"/>
                </a:solidFill>
                <a:latin typeface="Helvetica Neue"/>
              </a:rPr>
              <a:t>(6, 12 XL, 12 Guld) with the 12 XL preselected as "populärast", anchoring buyers up from 567 toward the 700 SEK plus tiers.</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Per bottle value math </a:t>
            </a:r>
            <a:r>
              <a:rPr sz="1100" b="0" i="0">
                <a:solidFill>
                  <a:srgbClr val="CCCCCC"/>
                </a:solidFill>
                <a:latin typeface="Helvetica Neue"/>
              </a:rPr>
              <a:t>(53 kr per bottle on the XL) makes the bigger box read as the smart buy, not the expensive one.</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"Vad ingår" opens the blind box, </a:t>
            </a:r>
            <a:r>
              <a:rPr sz="1100" b="0" i="0">
                <a:solidFill>
                  <a:srgbClr val="CCCCCC"/>
                </a:solidFill>
                <a:latin typeface="Helvetica Neue"/>
              </a:rPr>
              <a:t>named wines, region, Vivino scores and a dry to sweet scale that answer the taste objection before it forms.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Working With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How we test, and how we charge.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Working With EcomHouse · Method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How We Work: Six Steps, End to End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 zero row service. You approve, we execute. Every step is owned by us, from research through build, QA and rollout. Your only required action is written approval at the brief and rollout stages.</a:t>
            </a:r>
          </a:p>
        </p:txBody>
      </p:sp>
      <p:graphicFrame>
        <p:nvGraphicFramePr>
          <p:cNvPr id="10" name="Table 9"/>
          <p:cNvGraphicFramePr>
            <a:graphicFrameLocks noGrp="1"/>
          </p:cNvGraphicFramePr>
          <p:nvPr/>
        </p:nvGraphicFramePr>
        <p:xfrm>
          <a:off x="883767" y="2286000"/>
          <a:ext cx="10424160" cy="2560320"/>
        </p:xfrm>
        <a:graphic>
          <a:graphicData uri="http://schemas.openxmlformats.org/drawingml/2006/table">
            <a:tbl>
              <a:tblPr>
                <a:tableStyleId>{2D5ABB26-0587-4C30-8999-92F81FD0307C}</a:tableStyleId>
              </a:tblPr>
              <a:tblGrid>
                <a:gridCol w="2084832"/>
                <a:gridCol w="4169664"/>
                <a:gridCol w="4169664"/>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STEP</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WHAT WE DO</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01</a:t>
                      </a:r>
                    </a:p>
                  </a:txBody>
                  <a:tcPr marL="73152" marR="73152" marT="18288" marB="18288" anchor="ctr">
                    <a:solidFill>
                      <a:srgbClr val="000000"/>
                    </a:solidFill>
                  </a:tcPr>
                </a:tc>
                <a:tc>
                  <a:txBody>
                    <a:bodyPr wrap="square"/>
                    <a:lstStyle/>
                    <a:p>
                      <a:pPr algn="l"/>
                      <a:r>
                        <a:rPr sz="1100" b="0">
                          <a:solidFill>
                            <a:srgbClr val="F7D007"/>
                          </a:solidFill>
                          <a:latin typeface="Helvetica Neue"/>
                        </a:rPr>
                        <a:t>Research</a:t>
                      </a:r>
                    </a:p>
                  </a:txBody>
                  <a:tcPr marL="73152" marR="73152" marT="18288" marB="18288" anchor="ctr">
                    <a:solidFill>
                      <a:srgbClr val="000000"/>
                    </a:solidFill>
                  </a:tcPr>
                </a:tc>
                <a:tc>
                  <a:txBody>
                    <a:bodyPr wrap="square"/>
                    <a:lstStyle/>
                    <a:p>
                      <a:pPr algn="l"/>
                      <a:r>
                        <a:rPr sz="1100" b="0">
                          <a:solidFill>
                            <a:srgbClr val="EFEEEE"/>
                          </a:solidFill>
                          <a:latin typeface="Helvetica Neue"/>
                        </a:rPr>
                        <a:t>GA4, Shopify, heatmaps, session recordings, reviews and support tickets.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02</a:t>
                      </a:r>
                    </a:p>
                  </a:txBody>
                  <a:tcPr marL="73152" marR="73152" marT="18288" marB="18288" anchor="ctr">
                    <a:solidFill>
                      <a:srgbClr val="0B0B0B"/>
                    </a:solidFill>
                  </a:tcPr>
                </a:tc>
                <a:tc>
                  <a:txBody>
                    <a:bodyPr wrap="square"/>
                    <a:lstStyle/>
                    <a:p>
                      <a:pPr algn="l"/>
                      <a:r>
                        <a:rPr sz="1100" b="0">
                          <a:solidFill>
                            <a:srgbClr val="F7D007"/>
                          </a:solidFill>
                          <a:latin typeface="Helvetica Neue"/>
                        </a:rPr>
                        <a:t>Ideate</a:t>
                      </a:r>
                    </a:p>
                  </a:txBody>
                  <a:tcPr marL="73152" marR="73152" marT="18288" marB="18288" anchor="ctr">
                    <a:solidFill>
                      <a:srgbClr val="0B0B0B"/>
                    </a:solidFill>
                  </a:tcPr>
                </a:tc>
                <a:tc>
                  <a:txBody>
                    <a:bodyPr wrap="square"/>
                    <a:lstStyle/>
                    <a:p>
                      <a:pPr algn="l"/>
                      <a:r>
                        <a:rPr sz="1100" b="0">
                          <a:solidFill>
                            <a:srgbClr val="EFEEEE"/>
                          </a:solidFill>
                          <a:latin typeface="Helvetica Neue"/>
                        </a:rPr>
                        <a:t>Hypothesis, variant concepts, copy and a Figma prototype.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03</a:t>
                      </a:r>
                    </a:p>
                  </a:txBody>
                  <a:tcPr marL="73152" marR="73152" marT="18288" marB="18288" anchor="ctr">
                    <a:solidFill>
                      <a:srgbClr val="000000"/>
                    </a:solidFill>
                  </a:tcPr>
                </a:tc>
                <a:tc>
                  <a:txBody>
                    <a:bodyPr wrap="square"/>
                    <a:lstStyle/>
                    <a:p>
                      <a:pPr algn="l"/>
                      <a:r>
                        <a:rPr sz="1100" b="0">
                          <a:solidFill>
                            <a:srgbClr val="F7D007"/>
                          </a:solidFill>
                          <a:latin typeface="Helvetica Neue"/>
                        </a:rPr>
                        <a:t>Brief and approve</a:t>
                      </a:r>
                    </a:p>
                  </a:txBody>
                  <a:tcPr marL="73152" marR="73152" marT="18288" marB="18288" anchor="ctr">
                    <a:solidFill>
                      <a:srgbClr val="000000"/>
                    </a:solidFill>
                  </a:tcPr>
                </a:tc>
                <a:tc>
                  <a:txBody>
                    <a:bodyPr wrap="square"/>
                    <a:lstStyle/>
                    <a:p>
                      <a:pPr algn="l"/>
                      <a:r>
                        <a:rPr sz="1100" b="0">
                          <a:solidFill>
                            <a:srgbClr val="EFEEEE"/>
                          </a:solidFill>
                          <a:latin typeface="Helvetica Neue"/>
                        </a:rPr>
                        <a:t>A written brief with the primary metric, confidence, sample size and stage multiplier. You approve before launch.</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04</a:t>
                      </a:r>
                    </a:p>
                  </a:txBody>
                  <a:tcPr marL="73152" marR="73152" marT="18288" marB="18288" anchor="ctr">
                    <a:solidFill>
                      <a:srgbClr val="0B0B0B"/>
                    </a:solidFill>
                  </a:tcPr>
                </a:tc>
                <a:tc>
                  <a:txBody>
                    <a:bodyPr wrap="square"/>
                    <a:lstStyle/>
                    <a:p>
                      <a:pPr algn="l"/>
                      <a:r>
                        <a:rPr sz="1100" b="0">
                          <a:solidFill>
                            <a:srgbClr val="F7D007"/>
                          </a:solidFill>
                          <a:latin typeface="Helvetica Neue"/>
                        </a:rPr>
                        <a:t>Build and QA</a:t>
                      </a:r>
                    </a:p>
                  </a:txBody>
                  <a:tcPr marL="73152" marR="73152" marT="18288" marB="18288" anchor="ctr">
                    <a:solidFill>
                      <a:srgbClr val="0B0B0B"/>
                    </a:solidFill>
                  </a:tcPr>
                </a:tc>
                <a:tc>
                  <a:txBody>
                    <a:bodyPr wrap="square"/>
                    <a:lstStyle/>
                    <a:p>
                      <a:pPr algn="l"/>
                      <a:r>
                        <a:rPr sz="1100" b="0">
                          <a:solidFill>
                            <a:srgbClr val="EFEEEE"/>
                          </a:solidFill>
                          <a:latin typeface="Helvetica Neue"/>
                        </a:rPr>
                        <a:t>Shopify or test tool variant, tracked and QA'd across devices.</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05</a:t>
                      </a:r>
                    </a:p>
                  </a:txBody>
                  <a:tcPr marL="73152" marR="73152" marT="18288" marB="18288" anchor="ctr">
                    <a:solidFill>
                      <a:srgbClr val="000000"/>
                    </a:solidFill>
                  </a:tcPr>
                </a:tc>
                <a:tc>
                  <a:txBody>
                    <a:bodyPr wrap="square"/>
                    <a:lstStyle/>
                    <a:p>
                      <a:pPr algn="l"/>
                      <a:r>
                        <a:rPr sz="1100" b="0">
                          <a:solidFill>
                            <a:srgbClr val="F7D007"/>
                          </a:solidFill>
                          <a:latin typeface="Helvetica Neue"/>
                        </a:rPr>
                        <a:t>Run and monitor</a:t>
                      </a:r>
                    </a:p>
                  </a:txBody>
                  <a:tcPr marL="73152" marR="73152" marT="18288" marB="18288" anchor="ctr">
                    <a:solidFill>
                      <a:srgbClr val="000000"/>
                    </a:solidFill>
                  </a:tcPr>
                </a:tc>
                <a:tc>
                  <a:txBody>
                    <a:bodyPr wrap="square"/>
                    <a:lstStyle/>
                    <a:p>
                      <a:pPr algn="l"/>
                      <a:r>
                        <a:rPr sz="1100" b="0">
                          <a:solidFill>
                            <a:srgbClr val="EFEEEE"/>
                          </a:solidFill>
                          <a:latin typeface="Helvetica Neue"/>
                        </a:rPr>
                        <a:t>Live test with guardrail watch and weekly progress updates.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06</a:t>
                      </a:r>
                    </a:p>
                  </a:txBody>
                  <a:tcPr marL="73152" marR="73152" marT="18288" marB="18288" anchor="ctr">
                    <a:solidFill>
                      <a:srgbClr val="0B0B0B"/>
                    </a:solidFill>
                  </a:tcPr>
                </a:tc>
                <a:tc>
                  <a:txBody>
                    <a:bodyPr wrap="square"/>
                    <a:lstStyle/>
                    <a:p>
                      <a:pPr algn="l"/>
                      <a:r>
                        <a:rPr sz="1100" b="0">
                          <a:solidFill>
                            <a:srgbClr val="F7D007"/>
                          </a:solidFill>
                          <a:latin typeface="Helvetica Neue"/>
                        </a:rPr>
                        <a:t>Analyze and roll out</a:t>
                      </a:r>
                    </a:p>
                  </a:txBody>
                  <a:tcPr marL="73152" marR="73152" marT="18288" marB="18288" anchor="ctr">
                    <a:solidFill>
                      <a:srgbClr val="0B0B0B"/>
                    </a:solidFill>
                  </a:tcPr>
                </a:tc>
                <a:tc>
                  <a:txBody>
                    <a:bodyPr wrap="square"/>
                    <a:lstStyle/>
                    <a:p>
                      <a:pPr algn="l"/>
                      <a:r>
                        <a:rPr sz="1100" b="0">
                          <a:solidFill>
                            <a:srgbClr val="EFEEEE"/>
                          </a:solidFill>
                          <a:latin typeface="Helvetica Neue"/>
                        </a:rPr>
                        <a:t>A written verdict, and winners rolled out to 100% of traffic.</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Zero row service: you are not expected to do production work. The same method produced the RPV wins shown earlier in this deck (see "RPV Wins We Have Shipped"): trust, sticky add to cart and volume offers, each run to statistical significance.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Working With EcomHouse · Compensation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We Win When You Win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 performance based fee on every winning test rolled out to 100% of traffic. One time charge per test, no attribution window, no recurring tail.</a:t>
            </a:r>
          </a:p>
        </p:txBody>
      </p:sp>
      <p:sp>
        <p:nvSpPr>
          <p:cNvPr id="10" name="Oval 9"/>
          <p:cNvSpPr/>
          <p:nvPr/>
        </p:nvSpPr>
        <p:spPr>
          <a:xfrm>
            <a:off x="777240" y="21122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06654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Calculated from your own data. </a:t>
            </a:r>
            <a:r>
              <a:rPr sz="1050" b="0" i="0">
                <a:solidFill>
                  <a:srgbClr val="CCCCCC"/>
                </a:solidFill>
                <a:latin typeface="Helvetica Neue"/>
              </a:rPr>
              <a:t>The fee is a percentage of the test's estimated monthly revenue uplift, with the agreed stage multiplier from Schedule A applied for upper funnel tests where uplift is projected rather than directly measured.</a:t>
            </a:r>
          </a:p>
        </p:txBody>
      </p:sp>
      <p:sp>
        <p:nvSpPr>
          <p:cNvPr id="12" name="Oval 11"/>
          <p:cNvSpPr/>
          <p:nvPr/>
        </p:nvSpPr>
        <p:spPr>
          <a:xfrm>
            <a:off x="777240" y="2551176"/>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50545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No recurring tail, no attribution window. </a:t>
            </a:r>
            <a:r>
              <a:rPr sz="1050" b="0" i="0">
                <a:solidFill>
                  <a:srgbClr val="CCCCCC"/>
                </a:solidFill>
                <a:latin typeface="Helvetica Neue"/>
              </a:rPr>
              <a:t>One invoice per winning test on rollout, in SEK, never a monthly percentage of revenue.</a:t>
            </a:r>
          </a:p>
        </p:txBody>
      </p:sp>
      <p:sp>
        <p:nvSpPr>
          <p:cNvPr id="14" name="Oval 13"/>
          <p:cNvSpPr/>
          <p:nvPr/>
        </p:nvSpPr>
        <p:spPr>
          <a:xfrm>
            <a:off x="777240" y="2802635"/>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756915"/>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Optional fixed monthly retainer </a:t>
            </a:r>
            <a:r>
              <a:rPr sz="1050" b="0" i="0">
                <a:solidFill>
                  <a:srgbClr val="CCCCCC"/>
                </a:solidFill>
                <a:latin typeface="Helvetica Neue"/>
              </a:rPr>
              <a:t>in SEK if you prefer a predictable budget. It can stack with the performance fee or replace it, and it is void unless agreed.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