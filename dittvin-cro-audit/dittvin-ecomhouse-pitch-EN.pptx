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 Id="rId4" Type="http://schemas.openxmlformats.org/officeDocument/2006/relationships/image" Target="../media/image1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00</a:t>
            </a:r>
          </a:p>
        </p:txBody>
      </p:sp>
      <p:sp>
        <p:nvSpPr>
          <p:cNvPr id="7" name="Oval 6"/>
          <p:cNvSpPr/>
          <p:nvPr/>
        </p:nvSpPr>
        <p:spPr>
          <a:xfrm>
            <a:off x="6583680" y="-2011680"/>
            <a:ext cx="7315200" cy="5943600"/>
          </a:xfrm>
          <a:prstGeom prst="ellipse">
            <a:avLst/>
          </a:prstGeom>
          <a:solidFill>
            <a:srgbClr val="2C25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234440"/>
            <a:ext cx="1965960" cy="640080"/>
          </a:xfrm>
          <a:prstGeom prst="rect">
            <a:avLst/>
          </a:prstGeom>
          <a:solidFill>
            <a:srgbClr val="0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34440"/>
            <a:ext cx="1965960" cy="640080"/>
          </a:xfrm>
          <a:prstGeom prst="rect">
            <a:avLst/>
          </a:prstGeom>
          <a:noFill/>
        </p:spPr>
        <p:txBody>
          <a:bodyPr wrap="square" lIns="0" rIns="0" tIns="0" bIns="0" anchor="ctr">
            <a:spAutoFit/>
          </a:bodyPr>
          <a:lstStyle/>
          <a:p>
            <a:pPr algn="ctr"/>
            <a:r>
              <a:rPr sz="2000" b="1" i="0" spc="400">
                <a:solidFill>
                  <a:srgbClr val="FFFFFF"/>
                </a:solidFill>
                <a:latin typeface="Helvetica Neue"/>
              </a:rPr>
              <a:t>DITT VIN</a:t>
            </a:r>
          </a:p>
        </p:txBody>
      </p:sp>
      <p:sp>
        <p:nvSpPr>
          <p:cNvPr id="10" name="TextBox 9"/>
          <p:cNvSpPr txBox="1"/>
          <p:nvPr/>
        </p:nvSpPr>
        <p:spPr>
          <a:xfrm>
            <a:off x="777240" y="2148840"/>
            <a:ext cx="10515600" cy="1920240"/>
          </a:xfrm>
          <a:prstGeom prst="rect">
            <a:avLst/>
          </a:prstGeom>
          <a:noFill/>
        </p:spPr>
        <p:txBody>
          <a:bodyPr wrap="square" lIns="0" rIns="0" tIns="0" bIns="0" anchor="t">
            <a:spAutoFit/>
          </a:bodyPr>
          <a:lstStyle/>
          <a:p>
            <a:pPr algn="l">
              <a:lnSpc>
                <a:spcPct val="100000"/>
              </a:lnSpc>
            </a:pPr>
            <a:r>
              <a:rPr sz="6200" b="1" i="0">
                <a:solidFill>
                  <a:srgbClr val="F7D007"/>
                </a:solidFill>
                <a:latin typeface="Helvetica Neue"/>
              </a:rPr>
              <a:t>dittvin.se</a:t>
            </a:r>
          </a:p>
          <a:p>
            <a:pPr algn="l">
              <a:lnSpc>
                <a:spcPct val="100000"/>
              </a:lnSpc>
            </a:pPr>
            <a:r>
              <a:rPr sz="6200" b="1" i="0">
                <a:solidFill>
                  <a:srgbClr val="FFFFFF"/>
                </a:solidFill>
                <a:latin typeface="Helvetica Neue"/>
              </a:rPr>
              <a:t>CRO Audit</a:t>
            </a:r>
          </a:p>
        </p:txBody>
      </p:sp>
      <p:sp>
        <p:nvSpPr>
          <p:cNvPr id="11" name="Rounded Rectangle 10"/>
          <p:cNvSpPr/>
          <p:nvPr/>
        </p:nvSpPr>
        <p:spPr>
          <a:xfrm>
            <a:off x="777240" y="4160520"/>
            <a:ext cx="1357884"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160520"/>
            <a:ext cx="1357884" cy="402336"/>
          </a:xfrm>
          <a:prstGeom prst="rect">
            <a:avLst/>
          </a:prstGeom>
          <a:noFill/>
        </p:spPr>
        <p:txBody>
          <a:bodyPr wrap="square" lIns="0" rIns="0" tIns="0" bIns="0" anchor="ctr">
            <a:spAutoFit/>
          </a:bodyPr>
          <a:lstStyle/>
          <a:p>
            <a:pPr algn="ctr"/>
            <a:r>
              <a:rPr sz="1000" b="1" i="0" spc="100">
                <a:solidFill>
                  <a:srgbClr val="EFEEEE"/>
                </a:solidFill>
                <a:latin typeface="Helvetica Neue"/>
              </a:rPr>
              <a:t>CRO Audit</a:t>
            </a:r>
          </a:p>
        </p:txBody>
      </p:sp>
      <p:sp>
        <p:nvSpPr>
          <p:cNvPr id="13" name="Rounded Rectangle 12"/>
          <p:cNvSpPr/>
          <p:nvPr/>
        </p:nvSpPr>
        <p:spPr>
          <a:xfrm>
            <a:off x="777240" y="4160520"/>
            <a:ext cx="1357884"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299716" y="4160520"/>
            <a:ext cx="1778508"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99716" y="4160520"/>
            <a:ext cx="1778508" cy="402336"/>
          </a:xfrm>
          <a:prstGeom prst="rect">
            <a:avLst/>
          </a:prstGeom>
          <a:noFill/>
        </p:spPr>
        <p:txBody>
          <a:bodyPr wrap="square" lIns="0" rIns="0" tIns="0" bIns="0" anchor="ctr">
            <a:spAutoFit/>
          </a:bodyPr>
          <a:lstStyle/>
          <a:p>
            <a:pPr algn="ctr"/>
            <a:r>
              <a:rPr sz="1000" b="1" i="0" spc="100">
                <a:solidFill>
                  <a:srgbClr val="EFEEEE"/>
                </a:solidFill>
                <a:latin typeface="Helvetica Neue"/>
              </a:rPr>
              <a:t>RPV Northstar</a:t>
            </a:r>
          </a:p>
        </p:txBody>
      </p:sp>
      <p:sp>
        <p:nvSpPr>
          <p:cNvPr id="16" name="Rounded Rectangle 15"/>
          <p:cNvSpPr/>
          <p:nvPr/>
        </p:nvSpPr>
        <p:spPr>
          <a:xfrm>
            <a:off x="2299716" y="4160520"/>
            <a:ext cx="1778508"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42816" y="4160520"/>
            <a:ext cx="1568196"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42816" y="4160520"/>
            <a:ext cx="1568196" cy="402336"/>
          </a:xfrm>
          <a:prstGeom prst="rect">
            <a:avLst/>
          </a:prstGeom>
          <a:noFill/>
        </p:spPr>
        <p:txBody>
          <a:bodyPr wrap="square" lIns="0" rIns="0" tIns="0" bIns="0" anchor="ctr">
            <a:spAutoFit/>
          </a:bodyPr>
          <a:lstStyle/>
          <a:p>
            <a:pPr algn="ctr"/>
            <a:r>
              <a:rPr sz="1000" b="1" i="0" spc="100">
                <a:solidFill>
                  <a:srgbClr val="EFEEEE"/>
                </a:solidFill>
                <a:latin typeface="Helvetica Neue"/>
              </a:rPr>
              <a:t>Benchmarked</a:t>
            </a:r>
          </a:p>
        </p:txBody>
      </p:sp>
      <p:sp>
        <p:nvSpPr>
          <p:cNvPr id="19" name="Rounded Rectangle 18"/>
          <p:cNvSpPr/>
          <p:nvPr/>
        </p:nvSpPr>
        <p:spPr>
          <a:xfrm>
            <a:off x="4242816" y="4160520"/>
            <a:ext cx="1568196"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75604" y="4160520"/>
            <a:ext cx="1568196" cy="402336"/>
          </a:xfrm>
          <a:prstGeom prst="roundRect">
            <a:avLst>
              <a:gd name="adj" fmla="val 50000"/>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75604" y="4160520"/>
            <a:ext cx="1568196" cy="402336"/>
          </a:xfrm>
          <a:prstGeom prst="rect">
            <a:avLst/>
          </a:prstGeom>
          <a:noFill/>
        </p:spPr>
        <p:txBody>
          <a:bodyPr wrap="square" lIns="0" rIns="0" tIns="0" bIns="0" anchor="ctr">
            <a:spAutoFit/>
          </a:bodyPr>
          <a:lstStyle/>
          <a:p>
            <a:pPr algn="ctr"/>
            <a:r>
              <a:rPr sz="1000" b="1" i="0" spc="100">
                <a:solidFill>
                  <a:srgbClr val="EFEEEE"/>
                </a:solidFill>
                <a:latin typeface="Helvetica Neue"/>
              </a:rPr>
              <a:t>A/B Roadmap</a:t>
            </a:r>
          </a:p>
        </p:txBody>
      </p:sp>
      <p:sp>
        <p:nvSpPr>
          <p:cNvPr id="22" name="Rounded Rectangle 21"/>
          <p:cNvSpPr/>
          <p:nvPr/>
        </p:nvSpPr>
        <p:spPr>
          <a:xfrm>
            <a:off x="5975604" y="4160520"/>
            <a:ext cx="1568196" cy="402336"/>
          </a:xfrm>
          <a:prstGeom prst="roundRect">
            <a:avLst>
              <a:gd name="adj" fmla="val 50000"/>
            </a:avLst>
          </a:prstGeom>
          <a:noFill/>
          <a:ln w="9525">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Based on Shopify (source of truth). 90 days, 25 April to 23 July 2026: 38.306 orders, 33,3M SEK gross, 868 SEK AOV. GA4 recorded only ~31%.</a:t>
            </a:r>
          </a:p>
        </p:txBody>
      </p:sp>
      <p:sp>
        <p:nvSpPr>
          <p:cNvPr id="24" name="TextBox 23"/>
          <p:cNvSpPr txBox="1"/>
          <p:nvPr/>
        </p:nvSpPr>
        <p:spPr>
          <a:xfrm>
            <a:off x="777240" y="5340096"/>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Prepared by EcomHouse for dittvin.se.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Scope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What We Analyzed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Every number in this deck is traced to a source. Where a metric is estimated it is marked "Est."</a:t>
            </a:r>
          </a:p>
        </p:txBody>
      </p:sp>
      <p:sp>
        <p:nvSpPr>
          <p:cNvPr id="10" name="Rounded Rectangle 9"/>
          <p:cNvSpPr/>
          <p:nvPr/>
        </p:nvSpPr>
        <p:spPr>
          <a:xfrm>
            <a:off x="609447"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01</a:t>
            </a:r>
          </a:p>
        </p:txBody>
      </p:sp>
      <p:sp>
        <p:nvSpPr>
          <p:cNvPr id="12" name="TextBox 11"/>
          <p:cNvSpPr txBox="1"/>
          <p:nvPr/>
        </p:nvSpPr>
        <p:spPr>
          <a:xfrm>
            <a:off x="792327"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GA4 Analytics</a:t>
            </a:r>
          </a:p>
        </p:txBody>
      </p:sp>
      <p:sp>
        <p:nvSpPr>
          <p:cNvPr id="13" name="TextBox 12"/>
          <p:cNvSpPr txBox="1"/>
          <p:nvPr/>
        </p:nvSpPr>
        <p:spPr>
          <a:xfrm>
            <a:off x="792327"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90 days, property 461839723. 452,552 sessions, sequential funnel, channels, devices, landing pages.</a:t>
            </a:r>
          </a:p>
        </p:txBody>
      </p:sp>
      <p:sp>
        <p:nvSpPr>
          <p:cNvPr id="14" name="Rounded Rectangle 13"/>
          <p:cNvSpPr/>
          <p:nvPr/>
        </p:nvSpPr>
        <p:spPr>
          <a:xfrm>
            <a:off x="3407511"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0391"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02</a:t>
            </a:r>
          </a:p>
        </p:txBody>
      </p:sp>
      <p:sp>
        <p:nvSpPr>
          <p:cNvPr id="16" name="TextBox 15"/>
          <p:cNvSpPr txBox="1"/>
          <p:nvPr/>
        </p:nvSpPr>
        <p:spPr>
          <a:xfrm>
            <a:off x="3590391"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Voice of Customer</a:t>
            </a:r>
          </a:p>
        </p:txBody>
      </p:sp>
      <p:sp>
        <p:nvSpPr>
          <p:cNvPr id="17" name="TextBox 16"/>
          <p:cNvSpPr txBox="1"/>
          <p:nvPr/>
        </p:nvSpPr>
        <p:spPr>
          <a:xfrm>
            <a:off x="3590391"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5,985 Trustpilot reviews (4.7/5). 300 verbatim reviews mined via the widget data API.</a:t>
            </a:r>
          </a:p>
        </p:txBody>
      </p:sp>
      <p:sp>
        <p:nvSpPr>
          <p:cNvPr id="18" name="Rounded Rectangle 17"/>
          <p:cNvSpPr/>
          <p:nvPr/>
        </p:nvSpPr>
        <p:spPr>
          <a:xfrm>
            <a:off x="6205575"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8455"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03</a:t>
            </a:r>
          </a:p>
        </p:txBody>
      </p:sp>
      <p:sp>
        <p:nvSpPr>
          <p:cNvPr id="20" name="TextBox 19"/>
          <p:cNvSpPr txBox="1"/>
          <p:nvPr/>
        </p:nvSpPr>
        <p:spPr>
          <a:xfrm>
            <a:off x="6388455"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Competitor Set</a:t>
            </a:r>
          </a:p>
        </p:txBody>
      </p:sp>
      <p:sp>
        <p:nvSpPr>
          <p:cNvPr id="21" name="TextBox 20"/>
          <p:cNvSpPr txBox="1"/>
          <p:nvPr/>
        </p:nvSpPr>
        <p:spPr>
          <a:xfrm>
            <a:off x="6388455"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5 verified rivals: Winefinder, Winefamly, KRAN, Supervin, plus Systembolaget as the benchmark.</a:t>
            </a:r>
          </a:p>
        </p:txBody>
      </p:sp>
      <p:sp>
        <p:nvSpPr>
          <p:cNvPr id="22" name="Rounded Rectangle 21"/>
          <p:cNvSpPr/>
          <p:nvPr/>
        </p:nvSpPr>
        <p:spPr>
          <a:xfrm>
            <a:off x="9003639" y="2066544"/>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6519" y="2231136"/>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04</a:t>
            </a:r>
          </a:p>
        </p:txBody>
      </p:sp>
      <p:sp>
        <p:nvSpPr>
          <p:cNvPr id="24" name="TextBox 23"/>
          <p:cNvSpPr txBox="1"/>
          <p:nvPr/>
        </p:nvSpPr>
        <p:spPr>
          <a:xfrm>
            <a:off x="9186519" y="2487168"/>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Expert Review Review</a:t>
            </a:r>
          </a:p>
        </p:txBody>
      </p:sp>
      <p:sp>
        <p:nvSpPr>
          <p:cNvPr id="25" name="TextBox 24"/>
          <p:cNvSpPr txBox="1"/>
          <p:nvPr/>
        </p:nvSpPr>
        <p:spPr>
          <a:xfrm>
            <a:off x="9186519" y="2852928"/>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4 page types on desktop and mobile: entry, home, collection, product page. Screenshot verified.</a:t>
            </a:r>
          </a:p>
        </p:txBody>
      </p:sp>
      <p:sp>
        <p:nvSpPr>
          <p:cNvPr id="26" name="Rounded Rectangle 25"/>
          <p:cNvSpPr/>
          <p:nvPr/>
        </p:nvSpPr>
        <p:spPr>
          <a:xfrm>
            <a:off x="609447"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2327"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05</a:t>
            </a:r>
          </a:p>
        </p:txBody>
      </p:sp>
      <p:sp>
        <p:nvSpPr>
          <p:cNvPr id="28" name="TextBox 27"/>
          <p:cNvSpPr txBox="1"/>
          <p:nvPr/>
        </p:nvSpPr>
        <p:spPr>
          <a:xfrm>
            <a:off x="792327"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Tag and Tech Audit</a:t>
            </a:r>
          </a:p>
        </p:txBody>
      </p:sp>
      <p:sp>
        <p:nvSpPr>
          <p:cNvPr id="29" name="TextBox 28"/>
          <p:cNvSpPr txBox="1"/>
          <p:nvPr/>
        </p:nvSpPr>
        <p:spPr>
          <a:xfrm>
            <a:off x="792327"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Live network capture of every tracking tag, consent, and console error. Not an HTML guess.</a:t>
            </a:r>
          </a:p>
        </p:txBody>
      </p:sp>
      <p:sp>
        <p:nvSpPr>
          <p:cNvPr id="30" name="Rounded Rectangle 29"/>
          <p:cNvSpPr/>
          <p:nvPr/>
        </p:nvSpPr>
        <p:spPr>
          <a:xfrm>
            <a:off x="3407511"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90391"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06</a:t>
            </a:r>
          </a:p>
        </p:txBody>
      </p:sp>
      <p:sp>
        <p:nvSpPr>
          <p:cNvPr id="32" name="TextBox 31"/>
          <p:cNvSpPr txBox="1"/>
          <p:nvPr/>
        </p:nvSpPr>
        <p:spPr>
          <a:xfrm>
            <a:off x="3590391"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Shopify Sales Data</a:t>
            </a:r>
          </a:p>
        </p:txBody>
      </p:sp>
      <p:sp>
        <p:nvSpPr>
          <p:cNvPr id="33" name="TextBox 32"/>
          <p:cNvSpPr txBox="1"/>
          <p:nvPr/>
        </p:nvSpPr>
        <p:spPr>
          <a:xfrm>
            <a:off x="3590391"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91 days of order, product and AOV exports. The source of truth for RPV, reconciled against GA4.</a:t>
            </a:r>
          </a:p>
        </p:txBody>
      </p:sp>
      <p:sp>
        <p:nvSpPr>
          <p:cNvPr id="34" name="Rounded Rectangle 33"/>
          <p:cNvSpPr/>
          <p:nvPr/>
        </p:nvSpPr>
        <p:spPr>
          <a:xfrm>
            <a:off x="6205575"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8455"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07</a:t>
            </a:r>
          </a:p>
        </p:txBody>
      </p:sp>
      <p:sp>
        <p:nvSpPr>
          <p:cNvPr id="36" name="TextBox 35"/>
          <p:cNvSpPr txBox="1"/>
          <p:nvPr/>
        </p:nvSpPr>
        <p:spPr>
          <a:xfrm>
            <a:off x="6388455"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Industry Benchmarks</a:t>
            </a:r>
          </a:p>
        </p:txBody>
      </p:sp>
      <p:sp>
        <p:nvSpPr>
          <p:cNvPr id="37" name="TextBox 36"/>
          <p:cNvSpPr txBox="1"/>
          <p:nvPr/>
        </p:nvSpPr>
        <p:spPr>
          <a:xfrm>
            <a:off x="6388455"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Named sources: Littledata, Baymard, Sovos, SVB, Omnisend. General ecom + wine DtC, RPV northstar.</a:t>
            </a:r>
          </a:p>
        </p:txBody>
      </p:sp>
      <p:sp>
        <p:nvSpPr>
          <p:cNvPr id="38" name="Rounded Rectangle 37"/>
          <p:cNvSpPr/>
          <p:nvPr/>
        </p:nvSpPr>
        <p:spPr>
          <a:xfrm>
            <a:off x="9003639" y="3858768"/>
            <a:ext cx="2578608" cy="1572768"/>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86519" y="4023360"/>
            <a:ext cx="2212848" cy="219456"/>
          </a:xfrm>
          <a:prstGeom prst="rect">
            <a:avLst/>
          </a:prstGeom>
          <a:noFill/>
        </p:spPr>
        <p:txBody>
          <a:bodyPr wrap="square" lIns="0" rIns="0" tIns="0" bIns="0" anchor="t">
            <a:spAutoFit/>
          </a:bodyPr>
          <a:lstStyle/>
          <a:p>
            <a:pPr algn="l"/>
            <a:r>
              <a:rPr sz="900" b="1" i="0" spc="100">
                <a:solidFill>
                  <a:srgbClr val="F7D007"/>
                </a:solidFill>
                <a:latin typeface="Menlo"/>
              </a:rPr>
              <a:t>// 08</a:t>
            </a:r>
          </a:p>
        </p:txBody>
      </p:sp>
      <p:sp>
        <p:nvSpPr>
          <p:cNvPr id="40" name="TextBox 39"/>
          <p:cNvSpPr txBox="1"/>
          <p:nvPr/>
        </p:nvSpPr>
        <p:spPr>
          <a:xfrm>
            <a:off x="9186519" y="4279392"/>
            <a:ext cx="2212848" cy="457200"/>
          </a:xfrm>
          <a:prstGeom prst="rect">
            <a:avLst/>
          </a:prstGeom>
          <a:noFill/>
        </p:spPr>
        <p:txBody>
          <a:bodyPr wrap="square" lIns="0" rIns="0" tIns="0" bIns="0" anchor="t">
            <a:spAutoFit/>
          </a:bodyPr>
          <a:lstStyle/>
          <a:p>
            <a:pPr algn="l"/>
            <a:r>
              <a:rPr sz="1200" b="1" i="0">
                <a:solidFill>
                  <a:srgbClr val="FFFFFF"/>
                </a:solidFill>
                <a:latin typeface="Helvetica Neue"/>
              </a:rPr>
              <a:t>Not in scope</a:t>
            </a:r>
          </a:p>
        </p:txBody>
      </p:sp>
      <p:sp>
        <p:nvSpPr>
          <p:cNvPr id="41" name="TextBox 40"/>
          <p:cNvSpPr txBox="1"/>
          <p:nvPr/>
        </p:nvSpPr>
        <p:spPr>
          <a:xfrm>
            <a:off x="9186519" y="4645152"/>
            <a:ext cx="2212848" cy="713232"/>
          </a:xfrm>
          <a:prstGeom prst="rect">
            <a:avLst/>
          </a:prstGeom>
          <a:noFill/>
        </p:spPr>
        <p:txBody>
          <a:bodyPr wrap="square" lIns="0" rIns="0" tIns="0" bIns="0" anchor="t">
            <a:spAutoFit/>
          </a:bodyPr>
          <a:lstStyle/>
          <a:p>
            <a:pPr algn="l"/>
            <a:r>
              <a:rPr sz="900" b="0" i="0">
                <a:solidFill>
                  <a:srgbClr val="CCCCCC"/>
                </a:solidFill>
                <a:latin typeface="Helvetica Neue"/>
              </a:rPr>
              <a:t>Microsoft Clarity is installed and collecting, but we had no dashboard access. Grant it for session replay depth.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Executive Summary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Seven Findings That Move Revenue</a:t>
            </a:r>
          </a:p>
        </p:txBody>
      </p:sp>
      <p:sp>
        <p:nvSpPr>
          <p:cNvPr id="9" name="Oval 8"/>
          <p:cNvSpPr/>
          <p:nvPr/>
        </p:nvSpPr>
        <p:spPr>
          <a:xfrm>
            <a:off x="777240" y="182880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783080"/>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Delivery is the number one trust wound. </a:t>
            </a:r>
            <a:r>
              <a:rPr sz="1050" b="0" i="0">
                <a:solidFill>
                  <a:srgbClr val="CCCCCC"/>
                </a:solidFill>
                <a:latin typeface="Helvetica Neue"/>
              </a:rPr>
              <a:t>The site promises "1-3 dagar" but 31% of low star reviews report 7 to 16 days. 86% of complaints are about delivery, and loyal repeat buyers are churning on it.</a:t>
            </a:r>
          </a:p>
        </p:txBody>
      </p:sp>
      <p:sp>
        <p:nvSpPr>
          <p:cNvPr id="11" name="TextBox 10"/>
          <p:cNvSpPr txBox="1"/>
          <p:nvPr/>
        </p:nvSpPr>
        <p:spPr>
          <a:xfrm>
            <a:off x="1051560" y="2176272"/>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Fix the promise, not the wine. This is a retention leak, not just acquisition.</a:t>
            </a:r>
          </a:p>
        </p:txBody>
      </p:sp>
      <p:sp>
        <p:nvSpPr>
          <p:cNvPr id="12" name="Oval 11"/>
          <p:cNvSpPr/>
          <p:nvPr/>
        </p:nvSpPr>
        <p:spPr>
          <a:xfrm>
            <a:off x="777240" y="2487168"/>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441448"/>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The legality question is unanswered. </a:t>
            </a:r>
            <a:r>
              <a:rPr sz="1050" b="0" i="0">
                <a:solidFill>
                  <a:srgbClr val="CCCCCC"/>
                </a:solidFill>
                <a:latin typeface="Helvetica Neue"/>
              </a:rPr>
              <a:t>In a monopoly market, a first time Swedish buyer needs to know this is legal. dittvin explains nothing, while KRAN and Winefamly reassure directly. Fear tips to "Tror detta r bedrägeri".</a:t>
            </a:r>
          </a:p>
        </p:txBody>
      </p:sp>
      <p:sp>
        <p:nvSpPr>
          <p:cNvPr id="14" name="TextBox 13"/>
          <p:cNvSpPr txBox="1"/>
          <p:nvPr/>
        </p:nvSpPr>
        <p:spPr>
          <a:xfrm>
            <a:off x="1051560" y="2834640"/>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Most buyers are first time visitors, and they need this reassurance.</a:t>
            </a:r>
          </a:p>
        </p:txBody>
      </p:sp>
      <p:sp>
        <p:nvSpPr>
          <p:cNvPr id="15" name="Oval 14"/>
          <p:cNvSpPr/>
          <p:nvPr/>
        </p:nvSpPr>
        <p:spPr>
          <a:xfrm>
            <a:off x="777240" y="3145536"/>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099816"/>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Taste is invisible online. </a:t>
            </a:r>
            <a:r>
              <a:rPr sz="1050" b="0" i="0">
                <a:solidFill>
                  <a:srgbClr val="CCCCCC"/>
                </a:solidFill>
                <a:latin typeface="Helvetica Neue"/>
              </a:rPr>
              <a:t>The biggest barrier in online wine is not knowing how it tastes. dittvin's boxes list region and grape but rarely translate them into sweetness, body, and food pairing the way a shop assistant would, so buyers hesitate.</a:t>
            </a:r>
          </a:p>
        </p:txBody>
      </p:sp>
      <p:sp>
        <p:nvSpPr>
          <p:cNvPr id="17" name="TextBox 16"/>
          <p:cNvSpPr txBox="1"/>
          <p:nvPr/>
        </p:nvSpPr>
        <p:spPr>
          <a:xfrm>
            <a:off x="1051560" y="3493008"/>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Make taste legible on every box: flavor profiles, pairings, and Vivino scores.</a:t>
            </a:r>
          </a:p>
        </p:txBody>
      </p:sp>
      <p:sp>
        <p:nvSpPr>
          <p:cNvPr id="18" name="Oval 17"/>
          <p:cNvSpPr/>
          <p:nvPr/>
        </p:nvSpPr>
        <p:spPr>
          <a:xfrm>
            <a:off x="777240" y="3803904"/>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758184"/>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Checkout abandonment is the biggest leak. </a:t>
            </a:r>
            <a:r>
              <a:rPr sz="1050" b="0" i="0">
                <a:solidFill>
                  <a:srgbClr val="CCCCCC"/>
                </a:solidFill>
                <a:latin typeface="Helvetica Neue"/>
              </a:rPr>
              <a:t>58.9% of sessions that reach checkout do not complete (17,785 of 30,200). Delivery doubt, the "1-3 dagar" promise, and 90+ website errors are prime suspects.</a:t>
            </a:r>
          </a:p>
        </p:txBody>
      </p:sp>
      <p:sp>
        <p:nvSpPr>
          <p:cNvPr id="20" name="TextBox 19"/>
          <p:cNvSpPr txBox="1"/>
          <p:nvPr/>
        </p:nvSpPr>
        <p:spPr>
          <a:xfrm>
            <a:off x="1051560" y="4151376"/>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Highest intent, cheapest to recover. Est. 3 to 5M SEK/quarter.</a:t>
            </a:r>
          </a:p>
        </p:txBody>
      </p:sp>
      <p:sp>
        <p:nvSpPr>
          <p:cNvPr id="21" name="Oval 20"/>
          <p:cNvSpPr/>
          <p:nvPr/>
        </p:nvSpPr>
        <p:spPr>
          <a:xfrm>
            <a:off x="777240" y="4462272"/>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416552"/>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New customers convert far below returning. </a:t>
            </a:r>
            <a:r>
              <a:rPr sz="1050" b="0" i="0">
                <a:solidFill>
                  <a:srgbClr val="CCCCCC"/>
                </a:solidFill>
                <a:latin typeface="Helvetica Neue"/>
              </a:rPr>
              <a:t>GA4 shows new visitors convert at 2.62% versus 3.42% for returning, and they are most of the traffic but only a quarter of revenue. Closing that gap is the biggest growth lever.</a:t>
            </a:r>
          </a:p>
        </p:txBody>
      </p:sp>
      <p:sp>
        <p:nvSpPr>
          <p:cNvPr id="23" name="TextBox 22"/>
          <p:cNvSpPr txBox="1"/>
          <p:nvPr/>
        </p:nvSpPr>
        <p:spPr>
          <a:xfrm>
            <a:off x="1051560" y="4809744"/>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Taste clarity and trust lift new customer conversion. Est. +3.3M SEK per quarter.</a:t>
            </a:r>
          </a:p>
        </p:txBody>
      </p:sp>
      <p:sp>
        <p:nvSpPr>
          <p:cNvPr id="24" name="Oval 23"/>
          <p:cNvSpPr/>
          <p:nvPr/>
        </p:nvSpPr>
        <p:spPr>
          <a:xfrm>
            <a:off x="777240" y="51206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74920"/>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Retention is strong, but the subscription is untapped. </a:t>
            </a:r>
            <a:r>
              <a:rPr sz="1050" b="0" i="0">
                <a:solidFill>
                  <a:srgbClr val="CCCCCC"/>
                </a:solidFill>
                <a:latin typeface="Helvetica Neue"/>
              </a:rPr>
              <a:t>66% of buyers return, yet the subscription (Wine, Gin, Champagne, 749 to 849 SEK) is only 0.2% of sales. The engine exists but is barely switched on.</a:t>
            </a:r>
          </a:p>
        </p:txBody>
      </p:sp>
      <p:sp>
        <p:nvSpPr>
          <p:cNvPr id="26" name="TextBox 25"/>
          <p:cNvSpPr txBox="1"/>
          <p:nvPr/>
        </p:nvSpPr>
        <p:spPr>
          <a:xfrm>
            <a:off x="1051560" y="5468112"/>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Grow it toward 3 to 5% for ~1 to 1.8M SEK recurring, and make it prominent on more product pages.</a:t>
            </a:r>
          </a:p>
        </p:txBody>
      </p:sp>
      <p:sp>
        <p:nvSpPr>
          <p:cNvPr id="27" name="Oval 26"/>
          <p:cNvSpPr/>
          <p:nvPr/>
        </p:nvSpPr>
        <p:spPr>
          <a:xfrm>
            <a:off x="777240" y="577900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733288"/>
            <a:ext cx="10332720" cy="822960"/>
          </a:xfrm>
          <a:prstGeom prst="rect">
            <a:avLst/>
          </a:prstGeom>
          <a:noFill/>
        </p:spPr>
        <p:txBody>
          <a:bodyPr wrap="square" lIns="0" rIns="0" tIns="0" bIns="0" anchor="t">
            <a:spAutoFit/>
          </a:bodyPr>
          <a:lstStyle/>
          <a:p>
            <a:pPr algn="l">
              <a:lnSpc>
                <a:spcPct val="105000"/>
              </a:lnSpc>
            </a:pPr>
            <a:r>
              <a:rPr sz="1050" b="1" i="0">
                <a:solidFill>
                  <a:srgbClr val="FFFFFF"/>
                </a:solidFill>
                <a:latin typeface="Helvetica Neue"/>
              </a:rPr>
              <a:t>GA4 is not tracking properly. </a:t>
            </a:r>
            <a:r>
              <a:rPr sz="1050" b="0" i="0">
                <a:solidFill>
                  <a:srgbClr val="CCCCCC"/>
                </a:solidFill>
                <a:latin typeface="Helvetica Neue"/>
              </a:rPr>
              <a:t>It records only 31% of orders (11,689 vs 38,306) and inflates sessions with junk. A Google Ads conversion also fires on the homepage. Decisions must run on Shopify until it is rebuilt.</a:t>
            </a:r>
          </a:p>
        </p:txBody>
      </p:sp>
      <p:sp>
        <p:nvSpPr>
          <p:cNvPr id="29" name="TextBox 28"/>
          <p:cNvSpPr txBox="1"/>
          <p:nvPr/>
        </p:nvSpPr>
        <p:spPr>
          <a:xfrm>
            <a:off x="1051560" y="6126480"/>
            <a:ext cx="10332720" cy="274320"/>
          </a:xfrm>
          <a:prstGeom prst="rect">
            <a:avLst/>
          </a:prstGeom>
          <a:noFill/>
        </p:spPr>
        <p:txBody>
          <a:bodyPr wrap="square" lIns="0" rIns="0" tIns="0" bIns="0" anchor="t">
            <a:spAutoFit/>
          </a:bodyPr>
          <a:lstStyle/>
          <a:p>
            <a:pPr algn="l"/>
            <a:r>
              <a:rPr sz="950" b="1" i="0">
                <a:solidFill>
                  <a:srgbClr val="F7D007"/>
                </a:solidFill>
                <a:latin typeface="Helvetica Neue"/>
              </a:rPr>
              <a:t>Fix measurement with server side tracking (Meta) so the ad platforms bid on full signal.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01</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Shopify Analytics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90 days, 25 April to 23 July 2026. The real numbers: 336,855 sessions, 38,306 orders, 33.3M SEK. Where traffic comes from, where it converts, and where it leaks. GA4 is on one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Performance Dashboard</a:t>
            </a:r>
          </a:p>
        </p:txBody>
      </p:sp>
      <p:sp>
        <p:nvSpPr>
          <p:cNvPr id="9" name="Rounded Rectangle 8"/>
          <p:cNvSpPr/>
          <p:nvPr/>
        </p:nvSpPr>
        <p:spPr>
          <a:xfrm>
            <a:off x="79232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327" y="2450592"/>
            <a:ext cx="1539240" cy="502920"/>
          </a:xfrm>
          <a:prstGeom prst="rect">
            <a:avLst/>
          </a:prstGeom>
          <a:noFill/>
        </p:spPr>
        <p:txBody>
          <a:bodyPr wrap="square" lIns="0" rIns="0" tIns="0" bIns="0" anchor="t">
            <a:spAutoFit/>
          </a:bodyPr>
          <a:lstStyle/>
          <a:p>
            <a:pPr algn="ctr"/>
            <a:r>
              <a:rPr sz="3000" b="1" i="0">
                <a:solidFill>
                  <a:srgbClr val="FFFFFF"/>
                </a:solidFill>
                <a:latin typeface="Menlo"/>
              </a:rPr>
              <a:t>336,855</a:t>
            </a:r>
          </a:p>
        </p:txBody>
      </p:sp>
      <p:sp>
        <p:nvSpPr>
          <p:cNvPr id="11" name="TextBox 10"/>
          <p:cNvSpPr txBox="1"/>
          <p:nvPr/>
        </p:nvSpPr>
        <p:spPr>
          <a:xfrm>
            <a:off x="79232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Sessions</a:t>
            </a:r>
          </a:p>
        </p:txBody>
      </p:sp>
      <p:sp>
        <p:nvSpPr>
          <p:cNvPr id="12" name="TextBox 11"/>
          <p:cNvSpPr txBox="1"/>
          <p:nvPr/>
        </p:nvSpPr>
        <p:spPr>
          <a:xfrm>
            <a:off x="79232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Shopify, ~95% Sweden</a:t>
            </a:r>
          </a:p>
        </p:txBody>
      </p:sp>
      <p:sp>
        <p:nvSpPr>
          <p:cNvPr id="13" name="Rounded Rectangle 12"/>
          <p:cNvSpPr/>
          <p:nvPr/>
        </p:nvSpPr>
        <p:spPr>
          <a:xfrm>
            <a:off x="260588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588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38,306</a:t>
            </a:r>
          </a:p>
        </p:txBody>
      </p:sp>
      <p:sp>
        <p:nvSpPr>
          <p:cNvPr id="15" name="TextBox 14"/>
          <p:cNvSpPr txBox="1"/>
          <p:nvPr/>
        </p:nvSpPr>
        <p:spPr>
          <a:xfrm>
            <a:off x="260588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Orders</a:t>
            </a:r>
          </a:p>
        </p:txBody>
      </p:sp>
      <p:sp>
        <p:nvSpPr>
          <p:cNvPr id="16" name="TextBox 15"/>
          <p:cNvSpPr txBox="1"/>
          <p:nvPr/>
        </p:nvSpPr>
        <p:spPr>
          <a:xfrm>
            <a:off x="260588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31,860 customers</a:t>
            </a:r>
          </a:p>
        </p:txBody>
      </p:sp>
      <p:sp>
        <p:nvSpPr>
          <p:cNvPr id="17" name="Rounded Rectangle 16"/>
          <p:cNvSpPr/>
          <p:nvPr/>
        </p:nvSpPr>
        <p:spPr>
          <a:xfrm>
            <a:off x="441944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9447" y="2450592"/>
            <a:ext cx="1539240" cy="502920"/>
          </a:xfrm>
          <a:prstGeom prst="rect">
            <a:avLst/>
          </a:prstGeom>
          <a:noFill/>
        </p:spPr>
        <p:txBody>
          <a:bodyPr wrap="square" lIns="0" rIns="0" tIns="0" bIns="0" anchor="t">
            <a:spAutoFit/>
          </a:bodyPr>
          <a:lstStyle/>
          <a:p>
            <a:pPr algn="ctr"/>
            <a:r>
              <a:rPr sz="3000" b="1" i="0">
                <a:solidFill>
                  <a:srgbClr val="22C55E"/>
                </a:solidFill>
                <a:latin typeface="Menlo"/>
              </a:rPr>
              <a:t>33.3M</a:t>
            </a:r>
          </a:p>
        </p:txBody>
      </p:sp>
      <p:sp>
        <p:nvSpPr>
          <p:cNvPr id="19" name="TextBox 18"/>
          <p:cNvSpPr txBox="1"/>
          <p:nvPr/>
        </p:nvSpPr>
        <p:spPr>
          <a:xfrm>
            <a:off x="441944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Gross Sales (SEK)</a:t>
            </a:r>
          </a:p>
        </p:txBody>
      </p:sp>
      <p:sp>
        <p:nvSpPr>
          <p:cNvPr id="20" name="TextBox 19"/>
          <p:cNvSpPr txBox="1"/>
          <p:nvPr/>
        </p:nvSpPr>
        <p:spPr>
          <a:xfrm>
            <a:off x="441944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41.5M incl VAT</a:t>
            </a:r>
          </a:p>
        </p:txBody>
      </p:sp>
      <p:sp>
        <p:nvSpPr>
          <p:cNvPr id="21" name="Rounded Rectangle 20"/>
          <p:cNvSpPr/>
          <p:nvPr/>
        </p:nvSpPr>
        <p:spPr>
          <a:xfrm>
            <a:off x="623300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007" y="2450592"/>
            <a:ext cx="1539240" cy="502920"/>
          </a:xfrm>
          <a:prstGeom prst="rect">
            <a:avLst/>
          </a:prstGeom>
          <a:noFill/>
        </p:spPr>
        <p:txBody>
          <a:bodyPr wrap="square" lIns="0" rIns="0" tIns="0" bIns="0" anchor="t">
            <a:spAutoFit/>
          </a:bodyPr>
          <a:lstStyle/>
          <a:p>
            <a:pPr algn="ctr"/>
            <a:r>
              <a:rPr sz="3000" b="1" i="0">
                <a:solidFill>
                  <a:srgbClr val="22C55E"/>
                </a:solidFill>
                <a:latin typeface="Menlo"/>
              </a:rPr>
              <a:t>3.69%</a:t>
            </a:r>
          </a:p>
        </p:txBody>
      </p:sp>
      <p:sp>
        <p:nvSpPr>
          <p:cNvPr id="23" name="TextBox 22"/>
          <p:cNvSpPr txBox="1"/>
          <p:nvPr/>
        </p:nvSpPr>
        <p:spPr>
          <a:xfrm>
            <a:off x="623300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Conversion Rate</a:t>
            </a:r>
          </a:p>
        </p:txBody>
      </p:sp>
      <p:sp>
        <p:nvSpPr>
          <p:cNvPr id="24" name="TextBox 23"/>
          <p:cNvSpPr txBox="1"/>
          <p:nvPr/>
        </p:nvSpPr>
        <p:spPr>
          <a:xfrm>
            <a:off x="623300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Shopify true CVR</a:t>
            </a:r>
          </a:p>
        </p:txBody>
      </p:sp>
      <p:sp>
        <p:nvSpPr>
          <p:cNvPr id="25" name="Rounded Rectangle 24"/>
          <p:cNvSpPr/>
          <p:nvPr/>
        </p:nvSpPr>
        <p:spPr>
          <a:xfrm>
            <a:off x="804656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56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66%</a:t>
            </a:r>
          </a:p>
        </p:txBody>
      </p:sp>
      <p:sp>
        <p:nvSpPr>
          <p:cNvPr id="27" name="TextBox 26"/>
          <p:cNvSpPr txBox="1"/>
          <p:nvPr/>
        </p:nvSpPr>
        <p:spPr>
          <a:xfrm>
            <a:off x="804656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Buyers</a:t>
            </a:r>
          </a:p>
        </p:txBody>
      </p:sp>
      <p:sp>
        <p:nvSpPr>
          <p:cNvPr id="28" name="TextBox 27"/>
          <p:cNvSpPr txBox="1"/>
          <p:nvPr/>
        </p:nvSpPr>
        <p:spPr>
          <a:xfrm>
            <a:off x="804656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strong repeat base</a:t>
            </a:r>
          </a:p>
        </p:txBody>
      </p:sp>
      <p:sp>
        <p:nvSpPr>
          <p:cNvPr id="29" name="Rounded Rectangle 28"/>
          <p:cNvSpPr/>
          <p:nvPr/>
        </p:nvSpPr>
        <p:spPr>
          <a:xfrm>
            <a:off x="9860127" y="2194560"/>
            <a:ext cx="153924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60127" y="2450592"/>
            <a:ext cx="1539240" cy="502920"/>
          </a:xfrm>
          <a:prstGeom prst="rect">
            <a:avLst/>
          </a:prstGeom>
          <a:noFill/>
        </p:spPr>
        <p:txBody>
          <a:bodyPr wrap="square" lIns="0" rIns="0" tIns="0" bIns="0" anchor="t">
            <a:spAutoFit/>
          </a:bodyPr>
          <a:lstStyle/>
          <a:p>
            <a:pPr algn="ctr"/>
            <a:r>
              <a:rPr sz="3000" b="1" i="0">
                <a:solidFill>
                  <a:srgbClr val="F7D007"/>
                </a:solidFill>
                <a:latin typeface="Menlo"/>
              </a:rPr>
              <a:t>868 SEK</a:t>
            </a:r>
          </a:p>
        </p:txBody>
      </p:sp>
      <p:sp>
        <p:nvSpPr>
          <p:cNvPr id="31" name="TextBox 30"/>
          <p:cNvSpPr txBox="1"/>
          <p:nvPr/>
        </p:nvSpPr>
        <p:spPr>
          <a:xfrm>
            <a:off x="9860127" y="2980944"/>
            <a:ext cx="1539240" cy="274320"/>
          </a:xfrm>
          <a:prstGeom prst="rect">
            <a:avLst/>
          </a:prstGeom>
          <a:noFill/>
        </p:spPr>
        <p:txBody>
          <a:bodyPr wrap="square" lIns="0" rIns="0" tIns="0" bIns="0" anchor="t">
            <a:spAutoFit/>
          </a:bodyPr>
          <a:lstStyle/>
          <a:p>
            <a:pPr algn="ctr"/>
            <a:r>
              <a:rPr sz="1000" b="1" i="0" spc="150">
                <a:solidFill>
                  <a:srgbClr val="999999"/>
                </a:solidFill>
                <a:latin typeface="Helvetica Neue"/>
              </a:rPr>
              <a:t>Average Order Value</a:t>
            </a:r>
          </a:p>
        </p:txBody>
      </p:sp>
      <p:sp>
        <p:nvSpPr>
          <p:cNvPr id="32" name="TextBox 31"/>
          <p:cNvSpPr txBox="1"/>
          <p:nvPr/>
        </p:nvSpPr>
        <p:spPr>
          <a:xfrm>
            <a:off x="9860127" y="3218688"/>
            <a:ext cx="1539240" cy="320040"/>
          </a:xfrm>
          <a:prstGeom prst="rect">
            <a:avLst/>
          </a:prstGeom>
          <a:noFill/>
        </p:spPr>
        <p:txBody>
          <a:bodyPr wrap="square" lIns="0" rIns="0" tIns="0" bIns="0" anchor="t">
            <a:spAutoFit/>
          </a:bodyPr>
          <a:lstStyle/>
          <a:p>
            <a:pPr algn="ctr"/>
            <a:r>
              <a:rPr sz="900" b="0" i="0">
                <a:solidFill>
                  <a:srgbClr val="6B7C75"/>
                </a:solidFill>
                <a:latin typeface="Helvetica Neue"/>
              </a:rPr>
              <a:t>stable across 90 days</a:t>
            </a:r>
          </a:p>
        </p:txBody>
      </p:sp>
      <p:sp>
        <p:nvSpPr>
          <p:cNvPr id="33" name="TextBox 32"/>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Source: Shopify Total sales + Conversion rate reports, 90 days (25 April to 23 July 2026). Gross sales exclude VAT, discounts and refunds; total sales 41.5M includes VAT (8.34M) and shipping. AOV is gross divided by orders.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 · Sessions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Conversion Funnel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Shopify's own session funnel. Two leaks stand out: only 12.6% of sessions add to cart, and 58.9% of those who reach checkout never complete.</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sp>
        <p:nvSpPr>
          <p:cNvPr id="11" name="TextBox 10"/>
          <p:cNvSpPr txBox="1"/>
          <p:nvPr/>
        </p:nvSpPr>
        <p:spPr>
          <a:xfrm>
            <a:off x="1280160" y="2377440"/>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Sessions</a:t>
            </a:r>
          </a:p>
        </p:txBody>
      </p:sp>
      <p:sp>
        <p:nvSpPr>
          <p:cNvPr id="12" name="Rounded Rectangle 11"/>
          <p:cNvSpPr/>
          <p:nvPr/>
        </p:nvSpPr>
        <p:spPr>
          <a:xfrm>
            <a:off x="3154679" y="2377440"/>
            <a:ext cx="6035040" cy="457200"/>
          </a:xfrm>
          <a:prstGeom prst="roundRect">
            <a:avLst>
              <a:gd name="adj" fmla="val 12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82695" y="2377440"/>
            <a:ext cx="6035040" cy="457200"/>
          </a:xfrm>
          <a:prstGeom prst="rect">
            <a:avLst/>
          </a:prstGeom>
          <a:noFill/>
        </p:spPr>
        <p:txBody>
          <a:bodyPr wrap="square" lIns="0" rIns="0" tIns="0" bIns="0" anchor="ctr">
            <a:spAutoFit/>
          </a:bodyPr>
          <a:lstStyle/>
          <a:p>
            <a:pPr algn="l"/>
            <a:r>
              <a:rPr sz="1200" b="1" i="0">
                <a:solidFill>
                  <a:srgbClr val="000000"/>
                </a:solidFill>
                <a:latin typeface="Menlo"/>
              </a:rPr>
              <a:t>336,855   100%</a:t>
            </a:r>
          </a:p>
        </p:txBody>
      </p:sp>
      <p:sp>
        <p:nvSpPr>
          <p:cNvPr id="14" name="TextBox 13"/>
          <p:cNvSpPr txBox="1"/>
          <p:nvPr/>
        </p:nvSpPr>
        <p:spPr>
          <a:xfrm>
            <a:off x="1280160" y="3090672"/>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Added to Cart</a:t>
            </a:r>
          </a:p>
        </p:txBody>
      </p:sp>
      <p:sp>
        <p:nvSpPr>
          <p:cNvPr id="15" name="Rounded Rectangle 14"/>
          <p:cNvSpPr/>
          <p:nvPr/>
        </p:nvSpPr>
        <p:spPr>
          <a:xfrm>
            <a:off x="3154679" y="3090672"/>
            <a:ext cx="2112264" cy="457200"/>
          </a:xfrm>
          <a:prstGeom prst="roundRect">
            <a:avLst>
              <a:gd name="adj" fmla="val 12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2695" y="3090672"/>
            <a:ext cx="2112264" cy="457200"/>
          </a:xfrm>
          <a:prstGeom prst="rect">
            <a:avLst/>
          </a:prstGeom>
          <a:noFill/>
        </p:spPr>
        <p:txBody>
          <a:bodyPr wrap="square" lIns="0" rIns="0" tIns="0" bIns="0" anchor="ctr">
            <a:spAutoFit/>
          </a:bodyPr>
          <a:lstStyle/>
          <a:p>
            <a:pPr algn="l"/>
            <a:r>
              <a:rPr sz="1200" b="1" i="0">
                <a:solidFill>
                  <a:srgbClr val="000000"/>
                </a:solidFill>
                <a:latin typeface="Menlo"/>
              </a:rPr>
              <a:t>42,513   12.6%</a:t>
            </a:r>
          </a:p>
        </p:txBody>
      </p:sp>
      <p:sp>
        <p:nvSpPr>
          <p:cNvPr id="17" name="TextBox 16"/>
          <p:cNvSpPr txBox="1"/>
          <p:nvPr/>
        </p:nvSpPr>
        <p:spPr>
          <a:xfrm>
            <a:off x="9418319" y="3090672"/>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87.4% do not add</a:t>
            </a:r>
          </a:p>
        </p:txBody>
      </p:sp>
      <p:sp>
        <p:nvSpPr>
          <p:cNvPr id="18" name="TextBox 17"/>
          <p:cNvSpPr txBox="1"/>
          <p:nvPr/>
        </p:nvSpPr>
        <p:spPr>
          <a:xfrm>
            <a:off x="1280160" y="3803904"/>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Reached Checkout</a:t>
            </a:r>
          </a:p>
        </p:txBody>
      </p:sp>
      <p:sp>
        <p:nvSpPr>
          <p:cNvPr id="19" name="Rounded Rectangle 18"/>
          <p:cNvSpPr/>
          <p:nvPr/>
        </p:nvSpPr>
        <p:spPr>
          <a:xfrm>
            <a:off x="3154679" y="3803904"/>
            <a:ext cx="1508760" cy="457200"/>
          </a:xfrm>
          <a:prstGeom prst="roundRect">
            <a:avLst>
              <a:gd name="adj" fmla="val 12000"/>
            </a:avLst>
          </a:prstGeom>
          <a:solidFill>
            <a:srgbClr val="A3C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82695" y="3803904"/>
            <a:ext cx="1508760" cy="457200"/>
          </a:xfrm>
          <a:prstGeom prst="rect">
            <a:avLst/>
          </a:prstGeom>
          <a:noFill/>
        </p:spPr>
        <p:txBody>
          <a:bodyPr wrap="square" lIns="0" rIns="0" tIns="0" bIns="0" anchor="ctr">
            <a:spAutoFit/>
          </a:bodyPr>
          <a:lstStyle/>
          <a:p>
            <a:pPr algn="l"/>
            <a:r>
              <a:rPr sz="1200" b="1" i="0">
                <a:solidFill>
                  <a:srgbClr val="000000"/>
                </a:solidFill>
                <a:latin typeface="Menlo"/>
              </a:rPr>
              <a:t>30,200   9.0%</a:t>
            </a:r>
          </a:p>
        </p:txBody>
      </p:sp>
      <p:sp>
        <p:nvSpPr>
          <p:cNvPr id="21" name="TextBox 20"/>
          <p:cNvSpPr txBox="1"/>
          <p:nvPr/>
        </p:nvSpPr>
        <p:spPr>
          <a:xfrm>
            <a:off x="9418319" y="3803904"/>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29% of carts drop</a:t>
            </a:r>
          </a:p>
        </p:txBody>
      </p:sp>
      <p:sp>
        <p:nvSpPr>
          <p:cNvPr id="22" name="TextBox 21"/>
          <p:cNvSpPr txBox="1"/>
          <p:nvPr/>
        </p:nvSpPr>
        <p:spPr>
          <a:xfrm>
            <a:off x="1280160" y="4517136"/>
            <a:ext cx="1737360" cy="457200"/>
          </a:xfrm>
          <a:prstGeom prst="rect">
            <a:avLst/>
          </a:prstGeom>
          <a:noFill/>
        </p:spPr>
        <p:txBody>
          <a:bodyPr wrap="square" lIns="0" rIns="0" tIns="0" bIns="0" anchor="ctr">
            <a:spAutoFit/>
          </a:bodyPr>
          <a:lstStyle/>
          <a:p>
            <a:pPr algn="r"/>
            <a:r>
              <a:rPr sz="1200" b="0" i="0">
                <a:solidFill>
                  <a:srgbClr val="CCCCCC"/>
                </a:solidFill>
                <a:latin typeface="Helvetica Neue"/>
              </a:rPr>
              <a:t>Completed</a:t>
            </a:r>
          </a:p>
        </p:txBody>
      </p:sp>
      <p:sp>
        <p:nvSpPr>
          <p:cNvPr id="23" name="Rounded Rectangle 22"/>
          <p:cNvSpPr/>
          <p:nvPr/>
        </p:nvSpPr>
        <p:spPr>
          <a:xfrm>
            <a:off x="3154679" y="4517136"/>
            <a:ext cx="724204" cy="457200"/>
          </a:xfrm>
          <a:prstGeom prst="roundRect">
            <a:avLst>
              <a:gd name="adj" fmla="val 12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2695" y="4517136"/>
            <a:ext cx="724204" cy="457200"/>
          </a:xfrm>
          <a:prstGeom prst="rect">
            <a:avLst/>
          </a:prstGeom>
          <a:noFill/>
        </p:spPr>
        <p:txBody>
          <a:bodyPr wrap="square" lIns="0" rIns="0" tIns="0" bIns="0" anchor="ctr">
            <a:spAutoFit/>
          </a:bodyPr>
          <a:lstStyle/>
          <a:p>
            <a:pPr algn="l"/>
            <a:r>
              <a:rPr sz="1200" b="1" i="0">
                <a:solidFill>
                  <a:srgbClr val="000000"/>
                </a:solidFill>
                <a:latin typeface="Menlo"/>
              </a:rPr>
              <a:t>12,415   3.69%</a:t>
            </a:r>
          </a:p>
        </p:txBody>
      </p:sp>
      <p:sp>
        <p:nvSpPr>
          <p:cNvPr id="25" name="TextBox 24"/>
          <p:cNvSpPr txBox="1"/>
          <p:nvPr/>
        </p:nvSpPr>
        <p:spPr>
          <a:xfrm>
            <a:off x="9418319" y="4517136"/>
            <a:ext cx="2194560" cy="457200"/>
          </a:xfrm>
          <a:prstGeom prst="rect">
            <a:avLst/>
          </a:prstGeom>
          <a:noFill/>
        </p:spPr>
        <p:txBody>
          <a:bodyPr wrap="square" lIns="0" rIns="0" tIns="0" bIns="0" anchor="ctr">
            <a:spAutoFit/>
          </a:bodyPr>
          <a:lstStyle/>
          <a:p>
            <a:pPr algn="l"/>
            <a:r>
              <a:rPr sz="1100" b="1" i="0">
                <a:solidFill>
                  <a:srgbClr val="EF4444"/>
                </a:solidFill>
                <a:latin typeface="Helvetica Neue"/>
              </a:rPr>
              <a:t>58.9% abandon checkout</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Conversion rate report. Session attributed completions (12,415) are a subset of the 38,306 real orders, because ~2/3 of orders have no trackable session (consent, in app browsers). The rates are what matter: the store loses most at add to cart and at checkout.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Verified Sources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Where dittvin Stands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Ahead on conversion, order value and repeat rate; the upside is subscription sign ups and email. These are general ecom benchmarks, the fair comparator for a Nordic reseller, because no Denmark or European wine specific benchmark is published.</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graphicFrame>
        <p:nvGraphicFramePr>
          <p:cNvPr id="11" name="Table 10"/>
          <p:cNvGraphicFramePr>
            <a:graphicFrameLocks noGrp="1"/>
          </p:cNvGraphicFramePr>
          <p:nvPr/>
        </p:nvGraphicFramePr>
        <p:xfrm>
          <a:off x="883767" y="2596896"/>
          <a:ext cx="10424158" cy="2999232"/>
        </p:xfrm>
        <a:graphic>
          <a:graphicData uri="http://schemas.openxmlformats.org/drawingml/2006/table">
            <a:tbl>
              <a:tblPr>
                <a:tableStyleId>{2D5ABB26-0587-4C30-8999-92F81FD0307C}</a:tableStyleId>
              </a:tblPr>
              <a:tblGrid>
                <a:gridCol w="2956105"/>
                <a:gridCol w="1555844"/>
                <a:gridCol w="4356365"/>
                <a:gridCol w="1555844"/>
              </a:tblGrid>
              <a:tr h="365760">
                <a:tc>
                  <a:txBody>
                    <a:bodyPr wrap="square"/>
                    <a:lstStyle/>
                    <a:p>
                      <a:pPr algn="l"/>
                      <a:r>
                        <a:rPr sz="900" b="1" spc="100">
                          <a:solidFill>
                            <a:srgbClr val="999999"/>
                          </a:solidFill>
                          <a:latin typeface="Helvetica Neue"/>
                        </a:rPr>
                        <a:t>METRIC</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ECOM BENCHMARK (SOURCE)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VERDICT</a:t>
                      </a:r>
                    </a:p>
                  </a:txBody>
                  <a:tcPr marL="73152" marR="73152" marT="18288" marB="18288" anchor="ctr">
                    <a:solidFill>
                      <a:srgbClr val="0A0A0A"/>
                    </a:solidFill>
                  </a:tcPr>
                </a:tc>
              </a:tr>
              <a:tr h="329184">
                <a:tc>
                  <a:txBody>
                    <a:bodyPr wrap="square"/>
                    <a:lstStyle/>
                    <a:p>
                      <a:pPr algn="l"/>
                      <a:r>
                        <a:rPr sz="1100" b="1">
                          <a:solidFill>
                            <a:srgbClr val="EFEEEE"/>
                          </a:solidFill>
                          <a:latin typeface="Helvetica Neue"/>
                        </a:rPr>
                        <a:t>Conversion rate</a:t>
                      </a:r>
                    </a:p>
                  </a:txBody>
                  <a:tcPr marL="73152" marR="73152" marT="18288" marB="18288" anchor="ctr">
                    <a:solidFill>
                      <a:srgbClr val="000000"/>
                    </a:solidFill>
                  </a:tcPr>
                </a:tc>
                <a:tc>
                  <a:txBody>
                    <a:bodyPr wrap="square"/>
                    <a:lstStyle/>
                    <a:p>
                      <a:pPr algn="l"/>
                      <a:r>
                        <a:rPr sz="1100" b="0">
                          <a:solidFill>
                            <a:srgbClr val="F7D007"/>
                          </a:solidFill>
                          <a:latin typeface="Helvetica Neue"/>
                        </a:rPr>
                        <a:t>3.69%</a:t>
                      </a:r>
                    </a:p>
                  </a:txBody>
                  <a:tcPr marL="73152" marR="73152" marT="18288" marB="18288" anchor="ctr">
                    <a:solidFill>
                      <a:srgbClr val="000000"/>
                    </a:solidFill>
                  </a:tcPr>
                </a:tc>
                <a:tc>
                  <a:txBody>
                    <a:bodyPr wrap="square"/>
                    <a:lstStyle/>
                    <a:p>
                      <a:pPr algn="l"/>
                      <a:r>
                        <a:rPr sz="1100" b="0">
                          <a:solidFill>
                            <a:srgbClr val="EFEEEE"/>
                          </a:solidFill>
                          <a:latin typeface="Helvetica Neue"/>
                        </a:rPr>
                        <a:t>1.4% avg, 3.2% top 20% (Littledata)</a:t>
                      </a:r>
                    </a:p>
                  </a:txBody>
                  <a:tcPr marL="73152" marR="73152" marT="18288" marB="18288" anchor="ctr">
                    <a:solidFill>
                      <a:srgbClr val="000000"/>
                    </a:solidFill>
                  </a:tcPr>
                </a:tc>
                <a:tc>
                  <a:txBody>
                    <a:bodyPr wrap="square"/>
                    <a:lstStyle/>
                    <a:p>
                      <a:pPr algn="l"/>
                      <a:r>
                        <a:rPr sz="1100" b="0">
                          <a:solidFill>
                            <a:srgbClr val="22C55E"/>
                          </a:solidFill>
                          <a:latin typeface="Helvetica Neue"/>
                        </a:rPr>
                        <a:t>Ahead</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Average order value</a:t>
                      </a:r>
                    </a:p>
                  </a:txBody>
                  <a:tcPr marL="73152" marR="73152" marT="18288" marB="18288" anchor="ctr">
                    <a:solidFill>
                      <a:srgbClr val="0B0B0B"/>
                    </a:solidFill>
                  </a:tcPr>
                </a:tc>
                <a:tc>
                  <a:txBody>
                    <a:bodyPr wrap="square"/>
                    <a:lstStyle/>
                    <a:p>
                      <a:pPr algn="l"/>
                      <a:r>
                        <a:rPr sz="1100" b="0">
                          <a:solidFill>
                            <a:srgbClr val="F7D007"/>
                          </a:solidFill>
                          <a:latin typeface="Helvetica Neue"/>
                        </a:rPr>
                        <a:t>868 SEK (~$82)</a:t>
                      </a:r>
                    </a:p>
                  </a:txBody>
                  <a:tcPr marL="73152" marR="73152" marT="18288" marB="18288" anchor="ctr">
                    <a:solidFill>
                      <a:srgbClr val="0B0B0B"/>
                    </a:solidFill>
                  </a:tcPr>
                </a:tc>
                <a:tc>
                  <a:txBody>
                    <a:bodyPr wrap="square"/>
                    <a:lstStyle/>
                    <a:p>
                      <a:pPr algn="l"/>
                      <a:r>
                        <a:rPr sz="1100" b="0">
                          <a:solidFill>
                            <a:srgbClr val="EFEEEE"/>
                          </a:solidFill>
                          <a:latin typeface="Helvetica Neue"/>
                        </a:rPr>
                        <a:t>~$85 avg, $101 ecom (Littledata)</a:t>
                      </a:r>
                    </a:p>
                  </a:txBody>
                  <a:tcPr marL="73152" marR="73152" marT="18288" marB="18288" anchor="ctr">
                    <a:solidFill>
                      <a:srgbClr val="0B0B0B"/>
                    </a:solidFill>
                  </a:tcPr>
                </a:tc>
                <a:tc>
                  <a:txBody>
                    <a:bodyPr wrap="square"/>
                    <a:lstStyle/>
                    <a:p>
                      <a:pPr algn="l"/>
                      <a:r>
                        <a:rPr sz="1100" b="0">
                          <a:solidFill>
                            <a:srgbClr val="22C55E"/>
                          </a:solidFill>
                          <a:latin typeface="Helvetica Neue"/>
                        </a:rPr>
                        <a:t>On par</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RPV per session</a:t>
                      </a:r>
                    </a:p>
                  </a:txBody>
                  <a:tcPr marL="73152" marR="73152" marT="18288" marB="18288" anchor="ctr">
                    <a:solidFill>
                      <a:srgbClr val="000000"/>
                    </a:solidFill>
                  </a:tcPr>
                </a:tc>
                <a:tc>
                  <a:txBody>
                    <a:bodyPr wrap="square"/>
                    <a:lstStyle/>
                    <a:p>
                      <a:pPr algn="l"/>
                      <a:r>
                        <a:rPr sz="1100" b="0">
                          <a:solidFill>
                            <a:srgbClr val="F7D007"/>
                          </a:solidFill>
                          <a:latin typeface="Helvetica Neue"/>
                        </a:rPr>
                        <a:t>26 SEK GA4, ~99 true</a:t>
                      </a:r>
                    </a:p>
                  </a:txBody>
                  <a:tcPr marL="73152" marR="73152" marT="18288" marB="18288" anchor="ctr">
                    <a:solidFill>
                      <a:srgbClr val="000000"/>
                    </a:solidFill>
                  </a:tcPr>
                </a:tc>
                <a:tc>
                  <a:txBody>
                    <a:bodyPr wrap="square"/>
                    <a:lstStyle/>
                    <a:p>
                      <a:pPr algn="l"/>
                      <a:r>
                        <a:rPr sz="1100" b="0">
                          <a:solidFill>
                            <a:srgbClr val="EFEEEE"/>
                          </a:solidFill>
                          <a:latin typeface="Helvetica Neue"/>
                        </a:rPr>
                        <a:t>~$1.19 Est. (AOV x CVR)</a:t>
                      </a:r>
                    </a:p>
                  </a:txBody>
                  <a:tcPr marL="73152" marR="73152" marT="18288" marB="18288" anchor="ctr">
                    <a:solidFill>
                      <a:srgbClr val="000000"/>
                    </a:solidFill>
                  </a:tcPr>
                </a:tc>
                <a:tc>
                  <a:txBody>
                    <a:bodyPr wrap="square"/>
                    <a:lstStyle/>
                    <a:p>
                      <a:pPr algn="l"/>
                      <a:r>
                        <a:rPr sz="1100" b="0">
                          <a:solidFill>
                            <a:srgbClr val="22C55E"/>
                          </a:solidFill>
                          <a:latin typeface="Helvetica Neue"/>
                        </a:rPr>
                        <a:t>Ahead</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Cart abandonment</a:t>
                      </a:r>
                    </a:p>
                  </a:txBody>
                  <a:tcPr marL="73152" marR="73152" marT="18288" marB="18288" anchor="ctr">
                    <a:solidFill>
                      <a:srgbClr val="0B0B0B"/>
                    </a:solidFill>
                  </a:tcPr>
                </a:tc>
                <a:tc>
                  <a:txBody>
                    <a:bodyPr wrap="square"/>
                    <a:lstStyle/>
                    <a:p>
                      <a:pPr algn="l"/>
                      <a:r>
                        <a:rPr sz="1100" b="0">
                          <a:solidFill>
                            <a:srgbClr val="F7D007"/>
                          </a:solidFill>
                          <a:latin typeface="Helvetica Neue"/>
                        </a:rPr>
                        <a:t>60%</a:t>
                      </a:r>
                    </a:p>
                  </a:txBody>
                  <a:tcPr marL="73152" marR="73152" marT="18288" marB="18288" anchor="ctr">
                    <a:solidFill>
                      <a:srgbClr val="0B0B0B"/>
                    </a:solidFill>
                  </a:tcPr>
                </a:tc>
                <a:tc>
                  <a:txBody>
                    <a:bodyPr wrap="square"/>
                    <a:lstStyle/>
                    <a:p>
                      <a:pPr algn="l"/>
                      <a:r>
                        <a:rPr sz="1100" b="0">
                          <a:solidFill>
                            <a:srgbClr val="EFEEEE"/>
                          </a:solidFill>
                          <a:latin typeface="Helvetica Neue"/>
                        </a:rPr>
                        <a:t>70.2% of 50 studies (Baymard)</a:t>
                      </a:r>
                    </a:p>
                  </a:txBody>
                  <a:tcPr marL="73152" marR="73152" marT="18288" marB="18288" anchor="ctr">
                    <a:solidFill>
                      <a:srgbClr val="0B0B0B"/>
                    </a:solidFill>
                  </a:tcPr>
                </a:tc>
                <a:tc>
                  <a:txBody>
                    <a:bodyPr wrap="square"/>
                    <a:lstStyle/>
                    <a:p>
                      <a:pPr algn="l"/>
                      <a:r>
                        <a:rPr sz="1100" b="0">
                          <a:solidFill>
                            <a:srgbClr val="22C55E"/>
                          </a:solidFill>
                          <a:latin typeface="Helvetica Neue"/>
                        </a:rPr>
                        <a:t>Ahead</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Returning customer rate</a:t>
                      </a:r>
                    </a:p>
                  </a:txBody>
                  <a:tcPr marL="73152" marR="73152" marT="18288" marB="18288" anchor="ctr">
                    <a:solidFill>
                      <a:srgbClr val="000000"/>
                    </a:solidFill>
                  </a:tcPr>
                </a:tc>
                <a:tc>
                  <a:txBody>
                    <a:bodyPr wrap="square"/>
                    <a:lstStyle/>
                    <a:p>
                      <a:pPr algn="l"/>
                      <a:r>
                        <a:rPr sz="1100" b="0">
                          <a:solidFill>
                            <a:srgbClr val="F7D007"/>
                          </a:solidFill>
                          <a:latin typeface="Helvetica Neue"/>
                        </a:rPr>
                        <a:t>66%</a:t>
                      </a:r>
                    </a:p>
                  </a:txBody>
                  <a:tcPr marL="73152" marR="73152" marT="18288" marB="18288" anchor="ctr">
                    <a:solidFill>
                      <a:srgbClr val="000000"/>
                    </a:solidFill>
                  </a:tcPr>
                </a:tc>
                <a:tc>
                  <a:txBody>
                    <a:bodyPr wrap="square"/>
                    <a:lstStyle/>
                    <a:p>
                      <a:pPr algn="l"/>
                      <a:r>
                        <a:rPr sz="1100" b="0">
                          <a:solidFill>
                            <a:srgbClr val="EFEEEE"/>
                          </a:solidFill>
                          <a:latin typeface="Helvetica Neue"/>
                        </a:rPr>
                        <a:t>15 to 30% typical (OpenSend)</a:t>
                      </a:r>
                    </a:p>
                  </a:txBody>
                  <a:tcPr marL="73152" marR="73152" marT="18288" marB="18288" anchor="ctr">
                    <a:solidFill>
                      <a:srgbClr val="000000"/>
                    </a:solidFill>
                  </a:tcPr>
                </a:tc>
                <a:tc>
                  <a:txBody>
                    <a:bodyPr wrap="square"/>
                    <a:lstStyle/>
                    <a:p>
                      <a:pPr algn="l"/>
                      <a:r>
                        <a:rPr sz="1100" b="0">
                          <a:solidFill>
                            <a:srgbClr val="22C55E"/>
                          </a:solidFill>
                          <a:latin typeface="Helvetica Neue"/>
                        </a:rPr>
                        <a:t>Ahead</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Email share of orders</a:t>
                      </a:r>
                    </a:p>
                  </a:txBody>
                  <a:tcPr marL="73152" marR="73152" marT="18288" marB="18288" anchor="ctr">
                    <a:solidFill>
                      <a:srgbClr val="0B0B0B"/>
                    </a:solidFill>
                  </a:tcPr>
                </a:tc>
                <a:tc>
                  <a:txBody>
                    <a:bodyPr wrap="square"/>
                    <a:lstStyle/>
                    <a:p>
                      <a:pPr algn="l"/>
                      <a:r>
                        <a:rPr sz="1100" b="0">
                          <a:solidFill>
                            <a:srgbClr val="F59E0B"/>
                          </a:solidFill>
                          <a:latin typeface="Helvetica Neue"/>
                        </a:rPr>
                        <a:t>16%</a:t>
                      </a:r>
                    </a:p>
                  </a:txBody>
                  <a:tcPr marL="73152" marR="73152" marT="18288" marB="18288" anchor="ctr">
                    <a:solidFill>
                      <a:srgbClr val="0B0B0B"/>
                    </a:solidFill>
                  </a:tcPr>
                </a:tc>
                <a:tc>
                  <a:txBody>
                    <a:bodyPr wrap="square"/>
                    <a:lstStyle/>
                    <a:p>
                      <a:pPr algn="l"/>
                      <a:r>
                        <a:rPr sz="1100" b="0">
                          <a:solidFill>
                            <a:srgbClr val="EFEEEE"/>
                          </a:solidFill>
                          <a:latin typeface="Helvetica Neue"/>
                        </a:rPr>
                        <a:t>~20 to 30% of DTC rev (Omnisend)</a:t>
                      </a:r>
                    </a:p>
                  </a:txBody>
                  <a:tcPr marL="73152" marR="73152" marT="18288" marB="18288" anchor="ctr">
                    <a:solidFill>
                      <a:srgbClr val="0B0B0B"/>
                    </a:solidFill>
                  </a:tcPr>
                </a:tc>
                <a:tc>
                  <a:txBody>
                    <a:bodyPr wrap="square"/>
                    <a:lstStyle/>
                    <a:p>
                      <a:pPr algn="l"/>
                      <a:r>
                        <a:rPr sz="1100" b="0">
                          <a:solidFill>
                            <a:srgbClr val="F59E0B"/>
                          </a:solidFill>
                          <a:latin typeface="Helvetica Neue"/>
                        </a:rPr>
                        <a:t>Behind</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Subscription sign ups</a:t>
                      </a:r>
                    </a:p>
                  </a:txBody>
                  <a:tcPr marL="73152" marR="73152" marT="18288" marB="18288" anchor="ctr">
                    <a:solidFill>
                      <a:srgbClr val="000000"/>
                    </a:solidFill>
                  </a:tcPr>
                </a:tc>
                <a:tc>
                  <a:txBody>
                    <a:bodyPr wrap="square"/>
                    <a:lstStyle/>
                    <a:p>
                      <a:pPr algn="l"/>
                      <a:r>
                        <a:rPr sz="1100" b="0">
                          <a:solidFill>
                            <a:srgbClr val="F59E0B"/>
                          </a:solidFill>
                          <a:latin typeface="Helvetica Neue"/>
                        </a:rPr>
                        <a:t>101 orders, 0.2% of sales</a:t>
                      </a:r>
                    </a:p>
                  </a:txBody>
                  <a:tcPr marL="73152" marR="73152" marT="18288" marB="18288" anchor="ctr">
                    <a:solidFill>
                      <a:srgbClr val="000000"/>
                    </a:solidFill>
                  </a:tcPr>
                </a:tc>
                <a:tc>
                  <a:txBody>
                    <a:bodyPr wrap="square"/>
                    <a:lstStyle/>
                    <a:p>
                      <a:pPr algn="l"/>
                      <a:r>
                        <a:rPr sz="1100" b="0">
                          <a:solidFill>
                            <a:srgbClr val="EFEEEE"/>
                          </a:solidFill>
                          <a:latin typeface="Helvetica Neue"/>
                        </a:rPr>
                        <a:t>No standard ecom benchmark</a:t>
                      </a:r>
                    </a:p>
                  </a:txBody>
                  <a:tcPr marL="73152" marR="73152" marT="18288" marB="18288" anchor="ctr">
                    <a:solidFill>
                      <a:srgbClr val="000000"/>
                    </a:solidFill>
                  </a:tcPr>
                </a:tc>
                <a:tc>
                  <a:txBody>
                    <a:bodyPr wrap="square"/>
                    <a:lstStyle/>
                    <a:p>
                      <a:pPr algn="l"/>
                      <a:r>
                        <a:rPr sz="1100" b="0">
                          <a:solidFill>
                            <a:srgbClr val="F59E0B"/>
                          </a:solidFill>
                          <a:latin typeface="Helvetica Neue"/>
                        </a:rPr>
                        <a:t>Upside</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Mobile share of traffic</a:t>
                      </a:r>
                    </a:p>
                  </a:txBody>
                  <a:tcPr marL="73152" marR="73152" marT="18288" marB="18288" anchor="ctr">
                    <a:solidFill>
                      <a:srgbClr val="0B0B0B"/>
                    </a:solidFill>
                  </a:tcPr>
                </a:tc>
                <a:tc>
                  <a:txBody>
                    <a:bodyPr wrap="square"/>
                    <a:lstStyle/>
                    <a:p>
                      <a:pPr algn="l"/>
                      <a:r>
                        <a:rPr sz="1100" b="0">
                          <a:solidFill>
                            <a:srgbClr val="EFEEEE"/>
                          </a:solidFill>
                          <a:latin typeface="Helvetica Neue"/>
                        </a:rPr>
                        <a:t>86%</a:t>
                      </a:r>
                    </a:p>
                  </a:txBody>
                  <a:tcPr marL="73152" marR="73152" marT="18288" marB="18288" anchor="ctr">
                    <a:solidFill>
                      <a:srgbClr val="0B0B0B"/>
                    </a:solidFill>
                  </a:tcPr>
                </a:tc>
                <a:tc>
                  <a:txBody>
                    <a:bodyPr wrap="square"/>
                    <a:lstStyle/>
                    <a:p>
                      <a:pPr algn="l"/>
                      <a:r>
                        <a:rPr sz="1100" b="0">
                          <a:solidFill>
                            <a:srgbClr val="EFEEEE"/>
                          </a:solidFill>
                          <a:latin typeface="Helvetica Neue"/>
                        </a:rPr>
                        <a:t>Mobile ~37% below desktop (Littledata)</a:t>
                      </a:r>
                    </a:p>
                  </a:txBody>
                  <a:tcPr marL="73152" marR="73152" marT="18288" marB="18288" anchor="ctr">
                    <a:solidFill>
                      <a:srgbClr val="0B0B0B"/>
                    </a:solidFill>
                  </a:tcPr>
                </a:tc>
                <a:tc>
                  <a:txBody>
                    <a:bodyPr wrap="square"/>
                    <a:lstStyle/>
                    <a:p>
                      <a:pPr algn="l"/>
                      <a:r>
                        <a:rPr sz="1100" b="0">
                          <a:solidFill>
                            <a:srgbClr val="F59E0B"/>
                          </a:solidFill>
                          <a:latin typeface="Helvetica Neue"/>
                        </a:rPr>
                        <a:t>Upside</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Sources: Littledata (2,800 Shopify sites, 2023), Baymard Institute (2025), OpenSend and MetricUno (2024), Omnisend (2024), Klaviyo (2025). These are general ecom benchmarks; no Denmark or European wine specific benchmark is published, so they are the closest fair comparators for a Nordic reseller. RPV is derived (AOV x CVR); no publisher reports a wine RPV.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Benchmarks · The Read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Strong at the Top, Soft Where It Compounds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funnel and order value are genuine strengths. The RPV upside is not fixing a broken store, it is monetizing retention in the category built for it.</a:t>
            </a:r>
          </a:p>
        </p:txBody>
      </p:sp>
      <p:sp>
        <p:nvSpPr>
          <p:cNvPr id="10" name="Rounded Rectangle 9"/>
          <p:cNvSpPr/>
          <p:nvPr/>
        </p:nvSpPr>
        <p:spPr>
          <a:xfrm>
            <a:off x="975207" y="2066544"/>
            <a:ext cx="4892040" cy="3657600"/>
          </a:xfrm>
          <a:prstGeom prst="roundRect">
            <a:avLst>
              <a:gd name="adj" fmla="val 4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295144"/>
            <a:ext cx="4343400" cy="274320"/>
          </a:xfrm>
          <a:prstGeom prst="rect">
            <a:avLst/>
          </a:prstGeom>
          <a:noFill/>
        </p:spPr>
        <p:txBody>
          <a:bodyPr wrap="square" lIns="0" rIns="0" tIns="0" bIns="0" anchor="t">
            <a:spAutoFit/>
          </a:bodyPr>
          <a:lstStyle/>
          <a:p>
            <a:pPr algn="l"/>
            <a:r>
              <a:rPr sz="1000" b="1" i="0" spc="150">
                <a:solidFill>
                  <a:srgbClr val="22C55E"/>
                </a:solidFill>
                <a:latin typeface="Helvetica Neue"/>
              </a:rPr>
              <a:t>Already ahead</a:t>
            </a:r>
          </a:p>
        </p:txBody>
      </p:sp>
      <p:sp>
        <p:nvSpPr>
          <p:cNvPr id="12" name="Oval 11"/>
          <p:cNvSpPr/>
          <p:nvPr/>
        </p:nvSpPr>
        <p:spPr>
          <a:xfrm>
            <a:off x="1203807" y="2798064"/>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78127" y="275234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Conversion 3.69%, ~2.7x the Shopify average </a:t>
            </a:r>
            <a:r>
              <a:rPr sz="1100" b="0" i="0">
                <a:solidFill>
                  <a:srgbClr val="CCCCCC"/>
                </a:solidFill>
                <a:latin typeface="Helvetica Neue"/>
              </a:rPr>
              <a:t>, and that is on ~86% mobile, the lowest converting device.</a:t>
            </a:r>
          </a:p>
        </p:txBody>
      </p:sp>
      <p:sp>
        <p:nvSpPr>
          <p:cNvPr id="14" name="Oval 13"/>
          <p:cNvSpPr/>
          <p:nvPr/>
        </p:nvSpPr>
        <p:spPr>
          <a:xfrm>
            <a:off x="1203807" y="345186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78127" y="3406140"/>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AOV above the Shopify line </a:t>
            </a:r>
            <a:r>
              <a:rPr sz="1100" b="0" i="0">
                <a:solidFill>
                  <a:srgbClr val="CCCCCC"/>
                </a:solidFill>
                <a:latin typeface="Helvetica Neue"/>
              </a:rPr>
              <a:t>at ~2 bottles per order, driven by the box format.</a:t>
            </a:r>
          </a:p>
        </p:txBody>
      </p:sp>
      <p:sp>
        <p:nvSpPr>
          <p:cNvPr id="16" name="Oval 15"/>
          <p:cNvSpPr/>
          <p:nvPr/>
        </p:nvSpPr>
        <p:spPr>
          <a:xfrm>
            <a:off x="1203807" y="3918204"/>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8127" y="387248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66% returning customers </a:t>
            </a:r>
            <a:r>
              <a:rPr sz="1100" b="0" i="0">
                <a:solidFill>
                  <a:srgbClr val="CCCCCC"/>
                </a:solidFill>
                <a:latin typeface="Helvetica Neue"/>
              </a:rPr>
              <a:t>, well above the typical ecom repeat band. Retention is a genuine strength.</a:t>
            </a:r>
          </a:p>
        </p:txBody>
      </p:sp>
      <p:sp>
        <p:nvSpPr>
          <p:cNvPr id="18" name="Oval 17"/>
          <p:cNvSpPr/>
          <p:nvPr/>
        </p:nvSpPr>
        <p:spPr>
          <a:xfrm>
            <a:off x="1203807" y="4384548"/>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78127" y="4338828"/>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Cart abandonment 10 points better </a:t>
            </a:r>
            <a:r>
              <a:rPr sz="1100" b="0" i="0">
                <a:solidFill>
                  <a:srgbClr val="CCCCCC"/>
                </a:solidFill>
                <a:latin typeface="Helvetica Neue"/>
              </a:rPr>
              <a:t>than Baymard, despite the age gate and alcohol friction.</a:t>
            </a:r>
          </a:p>
        </p:txBody>
      </p:sp>
      <p:sp>
        <p:nvSpPr>
          <p:cNvPr id="20" name="Rounded Rectangle 19"/>
          <p:cNvSpPr/>
          <p:nvPr/>
        </p:nvSpPr>
        <p:spPr>
          <a:xfrm>
            <a:off x="6324447" y="2066544"/>
            <a:ext cx="4892040" cy="3657600"/>
          </a:xfrm>
          <a:prstGeom prst="roundRect">
            <a:avLst>
              <a:gd name="adj" fmla="val 4000"/>
            </a:avLst>
          </a:prstGeom>
          <a:solidFill>
            <a:srgbClr val="101010"/>
          </a:solidFill>
          <a:ln w="9525">
            <a:solidFill>
              <a:srgbClr val="4A3A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8767" y="2295144"/>
            <a:ext cx="4343400" cy="274320"/>
          </a:xfrm>
          <a:prstGeom prst="rect">
            <a:avLst/>
          </a:prstGeom>
          <a:noFill/>
        </p:spPr>
        <p:txBody>
          <a:bodyPr wrap="square" lIns="0" rIns="0" tIns="0" bIns="0" anchor="t">
            <a:spAutoFit/>
          </a:bodyPr>
          <a:lstStyle/>
          <a:p>
            <a:pPr algn="l"/>
            <a:r>
              <a:rPr sz="1000" b="1" i="0" spc="150">
                <a:solidFill>
                  <a:srgbClr val="F59E0B"/>
                </a:solidFill>
                <a:latin typeface="Helvetica Neue"/>
              </a:rPr>
              <a:t>The growth gaps</a:t>
            </a:r>
          </a:p>
        </p:txBody>
      </p:sp>
      <p:sp>
        <p:nvSpPr>
          <p:cNvPr id="22" name="Oval 21"/>
          <p:cNvSpPr/>
          <p:nvPr/>
        </p:nvSpPr>
        <p:spPr>
          <a:xfrm>
            <a:off x="6553047" y="2798064"/>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27367" y="2752344"/>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Checkout abandonment 58.9% </a:t>
            </a:r>
            <a:r>
              <a:rPr sz="1100" b="0" i="0">
                <a:solidFill>
                  <a:srgbClr val="CCCCCC"/>
                </a:solidFill>
                <a:latin typeface="Helvetica Neue"/>
              </a:rPr>
              <a:t>is the biggest recoverable leak, and the cheapest to win back.</a:t>
            </a:r>
          </a:p>
        </p:txBody>
      </p:sp>
      <p:sp>
        <p:nvSpPr>
          <p:cNvPr id="24" name="Oval 23"/>
          <p:cNvSpPr/>
          <p:nvPr/>
        </p:nvSpPr>
        <p:spPr>
          <a:xfrm>
            <a:off x="6553047" y="3264408"/>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3218688"/>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Email 16% of orders </a:t>
            </a:r>
            <a:r>
              <a:rPr sz="1100" b="0" i="0">
                <a:solidFill>
                  <a:srgbClr val="CCCCCC"/>
                </a:solidFill>
                <a:latin typeface="Helvetica Neue"/>
              </a:rPr>
              <a:t>vs a ~20 to 30% owned norm. Automations are the highest ROI slice untouched.</a:t>
            </a:r>
          </a:p>
        </p:txBody>
      </p:sp>
      <p:sp>
        <p:nvSpPr>
          <p:cNvPr id="26" name="Oval 25"/>
          <p:cNvSpPr/>
          <p:nvPr/>
        </p:nvSpPr>
        <p:spPr>
          <a:xfrm>
            <a:off x="6553047" y="3730752"/>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3685032"/>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Subscription sign ups are low. </a:t>
            </a:r>
            <a:r>
              <a:rPr sz="1100" b="0" i="0">
                <a:solidFill>
                  <a:srgbClr val="CCCCCC"/>
                </a:solidFill>
                <a:latin typeface="Helvetica Neue"/>
              </a:rPr>
              <a:t>The 3 tier club exists but is barely showcased. Wine clubs are 39% of winery DtC.</a:t>
            </a:r>
          </a:p>
        </p:txBody>
      </p:sp>
      <p:sp>
        <p:nvSpPr>
          <p:cNvPr id="28" name="Oval 27"/>
          <p:cNvSpPr/>
          <p:nvPr/>
        </p:nvSpPr>
        <p:spPr>
          <a:xfrm>
            <a:off x="6553047" y="438454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4338828"/>
            <a:ext cx="4251960"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Mobile is 86% of traffic </a:t>
            </a:r>
            <a:r>
              <a:rPr sz="1100" b="0" i="0">
                <a:solidFill>
                  <a:srgbClr val="CCCCCC"/>
                </a:solidFill>
                <a:latin typeface="Helvetica Neue"/>
              </a:rPr>
              <a:t>on the lowest converting device. Closing the gap moves the most sessions.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Three Biggest Leaks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Ranked by how cheaply the revenue can be won back, not just by size.</a:t>
            </a:r>
          </a:p>
        </p:txBody>
      </p:sp>
      <p:sp>
        <p:nvSpPr>
          <p:cNvPr id="10" name="TextBox 9"/>
          <p:cNvSpPr txBox="1"/>
          <p:nvPr/>
        </p:nvSpPr>
        <p:spPr>
          <a:xfrm>
            <a:off x="640080" y="1847088"/>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sp>
        <p:nvSpPr>
          <p:cNvPr id="11" name="Rounded Rectangle 10"/>
          <p:cNvSpPr/>
          <p:nvPr/>
        </p:nvSpPr>
        <p:spPr>
          <a:xfrm>
            <a:off x="79232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664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1</a:t>
            </a:r>
          </a:p>
        </p:txBody>
      </p:sp>
      <p:sp>
        <p:nvSpPr>
          <p:cNvPr id="13" name="TextBox 12"/>
          <p:cNvSpPr txBox="1"/>
          <p:nvPr/>
        </p:nvSpPr>
        <p:spPr>
          <a:xfrm>
            <a:off x="106664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Checkout to Purchase</a:t>
            </a:r>
          </a:p>
        </p:txBody>
      </p:sp>
      <p:sp>
        <p:nvSpPr>
          <p:cNvPr id="14" name="TextBox 13"/>
          <p:cNvSpPr txBox="1"/>
          <p:nvPr/>
        </p:nvSpPr>
        <p:spPr>
          <a:xfrm>
            <a:off x="106664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58.9%</a:t>
            </a:r>
          </a:p>
        </p:txBody>
      </p:sp>
      <p:sp>
        <p:nvSpPr>
          <p:cNvPr id="15" name="TextBox 14"/>
          <p:cNvSpPr txBox="1"/>
          <p:nvPr/>
        </p:nvSpPr>
        <p:spPr>
          <a:xfrm>
            <a:off x="106664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17,785 of 30,200 sessions that reach checkout never complete. The highest intent, lowest cost audience to recover. Delivery doubt, the "1-3 dagar" promise and 90+ website errors are prime suspects.</a:t>
            </a:r>
          </a:p>
        </p:txBody>
      </p:sp>
      <p:sp>
        <p:nvSpPr>
          <p:cNvPr id="16" name="TextBox 15"/>
          <p:cNvSpPr txBox="1"/>
          <p:nvPr/>
        </p:nvSpPr>
        <p:spPr>
          <a:xfrm>
            <a:off x="106664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Highest intent. Cheapest win. Est. 3 to 5M SEK/qtr</a:t>
            </a:r>
          </a:p>
        </p:txBody>
      </p:sp>
      <p:sp>
        <p:nvSpPr>
          <p:cNvPr id="17" name="Rounded Rectangle 16"/>
          <p:cNvSpPr/>
          <p:nvPr/>
        </p:nvSpPr>
        <p:spPr>
          <a:xfrm>
            <a:off x="441944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9376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2</a:t>
            </a:r>
          </a:p>
        </p:txBody>
      </p:sp>
      <p:sp>
        <p:nvSpPr>
          <p:cNvPr id="19" name="TextBox 18"/>
          <p:cNvSpPr txBox="1"/>
          <p:nvPr/>
        </p:nvSpPr>
        <p:spPr>
          <a:xfrm>
            <a:off x="469376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Session to Add to Cart</a:t>
            </a:r>
          </a:p>
        </p:txBody>
      </p:sp>
      <p:sp>
        <p:nvSpPr>
          <p:cNvPr id="20" name="TextBox 19"/>
          <p:cNvSpPr txBox="1"/>
          <p:nvPr/>
        </p:nvSpPr>
        <p:spPr>
          <a:xfrm>
            <a:off x="469376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87.3%</a:t>
            </a:r>
          </a:p>
        </p:txBody>
      </p:sp>
      <p:sp>
        <p:nvSpPr>
          <p:cNvPr id="21" name="TextBox 20"/>
          <p:cNvSpPr txBox="1"/>
          <p:nvPr/>
        </p:nvSpPr>
        <p:spPr>
          <a:xfrm>
            <a:off x="469376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Only 12.6% of sessions add to cart. Box product pages already run 18 to 20%, but the homepage (12%) and collection (10%) drag it down. product page trust gaps and weak product presentation suppress the add.</a:t>
            </a:r>
          </a:p>
        </p:txBody>
      </p:sp>
      <p:sp>
        <p:nvSpPr>
          <p:cNvPr id="22" name="TextBox 21"/>
          <p:cNvSpPr txBox="1"/>
          <p:nvPr/>
        </p:nvSpPr>
        <p:spPr>
          <a:xfrm>
            <a:off x="469376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Legality proof, per wine detail, box first collection</a:t>
            </a:r>
          </a:p>
        </p:txBody>
      </p:sp>
      <p:sp>
        <p:nvSpPr>
          <p:cNvPr id="23" name="Rounded Rectangle 22"/>
          <p:cNvSpPr/>
          <p:nvPr/>
        </p:nvSpPr>
        <p:spPr>
          <a:xfrm>
            <a:off x="8046567" y="2157984"/>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0887" y="2340864"/>
            <a:ext cx="914400" cy="457200"/>
          </a:xfrm>
          <a:prstGeom prst="rect">
            <a:avLst/>
          </a:prstGeom>
          <a:noFill/>
        </p:spPr>
        <p:txBody>
          <a:bodyPr wrap="square" lIns="0" rIns="0" tIns="0" bIns="0" anchor="t">
            <a:spAutoFit/>
          </a:bodyPr>
          <a:lstStyle/>
          <a:p>
            <a:pPr algn="l"/>
            <a:r>
              <a:rPr sz="2400" b="1" i="0">
                <a:solidFill>
                  <a:srgbClr val="EF4444"/>
                </a:solidFill>
                <a:latin typeface="Menlo"/>
              </a:rPr>
              <a:t>3</a:t>
            </a:r>
          </a:p>
        </p:txBody>
      </p:sp>
      <p:sp>
        <p:nvSpPr>
          <p:cNvPr id="25" name="TextBox 24"/>
          <p:cNvSpPr txBox="1"/>
          <p:nvPr/>
        </p:nvSpPr>
        <p:spPr>
          <a:xfrm>
            <a:off x="8320887" y="2871216"/>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Cart to Checkout</a:t>
            </a:r>
          </a:p>
        </p:txBody>
      </p:sp>
      <p:sp>
        <p:nvSpPr>
          <p:cNvPr id="26" name="TextBox 25"/>
          <p:cNvSpPr txBox="1"/>
          <p:nvPr/>
        </p:nvSpPr>
        <p:spPr>
          <a:xfrm>
            <a:off x="8320887" y="3255264"/>
            <a:ext cx="2804160" cy="502920"/>
          </a:xfrm>
          <a:prstGeom prst="rect">
            <a:avLst/>
          </a:prstGeom>
          <a:noFill/>
        </p:spPr>
        <p:txBody>
          <a:bodyPr wrap="square" lIns="0" rIns="0" tIns="0" bIns="0" anchor="t">
            <a:spAutoFit/>
          </a:bodyPr>
          <a:lstStyle/>
          <a:p>
            <a:pPr algn="l"/>
            <a:r>
              <a:rPr sz="2800" b="1" i="0">
                <a:solidFill>
                  <a:srgbClr val="EF4444"/>
                </a:solidFill>
                <a:latin typeface="Menlo"/>
              </a:rPr>
              <a:t>29%</a:t>
            </a:r>
          </a:p>
        </p:txBody>
      </p:sp>
      <p:sp>
        <p:nvSpPr>
          <p:cNvPr id="27" name="TextBox 26"/>
          <p:cNvSpPr txBox="1"/>
          <p:nvPr/>
        </p:nvSpPr>
        <p:spPr>
          <a:xfrm>
            <a:off x="8320887" y="3849624"/>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29% of carts never reach checkout. Shipping surprise (695 SEK threshold, Airmee only) and no clear push to continue. Smaller than the other two, but a quick cart drawer win.</a:t>
            </a:r>
          </a:p>
        </p:txBody>
      </p:sp>
      <p:sp>
        <p:nvSpPr>
          <p:cNvPr id="28" name="TextBox 27"/>
          <p:cNvSpPr txBox="1"/>
          <p:nvPr/>
        </p:nvSpPr>
        <p:spPr>
          <a:xfrm>
            <a:off x="8320887" y="4901184"/>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Cart shipping clarity + continue step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09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Device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Mobile Is the Store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Almost 9 in 10 Shopify sessions are mobile (88%), yet mobile converts below tablet (3.71% vs 4.66%). Every fix in this deck is a mobile fix first.</a:t>
            </a:r>
          </a:p>
        </p:txBody>
      </p:sp>
      <p:graphicFrame>
        <p:nvGraphicFramePr>
          <p:cNvPr id="10" name="Table 9"/>
          <p:cNvGraphicFramePr>
            <a:graphicFrameLocks noGrp="1"/>
          </p:cNvGraphicFramePr>
          <p:nvPr/>
        </p:nvGraphicFramePr>
        <p:xfrm>
          <a:off x="883767" y="2103120"/>
          <a:ext cx="10424156" cy="146304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DEVICE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ADD TO CART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Mobile</a:t>
                      </a:r>
                    </a:p>
                  </a:txBody>
                  <a:tcPr marL="73152" marR="73152" marT="18288" marB="18288" anchor="ctr">
                    <a:solidFill>
                      <a:srgbClr val="000000"/>
                    </a:solidFill>
                  </a:tcPr>
                </a:tc>
                <a:tc>
                  <a:txBody>
                    <a:bodyPr wrap="square"/>
                    <a:lstStyle/>
                    <a:p>
                      <a:pPr algn="r"/>
                      <a:r>
                        <a:rPr sz="1100" b="0">
                          <a:solidFill>
                            <a:srgbClr val="EFEEEE"/>
                          </a:solidFill>
                          <a:latin typeface="Menlo"/>
                        </a:rPr>
                        <a:t>296,510</a:t>
                      </a:r>
                    </a:p>
                  </a:txBody>
                  <a:tcPr marL="73152" marR="73152" marT="18288" marB="18288" anchor="ctr">
                    <a:solidFill>
                      <a:srgbClr val="000000"/>
                    </a:solidFill>
                  </a:tcPr>
                </a:tc>
                <a:tc>
                  <a:txBody>
                    <a:bodyPr wrap="square"/>
                    <a:lstStyle/>
                    <a:p>
                      <a:pPr algn="r"/>
                      <a:r>
                        <a:rPr sz="1100" b="0">
                          <a:solidFill>
                            <a:srgbClr val="EFEEEE"/>
                          </a:solidFill>
                          <a:latin typeface="Menlo"/>
                        </a:rPr>
                        <a:t>88.0%</a:t>
                      </a:r>
                    </a:p>
                  </a:txBody>
                  <a:tcPr marL="73152" marR="73152" marT="18288" marB="18288" anchor="ctr">
                    <a:solidFill>
                      <a:srgbClr val="000000"/>
                    </a:solidFill>
                  </a:tcPr>
                </a:tc>
                <a:tc>
                  <a:txBody>
                    <a:bodyPr wrap="square"/>
                    <a:lstStyle/>
                    <a:p>
                      <a:pPr algn="r"/>
                      <a:r>
                        <a:rPr sz="1100" b="0">
                          <a:solidFill>
                            <a:srgbClr val="EFEEEE"/>
                          </a:solidFill>
                          <a:latin typeface="Menlo"/>
                        </a:rPr>
                        <a:t>12.9%</a:t>
                      </a:r>
                    </a:p>
                  </a:txBody>
                  <a:tcPr marL="73152" marR="73152" marT="18288" marB="18288" anchor="ctr">
                    <a:solidFill>
                      <a:srgbClr val="000000"/>
                    </a:solidFill>
                  </a:tcPr>
                </a:tc>
                <a:tc>
                  <a:txBody>
                    <a:bodyPr wrap="square"/>
                    <a:lstStyle/>
                    <a:p>
                      <a:pPr algn="r"/>
                      <a:r>
                        <a:rPr sz="1100" b="0">
                          <a:solidFill>
                            <a:srgbClr val="EFEEEE"/>
                          </a:solidFill>
                          <a:latin typeface="Menlo"/>
                        </a:rPr>
                        <a:t>3.71%</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Desktop</a:t>
                      </a:r>
                    </a:p>
                  </a:txBody>
                  <a:tcPr marL="73152" marR="73152" marT="18288" marB="18288" anchor="ctr">
                    <a:solidFill>
                      <a:srgbClr val="0B0B0B"/>
                    </a:solidFill>
                  </a:tcPr>
                </a:tc>
                <a:tc>
                  <a:txBody>
                    <a:bodyPr wrap="square"/>
                    <a:lstStyle/>
                    <a:p>
                      <a:pPr algn="r"/>
                      <a:r>
                        <a:rPr sz="1100" b="0">
                          <a:solidFill>
                            <a:srgbClr val="EFEEEE"/>
                          </a:solidFill>
                          <a:latin typeface="Menlo"/>
                        </a:rPr>
                        <a:t>30,726</a:t>
                      </a:r>
                    </a:p>
                  </a:txBody>
                  <a:tcPr marL="73152" marR="73152" marT="18288" marB="18288" anchor="ctr">
                    <a:solidFill>
                      <a:srgbClr val="0B0B0B"/>
                    </a:solidFill>
                  </a:tcPr>
                </a:tc>
                <a:tc>
                  <a:txBody>
                    <a:bodyPr wrap="square"/>
                    <a:lstStyle/>
                    <a:p>
                      <a:pPr algn="r"/>
                      <a:r>
                        <a:rPr sz="1100" b="0">
                          <a:solidFill>
                            <a:srgbClr val="EFEEEE"/>
                          </a:solidFill>
                          <a:latin typeface="Menlo"/>
                        </a:rPr>
                        <a:t>9.1%</a:t>
                      </a:r>
                    </a:p>
                  </a:txBody>
                  <a:tcPr marL="73152" marR="73152" marT="18288" marB="18288" anchor="ctr">
                    <a:solidFill>
                      <a:srgbClr val="0B0B0B"/>
                    </a:solidFill>
                  </a:tcPr>
                </a:tc>
                <a:tc>
                  <a:txBody>
                    <a:bodyPr wrap="square"/>
                    <a:lstStyle/>
                    <a:p>
                      <a:pPr algn="r"/>
                      <a:r>
                        <a:rPr sz="1100" b="0">
                          <a:solidFill>
                            <a:srgbClr val="EFEEEE"/>
                          </a:solidFill>
                          <a:latin typeface="Menlo"/>
                        </a:rPr>
                        <a:t>10.2%</a:t>
                      </a:r>
                    </a:p>
                  </a:txBody>
                  <a:tcPr marL="73152" marR="73152" marT="18288" marB="18288" anchor="ctr">
                    <a:solidFill>
                      <a:srgbClr val="0B0B0B"/>
                    </a:solidFill>
                  </a:tcPr>
                </a:tc>
                <a:tc>
                  <a:txBody>
                    <a:bodyPr wrap="square"/>
                    <a:lstStyle/>
                    <a:p>
                      <a:pPr algn="r"/>
                      <a:r>
                        <a:rPr sz="1100" b="0">
                          <a:solidFill>
                            <a:srgbClr val="EFEEEE"/>
                          </a:solidFill>
                          <a:latin typeface="Menlo"/>
                        </a:rPr>
                        <a:t>3.56%</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Tablet</a:t>
                      </a:r>
                    </a:p>
                  </a:txBody>
                  <a:tcPr marL="73152" marR="73152" marT="18288" marB="18288" anchor="ctr">
                    <a:solidFill>
                      <a:srgbClr val="000000"/>
                    </a:solidFill>
                  </a:tcPr>
                </a:tc>
                <a:tc>
                  <a:txBody>
                    <a:bodyPr wrap="square"/>
                    <a:lstStyle/>
                    <a:p>
                      <a:pPr algn="r"/>
                      <a:r>
                        <a:rPr sz="1100" b="0">
                          <a:solidFill>
                            <a:srgbClr val="EFEEEE"/>
                          </a:solidFill>
                          <a:latin typeface="Menlo"/>
                        </a:rPr>
                        <a:t>9,619</a:t>
                      </a:r>
                    </a:p>
                  </a:txBody>
                  <a:tcPr marL="73152" marR="73152" marT="18288" marB="18288" anchor="ctr">
                    <a:solidFill>
                      <a:srgbClr val="000000"/>
                    </a:solidFill>
                  </a:tcPr>
                </a:tc>
                <a:tc>
                  <a:txBody>
                    <a:bodyPr wrap="square"/>
                    <a:lstStyle/>
                    <a:p>
                      <a:pPr algn="r"/>
                      <a:r>
                        <a:rPr sz="1100" b="0">
                          <a:solidFill>
                            <a:srgbClr val="EFEEEE"/>
                          </a:solidFill>
                          <a:latin typeface="Menlo"/>
                        </a:rPr>
                        <a:t>2.9%</a:t>
                      </a:r>
                    </a:p>
                  </a:txBody>
                  <a:tcPr marL="73152" marR="73152" marT="18288" marB="18288" anchor="ctr">
                    <a:solidFill>
                      <a:srgbClr val="000000"/>
                    </a:solidFill>
                  </a:tcPr>
                </a:tc>
                <a:tc>
                  <a:txBody>
                    <a:bodyPr wrap="square"/>
                    <a:lstStyle/>
                    <a:p>
                      <a:pPr algn="r"/>
                      <a:r>
                        <a:rPr sz="1100" b="0">
                          <a:solidFill>
                            <a:srgbClr val="EFEEEE"/>
                          </a:solidFill>
                          <a:latin typeface="Menlo"/>
                        </a:rPr>
                        <a:t>15.1%</a:t>
                      </a:r>
                    </a:p>
                  </a:txBody>
                  <a:tcPr marL="73152" marR="73152" marT="18288" marB="18288" anchor="ctr">
                    <a:solidFill>
                      <a:srgbClr val="000000"/>
                    </a:solidFill>
                  </a:tcPr>
                </a:tc>
                <a:tc>
                  <a:txBody>
                    <a:bodyPr wrap="square"/>
                    <a:lstStyle/>
                    <a:p>
                      <a:pPr algn="r"/>
                      <a:r>
                        <a:rPr sz="1100" b="0">
                          <a:solidFill>
                            <a:srgbClr val="22C55E"/>
                          </a:solidFill>
                          <a:latin typeface="Menlo"/>
                        </a:rPr>
                        <a:t>4.66%</a:t>
                      </a:r>
                    </a:p>
                  </a:txBody>
                  <a:tcPr marL="73152" marR="73152" marT="18288" marB="18288" anchor="ctr">
                    <a:solidFill>
                      <a:srgbClr val="000000"/>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Source: Shopify Sessions by device report. Shares and rates are Shopify actuals; session counts are indexed to the 90-day window (25 April to 23 July 2026). Mobile owns the volume but is the weakest converter, so checkout and product page fixes must be validated on mobile Safari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 · Referrers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Direct and Meta Carry the Store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Direct (49%) and Meta (Facebook and Instagram, 33%) drive four in five sessions. Google adds 16%. Tagged email is just 1%, the clearest gap for a store with 66% returning customers.</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graphicFrame>
        <p:nvGraphicFramePr>
          <p:cNvPr id="11" name="Table 10"/>
          <p:cNvGraphicFramePr>
            <a:graphicFrameLocks noGrp="1"/>
          </p:cNvGraphicFramePr>
          <p:nvPr/>
        </p:nvGraphicFramePr>
        <p:xfrm>
          <a:off x="883767" y="2377440"/>
          <a:ext cx="10424158" cy="2194560"/>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CHANNEL (REFERRER)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CVR</a:t>
                      </a:r>
                    </a:p>
                  </a:txBody>
                  <a:tcPr marL="73152" marR="73152" marT="18288" marB="18288" anchor="ctr">
                    <a:solidFill>
                      <a:srgbClr val="0A0A0A"/>
                    </a:solidFill>
                  </a:tcPr>
                </a:tc>
              </a:tr>
              <a:tr h="365760">
                <a:tc>
                  <a:txBody>
                    <a:bodyPr wrap="square"/>
                    <a:lstStyle/>
                    <a:p>
                      <a:pPr algn="l"/>
                      <a:r>
                        <a:rPr sz="1100" b="1">
                          <a:solidFill>
                            <a:srgbClr val="EFEEEE"/>
                          </a:solidFill>
                          <a:latin typeface="Helvetica Neue"/>
                        </a:rPr>
                        <a:t>Direct</a:t>
                      </a:r>
                    </a:p>
                  </a:txBody>
                  <a:tcPr marL="73152" marR="73152" marT="18288" marB="18288" anchor="ctr">
                    <a:solidFill>
                      <a:srgbClr val="000000"/>
                    </a:solidFill>
                  </a:tcPr>
                </a:tc>
                <a:tc>
                  <a:txBody>
                    <a:bodyPr wrap="square"/>
                    <a:lstStyle/>
                    <a:p>
                      <a:pPr algn="r"/>
                      <a:r>
                        <a:rPr sz="1100" b="0">
                          <a:solidFill>
                            <a:srgbClr val="EFEEEE"/>
                          </a:solidFill>
                          <a:latin typeface="Menlo"/>
                        </a:rPr>
                        <a:t>164,633</a:t>
                      </a:r>
                    </a:p>
                  </a:txBody>
                  <a:tcPr marL="73152" marR="73152" marT="18288" marB="18288" anchor="ctr">
                    <a:solidFill>
                      <a:srgbClr val="000000"/>
                    </a:solidFill>
                  </a:tcPr>
                </a:tc>
                <a:tc>
                  <a:txBody>
                    <a:bodyPr wrap="square"/>
                    <a:lstStyle/>
                    <a:p>
                      <a:pPr algn="r"/>
                      <a:r>
                        <a:rPr sz="1100" b="0">
                          <a:solidFill>
                            <a:srgbClr val="EFEEEE"/>
                          </a:solidFill>
                          <a:latin typeface="Menlo"/>
                        </a:rPr>
                        <a:t>48.9%</a:t>
                      </a:r>
                    </a:p>
                  </a:txBody>
                  <a:tcPr marL="73152" marR="73152" marT="18288" marB="18288" anchor="ctr">
                    <a:solidFill>
                      <a:srgbClr val="000000"/>
                    </a:solidFill>
                  </a:tcPr>
                </a:tc>
                <a:tc>
                  <a:txBody>
                    <a:bodyPr wrap="square"/>
                    <a:lstStyle/>
                    <a:p>
                      <a:pPr algn="r"/>
                      <a:r>
                        <a:rPr sz="1100" b="0">
                          <a:solidFill>
                            <a:srgbClr val="EFEEEE"/>
                          </a:solidFill>
                          <a:latin typeface="Menlo"/>
                        </a:rPr>
                        <a:t>3.36%</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Facebook</a:t>
                      </a:r>
                    </a:p>
                  </a:txBody>
                  <a:tcPr marL="73152" marR="73152" marT="18288" marB="18288" anchor="ctr">
                    <a:solidFill>
                      <a:srgbClr val="0B0B0B"/>
                    </a:solidFill>
                  </a:tcPr>
                </a:tc>
                <a:tc>
                  <a:txBody>
                    <a:bodyPr wrap="square"/>
                    <a:lstStyle/>
                    <a:p>
                      <a:pPr algn="r"/>
                      <a:r>
                        <a:rPr sz="1100" b="0">
                          <a:solidFill>
                            <a:srgbClr val="EFEEEE"/>
                          </a:solidFill>
                          <a:latin typeface="Menlo"/>
                        </a:rPr>
                        <a:t>82,992</a:t>
                      </a:r>
                    </a:p>
                  </a:txBody>
                  <a:tcPr marL="73152" marR="73152" marT="18288" marB="18288" anchor="ctr">
                    <a:solidFill>
                      <a:srgbClr val="0B0B0B"/>
                    </a:solidFill>
                  </a:tcPr>
                </a:tc>
                <a:tc>
                  <a:txBody>
                    <a:bodyPr wrap="square"/>
                    <a:lstStyle/>
                    <a:p>
                      <a:pPr algn="r"/>
                      <a:r>
                        <a:rPr sz="1100" b="0">
                          <a:solidFill>
                            <a:srgbClr val="EFEEEE"/>
                          </a:solidFill>
                          <a:latin typeface="Menlo"/>
                        </a:rPr>
                        <a:t>24.6%</a:t>
                      </a:r>
                    </a:p>
                  </a:txBody>
                  <a:tcPr marL="73152" marR="73152" marT="18288" marB="18288" anchor="ctr">
                    <a:solidFill>
                      <a:srgbClr val="0B0B0B"/>
                    </a:solidFill>
                  </a:tcPr>
                </a:tc>
                <a:tc>
                  <a:txBody>
                    <a:bodyPr wrap="square"/>
                    <a:lstStyle/>
                    <a:p>
                      <a:pPr algn="r"/>
                      <a:r>
                        <a:rPr sz="1100" b="0">
                          <a:solidFill>
                            <a:srgbClr val="22C55E"/>
                          </a:solidFill>
                          <a:latin typeface="Menlo"/>
                        </a:rPr>
                        <a:t>4.13%</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Google</a:t>
                      </a:r>
                    </a:p>
                  </a:txBody>
                  <a:tcPr marL="73152" marR="73152" marT="18288" marB="18288" anchor="ctr">
                    <a:solidFill>
                      <a:srgbClr val="000000"/>
                    </a:solidFill>
                  </a:tcPr>
                </a:tc>
                <a:tc>
                  <a:txBody>
                    <a:bodyPr wrap="square"/>
                    <a:lstStyle/>
                    <a:p>
                      <a:pPr algn="r"/>
                      <a:r>
                        <a:rPr sz="1100" b="0">
                          <a:solidFill>
                            <a:srgbClr val="EFEEEE"/>
                          </a:solidFill>
                          <a:latin typeface="Menlo"/>
                        </a:rPr>
                        <a:t>55,148</a:t>
                      </a:r>
                    </a:p>
                  </a:txBody>
                  <a:tcPr marL="73152" marR="73152" marT="18288" marB="18288" anchor="ctr">
                    <a:solidFill>
                      <a:srgbClr val="000000"/>
                    </a:solidFill>
                  </a:tcPr>
                </a:tc>
                <a:tc>
                  <a:txBody>
                    <a:bodyPr wrap="square"/>
                    <a:lstStyle/>
                    <a:p>
                      <a:pPr algn="r"/>
                      <a:r>
                        <a:rPr sz="1100" b="0">
                          <a:solidFill>
                            <a:srgbClr val="EFEEEE"/>
                          </a:solidFill>
                          <a:latin typeface="Menlo"/>
                        </a:rPr>
                        <a:t>16.4%</a:t>
                      </a:r>
                    </a:p>
                  </a:txBody>
                  <a:tcPr marL="73152" marR="73152" marT="18288" marB="18288" anchor="ctr">
                    <a:solidFill>
                      <a:srgbClr val="000000"/>
                    </a:solidFill>
                  </a:tcPr>
                </a:tc>
                <a:tc>
                  <a:txBody>
                    <a:bodyPr wrap="square"/>
                    <a:lstStyle/>
                    <a:p>
                      <a:pPr algn="r"/>
                      <a:r>
                        <a:rPr sz="1100" b="0">
                          <a:solidFill>
                            <a:srgbClr val="EFEEEE"/>
                          </a:solidFill>
                          <a:latin typeface="Menlo"/>
                        </a:rPr>
                        <a:t>3.83%</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Instagram</a:t>
                      </a:r>
                    </a:p>
                  </a:txBody>
                  <a:tcPr marL="73152" marR="73152" marT="18288" marB="18288" anchor="ctr">
                    <a:solidFill>
                      <a:srgbClr val="0B0B0B"/>
                    </a:solidFill>
                  </a:tcPr>
                </a:tc>
                <a:tc>
                  <a:txBody>
                    <a:bodyPr wrap="square"/>
                    <a:lstStyle/>
                    <a:p>
                      <a:pPr algn="r"/>
                      <a:r>
                        <a:rPr sz="1100" b="0">
                          <a:solidFill>
                            <a:srgbClr val="EFEEEE"/>
                          </a:solidFill>
                          <a:latin typeface="Menlo"/>
                        </a:rPr>
                        <a:t>27,967</a:t>
                      </a:r>
                    </a:p>
                  </a:txBody>
                  <a:tcPr marL="73152" marR="73152" marT="18288" marB="18288" anchor="ctr">
                    <a:solidFill>
                      <a:srgbClr val="0B0B0B"/>
                    </a:solidFill>
                  </a:tcPr>
                </a:tc>
                <a:tc>
                  <a:txBody>
                    <a:bodyPr wrap="square"/>
                    <a:lstStyle/>
                    <a:p>
                      <a:pPr algn="r"/>
                      <a:r>
                        <a:rPr sz="1100" b="0">
                          <a:solidFill>
                            <a:srgbClr val="EFEEEE"/>
                          </a:solidFill>
                          <a:latin typeface="Menlo"/>
                        </a:rPr>
                        <a:t>8.3%</a:t>
                      </a:r>
                    </a:p>
                  </a:txBody>
                  <a:tcPr marL="73152" marR="73152" marT="18288" marB="18288" anchor="ctr">
                    <a:solidFill>
                      <a:srgbClr val="0B0B0B"/>
                    </a:solidFill>
                  </a:tcPr>
                </a:tc>
                <a:tc>
                  <a:txBody>
                    <a:bodyPr wrap="square"/>
                    <a:lstStyle/>
                    <a:p>
                      <a:pPr algn="r"/>
                      <a:r>
                        <a:rPr sz="1100" b="0">
                          <a:solidFill>
                            <a:srgbClr val="22C55E"/>
                          </a:solidFill>
                          <a:latin typeface="Menlo"/>
                        </a:rPr>
                        <a:t>4.33%</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Email</a:t>
                      </a:r>
                    </a:p>
                  </a:txBody>
                  <a:tcPr marL="73152" marR="73152" marT="18288" marB="18288" anchor="ctr">
                    <a:solidFill>
                      <a:srgbClr val="000000"/>
                    </a:solidFill>
                  </a:tcPr>
                </a:tc>
                <a:tc>
                  <a:txBody>
                    <a:bodyPr wrap="square"/>
                    <a:lstStyle/>
                    <a:p>
                      <a:pPr algn="r"/>
                      <a:r>
                        <a:rPr sz="1100" b="0">
                          <a:solidFill>
                            <a:srgbClr val="EFEEEE"/>
                          </a:solidFill>
                          <a:latin typeface="Menlo"/>
                        </a:rPr>
                        <a:t>3,632</a:t>
                      </a:r>
                    </a:p>
                  </a:txBody>
                  <a:tcPr marL="73152" marR="73152" marT="18288" marB="18288" anchor="ctr">
                    <a:solidFill>
                      <a:srgbClr val="000000"/>
                    </a:solidFill>
                  </a:tcPr>
                </a:tc>
                <a:tc>
                  <a:txBody>
                    <a:bodyPr wrap="square"/>
                    <a:lstStyle/>
                    <a:p>
                      <a:pPr algn="r"/>
                      <a:r>
                        <a:rPr sz="1100" b="0">
                          <a:solidFill>
                            <a:srgbClr val="EFEEEE"/>
                          </a:solidFill>
                          <a:latin typeface="Menlo"/>
                        </a:rPr>
                        <a:t>1.1%</a:t>
                      </a:r>
                    </a:p>
                  </a:txBody>
                  <a:tcPr marL="73152" marR="73152" marT="18288" marB="18288" anchor="ctr">
                    <a:solidFill>
                      <a:srgbClr val="000000"/>
                    </a:solidFill>
                  </a:tcPr>
                </a:tc>
                <a:tc>
                  <a:txBody>
                    <a:bodyPr wrap="square"/>
                    <a:lstStyle/>
                    <a:p>
                      <a:pPr algn="r"/>
                      <a:r>
                        <a:rPr sz="1100" b="0">
                          <a:solidFill>
                            <a:srgbClr val="EFEEEE"/>
                          </a:solidFill>
                          <a:latin typeface="Menlo"/>
                        </a:rPr>
                        <a:t>4.10%</a:t>
                      </a:r>
                    </a:p>
                  </a:txBody>
                  <a:tcPr marL="73152" marR="73152" marT="18288" marB="18288" anchor="ctr">
                    <a:solidFill>
                      <a:srgbClr val="000000"/>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Source: Shopify Sessions by referrer report (top 5 channels = 99% of sessions). Shares and CVR are Shopify actuals; session counts are indexed to the 90-day window. "Direct" bundles returning visitors and untagged email or SMS, so paid social is the largest trackable acquisition source. Social converts best (4.1 to 4.3%). Klaviyo attributes ~16% of orders even though tagged email sessions are ~1%, so owned email is barely instrumented, not unimportant.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Retention Is a Strength to Scale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Two thirds of buyers are returning customers, and dittvin already runs a real subscription. The job is to grow it, not to build it.</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sp>
        <p:nvSpPr>
          <p:cNvPr id="11" name="Rounded Rectangle 10"/>
          <p:cNvSpPr/>
          <p:nvPr/>
        </p:nvSpPr>
        <p:spPr>
          <a:xfrm>
            <a:off x="79232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66%</a:t>
            </a:r>
          </a:p>
        </p:txBody>
      </p:sp>
      <p:sp>
        <p:nvSpPr>
          <p:cNvPr id="13" name="TextBox 12"/>
          <p:cNvSpPr txBox="1"/>
          <p:nvPr/>
        </p:nvSpPr>
        <p:spPr>
          <a:xfrm>
            <a:off x="79232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Customers</a:t>
            </a:r>
          </a:p>
        </p:txBody>
      </p:sp>
      <p:sp>
        <p:nvSpPr>
          <p:cNvPr id="14" name="TextBox 13"/>
          <p:cNvSpPr txBox="1"/>
          <p:nvPr/>
        </p:nvSpPr>
        <p:spPr>
          <a:xfrm>
            <a:off x="79232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21,130 of 31,860 buyers</a:t>
            </a:r>
          </a:p>
        </p:txBody>
      </p:sp>
      <p:sp>
        <p:nvSpPr>
          <p:cNvPr id="15" name="Rounded Rectangle 14"/>
          <p:cNvSpPr/>
          <p:nvPr/>
        </p:nvSpPr>
        <p:spPr>
          <a:xfrm>
            <a:off x="351266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633472"/>
            <a:ext cx="2446020" cy="502920"/>
          </a:xfrm>
          <a:prstGeom prst="rect">
            <a:avLst/>
          </a:prstGeom>
          <a:noFill/>
        </p:spPr>
        <p:txBody>
          <a:bodyPr wrap="square" lIns="0" rIns="0" tIns="0" bIns="0" anchor="t">
            <a:spAutoFit/>
          </a:bodyPr>
          <a:lstStyle/>
          <a:p>
            <a:pPr algn="ctr"/>
            <a:r>
              <a:rPr sz="3000" b="1" i="0">
                <a:solidFill>
                  <a:srgbClr val="FFFFFF"/>
                </a:solidFill>
                <a:latin typeface="Menlo"/>
              </a:rPr>
              <a:t>10,730</a:t>
            </a:r>
          </a:p>
        </p:txBody>
      </p:sp>
      <p:sp>
        <p:nvSpPr>
          <p:cNvPr id="17" name="TextBox 16"/>
          <p:cNvSpPr txBox="1"/>
          <p:nvPr/>
        </p:nvSpPr>
        <p:spPr>
          <a:xfrm>
            <a:off x="351266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Customers</a:t>
            </a:r>
          </a:p>
        </p:txBody>
      </p:sp>
      <p:sp>
        <p:nvSpPr>
          <p:cNvPr id="18" name="TextBox 17"/>
          <p:cNvSpPr txBox="1"/>
          <p:nvPr/>
        </p:nvSpPr>
        <p:spPr>
          <a:xfrm>
            <a:off x="351266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34% of buyers</a:t>
            </a:r>
          </a:p>
        </p:txBody>
      </p:sp>
      <p:sp>
        <p:nvSpPr>
          <p:cNvPr id="19" name="Rounded Rectangle 18"/>
          <p:cNvSpPr/>
          <p:nvPr/>
        </p:nvSpPr>
        <p:spPr>
          <a:xfrm>
            <a:off x="623300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3 tiers</a:t>
            </a:r>
          </a:p>
        </p:txBody>
      </p:sp>
      <p:sp>
        <p:nvSpPr>
          <p:cNvPr id="21" name="TextBox 20"/>
          <p:cNvSpPr txBox="1"/>
          <p:nvPr/>
        </p:nvSpPr>
        <p:spPr>
          <a:xfrm>
            <a:off x="623300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Subscription</a:t>
            </a:r>
          </a:p>
        </p:txBody>
      </p:sp>
      <p:sp>
        <p:nvSpPr>
          <p:cNvPr id="22" name="TextBox 21"/>
          <p:cNvSpPr txBox="1"/>
          <p:nvPr/>
        </p:nvSpPr>
        <p:spPr>
          <a:xfrm>
            <a:off x="623300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Wine, Gin, Champagne</a:t>
            </a:r>
          </a:p>
        </p:txBody>
      </p:sp>
      <p:sp>
        <p:nvSpPr>
          <p:cNvPr id="23" name="Rounded Rectangle 22"/>
          <p:cNvSpPr/>
          <p:nvPr/>
        </p:nvSpPr>
        <p:spPr>
          <a:xfrm>
            <a:off x="895334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~9%</a:t>
            </a:r>
          </a:p>
        </p:txBody>
      </p:sp>
      <p:sp>
        <p:nvSpPr>
          <p:cNvPr id="25" name="TextBox 24"/>
          <p:cNvSpPr txBox="1"/>
          <p:nvPr/>
        </p:nvSpPr>
        <p:spPr>
          <a:xfrm>
            <a:off x="895334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6-Month Retention</a:t>
            </a:r>
          </a:p>
        </p:txBody>
      </p:sp>
      <p:sp>
        <p:nvSpPr>
          <p:cNvPr id="26" name="TextBox 25"/>
          <p:cNvSpPr txBox="1"/>
          <p:nvPr/>
        </p:nvSpPr>
        <p:spPr>
          <a:xfrm>
            <a:off x="895334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steady cohort tail</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New vs returning customers + cohort report. The subscription runs 749 to 849 SEK per box (monthly, with an intro box first). The opportunity is to make it more prominent and put it on more product pages, so more buyers see and choose it. This flips the earlier GA4 read that retention was weak.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Retention · Subscription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Subscription Is the Efficient LTV Lever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66% of buyers already return, but that repeat is earned with email, retargeting and promos every cycle. Subscription makes it automatic: higher lifetime value, lower marketing cost, predictable revenue. Today it is 0.2% of sales, the clearest untapped lever.</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sp>
        <p:nvSpPr>
          <p:cNvPr id="11" name="Rounded Rectangle 10"/>
          <p:cNvSpPr/>
          <p:nvPr/>
        </p:nvSpPr>
        <p:spPr>
          <a:xfrm>
            <a:off x="792327" y="259689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852928"/>
            <a:ext cx="2446020" cy="502920"/>
          </a:xfrm>
          <a:prstGeom prst="rect">
            <a:avLst/>
          </a:prstGeom>
          <a:noFill/>
        </p:spPr>
        <p:txBody>
          <a:bodyPr wrap="square" lIns="0" rIns="0" tIns="0" bIns="0" anchor="t">
            <a:spAutoFit/>
          </a:bodyPr>
          <a:lstStyle/>
          <a:p>
            <a:pPr algn="ctr"/>
            <a:r>
              <a:rPr sz="3000" b="1" i="0">
                <a:solidFill>
                  <a:srgbClr val="F59E0B"/>
                </a:solidFill>
                <a:latin typeface="Menlo"/>
              </a:rPr>
              <a:t>0.2%</a:t>
            </a:r>
          </a:p>
        </p:txBody>
      </p:sp>
      <p:sp>
        <p:nvSpPr>
          <p:cNvPr id="13" name="TextBox 12"/>
          <p:cNvSpPr txBox="1"/>
          <p:nvPr/>
        </p:nvSpPr>
        <p:spPr>
          <a:xfrm>
            <a:off x="79232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Subscription Share of Sales</a:t>
            </a:r>
          </a:p>
        </p:txBody>
      </p:sp>
      <p:sp>
        <p:nvSpPr>
          <p:cNvPr id="14" name="TextBox 13"/>
          <p:cNvSpPr txBox="1"/>
          <p:nvPr/>
        </p:nvSpPr>
        <p:spPr>
          <a:xfrm>
            <a:off x="79232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101 orders, 66k SEK in 90 days</a:t>
            </a:r>
          </a:p>
        </p:txBody>
      </p:sp>
      <p:sp>
        <p:nvSpPr>
          <p:cNvPr id="15" name="Rounded Rectangle 14"/>
          <p:cNvSpPr/>
          <p:nvPr/>
        </p:nvSpPr>
        <p:spPr>
          <a:xfrm>
            <a:off x="3512667" y="259689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852928"/>
            <a:ext cx="2446020" cy="502920"/>
          </a:xfrm>
          <a:prstGeom prst="rect">
            <a:avLst/>
          </a:prstGeom>
          <a:noFill/>
        </p:spPr>
        <p:txBody>
          <a:bodyPr wrap="square" lIns="0" rIns="0" tIns="0" bIns="0" anchor="t">
            <a:spAutoFit/>
          </a:bodyPr>
          <a:lstStyle/>
          <a:p>
            <a:pPr algn="ctr"/>
            <a:r>
              <a:rPr sz="3000" b="1" i="0">
                <a:solidFill>
                  <a:srgbClr val="FFFFFF"/>
                </a:solidFill>
                <a:latin typeface="Menlo"/>
              </a:rPr>
              <a:t>3</a:t>
            </a:r>
          </a:p>
        </p:txBody>
      </p:sp>
      <p:sp>
        <p:nvSpPr>
          <p:cNvPr id="17" name="TextBox 16"/>
          <p:cNvSpPr txBox="1"/>
          <p:nvPr/>
        </p:nvSpPr>
        <p:spPr>
          <a:xfrm>
            <a:off x="351266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Subscription Products</a:t>
            </a:r>
          </a:p>
        </p:txBody>
      </p:sp>
      <p:sp>
        <p:nvSpPr>
          <p:cNvPr id="18" name="TextBox 17"/>
          <p:cNvSpPr txBox="1"/>
          <p:nvPr/>
        </p:nvSpPr>
        <p:spPr>
          <a:xfrm>
            <a:off x="351266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Wine, Gin, Champagne boxes</a:t>
            </a:r>
          </a:p>
        </p:txBody>
      </p:sp>
      <p:sp>
        <p:nvSpPr>
          <p:cNvPr id="19" name="Rounded Rectangle 18"/>
          <p:cNvSpPr/>
          <p:nvPr/>
        </p:nvSpPr>
        <p:spPr>
          <a:xfrm>
            <a:off x="6233007" y="259689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852928"/>
            <a:ext cx="2446020" cy="502920"/>
          </a:xfrm>
          <a:prstGeom prst="rect">
            <a:avLst/>
          </a:prstGeom>
          <a:noFill/>
        </p:spPr>
        <p:txBody>
          <a:bodyPr wrap="square" lIns="0" rIns="0" tIns="0" bIns="0" anchor="t">
            <a:spAutoFit/>
          </a:bodyPr>
          <a:lstStyle/>
          <a:p>
            <a:pPr algn="ctr"/>
            <a:r>
              <a:rPr sz="3000" b="1" i="0">
                <a:solidFill>
                  <a:srgbClr val="F59E0B"/>
                </a:solidFill>
                <a:latin typeface="Menlo"/>
              </a:rPr>
              <a:t>0</a:t>
            </a:r>
          </a:p>
        </p:txBody>
      </p:sp>
      <p:sp>
        <p:nvSpPr>
          <p:cNvPr id="21" name="TextBox 20"/>
          <p:cNvSpPr txBox="1"/>
          <p:nvPr/>
        </p:nvSpPr>
        <p:spPr>
          <a:xfrm>
            <a:off x="623300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Top Boxes With a Subscribe Option</a:t>
            </a:r>
          </a:p>
        </p:txBody>
      </p:sp>
      <p:sp>
        <p:nvSpPr>
          <p:cNvPr id="22" name="TextBox 21"/>
          <p:cNvSpPr txBox="1"/>
          <p:nvPr/>
        </p:nvSpPr>
        <p:spPr>
          <a:xfrm>
            <a:off x="623300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only 3 niche products carry it</a:t>
            </a:r>
          </a:p>
        </p:txBody>
      </p:sp>
      <p:sp>
        <p:nvSpPr>
          <p:cNvPr id="23" name="Rounded Rectangle 22"/>
          <p:cNvSpPr/>
          <p:nvPr/>
        </p:nvSpPr>
        <p:spPr>
          <a:xfrm>
            <a:off x="8953347" y="259689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852928"/>
            <a:ext cx="2446020" cy="502920"/>
          </a:xfrm>
          <a:prstGeom prst="rect">
            <a:avLst/>
          </a:prstGeom>
          <a:noFill/>
        </p:spPr>
        <p:txBody>
          <a:bodyPr wrap="square" lIns="0" rIns="0" tIns="0" bIns="0" anchor="t">
            <a:spAutoFit/>
          </a:bodyPr>
          <a:lstStyle/>
          <a:p>
            <a:pPr algn="ctr"/>
            <a:r>
              <a:rPr sz="3000" b="1" i="0">
                <a:solidFill>
                  <a:srgbClr val="22C55E"/>
                </a:solidFill>
                <a:latin typeface="Menlo"/>
              </a:rPr>
              <a:t>~1 to 1.8M SEK</a:t>
            </a:r>
          </a:p>
        </p:txBody>
      </p:sp>
      <p:sp>
        <p:nvSpPr>
          <p:cNvPr id="25" name="TextBox 24"/>
          <p:cNvSpPr txBox="1"/>
          <p:nvPr/>
        </p:nvSpPr>
        <p:spPr>
          <a:xfrm>
            <a:off x="895334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Recurring at 3 to 5% (Est.)</a:t>
            </a:r>
          </a:p>
        </p:txBody>
      </p:sp>
      <p:sp>
        <p:nvSpPr>
          <p:cNvPr id="26" name="TextBox 25"/>
          <p:cNvSpPr txBox="1"/>
          <p:nvPr/>
        </p:nvSpPr>
        <p:spPr>
          <a:xfrm>
            <a:off x="895334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vs 66k SEK today</a:t>
            </a:r>
          </a:p>
        </p:txBody>
      </p:sp>
      <p:graphicFrame>
        <p:nvGraphicFramePr>
          <p:cNvPr id="27" name="Table 26"/>
          <p:cNvGraphicFramePr>
            <a:graphicFrameLocks noGrp="1"/>
          </p:cNvGraphicFramePr>
          <p:nvPr/>
        </p:nvGraphicFramePr>
        <p:xfrm>
          <a:off x="883767" y="4014216"/>
          <a:ext cx="10424158" cy="1682496"/>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ASPECT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REPEAT TODAY (MARKETING DRIVEN)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ON SUBSCRIPTION</a:t>
                      </a:r>
                    </a:p>
                  </a:txBody>
                  <a:tcPr marL="73152" marR="73152" marT="18288" marB="18288" anchor="ctr">
                    <a:solidFill>
                      <a:srgbClr val="0A0A0A"/>
                    </a:solidFill>
                  </a:tcPr>
                </a:tc>
              </a:tr>
              <a:tr h="329184">
                <a:tc>
                  <a:txBody>
                    <a:bodyPr wrap="square"/>
                    <a:lstStyle/>
                    <a:p>
                      <a:pPr algn="l"/>
                      <a:r>
                        <a:rPr sz="1000" b="1">
                          <a:solidFill>
                            <a:srgbClr val="F7D007"/>
                          </a:solidFill>
                          <a:latin typeface="Helvetica Neue"/>
                        </a:rPr>
                        <a:t>Reorder trigger</a:t>
                      </a:r>
                    </a:p>
                  </a:txBody>
                  <a:tcPr marL="73152" marR="73152" marT="18288" marB="18288" anchor="ctr">
                    <a:solidFill>
                      <a:srgbClr val="000000"/>
                    </a:solidFill>
                  </a:tcPr>
                </a:tc>
                <a:tc>
                  <a:txBody>
                    <a:bodyPr wrap="square"/>
                    <a:lstStyle/>
                    <a:p>
                      <a:pPr algn="l"/>
                      <a:r>
                        <a:rPr sz="1000" b="0">
                          <a:solidFill>
                            <a:srgbClr val="EFEEEE"/>
                          </a:solidFill>
                          <a:latin typeface="Helvetica Neue"/>
                        </a:rPr>
                        <a:t>Email, retargeting, promo each time</a:t>
                      </a:r>
                    </a:p>
                  </a:txBody>
                  <a:tcPr marL="73152" marR="73152" marT="18288" marB="18288" anchor="ctr">
                    <a:solidFill>
                      <a:srgbClr val="000000"/>
                    </a:solidFill>
                  </a:tcPr>
                </a:tc>
                <a:tc>
                  <a:txBody>
                    <a:bodyPr wrap="square"/>
                    <a:lstStyle/>
                    <a:p>
                      <a:pPr algn="l"/>
                      <a:r>
                        <a:rPr sz="1000" b="0">
                          <a:solidFill>
                            <a:srgbClr val="22C55E"/>
                          </a:solidFill>
                          <a:latin typeface="Helvetica Neue"/>
                        </a:rPr>
                        <a:t>Automatic, recurring</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Frequency</a:t>
                      </a:r>
                    </a:p>
                  </a:txBody>
                  <a:tcPr marL="73152" marR="73152" marT="18288" marB="18288" anchor="ctr">
                    <a:solidFill>
                      <a:srgbClr val="0B0B0B"/>
                    </a:solidFill>
                  </a:tcPr>
                </a:tc>
                <a:tc>
                  <a:txBody>
                    <a:bodyPr wrap="square"/>
                    <a:lstStyle/>
                    <a:p>
                      <a:pPr algn="l"/>
                      <a:r>
                        <a:rPr sz="1000" b="0">
                          <a:solidFill>
                            <a:srgbClr val="EFEEEE"/>
                          </a:solidFill>
                          <a:latin typeface="Helvetica Neue"/>
                        </a:rPr>
                        <a:t>Sporadic, promo led</a:t>
                      </a:r>
                    </a:p>
                  </a:txBody>
                  <a:tcPr marL="73152" marR="73152" marT="18288" marB="18288" anchor="ctr">
                    <a:solidFill>
                      <a:srgbClr val="0B0B0B"/>
                    </a:solidFill>
                  </a:tcPr>
                </a:tc>
                <a:tc>
                  <a:txBody>
                    <a:bodyPr wrap="square"/>
                    <a:lstStyle/>
                    <a:p>
                      <a:pPr algn="l"/>
                      <a:r>
                        <a:rPr sz="1000" b="0">
                          <a:solidFill>
                            <a:srgbClr val="22C55E"/>
                          </a:solidFill>
                          <a:latin typeface="Helvetica Neue"/>
                        </a:rPr>
                        <a:t>Set cadence, monthly or more</a:t>
                      </a:r>
                    </a:p>
                  </a:txBody>
                  <a:tcPr marL="73152" marR="73152" marT="18288" marB="18288" anchor="ctr">
                    <a:solidFill>
                      <a:srgbClr val="0B0B0B"/>
                    </a:solidFill>
                  </a:tcPr>
                </a:tc>
              </a:tr>
              <a:tr h="329184">
                <a:tc>
                  <a:txBody>
                    <a:bodyPr wrap="square"/>
                    <a:lstStyle/>
                    <a:p>
                      <a:pPr algn="l"/>
                      <a:r>
                        <a:rPr sz="1000" b="1">
                          <a:solidFill>
                            <a:srgbClr val="F7D007"/>
                          </a:solidFill>
                          <a:latin typeface="Helvetica Neue"/>
                        </a:rPr>
                        <a:t>Marketing cost per reorder</a:t>
                      </a:r>
                    </a:p>
                  </a:txBody>
                  <a:tcPr marL="73152" marR="73152" marT="18288" marB="18288" anchor="ctr">
                    <a:solidFill>
                      <a:srgbClr val="000000"/>
                    </a:solidFill>
                  </a:tcPr>
                </a:tc>
                <a:tc>
                  <a:txBody>
                    <a:bodyPr wrap="square"/>
                    <a:lstStyle/>
                    <a:p>
                      <a:pPr algn="l"/>
                      <a:r>
                        <a:rPr sz="1000" b="0">
                          <a:solidFill>
                            <a:srgbClr val="F59E0B"/>
                          </a:solidFill>
                          <a:latin typeface="Helvetica Neue"/>
                        </a:rPr>
                        <a:t>High</a:t>
                      </a:r>
                    </a:p>
                  </a:txBody>
                  <a:tcPr marL="73152" marR="73152" marT="18288" marB="18288" anchor="ctr">
                    <a:solidFill>
                      <a:srgbClr val="000000"/>
                    </a:solidFill>
                  </a:tcPr>
                </a:tc>
                <a:tc>
                  <a:txBody>
                    <a:bodyPr wrap="square"/>
                    <a:lstStyle/>
                    <a:p>
                      <a:pPr algn="l"/>
                      <a:r>
                        <a:rPr sz="1000" b="0">
                          <a:solidFill>
                            <a:srgbClr val="22C55E"/>
                          </a:solidFill>
                          <a:latin typeface="Helvetica Neue"/>
                        </a:rPr>
                        <a:t>Near zero</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Revenue predictability</a:t>
                      </a:r>
                    </a:p>
                  </a:txBody>
                  <a:tcPr marL="73152" marR="73152" marT="18288" marB="18288" anchor="ctr">
                    <a:solidFill>
                      <a:srgbClr val="0B0B0B"/>
                    </a:solidFill>
                  </a:tcPr>
                </a:tc>
                <a:tc>
                  <a:txBody>
                    <a:bodyPr wrap="square"/>
                    <a:lstStyle/>
                    <a:p>
                      <a:pPr algn="l"/>
                      <a:r>
                        <a:rPr sz="1000" b="0">
                          <a:solidFill>
                            <a:srgbClr val="F59E0B"/>
                          </a:solidFill>
                          <a:latin typeface="Helvetica Neue"/>
                        </a:rPr>
                        <a:t>Low</a:t>
                      </a:r>
                    </a:p>
                  </a:txBody>
                  <a:tcPr marL="73152" marR="73152" marT="18288" marB="18288" anchor="ctr">
                    <a:solidFill>
                      <a:srgbClr val="0B0B0B"/>
                    </a:solidFill>
                  </a:tcPr>
                </a:tc>
                <a:tc>
                  <a:txBody>
                    <a:bodyPr wrap="square"/>
                    <a:lstStyle/>
                    <a:p>
                      <a:pPr algn="l"/>
                      <a:r>
                        <a:rPr sz="1000" b="0">
                          <a:solidFill>
                            <a:srgbClr val="22C55E"/>
                          </a:solidFill>
                          <a:latin typeface="Helvetica Neue"/>
                        </a:rPr>
                        <a:t>High</a:t>
                      </a:r>
                    </a:p>
                  </a:txBody>
                  <a:tcPr marL="73152" marR="73152" marT="18288" marB="18288" anchor="ctr">
                    <a:solidFill>
                      <a:srgbClr val="0B0B0B"/>
                    </a:solidFill>
                  </a:tcPr>
                </a:tc>
              </a:tr>
            </a:tbl>
          </a:graphicData>
        </a:graphic>
      </p:graphicFrame>
      <p:sp>
        <p:nvSpPr>
          <p:cNvPr id="28" name="TextBox 27"/>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How we measured: from Shopify's Subscription vs one-time sales report, 101 subscription orders worth 66,033 SEK in 90 days (0.2% of sales). We do not have Recharge access, so active subscriber counts, churn and MRR are not visible. Opportunity: at a modest 3 to 5% of sales the subscription would be ~1.0 to 1.8M SEK of recurring revenue per quarter. The lever: add a subscribe option to the best selling boxes and make it prominent on more product pages.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Shopify · 90 Days · Product Pages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Box Pages Beat Single Wine Pages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Compared page to page, box product pages add to cart at 16.4% and return an estimated ~80 SEK per visit, well above single wine pages (13.3%, ~62 SEK). A fairer test than homepage or collection, and it still favours the box as the better first purchase.</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graphicFrame>
        <p:nvGraphicFramePr>
          <p:cNvPr id="11" name="Table 10"/>
          <p:cNvGraphicFramePr>
            <a:graphicFrameLocks noGrp="1"/>
          </p:cNvGraphicFramePr>
          <p:nvPr/>
        </p:nvGraphicFramePr>
        <p:xfrm>
          <a:off x="883767" y="2596896"/>
          <a:ext cx="10424156" cy="182880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PRODUCT PAGE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ADD TO CART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REACHED CHECKOUT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RPV / VISIT</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Box pages (336, average)</a:t>
                      </a:r>
                    </a:p>
                  </a:txBody>
                  <a:tcPr marL="73152" marR="73152" marT="18288" marB="18288" anchor="ctr">
                    <a:solidFill>
                      <a:srgbClr val="000000"/>
                    </a:solidFill>
                  </a:tcPr>
                </a:tc>
                <a:tc>
                  <a:txBody>
                    <a:bodyPr wrap="square"/>
                    <a:lstStyle/>
                    <a:p>
                      <a:pPr algn="r"/>
                      <a:r>
                        <a:rPr sz="1100" b="0">
                          <a:solidFill>
                            <a:srgbClr val="EFEEEE"/>
                          </a:solidFill>
                          <a:latin typeface="Menlo"/>
                        </a:rPr>
                        <a:t>120,678</a:t>
                      </a:r>
                    </a:p>
                  </a:txBody>
                  <a:tcPr marL="73152" marR="73152" marT="18288" marB="18288" anchor="ctr">
                    <a:solidFill>
                      <a:srgbClr val="000000"/>
                    </a:solidFill>
                  </a:tcPr>
                </a:tc>
                <a:tc>
                  <a:txBody>
                    <a:bodyPr wrap="square"/>
                    <a:lstStyle/>
                    <a:p>
                      <a:pPr algn="r"/>
                      <a:r>
                        <a:rPr sz="1100" b="0">
                          <a:solidFill>
                            <a:srgbClr val="22C55E"/>
                          </a:solidFill>
                          <a:latin typeface="Menlo"/>
                        </a:rPr>
                        <a:t>16.4%</a:t>
                      </a:r>
                    </a:p>
                  </a:txBody>
                  <a:tcPr marL="73152" marR="73152" marT="18288" marB="18288" anchor="ctr">
                    <a:solidFill>
                      <a:srgbClr val="000000"/>
                    </a:solidFill>
                  </a:tcPr>
                </a:tc>
                <a:tc>
                  <a:txBody>
                    <a:bodyPr wrap="square"/>
                    <a:lstStyle/>
                    <a:p>
                      <a:pPr algn="r"/>
                      <a:r>
                        <a:rPr sz="1100" b="0">
                          <a:solidFill>
                            <a:srgbClr val="22C55E"/>
                          </a:solidFill>
                          <a:latin typeface="Menlo"/>
                        </a:rPr>
                        <a:t>7.3%</a:t>
                      </a:r>
                    </a:p>
                  </a:txBody>
                  <a:tcPr marL="73152" marR="73152" marT="18288" marB="18288" anchor="ctr">
                    <a:solidFill>
                      <a:srgbClr val="000000"/>
                    </a:solidFill>
                  </a:tcPr>
                </a:tc>
                <a:tc>
                  <a:txBody>
                    <a:bodyPr wrap="square"/>
                    <a:lstStyle/>
                    <a:p>
                      <a:pPr algn="r"/>
                      <a:r>
                        <a:rPr sz="1100" b="0">
                          <a:solidFill>
                            <a:srgbClr val="22C55E"/>
                          </a:solidFill>
                          <a:latin typeface="Menlo"/>
                        </a:rPr>
                        <a:t>~80 SEK</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example: XL Introlåda</a:t>
                      </a:r>
                    </a:p>
                  </a:txBody>
                  <a:tcPr marL="73152" marR="73152" marT="18288" marB="18288" anchor="ctr">
                    <a:solidFill>
                      <a:srgbClr val="0B0B0B"/>
                    </a:solidFill>
                  </a:tcPr>
                </a:tc>
                <a:tc>
                  <a:txBody>
                    <a:bodyPr wrap="square"/>
                    <a:lstStyle/>
                    <a:p>
                      <a:pPr algn="r"/>
                      <a:r>
                        <a:rPr sz="1100" b="0">
                          <a:solidFill>
                            <a:srgbClr val="EFEEEE"/>
                          </a:solidFill>
                          <a:latin typeface="Menlo"/>
                        </a:rPr>
                        <a:t>25,917</a:t>
                      </a:r>
                    </a:p>
                  </a:txBody>
                  <a:tcPr marL="73152" marR="73152" marT="18288" marB="18288" anchor="ctr">
                    <a:solidFill>
                      <a:srgbClr val="0B0B0B"/>
                    </a:solidFill>
                  </a:tcPr>
                </a:tc>
                <a:tc>
                  <a:txBody>
                    <a:bodyPr wrap="square"/>
                    <a:lstStyle/>
                    <a:p>
                      <a:pPr algn="r"/>
                      <a:r>
                        <a:rPr sz="1100" b="0">
                          <a:solidFill>
                            <a:srgbClr val="EFEEEE"/>
                          </a:solidFill>
                          <a:latin typeface="Menlo"/>
                        </a:rPr>
                        <a:t>19.9%</a:t>
                      </a:r>
                    </a:p>
                  </a:txBody>
                  <a:tcPr marL="73152" marR="73152" marT="18288" marB="18288" anchor="ctr">
                    <a:solidFill>
                      <a:srgbClr val="0B0B0B"/>
                    </a:solidFill>
                  </a:tcPr>
                </a:tc>
                <a:tc>
                  <a:txBody>
                    <a:bodyPr wrap="square"/>
                    <a:lstStyle/>
                    <a:p>
                      <a:pPr algn="r"/>
                      <a:r>
                        <a:rPr sz="1100" b="0">
                          <a:solidFill>
                            <a:srgbClr val="EFEEEE"/>
                          </a:solidFill>
                          <a:latin typeface="Menlo"/>
                        </a:rPr>
                        <a:t>8.5%</a:t>
                      </a:r>
                    </a:p>
                  </a:txBody>
                  <a:tcPr marL="73152" marR="73152" marT="18288" marB="18288" anchor="ctr">
                    <a:solidFill>
                      <a:srgbClr val="0B0B0B"/>
                    </a:solidFill>
                  </a:tcPr>
                </a:tc>
                <a:tc>
                  <a:txBody>
                    <a:bodyPr wrap="square"/>
                    <a:lstStyle/>
                    <a:p>
                      <a:pPr algn="r"/>
                      <a:r>
                        <a:rPr sz="1100" b="0">
                          <a:solidFill>
                            <a:srgbClr val="EFEEEE"/>
                          </a:solidFill>
                          <a:latin typeface="Menlo"/>
                        </a:rPr>
                        <a:t>~94 SEK</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Single wine pages (1,894, average)</a:t>
                      </a:r>
                    </a:p>
                  </a:txBody>
                  <a:tcPr marL="73152" marR="73152" marT="18288" marB="18288" anchor="ctr">
                    <a:solidFill>
                      <a:srgbClr val="000000"/>
                    </a:solidFill>
                  </a:tcPr>
                </a:tc>
                <a:tc>
                  <a:txBody>
                    <a:bodyPr wrap="square"/>
                    <a:lstStyle/>
                    <a:p>
                      <a:pPr algn="r"/>
                      <a:r>
                        <a:rPr sz="1100" b="0">
                          <a:solidFill>
                            <a:srgbClr val="EFEEEE"/>
                          </a:solidFill>
                          <a:latin typeface="Menlo"/>
                        </a:rPr>
                        <a:t>81,055</a:t>
                      </a:r>
                    </a:p>
                  </a:txBody>
                  <a:tcPr marL="73152" marR="73152" marT="18288" marB="18288" anchor="ctr">
                    <a:solidFill>
                      <a:srgbClr val="000000"/>
                    </a:solidFill>
                  </a:tcPr>
                </a:tc>
                <a:tc>
                  <a:txBody>
                    <a:bodyPr wrap="square"/>
                    <a:lstStyle/>
                    <a:p>
                      <a:pPr algn="r"/>
                      <a:r>
                        <a:rPr sz="1100" b="0">
                          <a:solidFill>
                            <a:srgbClr val="F59E0B"/>
                          </a:solidFill>
                          <a:latin typeface="Menlo"/>
                        </a:rPr>
                        <a:t>13.3%</a:t>
                      </a:r>
                    </a:p>
                  </a:txBody>
                  <a:tcPr marL="73152" marR="73152" marT="18288" marB="18288" anchor="ctr">
                    <a:solidFill>
                      <a:srgbClr val="000000"/>
                    </a:solidFill>
                  </a:tcPr>
                </a:tc>
                <a:tc>
                  <a:txBody>
                    <a:bodyPr wrap="square"/>
                    <a:lstStyle/>
                    <a:p>
                      <a:pPr algn="r"/>
                      <a:r>
                        <a:rPr sz="1100" b="0">
                          <a:solidFill>
                            <a:srgbClr val="F59E0B"/>
                          </a:solidFill>
                          <a:latin typeface="Menlo"/>
                        </a:rPr>
                        <a:t>5.6%</a:t>
                      </a:r>
                    </a:p>
                  </a:txBody>
                  <a:tcPr marL="73152" marR="73152" marT="18288" marB="18288" anchor="ctr">
                    <a:solidFill>
                      <a:srgbClr val="000000"/>
                    </a:solidFill>
                  </a:tcPr>
                </a:tc>
                <a:tc>
                  <a:txBody>
                    <a:bodyPr wrap="square"/>
                    <a:lstStyle/>
                    <a:p>
                      <a:pPr algn="r"/>
                      <a:r>
                        <a:rPr sz="1100" b="0">
                          <a:solidFill>
                            <a:srgbClr val="F59E0B"/>
                          </a:solidFill>
                          <a:latin typeface="Menlo"/>
                        </a:rPr>
                        <a:t>~62 SEK</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example: Carapaia Magnum</a:t>
                      </a:r>
                    </a:p>
                  </a:txBody>
                  <a:tcPr marL="73152" marR="73152" marT="18288" marB="18288" anchor="ctr">
                    <a:solidFill>
                      <a:srgbClr val="0B0B0B"/>
                    </a:solidFill>
                  </a:tcPr>
                </a:tc>
                <a:tc>
                  <a:txBody>
                    <a:bodyPr wrap="square"/>
                    <a:lstStyle/>
                    <a:p>
                      <a:pPr algn="r"/>
                      <a:r>
                        <a:rPr sz="1100" b="0">
                          <a:solidFill>
                            <a:srgbClr val="EFEEEE"/>
                          </a:solidFill>
                          <a:latin typeface="Menlo"/>
                        </a:rPr>
                        <a:t>2,545</a:t>
                      </a:r>
                    </a:p>
                  </a:txBody>
                  <a:tcPr marL="73152" marR="73152" marT="18288" marB="18288" anchor="ctr">
                    <a:solidFill>
                      <a:srgbClr val="0B0B0B"/>
                    </a:solidFill>
                  </a:tcPr>
                </a:tc>
                <a:tc>
                  <a:txBody>
                    <a:bodyPr wrap="square"/>
                    <a:lstStyle/>
                    <a:p>
                      <a:pPr algn="r"/>
                      <a:r>
                        <a:rPr sz="1100" b="0">
                          <a:solidFill>
                            <a:srgbClr val="EFEEEE"/>
                          </a:solidFill>
                          <a:latin typeface="Menlo"/>
                        </a:rPr>
                        <a:t>21.3%</a:t>
                      </a:r>
                    </a:p>
                  </a:txBody>
                  <a:tcPr marL="73152" marR="73152" marT="18288" marB="18288" anchor="ctr">
                    <a:solidFill>
                      <a:srgbClr val="0B0B0B"/>
                    </a:solidFill>
                  </a:tcPr>
                </a:tc>
                <a:tc>
                  <a:txBody>
                    <a:bodyPr wrap="square"/>
                    <a:lstStyle/>
                    <a:p>
                      <a:pPr algn="r"/>
                      <a:r>
                        <a:rPr sz="1100" b="0">
                          <a:solidFill>
                            <a:srgbClr val="EFEEEE"/>
                          </a:solidFill>
                          <a:latin typeface="Menlo"/>
                        </a:rPr>
                        <a:t>10.9%</a:t>
                      </a:r>
                    </a:p>
                  </a:txBody>
                  <a:tcPr marL="73152" marR="73152" marT="18288" marB="18288" anchor="ctr">
                    <a:solidFill>
                      <a:srgbClr val="0B0B0B"/>
                    </a:solidFill>
                  </a:tcPr>
                </a:tc>
                <a:tc>
                  <a:txBody>
                    <a:bodyPr wrap="square"/>
                    <a:lstStyle/>
                    <a:p>
                      <a:pPr algn="r"/>
                      <a:r>
                        <a:rPr sz="1100" b="0">
                          <a:solidFill>
                            <a:srgbClr val="EFEEEE"/>
                          </a:solidFill>
                          <a:latin typeface="Menlo"/>
                        </a:rPr>
                        <a:t>~120 SEK</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Shopify Sessions by landing page. Est. RPV per visit = the page's reached checkout rate x the store's true order rate (38,306 orders / 30,200 checkout sessions) x 868 AOV; blended store RPV is 99 SEK, and box pages likely run higher on real order value, so this is conservative. Note premium single bottles convert well too (the Carapaia magnum reaches 10.9%), a secondary lever alongside the boxes.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The One GA4 Slide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Why This Audit Uses Shopify, Not GA4</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Over the same window GA4 records only about a third of the business. It also inflates sessions with junk. So every number in this deck comes from Shopify.</a:t>
            </a:r>
          </a:p>
        </p:txBody>
      </p:sp>
      <p:graphicFrame>
        <p:nvGraphicFramePr>
          <p:cNvPr id="10" name="Table 9"/>
          <p:cNvGraphicFramePr>
            <a:graphicFrameLocks noGrp="1"/>
          </p:cNvGraphicFramePr>
          <p:nvPr/>
        </p:nvGraphicFramePr>
        <p:xfrm>
          <a:off x="883767" y="2103120"/>
          <a:ext cx="10424158" cy="1828800"/>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SAME 90 DAYS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SHOPIFY (TRUTH)</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GA4 SEES</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Orders</a:t>
                      </a:r>
                    </a:p>
                  </a:txBody>
                  <a:tcPr marL="73152" marR="73152" marT="18288" marB="18288" anchor="ctr">
                    <a:solidFill>
                      <a:srgbClr val="000000"/>
                    </a:solidFill>
                  </a:tcPr>
                </a:tc>
                <a:tc>
                  <a:txBody>
                    <a:bodyPr wrap="square"/>
                    <a:lstStyle/>
                    <a:p>
                      <a:pPr algn="r"/>
                      <a:r>
                        <a:rPr sz="1100" b="0">
                          <a:solidFill>
                            <a:srgbClr val="EFEEEE"/>
                          </a:solidFill>
                          <a:latin typeface="Menlo"/>
                        </a:rPr>
                        <a:t>38,306</a:t>
                      </a:r>
                    </a:p>
                  </a:txBody>
                  <a:tcPr marL="73152" marR="73152" marT="18288" marB="18288" anchor="ctr">
                    <a:solidFill>
                      <a:srgbClr val="000000"/>
                    </a:solidFill>
                  </a:tcPr>
                </a:tc>
                <a:tc>
                  <a:txBody>
                    <a:bodyPr wrap="square"/>
                    <a:lstStyle/>
                    <a:p>
                      <a:pPr algn="r"/>
                      <a:r>
                        <a:rPr sz="1100" b="0">
                          <a:solidFill>
                            <a:srgbClr val="EFEEEE"/>
                          </a:solidFill>
                          <a:latin typeface="Menlo"/>
                        </a:rPr>
                        <a:t>11,689</a:t>
                      </a:r>
                    </a:p>
                  </a:txBody>
                  <a:tcPr marL="73152" marR="73152" marT="18288" marB="18288" anchor="ctr">
                    <a:solidFill>
                      <a:srgbClr val="000000"/>
                    </a:solidFill>
                  </a:tcPr>
                </a:tc>
                <a:tc>
                  <a:txBody>
                    <a:bodyPr wrap="square"/>
                    <a:lstStyle/>
                    <a:p>
                      <a:pPr algn="r"/>
                      <a:r>
                        <a:rPr sz="1100" b="0">
                          <a:solidFill>
                            <a:srgbClr val="EF4444"/>
                          </a:solidFill>
                          <a:latin typeface="Menlo"/>
                        </a:rPr>
                        <a:t>31%</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Gross revenue</a:t>
                      </a:r>
                    </a:p>
                  </a:txBody>
                  <a:tcPr marL="73152" marR="73152" marT="18288" marB="18288" anchor="ctr">
                    <a:solidFill>
                      <a:srgbClr val="0B0B0B"/>
                    </a:solidFill>
                  </a:tcPr>
                </a:tc>
                <a:tc>
                  <a:txBody>
                    <a:bodyPr wrap="square"/>
                    <a:lstStyle/>
                    <a:p>
                      <a:pPr algn="r"/>
                      <a:r>
                        <a:rPr sz="1100" b="0">
                          <a:solidFill>
                            <a:srgbClr val="EFEEEE"/>
                          </a:solidFill>
                          <a:latin typeface="Menlo"/>
                        </a:rPr>
                        <a:t>33.3M SEK</a:t>
                      </a:r>
                    </a:p>
                  </a:txBody>
                  <a:tcPr marL="73152" marR="73152" marT="18288" marB="18288" anchor="ctr">
                    <a:solidFill>
                      <a:srgbClr val="0B0B0B"/>
                    </a:solidFill>
                  </a:tcPr>
                </a:tc>
                <a:tc>
                  <a:txBody>
                    <a:bodyPr wrap="square"/>
                    <a:lstStyle/>
                    <a:p>
                      <a:pPr algn="r"/>
                      <a:r>
                        <a:rPr sz="1100" b="0">
                          <a:solidFill>
                            <a:srgbClr val="EFEEEE"/>
                          </a:solidFill>
                          <a:latin typeface="Menlo"/>
                        </a:rPr>
                        <a:t>11.9M SEK</a:t>
                      </a:r>
                    </a:p>
                  </a:txBody>
                  <a:tcPr marL="73152" marR="73152" marT="18288" marB="18288" anchor="ctr">
                    <a:solidFill>
                      <a:srgbClr val="0B0B0B"/>
                    </a:solidFill>
                  </a:tcPr>
                </a:tc>
                <a:tc>
                  <a:txBody>
                    <a:bodyPr wrap="square"/>
                    <a:lstStyle/>
                    <a:p>
                      <a:pPr algn="r"/>
                      <a:r>
                        <a:rPr sz="1100" b="0">
                          <a:solidFill>
                            <a:srgbClr val="EF4444"/>
                          </a:solidFill>
                          <a:latin typeface="Menlo"/>
                        </a:rPr>
                        <a:t>36%</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Sessions</a:t>
                      </a:r>
                    </a:p>
                  </a:txBody>
                  <a:tcPr marL="73152" marR="73152" marT="18288" marB="18288" anchor="ctr">
                    <a:solidFill>
                      <a:srgbClr val="000000"/>
                    </a:solidFill>
                  </a:tcPr>
                </a:tc>
                <a:tc>
                  <a:txBody>
                    <a:bodyPr wrap="square"/>
                    <a:lstStyle/>
                    <a:p>
                      <a:pPr algn="r"/>
                      <a:r>
                        <a:rPr sz="1100" b="0">
                          <a:solidFill>
                            <a:srgbClr val="EFEEEE"/>
                          </a:solidFill>
                          <a:latin typeface="Menlo"/>
                        </a:rPr>
                        <a:t>336,855</a:t>
                      </a:r>
                    </a:p>
                  </a:txBody>
                  <a:tcPr marL="73152" marR="73152" marT="18288" marB="18288" anchor="ctr">
                    <a:solidFill>
                      <a:srgbClr val="000000"/>
                    </a:solidFill>
                  </a:tcPr>
                </a:tc>
                <a:tc>
                  <a:txBody>
                    <a:bodyPr wrap="square"/>
                    <a:lstStyle/>
                    <a:p>
                      <a:pPr algn="r"/>
                      <a:r>
                        <a:rPr sz="1100" b="0">
                          <a:solidFill>
                            <a:srgbClr val="EFEEEE"/>
                          </a:solidFill>
                          <a:latin typeface="Menlo"/>
                        </a:rPr>
                        <a:t>452,552</a:t>
                      </a:r>
                    </a:p>
                  </a:txBody>
                  <a:tcPr marL="73152" marR="73152" marT="18288" marB="18288" anchor="ctr">
                    <a:solidFill>
                      <a:srgbClr val="000000"/>
                    </a:solidFill>
                  </a:tcPr>
                </a:tc>
                <a:tc>
                  <a:txBody>
                    <a:bodyPr wrap="square"/>
                    <a:lstStyle/>
                    <a:p>
                      <a:pPr algn="r"/>
                      <a:r>
                        <a:rPr sz="1100" b="0">
                          <a:solidFill>
                            <a:srgbClr val="F59E0B"/>
                          </a:solidFill>
                          <a:latin typeface="Menlo"/>
                        </a:rPr>
                        <a:t>GA4 +28%</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AOV</a:t>
                      </a:r>
                    </a:p>
                  </a:txBody>
                  <a:tcPr marL="73152" marR="73152" marT="18288" marB="18288" anchor="ctr">
                    <a:solidFill>
                      <a:srgbClr val="0B0B0B"/>
                    </a:solidFill>
                  </a:tcPr>
                </a:tc>
                <a:tc>
                  <a:txBody>
                    <a:bodyPr wrap="square"/>
                    <a:lstStyle/>
                    <a:p>
                      <a:pPr algn="r"/>
                      <a:r>
                        <a:rPr sz="1100" b="0">
                          <a:solidFill>
                            <a:srgbClr val="EFEEEE"/>
                          </a:solidFill>
                          <a:latin typeface="Menlo"/>
                        </a:rPr>
                        <a:t>864 SEK</a:t>
                      </a:r>
                    </a:p>
                  </a:txBody>
                  <a:tcPr marL="73152" marR="73152" marT="18288" marB="18288" anchor="ctr">
                    <a:solidFill>
                      <a:srgbClr val="0B0B0B"/>
                    </a:solidFill>
                  </a:tcPr>
                </a:tc>
                <a:tc>
                  <a:txBody>
                    <a:bodyPr wrap="square"/>
                    <a:lstStyle/>
                    <a:p>
                      <a:pPr algn="r"/>
                      <a:r>
                        <a:rPr sz="1100" b="0">
                          <a:solidFill>
                            <a:srgbClr val="EFEEEE"/>
                          </a:solidFill>
                          <a:latin typeface="Menlo"/>
                        </a:rPr>
                        <a:t>1,017 SEK</a:t>
                      </a:r>
                    </a:p>
                  </a:txBody>
                  <a:tcPr marL="73152" marR="73152" marT="18288" marB="18288" anchor="ctr">
                    <a:solidFill>
                      <a:srgbClr val="0B0B0B"/>
                    </a:solidFill>
                  </a:tcPr>
                </a:tc>
                <a:tc>
                  <a:txBody>
                    <a:bodyPr wrap="square"/>
                    <a:lstStyle/>
                    <a:p>
                      <a:pPr algn="r"/>
                      <a:r>
                        <a:rPr sz="1100" b="0">
                          <a:solidFill>
                            <a:srgbClr val="F59E0B"/>
                          </a:solidFill>
                          <a:latin typeface="Menlo"/>
                        </a:rPr>
                        <a:t>GA4 overstates</a:t>
                      </a:r>
                    </a:p>
                  </a:txBody>
                  <a:tcPr marL="73152" marR="73152" marT="18288" marB="18288" anchor="ctr">
                    <a:solidFill>
                      <a:srgbClr val="0B0B0B"/>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GA4 under-records orders (Cookiebot consent denial, Facebook in app browser attribution loss, 4 parallel GA4 properties) while over-counting sessions with bot and prefetch noise, so it both hides revenue and dilutes the conversion rate. Fix: server side GTM + Meta server side tracking + one GA4. Until then, Shopify is the source of truth and the ad platforms are bidding on a third of the signal.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 90 Days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When Sweden Buys Wine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Tuesday and Wednesday lead on orders; Saturday is the weakest. A small budget shift toward midweek is worth testing.</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GA4 · 90 days · 25 April to 23 July 2026 · directional</a:t>
            </a:r>
          </a:p>
        </p:txBody>
      </p:sp>
      <p:graphicFrame>
        <p:nvGraphicFramePr>
          <p:cNvPr id="11" name="Table 10"/>
          <p:cNvGraphicFramePr>
            <a:graphicFrameLocks noGrp="1"/>
          </p:cNvGraphicFramePr>
          <p:nvPr/>
        </p:nvGraphicFramePr>
        <p:xfrm>
          <a:off x="883767" y="2377440"/>
          <a:ext cx="10424158" cy="2670048"/>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DAY</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SESSIONS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ORDERS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REVENUE (SEK)</a:t>
                      </a:r>
                    </a:p>
                  </a:txBody>
                  <a:tcPr marL="73152" marR="73152" marT="18288" marB="18288" anchor="ctr">
                    <a:solidFill>
                      <a:srgbClr val="0A0A0A"/>
                    </a:solidFill>
                  </a:tcPr>
                </a:tc>
              </a:tr>
              <a:tr h="329184">
                <a:tc>
                  <a:txBody>
                    <a:bodyPr wrap="square"/>
                    <a:lstStyle/>
                    <a:p>
                      <a:pPr algn="l"/>
                      <a:r>
                        <a:rPr sz="1100" b="1">
                          <a:solidFill>
                            <a:srgbClr val="22C55E"/>
                          </a:solidFill>
                          <a:latin typeface="Helvetica Neue"/>
                        </a:rPr>
                        <a:t>Tuesday</a:t>
                      </a:r>
                    </a:p>
                  </a:txBody>
                  <a:tcPr marL="73152" marR="73152" marT="18288" marB="18288" anchor="ctr">
                    <a:solidFill>
                      <a:srgbClr val="000000"/>
                    </a:solidFill>
                  </a:tcPr>
                </a:tc>
                <a:tc>
                  <a:txBody>
                    <a:bodyPr wrap="square"/>
                    <a:lstStyle/>
                    <a:p>
                      <a:pPr algn="r"/>
                      <a:r>
                        <a:rPr sz="1100" b="0">
                          <a:solidFill>
                            <a:srgbClr val="EFEEEE"/>
                          </a:solidFill>
                          <a:latin typeface="Menlo"/>
                        </a:rPr>
                        <a:t>71,983</a:t>
                      </a:r>
                    </a:p>
                  </a:txBody>
                  <a:tcPr marL="73152" marR="73152" marT="18288" marB="18288" anchor="ctr">
                    <a:solidFill>
                      <a:srgbClr val="000000"/>
                    </a:solidFill>
                  </a:tcPr>
                </a:tc>
                <a:tc>
                  <a:txBody>
                    <a:bodyPr wrap="square"/>
                    <a:lstStyle/>
                    <a:p>
                      <a:pPr algn="r"/>
                      <a:r>
                        <a:rPr sz="1100" b="0">
                          <a:solidFill>
                            <a:srgbClr val="22C55E"/>
                          </a:solidFill>
                          <a:latin typeface="Menlo"/>
                        </a:rPr>
                        <a:t>1,966</a:t>
                      </a:r>
                    </a:p>
                  </a:txBody>
                  <a:tcPr marL="73152" marR="73152" marT="18288" marB="18288" anchor="ctr">
                    <a:solidFill>
                      <a:srgbClr val="000000"/>
                    </a:solidFill>
                  </a:tcPr>
                </a:tc>
                <a:tc>
                  <a:txBody>
                    <a:bodyPr wrap="square"/>
                    <a:lstStyle/>
                    <a:p>
                      <a:pPr algn="r"/>
                      <a:r>
                        <a:rPr sz="1100" b="0">
                          <a:solidFill>
                            <a:srgbClr val="EFEEEE"/>
                          </a:solidFill>
                          <a:latin typeface="Menlo"/>
                        </a:rPr>
                        <a:t>2.03M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Wednesday</a:t>
                      </a:r>
                    </a:p>
                  </a:txBody>
                  <a:tcPr marL="73152" marR="73152" marT="18288" marB="18288" anchor="ctr">
                    <a:solidFill>
                      <a:srgbClr val="0B0B0B"/>
                    </a:solidFill>
                  </a:tcPr>
                </a:tc>
                <a:tc>
                  <a:txBody>
                    <a:bodyPr wrap="square"/>
                    <a:lstStyle/>
                    <a:p>
                      <a:pPr algn="r"/>
                      <a:r>
                        <a:rPr sz="1100" b="0">
                          <a:solidFill>
                            <a:srgbClr val="EFEEEE"/>
                          </a:solidFill>
                          <a:latin typeface="Menlo"/>
                        </a:rPr>
                        <a:t>73,018</a:t>
                      </a:r>
                    </a:p>
                  </a:txBody>
                  <a:tcPr marL="73152" marR="73152" marT="18288" marB="18288" anchor="ctr">
                    <a:solidFill>
                      <a:srgbClr val="0B0B0B"/>
                    </a:solidFill>
                  </a:tcPr>
                </a:tc>
                <a:tc>
                  <a:txBody>
                    <a:bodyPr wrap="square"/>
                    <a:lstStyle/>
                    <a:p>
                      <a:pPr algn="r"/>
                      <a:r>
                        <a:rPr sz="1100" b="0">
                          <a:solidFill>
                            <a:srgbClr val="EFEEEE"/>
                          </a:solidFill>
                          <a:latin typeface="Menlo"/>
                        </a:rPr>
                        <a:t>1,748</a:t>
                      </a:r>
                    </a:p>
                  </a:txBody>
                  <a:tcPr marL="73152" marR="73152" marT="18288" marB="18288" anchor="ctr">
                    <a:solidFill>
                      <a:srgbClr val="0B0B0B"/>
                    </a:solidFill>
                  </a:tcPr>
                </a:tc>
                <a:tc>
                  <a:txBody>
                    <a:bodyPr wrap="square"/>
                    <a:lstStyle/>
                    <a:p>
                      <a:pPr algn="r"/>
                      <a:r>
                        <a:rPr sz="1100" b="0">
                          <a:solidFill>
                            <a:srgbClr val="EFEEEE"/>
                          </a:solidFill>
                          <a:latin typeface="Menlo"/>
                        </a:rPr>
                        <a:t>1.78M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Sunday</a:t>
                      </a:r>
                    </a:p>
                  </a:txBody>
                  <a:tcPr marL="73152" marR="73152" marT="18288" marB="18288" anchor="ctr">
                    <a:solidFill>
                      <a:srgbClr val="000000"/>
                    </a:solidFill>
                  </a:tcPr>
                </a:tc>
                <a:tc>
                  <a:txBody>
                    <a:bodyPr wrap="square"/>
                    <a:lstStyle/>
                    <a:p>
                      <a:pPr algn="r"/>
                      <a:r>
                        <a:rPr sz="1100" b="0">
                          <a:solidFill>
                            <a:srgbClr val="EFEEEE"/>
                          </a:solidFill>
                          <a:latin typeface="Menlo"/>
                        </a:rPr>
                        <a:t>67,132</a:t>
                      </a:r>
                    </a:p>
                  </a:txBody>
                  <a:tcPr marL="73152" marR="73152" marT="18288" marB="18288" anchor="ctr">
                    <a:solidFill>
                      <a:srgbClr val="000000"/>
                    </a:solidFill>
                  </a:tcPr>
                </a:tc>
                <a:tc>
                  <a:txBody>
                    <a:bodyPr wrap="square"/>
                    <a:lstStyle/>
                    <a:p>
                      <a:pPr algn="r"/>
                      <a:r>
                        <a:rPr sz="1100" b="0">
                          <a:solidFill>
                            <a:srgbClr val="EFEEEE"/>
                          </a:solidFill>
                          <a:latin typeface="Menlo"/>
                        </a:rPr>
                        <a:t>1,697</a:t>
                      </a:r>
                    </a:p>
                  </a:txBody>
                  <a:tcPr marL="73152" marR="73152" marT="18288" marB="18288" anchor="ctr">
                    <a:solidFill>
                      <a:srgbClr val="000000"/>
                    </a:solidFill>
                  </a:tcPr>
                </a:tc>
                <a:tc>
                  <a:txBody>
                    <a:bodyPr wrap="square"/>
                    <a:lstStyle/>
                    <a:p>
                      <a:pPr algn="r"/>
                      <a:r>
                        <a:rPr sz="1100" b="0">
                          <a:solidFill>
                            <a:srgbClr val="EFEEEE"/>
                          </a:solidFill>
                          <a:latin typeface="Menlo"/>
                        </a:rPr>
                        <a:t>1.72M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Monday</a:t>
                      </a:r>
                    </a:p>
                  </a:txBody>
                  <a:tcPr marL="73152" marR="73152" marT="18288" marB="18288" anchor="ctr">
                    <a:solidFill>
                      <a:srgbClr val="0B0B0B"/>
                    </a:solidFill>
                  </a:tcPr>
                </a:tc>
                <a:tc>
                  <a:txBody>
                    <a:bodyPr wrap="square"/>
                    <a:lstStyle/>
                    <a:p>
                      <a:pPr algn="r"/>
                      <a:r>
                        <a:rPr sz="1100" b="0">
                          <a:solidFill>
                            <a:srgbClr val="EFEEEE"/>
                          </a:solidFill>
                          <a:latin typeface="Menlo"/>
                        </a:rPr>
                        <a:t>64,807</a:t>
                      </a:r>
                    </a:p>
                  </a:txBody>
                  <a:tcPr marL="73152" marR="73152" marT="18288" marB="18288" anchor="ctr">
                    <a:solidFill>
                      <a:srgbClr val="0B0B0B"/>
                    </a:solidFill>
                  </a:tcPr>
                </a:tc>
                <a:tc>
                  <a:txBody>
                    <a:bodyPr wrap="square"/>
                    <a:lstStyle/>
                    <a:p>
                      <a:pPr algn="r"/>
                      <a:r>
                        <a:rPr sz="1100" b="0">
                          <a:solidFill>
                            <a:srgbClr val="EFEEEE"/>
                          </a:solidFill>
                          <a:latin typeface="Menlo"/>
                        </a:rPr>
                        <a:t>1,691</a:t>
                      </a:r>
                    </a:p>
                  </a:txBody>
                  <a:tcPr marL="73152" marR="73152" marT="18288" marB="18288" anchor="ctr">
                    <a:solidFill>
                      <a:srgbClr val="0B0B0B"/>
                    </a:solidFill>
                  </a:tcPr>
                </a:tc>
                <a:tc>
                  <a:txBody>
                    <a:bodyPr wrap="square"/>
                    <a:lstStyle/>
                    <a:p>
                      <a:pPr algn="r"/>
                      <a:r>
                        <a:rPr sz="1100" b="0">
                          <a:solidFill>
                            <a:srgbClr val="EFEEEE"/>
                          </a:solidFill>
                          <a:latin typeface="Menlo"/>
                        </a:rPr>
                        <a:t>1.70M</a:t>
                      </a:r>
                    </a:p>
                  </a:txBody>
                  <a:tcPr marL="73152" marR="73152" marT="18288" marB="18288" anchor="ctr">
                    <a:solidFill>
                      <a:srgbClr val="0B0B0B"/>
                    </a:solidFill>
                  </a:tcPr>
                </a:tc>
              </a:tr>
              <a:tr h="329184">
                <a:tc>
                  <a:txBody>
                    <a:bodyPr wrap="square"/>
                    <a:lstStyle/>
                    <a:p>
                      <a:pPr algn="l"/>
                      <a:r>
                        <a:rPr sz="1100" b="1">
                          <a:solidFill>
                            <a:srgbClr val="EFEEEE"/>
                          </a:solidFill>
                          <a:latin typeface="Helvetica Neue"/>
                        </a:rPr>
                        <a:t>Thursday</a:t>
                      </a:r>
                    </a:p>
                  </a:txBody>
                  <a:tcPr marL="73152" marR="73152" marT="18288" marB="18288" anchor="ctr">
                    <a:solidFill>
                      <a:srgbClr val="000000"/>
                    </a:solidFill>
                  </a:tcPr>
                </a:tc>
                <a:tc>
                  <a:txBody>
                    <a:bodyPr wrap="square"/>
                    <a:lstStyle/>
                    <a:p>
                      <a:pPr algn="r"/>
                      <a:r>
                        <a:rPr sz="1100" b="0">
                          <a:solidFill>
                            <a:srgbClr val="EFEEEE"/>
                          </a:solidFill>
                          <a:latin typeface="Menlo"/>
                        </a:rPr>
                        <a:t>58,285</a:t>
                      </a:r>
                    </a:p>
                  </a:txBody>
                  <a:tcPr marL="73152" marR="73152" marT="18288" marB="18288" anchor="ctr">
                    <a:solidFill>
                      <a:srgbClr val="000000"/>
                    </a:solidFill>
                  </a:tcPr>
                </a:tc>
                <a:tc>
                  <a:txBody>
                    <a:bodyPr wrap="square"/>
                    <a:lstStyle/>
                    <a:p>
                      <a:pPr algn="r"/>
                      <a:r>
                        <a:rPr sz="1100" b="0">
                          <a:solidFill>
                            <a:srgbClr val="EFEEEE"/>
                          </a:solidFill>
                          <a:latin typeface="Menlo"/>
                        </a:rPr>
                        <a:t>1,661</a:t>
                      </a:r>
                    </a:p>
                  </a:txBody>
                  <a:tcPr marL="73152" marR="73152" marT="18288" marB="18288" anchor="ctr">
                    <a:solidFill>
                      <a:srgbClr val="000000"/>
                    </a:solidFill>
                  </a:tcPr>
                </a:tc>
                <a:tc>
                  <a:txBody>
                    <a:bodyPr wrap="square"/>
                    <a:lstStyle/>
                    <a:p>
                      <a:pPr algn="r"/>
                      <a:r>
                        <a:rPr sz="1100" b="0">
                          <a:solidFill>
                            <a:srgbClr val="EFEEEE"/>
                          </a:solidFill>
                          <a:latin typeface="Menlo"/>
                        </a:rPr>
                        <a:t>1.69M</a:t>
                      </a:r>
                    </a:p>
                  </a:txBody>
                  <a:tcPr marL="73152" marR="73152" marT="18288" marB="18288" anchor="ctr">
                    <a:solidFill>
                      <a:srgbClr val="000000"/>
                    </a:solidFill>
                  </a:tcPr>
                </a:tc>
              </a:tr>
              <a:tr h="329184">
                <a:tc>
                  <a:txBody>
                    <a:bodyPr wrap="square"/>
                    <a:lstStyle/>
                    <a:p>
                      <a:pPr algn="l"/>
                      <a:r>
                        <a:rPr sz="1100" b="1">
                          <a:solidFill>
                            <a:srgbClr val="EFEEEE"/>
                          </a:solidFill>
                          <a:latin typeface="Helvetica Neue"/>
                        </a:rPr>
                        <a:t>Friday</a:t>
                      </a:r>
                    </a:p>
                  </a:txBody>
                  <a:tcPr marL="73152" marR="73152" marT="18288" marB="18288" anchor="ctr">
                    <a:solidFill>
                      <a:srgbClr val="0B0B0B"/>
                    </a:solidFill>
                  </a:tcPr>
                </a:tc>
                <a:tc>
                  <a:txBody>
                    <a:bodyPr wrap="square"/>
                    <a:lstStyle/>
                    <a:p>
                      <a:pPr algn="r"/>
                      <a:r>
                        <a:rPr sz="1100" b="0">
                          <a:solidFill>
                            <a:srgbClr val="EFEEEE"/>
                          </a:solidFill>
                          <a:latin typeface="Menlo"/>
                        </a:rPr>
                        <a:t>63,686</a:t>
                      </a:r>
                    </a:p>
                  </a:txBody>
                  <a:tcPr marL="73152" marR="73152" marT="18288" marB="18288" anchor="ctr">
                    <a:solidFill>
                      <a:srgbClr val="0B0B0B"/>
                    </a:solidFill>
                  </a:tcPr>
                </a:tc>
                <a:tc>
                  <a:txBody>
                    <a:bodyPr wrap="square"/>
                    <a:lstStyle/>
                    <a:p>
                      <a:pPr algn="r"/>
                      <a:r>
                        <a:rPr sz="1100" b="0">
                          <a:solidFill>
                            <a:srgbClr val="EFEEEE"/>
                          </a:solidFill>
                          <a:latin typeface="Menlo"/>
                        </a:rPr>
                        <a:t>1,610</a:t>
                      </a:r>
                    </a:p>
                  </a:txBody>
                  <a:tcPr marL="73152" marR="73152" marT="18288" marB="18288" anchor="ctr">
                    <a:solidFill>
                      <a:srgbClr val="0B0B0B"/>
                    </a:solidFill>
                  </a:tcPr>
                </a:tc>
                <a:tc>
                  <a:txBody>
                    <a:bodyPr wrap="square"/>
                    <a:lstStyle/>
                    <a:p>
                      <a:pPr algn="r"/>
                      <a:r>
                        <a:rPr sz="1100" b="0">
                          <a:solidFill>
                            <a:srgbClr val="EFEEEE"/>
                          </a:solidFill>
                          <a:latin typeface="Menlo"/>
                        </a:rPr>
                        <a:t>1.61M</a:t>
                      </a:r>
                    </a:p>
                  </a:txBody>
                  <a:tcPr marL="73152" marR="73152" marT="18288" marB="18288" anchor="ctr">
                    <a:solidFill>
                      <a:srgbClr val="0B0B0B"/>
                    </a:solidFill>
                  </a:tcPr>
                </a:tc>
              </a:tr>
              <a:tr h="329184">
                <a:tc>
                  <a:txBody>
                    <a:bodyPr wrap="square"/>
                    <a:lstStyle/>
                    <a:p>
                      <a:pPr algn="l"/>
                      <a:r>
                        <a:rPr sz="1100" b="1">
                          <a:solidFill>
                            <a:srgbClr val="F59E0B"/>
                          </a:solidFill>
                          <a:latin typeface="Helvetica Neue"/>
                        </a:rPr>
                        <a:t>Saturday</a:t>
                      </a:r>
                    </a:p>
                  </a:txBody>
                  <a:tcPr marL="73152" marR="73152" marT="18288" marB="18288" anchor="ctr">
                    <a:solidFill>
                      <a:srgbClr val="000000"/>
                    </a:solidFill>
                  </a:tcPr>
                </a:tc>
                <a:tc>
                  <a:txBody>
                    <a:bodyPr wrap="square"/>
                    <a:lstStyle/>
                    <a:p>
                      <a:pPr algn="r"/>
                      <a:r>
                        <a:rPr sz="1100" b="0">
                          <a:solidFill>
                            <a:srgbClr val="EFEEEE"/>
                          </a:solidFill>
                          <a:latin typeface="Menlo"/>
                        </a:rPr>
                        <a:t>52,838</a:t>
                      </a:r>
                    </a:p>
                  </a:txBody>
                  <a:tcPr marL="73152" marR="73152" marT="18288" marB="18288" anchor="ctr">
                    <a:solidFill>
                      <a:srgbClr val="000000"/>
                    </a:solidFill>
                  </a:tcPr>
                </a:tc>
                <a:tc>
                  <a:txBody>
                    <a:bodyPr wrap="square"/>
                    <a:lstStyle/>
                    <a:p>
                      <a:pPr algn="r"/>
                      <a:r>
                        <a:rPr sz="1100" b="0">
                          <a:solidFill>
                            <a:srgbClr val="F59E0B"/>
                          </a:solidFill>
                          <a:latin typeface="Menlo"/>
                        </a:rPr>
                        <a:t>1,316</a:t>
                      </a:r>
                    </a:p>
                  </a:txBody>
                  <a:tcPr marL="73152" marR="73152" marT="18288" marB="18288" anchor="ctr">
                    <a:solidFill>
                      <a:srgbClr val="000000"/>
                    </a:solidFill>
                  </a:tcPr>
                </a:tc>
                <a:tc>
                  <a:txBody>
                    <a:bodyPr wrap="square"/>
                    <a:lstStyle/>
                    <a:p>
                      <a:pPr algn="r"/>
                      <a:r>
                        <a:rPr sz="1100" b="0">
                          <a:solidFill>
                            <a:srgbClr val="EFEEEE"/>
                          </a:solidFill>
                          <a:latin typeface="Menlo"/>
                        </a:rPr>
                        <a:t>1.36M</a:t>
                      </a:r>
                    </a:p>
                  </a:txBody>
                  <a:tcPr marL="73152" marR="73152" marT="18288" marB="18288" anchor="ctr">
                    <a:solidFill>
                      <a:srgbClr val="000000"/>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02</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Voice of Customer</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4.7 out of 5 on 5,985 Trustpilot reviews. We read 300 verbatim to find what drives the buy and what breaks the trust.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Trustpilot · Verified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A Loved Brand With a Sharp Tail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94% of reviews sit at 4 or 5 stars. The small negative tail is highly concentrated on one issue, which makes it very actionable.</a:t>
            </a:r>
          </a:p>
        </p:txBody>
      </p:sp>
      <p:sp>
        <p:nvSpPr>
          <p:cNvPr id="10" name="Rounded Rectangle 9"/>
          <p:cNvSpPr/>
          <p:nvPr/>
        </p:nvSpPr>
        <p:spPr>
          <a:xfrm>
            <a:off x="975207" y="2066544"/>
            <a:ext cx="489204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295144"/>
            <a:ext cx="4343400" cy="274320"/>
          </a:xfrm>
          <a:prstGeom prst="rect">
            <a:avLst/>
          </a:prstGeom>
          <a:noFill/>
        </p:spPr>
        <p:txBody>
          <a:bodyPr wrap="square" lIns="0" rIns="0" tIns="0" bIns="0" anchor="t">
            <a:spAutoFit/>
          </a:bodyPr>
          <a:lstStyle/>
          <a:p>
            <a:pPr algn="l"/>
            <a:r>
              <a:rPr sz="1000" b="1" i="0" spc="150">
                <a:solidFill>
                  <a:srgbClr val="F7D007"/>
                </a:solidFill>
                <a:latin typeface="Helvetica Neue"/>
              </a:rPr>
              <a:t>Rating Distribution (5,985)</a:t>
            </a:r>
          </a:p>
        </p:txBody>
      </p:sp>
      <p:sp>
        <p:nvSpPr>
          <p:cNvPr id="12" name="TextBox 11"/>
          <p:cNvSpPr txBox="1"/>
          <p:nvPr/>
        </p:nvSpPr>
        <p:spPr>
          <a:xfrm>
            <a:off x="1249527" y="2752344"/>
            <a:ext cx="274320" cy="274320"/>
          </a:xfrm>
          <a:prstGeom prst="rect">
            <a:avLst/>
          </a:prstGeom>
          <a:noFill/>
        </p:spPr>
        <p:txBody>
          <a:bodyPr wrap="square" lIns="0" rIns="0" tIns="0" bIns="0" anchor="t">
            <a:spAutoFit/>
          </a:bodyPr>
          <a:lstStyle/>
          <a:p>
            <a:pPr algn="l"/>
            <a:r>
              <a:rPr sz="1100" b="1" i="0">
                <a:solidFill>
                  <a:srgbClr val="CCCCCC"/>
                </a:solidFill>
                <a:latin typeface="Menlo"/>
              </a:rPr>
              <a:t>5</a:t>
            </a:r>
          </a:p>
        </p:txBody>
      </p:sp>
      <p:sp>
        <p:nvSpPr>
          <p:cNvPr id="13" name="Rounded Rectangle 12"/>
          <p:cNvSpPr/>
          <p:nvPr/>
        </p:nvSpPr>
        <p:spPr>
          <a:xfrm>
            <a:off x="1615287" y="28254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615287" y="2825496"/>
            <a:ext cx="2147194" cy="128016"/>
          </a:xfrm>
          <a:prstGeom prst="roundRect">
            <a:avLst>
              <a:gd name="adj" fmla="val 50000"/>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4207" y="2752344"/>
            <a:ext cx="1280160" cy="274320"/>
          </a:xfrm>
          <a:prstGeom prst="rect">
            <a:avLst/>
          </a:prstGeom>
          <a:noFill/>
        </p:spPr>
        <p:txBody>
          <a:bodyPr wrap="square" lIns="0" rIns="0" tIns="0" bIns="0" anchor="t">
            <a:spAutoFit/>
          </a:bodyPr>
          <a:lstStyle/>
          <a:p>
            <a:pPr algn="r"/>
            <a:r>
              <a:rPr sz="900" b="0" i="0">
                <a:solidFill>
                  <a:srgbClr val="999999"/>
                </a:solidFill>
                <a:latin typeface="Menlo"/>
              </a:rPr>
              <a:t>4,765 · 80%</a:t>
            </a:r>
          </a:p>
        </p:txBody>
      </p:sp>
      <p:sp>
        <p:nvSpPr>
          <p:cNvPr id="16" name="TextBox 15"/>
          <p:cNvSpPr txBox="1"/>
          <p:nvPr/>
        </p:nvSpPr>
        <p:spPr>
          <a:xfrm>
            <a:off x="1249527" y="3209544"/>
            <a:ext cx="274320" cy="274320"/>
          </a:xfrm>
          <a:prstGeom prst="rect">
            <a:avLst/>
          </a:prstGeom>
          <a:noFill/>
        </p:spPr>
        <p:txBody>
          <a:bodyPr wrap="square" lIns="0" rIns="0" tIns="0" bIns="0" anchor="t">
            <a:spAutoFit/>
          </a:bodyPr>
          <a:lstStyle/>
          <a:p>
            <a:pPr algn="l"/>
            <a:r>
              <a:rPr sz="1100" b="1" i="0">
                <a:solidFill>
                  <a:srgbClr val="CCCCCC"/>
                </a:solidFill>
                <a:latin typeface="Menlo"/>
              </a:rPr>
              <a:t>4</a:t>
            </a:r>
          </a:p>
        </p:txBody>
      </p:sp>
      <p:sp>
        <p:nvSpPr>
          <p:cNvPr id="17" name="Rounded Rectangle 16"/>
          <p:cNvSpPr/>
          <p:nvPr/>
        </p:nvSpPr>
        <p:spPr>
          <a:xfrm>
            <a:off x="1615287" y="32826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615287" y="3282696"/>
            <a:ext cx="385739" cy="128016"/>
          </a:xfrm>
          <a:prstGeom prst="roundRect">
            <a:avLst>
              <a:gd name="adj" fmla="val 50000"/>
            </a:avLst>
          </a:prstGeom>
          <a:solidFill>
            <a:srgbClr val="A3C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3209544"/>
            <a:ext cx="1280160" cy="274320"/>
          </a:xfrm>
          <a:prstGeom prst="rect">
            <a:avLst/>
          </a:prstGeom>
          <a:noFill/>
        </p:spPr>
        <p:txBody>
          <a:bodyPr wrap="square" lIns="0" rIns="0" tIns="0" bIns="0" anchor="t">
            <a:spAutoFit/>
          </a:bodyPr>
          <a:lstStyle/>
          <a:p>
            <a:pPr algn="r"/>
            <a:r>
              <a:rPr sz="900" b="0" i="0">
                <a:solidFill>
                  <a:srgbClr val="999999"/>
                </a:solidFill>
                <a:latin typeface="Menlo"/>
              </a:rPr>
              <a:t>856 · 14%</a:t>
            </a:r>
          </a:p>
        </p:txBody>
      </p:sp>
      <p:sp>
        <p:nvSpPr>
          <p:cNvPr id="20" name="TextBox 19"/>
          <p:cNvSpPr txBox="1"/>
          <p:nvPr/>
        </p:nvSpPr>
        <p:spPr>
          <a:xfrm>
            <a:off x="1249527" y="3666744"/>
            <a:ext cx="274320" cy="27432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1" name="Rounded Rectangle 20"/>
          <p:cNvSpPr/>
          <p:nvPr/>
        </p:nvSpPr>
        <p:spPr>
          <a:xfrm>
            <a:off x="1615287" y="37398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15287" y="3739896"/>
            <a:ext cx="67437" cy="128016"/>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04207" y="3666744"/>
            <a:ext cx="1280160" cy="274320"/>
          </a:xfrm>
          <a:prstGeom prst="rect">
            <a:avLst/>
          </a:prstGeom>
          <a:noFill/>
        </p:spPr>
        <p:txBody>
          <a:bodyPr wrap="square" lIns="0" rIns="0" tIns="0" bIns="0" anchor="t">
            <a:spAutoFit/>
          </a:bodyPr>
          <a:lstStyle/>
          <a:p>
            <a:pPr algn="r"/>
            <a:r>
              <a:rPr sz="900" b="0" i="0">
                <a:solidFill>
                  <a:srgbClr val="999999"/>
                </a:solidFill>
                <a:latin typeface="Menlo"/>
              </a:rPr>
              <a:t>149 · 2.5%</a:t>
            </a:r>
          </a:p>
        </p:txBody>
      </p:sp>
      <p:sp>
        <p:nvSpPr>
          <p:cNvPr id="24" name="TextBox 23"/>
          <p:cNvSpPr txBox="1"/>
          <p:nvPr/>
        </p:nvSpPr>
        <p:spPr>
          <a:xfrm>
            <a:off x="1249527" y="4123944"/>
            <a:ext cx="274320" cy="27432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5" name="Rounded Rectangle 24"/>
          <p:cNvSpPr/>
          <p:nvPr/>
        </p:nvSpPr>
        <p:spPr>
          <a:xfrm>
            <a:off x="1615287" y="41970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15287" y="4197096"/>
            <a:ext cx="53949" cy="128016"/>
          </a:xfrm>
          <a:prstGeom prst="roundRect">
            <a:avLst>
              <a:gd name="adj" fmla="val 5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4207" y="4123944"/>
            <a:ext cx="1280160" cy="274320"/>
          </a:xfrm>
          <a:prstGeom prst="rect">
            <a:avLst/>
          </a:prstGeom>
          <a:noFill/>
        </p:spPr>
        <p:txBody>
          <a:bodyPr wrap="square" lIns="0" rIns="0" tIns="0" bIns="0" anchor="t">
            <a:spAutoFit/>
          </a:bodyPr>
          <a:lstStyle/>
          <a:p>
            <a:pPr algn="r"/>
            <a:r>
              <a:rPr sz="900" b="0" i="0">
                <a:solidFill>
                  <a:srgbClr val="999999"/>
                </a:solidFill>
                <a:latin typeface="Menlo"/>
              </a:rPr>
              <a:t>62 · 1%</a:t>
            </a:r>
          </a:p>
        </p:txBody>
      </p:sp>
      <p:sp>
        <p:nvSpPr>
          <p:cNvPr id="28" name="TextBox 27"/>
          <p:cNvSpPr txBox="1"/>
          <p:nvPr/>
        </p:nvSpPr>
        <p:spPr>
          <a:xfrm>
            <a:off x="1249527" y="4581144"/>
            <a:ext cx="274320" cy="274320"/>
          </a:xfrm>
          <a:prstGeom prst="rect">
            <a:avLst/>
          </a:prstGeom>
          <a:noFill/>
        </p:spPr>
        <p:txBody>
          <a:bodyPr wrap="square" lIns="0" rIns="0" tIns="0" bIns="0" anchor="t">
            <a:spAutoFit/>
          </a:bodyPr>
          <a:lstStyle/>
          <a:p>
            <a:pPr algn="l"/>
            <a:r>
              <a:rPr sz="1100" b="1" i="0">
                <a:solidFill>
                  <a:srgbClr val="CCCCCC"/>
                </a:solidFill>
                <a:latin typeface="Menlo"/>
              </a:rPr>
              <a:t>1</a:t>
            </a:r>
          </a:p>
        </p:txBody>
      </p:sp>
      <p:sp>
        <p:nvSpPr>
          <p:cNvPr id="29" name="Rounded Rectangle 28"/>
          <p:cNvSpPr/>
          <p:nvPr/>
        </p:nvSpPr>
        <p:spPr>
          <a:xfrm>
            <a:off x="1615287" y="4654296"/>
            <a:ext cx="2697480" cy="128016"/>
          </a:xfrm>
          <a:prstGeom prst="roundRect">
            <a:avLst>
              <a:gd name="adj" fmla="val 50000"/>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615287" y="4654296"/>
            <a:ext cx="70134" cy="128016"/>
          </a:xfrm>
          <a:prstGeom prst="roundRect">
            <a:avLst>
              <a:gd name="adj" fmla="val 5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4207" y="4581144"/>
            <a:ext cx="1280160" cy="274320"/>
          </a:xfrm>
          <a:prstGeom prst="rect">
            <a:avLst/>
          </a:prstGeom>
          <a:noFill/>
        </p:spPr>
        <p:txBody>
          <a:bodyPr wrap="square" lIns="0" rIns="0" tIns="0" bIns="0" anchor="t">
            <a:spAutoFit/>
          </a:bodyPr>
          <a:lstStyle/>
          <a:p>
            <a:pPr algn="r"/>
            <a:r>
              <a:rPr sz="900" b="0" i="0">
                <a:solidFill>
                  <a:srgbClr val="999999"/>
                </a:solidFill>
                <a:latin typeface="Menlo"/>
              </a:rPr>
              <a:t>153 · 2.6%</a:t>
            </a:r>
          </a:p>
        </p:txBody>
      </p:sp>
      <p:sp>
        <p:nvSpPr>
          <p:cNvPr id="32" name="Rounded Rectangle 31"/>
          <p:cNvSpPr/>
          <p:nvPr/>
        </p:nvSpPr>
        <p:spPr>
          <a:xfrm>
            <a:off x="6324447" y="2066544"/>
            <a:ext cx="4892040" cy="36576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447" y="2432304"/>
            <a:ext cx="4892040" cy="640080"/>
          </a:xfrm>
          <a:prstGeom prst="rect">
            <a:avLst/>
          </a:prstGeom>
          <a:noFill/>
        </p:spPr>
        <p:txBody>
          <a:bodyPr wrap="square" lIns="0" rIns="0" tIns="0" bIns="0" anchor="t">
            <a:spAutoFit/>
          </a:bodyPr>
          <a:lstStyle/>
          <a:p>
            <a:pPr algn="ctr"/>
            <a:r>
              <a:rPr sz="4400" b="1" i="0">
                <a:solidFill>
                  <a:srgbClr val="F7D007"/>
                </a:solidFill>
                <a:latin typeface="Menlo"/>
              </a:rPr>
              <a:t>4.7</a:t>
            </a:r>
          </a:p>
        </p:txBody>
      </p:sp>
      <p:sp>
        <p:nvSpPr>
          <p:cNvPr id="34" name="TextBox 33"/>
          <p:cNvSpPr txBox="1"/>
          <p:nvPr/>
        </p:nvSpPr>
        <p:spPr>
          <a:xfrm>
            <a:off x="6324447" y="3090672"/>
            <a:ext cx="4892040" cy="274320"/>
          </a:xfrm>
          <a:prstGeom prst="rect">
            <a:avLst/>
          </a:prstGeom>
          <a:noFill/>
        </p:spPr>
        <p:txBody>
          <a:bodyPr wrap="square" lIns="0" rIns="0" tIns="0" bIns="0" anchor="t">
            <a:spAutoFit/>
          </a:bodyPr>
          <a:lstStyle/>
          <a:p>
            <a:pPr algn="ctr"/>
            <a:r>
              <a:rPr sz="900" b="0" i="0" spc="100">
                <a:solidFill>
                  <a:srgbClr val="999999"/>
                </a:solidFill>
                <a:latin typeface="Helvetica Neue"/>
              </a:rPr>
              <a:t>TrustScore · "Utmärkt"</a:t>
            </a:r>
          </a:p>
        </p:txBody>
      </p:sp>
      <p:sp>
        <p:nvSpPr>
          <p:cNvPr id="35" name="TextBox 34"/>
          <p:cNvSpPr txBox="1"/>
          <p:nvPr/>
        </p:nvSpPr>
        <p:spPr>
          <a:xfrm>
            <a:off x="6598767" y="3529584"/>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Fast delivery when it works</a:t>
            </a:r>
          </a:p>
        </p:txBody>
      </p:sp>
      <p:sp>
        <p:nvSpPr>
          <p:cNvPr id="36" name="TextBox 35"/>
          <p:cNvSpPr txBox="1"/>
          <p:nvPr/>
        </p:nvSpPr>
        <p:spPr>
          <a:xfrm>
            <a:off x="10119207" y="3529584"/>
            <a:ext cx="822960" cy="274320"/>
          </a:xfrm>
          <a:prstGeom prst="rect">
            <a:avLst/>
          </a:prstGeom>
          <a:noFill/>
        </p:spPr>
        <p:txBody>
          <a:bodyPr wrap="square" lIns="0" rIns="0" tIns="0" bIns="0" anchor="t">
            <a:spAutoFit/>
          </a:bodyPr>
          <a:lstStyle/>
          <a:p>
            <a:pPr algn="r"/>
            <a:r>
              <a:rPr sz="1100" b="1" i="0">
                <a:solidFill>
                  <a:srgbClr val="22C55E"/>
                </a:solidFill>
                <a:latin typeface="Menlo"/>
              </a:rPr>
              <a:t>36%</a:t>
            </a:r>
          </a:p>
        </p:txBody>
      </p:sp>
      <p:sp>
        <p:nvSpPr>
          <p:cNvPr id="37" name="TextBox 36"/>
          <p:cNvSpPr txBox="1"/>
          <p:nvPr/>
        </p:nvSpPr>
        <p:spPr>
          <a:xfrm>
            <a:off x="6598767" y="3877056"/>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Easy to order, smooth site</a:t>
            </a:r>
          </a:p>
        </p:txBody>
      </p:sp>
      <p:sp>
        <p:nvSpPr>
          <p:cNvPr id="38" name="TextBox 37"/>
          <p:cNvSpPr txBox="1"/>
          <p:nvPr/>
        </p:nvSpPr>
        <p:spPr>
          <a:xfrm>
            <a:off x="10119207" y="3877056"/>
            <a:ext cx="822960" cy="274320"/>
          </a:xfrm>
          <a:prstGeom prst="rect">
            <a:avLst/>
          </a:prstGeom>
          <a:noFill/>
        </p:spPr>
        <p:txBody>
          <a:bodyPr wrap="square" lIns="0" rIns="0" tIns="0" bIns="0" anchor="t">
            <a:spAutoFit/>
          </a:bodyPr>
          <a:lstStyle/>
          <a:p>
            <a:pPr algn="r"/>
            <a:r>
              <a:rPr sz="1100" b="1" i="0">
                <a:solidFill>
                  <a:srgbClr val="22C55E"/>
                </a:solidFill>
                <a:latin typeface="Menlo"/>
              </a:rPr>
              <a:t>34%</a:t>
            </a:r>
          </a:p>
        </p:txBody>
      </p:sp>
      <p:sp>
        <p:nvSpPr>
          <p:cNvPr id="39" name="TextBox 38"/>
          <p:cNvSpPr txBox="1"/>
          <p:nvPr/>
        </p:nvSpPr>
        <p:spPr>
          <a:xfrm>
            <a:off x="6598767" y="4224528"/>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Price and value ("prisvärt")</a:t>
            </a:r>
          </a:p>
        </p:txBody>
      </p:sp>
      <p:sp>
        <p:nvSpPr>
          <p:cNvPr id="40" name="TextBox 39"/>
          <p:cNvSpPr txBox="1"/>
          <p:nvPr/>
        </p:nvSpPr>
        <p:spPr>
          <a:xfrm>
            <a:off x="10119207" y="4224528"/>
            <a:ext cx="822960" cy="274320"/>
          </a:xfrm>
          <a:prstGeom prst="rect">
            <a:avLst/>
          </a:prstGeom>
          <a:noFill/>
        </p:spPr>
        <p:txBody>
          <a:bodyPr wrap="square" lIns="0" rIns="0" tIns="0" bIns="0" anchor="t">
            <a:spAutoFit/>
          </a:bodyPr>
          <a:lstStyle/>
          <a:p>
            <a:pPr algn="r"/>
            <a:r>
              <a:rPr sz="1100" b="1" i="0">
                <a:solidFill>
                  <a:srgbClr val="22C55E"/>
                </a:solidFill>
                <a:latin typeface="Menlo"/>
              </a:rPr>
              <a:t>28%</a:t>
            </a:r>
          </a:p>
        </p:txBody>
      </p:sp>
      <p:sp>
        <p:nvSpPr>
          <p:cNvPr id="41" name="TextBox 40"/>
          <p:cNvSpPr txBox="1"/>
          <p:nvPr/>
        </p:nvSpPr>
        <p:spPr>
          <a:xfrm>
            <a:off x="6598767" y="4572000"/>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Discovery boxes love</a:t>
            </a:r>
          </a:p>
        </p:txBody>
      </p:sp>
      <p:sp>
        <p:nvSpPr>
          <p:cNvPr id="42" name="TextBox 41"/>
          <p:cNvSpPr txBox="1"/>
          <p:nvPr/>
        </p:nvSpPr>
        <p:spPr>
          <a:xfrm>
            <a:off x="10119207" y="4572000"/>
            <a:ext cx="822960" cy="274320"/>
          </a:xfrm>
          <a:prstGeom prst="rect">
            <a:avLst/>
          </a:prstGeom>
          <a:noFill/>
        </p:spPr>
        <p:txBody>
          <a:bodyPr wrap="square" lIns="0" rIns="0" tIns="0" bIns="0" anchor="t">
            <a:spAutoFit/>
          </a:bodyPr>
          <a:lstStyle/>
          <a:p>
            <a:pPr algn="r"/>
            <a:r>
              <a:rPr sz="1100" b="1" i="0">
                <a:solidFill>
                  <a:srgbClr val="22C55E"/>
                </a:solidFill>
                <a:latin typeface="Menlo"/>
              </a:rPr>
              <a:t>21%</a:t>
            </a:r>
          </a:p>
        </p:txBody>
      </p:sp>
      <p:sp>
        <p:nvSpPr>
          <p:cNvPr id="43" name="TextBox 42"/>
          <p:cNvSpPr txBox="1"/>
          <p:nvPr/>
        </p:nvSpPr>
        <p:spPr>
          <a:xfrm>
            <a:off x="6598767" y="4919472"/>
            <a:ext cx="3520440" cy="274320"/>
          </a:xfrm>
          <a:prstGeom prst="rect">
            <a:avLst/>
          </a:prstGeom>
          <a:noFill/>
        </p:spPr>
        <p:txBody>
          <a:bodyPr wrap="square" lIns="0" rIns="0" tIns="0" bIns="0" anchor="t">
            <a:spAutoFit/>
          </a:bodyPr>
          <a:lstStyle/>
          <a:p>
            <a:pPr algn="l"/>
            <a:r>
              <a:rPr sz="1100" b="0" i="0">
                <a:solidFill>
                  <a:srgbClr val="CCCCCC"/>
                </a:solidFill>
                <a:latin typeface="Helvetica Neue"/>
              </a:rPr>
              <a:t>Wine quality ("goda viner")</a:t>
            </a:r>
          </a:p>
        </p:txBody>
      </p:sp>
      <p:sp>
        <p:nvSpPr>
          <p:cNvPr id="44" name="TextBox 43"/>
          <p:cNvSpPr txBox="1"/>
          <p:nvPr/>
        </p:nvSpPr>
        <p:spPr>
          <a:xfrm>
            <a:off x="10119207" y="4919472"/>
            <a:ext cx="822960" cy="274320"/>
          </a:xfrm>
          <a:prstGeom prst="rect">
            <a:avLst/>
          </a:prstGeom>
          <a:noFill/>
        </p:spPr>
        <p:txBody>
          <a:bodyPr wrap="square" lIns="0" rIns="0" tIns="0" bIns="0" anchor="t">
            <a:spAutoFit/>
          </a:bodyPr>
          <a:lstStyle/>
          <a:p>
            <a:pPr algn="r"/>
            <a:r>
              <a:rPr sz="1100" b="1" i="0">
                <a:solidFill>
                  <a:srgbClr val="22C55E"/>
                </a:solidFill>
                <a:latin typeface="Menlo"/>
              </a:rPr>
              <a:t>20%</a:t>
            </a:r>
          </a:p>
        </p:txBody>
      </p:sp>
      <p:sp>
        <p:nvSpPr>
          <p:cNvPr id="45" name="TextBox 44"/>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Theme percentages are within the sampled reviews, not store wide rates. Official aggregates (4.7, 5,985, distribution) are Trustpilot's 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Why People Buy (In Their Words)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This copy already lives in your reviews. It is stronger than any marketing line because it is the customer framing the value against Systembolaget.</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"Smidigt, enkelt, prisvärt, bra viner mm! ... Dessutom inga begränsade öppettider att förhålla sig till."</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Smooth, easy, good value, good wines. And no restricted opening hours to deal with.</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kundnamn · 4 stars · 2026-07-16</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"Är så skönt med färdiga bland lådor av viner, man har stor chans att hitta nya favoriter som man annars missar."</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Ready made mixed boxes give a real chance to find new favourites you would otherwise miss.</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Ritva Nilsson · 5 stars · 2026-07-13</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"...trevligt att smaka viner från mindre kända vingårdar!"</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Nice to try wines from lesser known vineyards, at affordable prices.</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Martin Åström · 5 stars · 2026-07-09</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"Mycket goda alkoholfria alternativ, såväl vitt vin som mousserande."</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Very good alcohol free options, both white and sparkling. A niche but loyal segment.</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Sari Andersson · 5 stars · 2026-07-07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19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The Core Problem</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"1-3 dagar" Is Breaking Trust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homepage promises 1 to 3 day delivery in 8 places. Customers repeatedly report 7 to 16 days. This single gap drives the entire negative tail.</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"1-3 dagars leverans står det. Just nu väntat i 11 dagar utan veta när leverans kommer komma. Var skeptisk, men ville ändå testa. Första och sista gången tyvärr."</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Site says 1-3 days. Waited 11 days with no ETA. Was skeptical but tried. First and last time.</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Sebastian Svahn · 1 star · 2026-05-14</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"Vilseledande marknadsföring! Leverans som aldrig är 1-3 dagar som det står på sidan. Andra gången jag beställer inför en stor fest och andra gången det blir försenat..."</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Misleading marketing. Delivery is never the 1-3 days the site claims. Second time late before a big party.</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"Bra priser och ok viner men ett väldigt stort problem med leveranstider. Dittvin utlovar 1-3 dagars leverans men det är snarare 10-13. Trust me."</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Good prices and ok wines but a big delivery time problem. Promises 1-3 days but it is more like 10-13.</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Mattias Bedding · 2 stars · 2026-04-16</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"Ska levereras mellan 17-22 vart försenat till 23 sen 5 minuter innan leverans så avbryts leveransen!"</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Meant to arrive 17-22, delayed to 23, then cancelled 5 minutes before delivery. Alcohol needs someone home.</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86% of sampled complaints mention delivery. 31% cite the broken "1-3 dagar" promise. 23% describe the be home / cancelled window problem. Several are repeat buyers churning purely on delivery.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Secondary Frictions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Quality Doubt and Robot Service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Two smaller but reputationally sharp themes that a stronger product page and a faster human reply would neutralize.</a:t>
            </a:r>
          </a:p>
        </p:txBody>
      </p:sp>
      <p:sp>
        <p:nvSpPr>
          <p:cNvPr id="10" name="Rounded Rectangle 9"/>
          <p:cNvSpPr/>
          <p:nvPr/>
        </p:nvSpPr>
        <p:spPr>
          <a:xfrm>
            <a:off x="79232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835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"Köpte ett paket med 12 så kallade kvalitetsviner. Flertalet var knappt drickbara och sämre än de billigare på systemet. Rabatten uppgavs vara 57%."</a:t>
            </a:r>
          </a:p>
        </p:txBody>
      </p:sp>
      <p:sp>
        <p:nvSpPr>
          <p:cNvPr id="12" name="TextBox 11"/>
          <p:cNvSpPr txBox="1"/>
          <p:nvPr/>
        </p:nvSpPr>
        <p:spPr>
          <a:xfrm>
            <a:off x="104835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Bought 12 so called quality wines. Several barely drinkable and worse than Systembolaget budget. Claimed 57% off.</a:t>
            </a:r>
          </a:p>
        </p:txBody>
      </p:sp>
      <p:sp>
        <p:nvSpPr>
          <p:cNvPr id="13" name="TextBox 12"/>
          <p:cNvSpPr txBox="1"/>
          <p:nvPr/>
        </p:nvSpPr>
        <p:spPr>
          <a:xfrm>
            <a:off x="104835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Consumer · 2 stars · Quality + discount credibility</a:t>
            </a:r>
          </a:p>
        </p:txBody>
      </p:sp>
      <p:sp>
        <p:nvSpPr>
          <p:cNvPr id="14" name="Rounded Rectangle 13"/>
          <p:cNvSpPr/>
          <p:nvPr/>
        </p:nvSpPr>
        <p:spPr>
          <a:xfrm>
            <a:off x="6233007" y="20665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22494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"Vinerna smakar som saft."</a:t>
            </a:r>
          </a:p>
        </p:txBody>
      </p:sp>
      <p:sp>
        <p:nvSpPr>
          <p:cNvPr id="16" name="TextBox 15"/>
          <p:cNvSpPr txBox="1"/>
          <p:nvPr/>
        </p:nvSpPr>
        <p:spPr>
          <a:xfrm>
            <a:off x="6489039" y="31181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The wines taste like juice. Undercuts the "kvalitetsviner" positioning. 14% of complaints mention taste.</a:t>
            </a:r>
          </a:p>
        </p:txBody>
      </p:sp>
      <p:sp>
        <p:nvSpPr>
          <p:cNvPr id="17" name="TextBox 16"/>
          <p:cNvSpPr txBox="1"/>
          <p:nvPr/>
        </p:nvSpPr>
        <p:spPr>
          <a:xfrm>
            <a:off x="6489039" y="36027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Harry Frank · 2 stars · 2026-06-21</a:t>
            </a:r>
          </a:p>
        </p:txBody>
      </p:sp>
      <p:sp>
        <p:nvSpPr>
          <p:cNvPr id="18" name="Rounded Rectangle 17"/>
          <p:cNvSpPr/>
          <p:nvPr/>
        </p:nvSpPr>
        <p:spPr>
          <a:xfrm>
            <a:off x="792327" y="4123944"/>
            <a:ext cx="5166360" cy="1828800"/>
          </a:xfrm>
          <a:prstGeom prst="roundRect">
            <a:avLst>
              <a:gd name="adj" fmla="val 5000"/>
            </a:avLst>
          </a:prstGeom>
          <a:solidFill>
            <a:srgbClr val="101010"/>
          </a:solidFill>
          <a:ln w="9525">
            <a:solidFill>
              <a:srgbClr val="5A24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35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"Kundservice är ett automatiskt AI svar som 'beklagar och ska ta din feedback med oss'."</a:t>
            </a:r>
          </a:p>
        </p:txBody>
      </p:sp>
      <p:sp>
        <p:nvSpPr>
          <p:cNvPr id="20" name="TextBox 19"/>
          <p:cNvSpPr txBox="1"/>
          <p:nvPr/>
        </p:nvSpPr>
        <p:spPr>
          <a:xfrm>
            <a:off x="104835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Customer service is an automatic AI reply that apologizes and notes the feedback. 38% of complaints cite service.</a:t>
            </a:r>
          </a:p>
        </p:txBody>
      </p:sp>
      <p:sp>
        <p:nvSpPr>
          <p:cNvPr id="21" name="TextBox 20"/>
          <p:cNvSpPr txBox="1"/>
          <p:nvPr/>
        </p:nvSpPr>
        <p:spPr>
          <a:xfrm>
            <a:off x="104835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Elias Lindell · 1 star · 2026-05-07</a:t>
            </a:r>
          </a:p>
        </p:txBody>
      </p:sp>
      <p:sp>
        <p:nvSpPr>
          <p:cNvPr id="22" name="Rounded Rectangle 21"/>
          <p:cNvSpPr/>
          <p:nvPr/>
        </p:nvSpPr>
        <p:spPr>
          <a:xfrm>
            <a:off x="6233007" y="4123944"/>
            <a:ext cx="5166360" cy="1828800"/>
          </a:xfrm>
          <a:prstGeom prst="roundRect">
            <a:avLst>
              <a:gd name="adj" fmla="val 5000"/>
            </a:avLst>
          </a:prstGeom>
          <a:solidFill>
            <a:srgbClr val="101010"/>
          </a:solidFill>
          <a:ln w="9525">
            <a:solidFill>
              <a:srgbClr val="2444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9039" y="4306824"/>
            <a:ext cx="4654296" cy="868680"/>
          </a:xfrm>
          <a:prstGeom prst="rect">
            <a:avLst/>
          </a:prstGeom>
          <a:noFill/>
        </p:spPr>
        <p:txBody>
          <a:bodyPr wrap="square" lIns="0" rIns="0" tIns="0" bIns="0" anchor="t">
            <a:spAutoFit/>
          </a:bodyPr>
          <a:lstStyle/>
          <a:p>
            <a:pPr algn="l"/>
            <a:r>
              <a:rPr sz="1100" b="0" i="1">
                <a:solidFill>
                  <a:srgbClr val="EFEEEE"/>
                </a:solidFill>
                <a:latin typeface="Helvetica Neue"/>
              </a:rPr>
              <a:t>"En flaska var skadad, dom löste det snabbt och lätt. Mycket bra återkoppling på mejl."</a:t>
            </a:r>
          </a:p>
        </p:txBody>
      </p:sp>
      <p:sp>
        <p:nvSpPr>
          <p:cNvPr id="24" name="TextBox 23"/>
          <p:cNvSpPr txBox="1"/>
          <p:nvPr/>
        </p:nvSpPr>
        <p:spPr>
          <a:xfrm>
            <a:off x="6489039" y="5175504"/>
            <a:ext cx="4654296" cy="457200"/>
          </a:xfrm>
          <a:prstGeom prst="rect">
            <a:avLst/>
          </a:prstGeom>
          <a:noFill/>
        </p:spPr>
        <p:txBody>
          <a:bodyPr wrap="square" lIns="0" rIns="0" tIns="0" bIns="0" anchor="t">
            <a:spAutoFit/>
          </a:bodyPr>
          <a:lstStyle/>
          <a:p>
            <a:pPr algn="l"/>
            <a:r>
              <a:rPr sz="900" b="0" i="0">
                <a:solidFill>
                  <a:srgbClr val="999999"/>
                </a:solidFill>
                <a:latin typeface="Helvetica Neue"/>
              </a:rPr>
              <a:t>One bottle was damaged, solved quickly. Great email follow up. When service is fast, it becomes a 5 star reason.</a:t>
            </a:r>
          </a:p>
        </p:txBody>
      </p:sp>
      <p:sp>
        <p:nvSpPr>
          <p:cNvPr id="25" name="TextBox 24"/>
          <p:cNvSpPr txBox="1"/>
          <p:nvPr/>
        </p:nvSpPr>
        <p:spPr>
          <a:xfrm>
            <a:off x="6489039" y="5660136"/>
            <a:ext cx="4654296" cy="256032"/>
          </a:xfrm>
          <a:prstGeom prst="rect">
            <a:avLst/>
          </a:prstGeom>
          <a:noFill/>
        </p:spPr>
        <p:txBody>
          <a:bodyPr wrap="square" lIns="0" rIns="0" tIns="0" bIns="0" anchor="t">
            <a:spAutoFit/>
          </a:bodyPr>
          <a:lstStyle/>
          <a:p>
            <a:pPr algn="l"/>
            <a:r>
              <a:rPr sz="800" b="0" i="0" spc="50">
                <a:solidFill>
                  <a:srgbClr val="6B7C75"/>
                </a:solidFill>
                <a:latin typeface="Helvetica Neue"/>
              </a:rPr>
              <a:t>Bengt Angséus · 5 stars · 2026-07-15</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The 57% discount claim on wines rated below Systembolaget budget is also a Swedish price marketing risk. Verify compare at prices are genuine reference prices.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The Number One Buying Hesitation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You Cannot Taste It Before You Buy</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Taste is the biggest hesitation in online wine. Everyone likes something different (dry or sweet, light or full, fruity or bitter) and nobody can try before they buy. When the flavor is a gamble, people hesitate, fall back on price, and often pick a wine they do not enjoy, then blame the shop. Show the taste up front and each buyer chooses a wine they will actually love.</a:t>
            </a:r>
          </a:p>
        </p:txBody>
      </p:sp>
      <p:sp>
        <p:nvSpPr>
          <p:cNvPr id="10" name="Rounded Rectangle 9"/>
          <p:cNvSpPr/>
          <p:nvPr/>
        </p:nvSpPr>
        <p:spPr>
          <a:xfrm>
            <a:off x="792327" y="2724912"/>
            <a:ext cx="5074920" cy="35661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953512"/>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The problem, in your own reviews</a:t>
            </a:r>
          </a:p>
        </p:txBody>
      </p:sp>
      <p:sp>
        <p:nvSpPr>
          <p:cNvPr id="12" name="TextBox 11"/>
          <p:cNvSpPr txBox="1"/>
          <p:nvPr/>
        </p:nvSpPr>
        <p:spPr>
          <a:xfrm>
            <a:off x="1066647" y="3227832"/>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Buying blind leads to the wrong bottle</a:t>
            </a:r>
          </a:p>
        </p:txBody>
      </p:sp>
      <p:sp>
        <p:nvSpPr>
          <p:cNvPr id="13" name="TextBox 12"/>
          <p:cNvSpPr txBox="1"/>
          <p:nvPr/>
        </p:nvSpPr>
        <p:spPr>
          <a:xfrm>
            <a:off x="1066647" y="3657600"/>
            <a:ext cx="4526280" cy="1005840"/>
          </a:xfrm>
          <a:prstGeom prst="rect">
            <a:avLst/>
          </a:prstGeom>
          <a:noFill/>
        </p:spPr>
        <p:txBody>
          <a:bodyPr wrap="square" lIns="0" rIns="0" tIns="0" bIns="0" anchor="t">
            <a:spAutoFit/>
          </a:bodyPr>
          <a:lstStyle/>
          <a:p>
            <a:pPr algn="l"/>
            <a:r>
              <a:rPr sz="1100" b="0" i="0">
                <a:solidFill>
                  <a:srgbClr val="CCCCCC"/>
                </a:solidFill>
                <a:latin typeface="Helvetica Neue"/>
              </a:rPr>
              <a:t>14% of complaints are about taste. A box of 12 unknown wines is a leap of faith, so price and discount become the only things to go on. When the wine does not match what someone expected, they feel let down even when it is a good wine. This buyer wanted something drier. With a simple taste profile they would have picked a different wine and stayed happy.</a:t>
            </a:r>
          </a:p>
        </p:txBody>
      </p:sp>
      <p:sp>
        <p:nvSpPr>
          <p:cNvPr id="14" name="Rounded Rectangle 13"/>
          <p:cNvSpPr/>
          <p:nvPr/>
        </p:nvSpPr>
        <p:spPr>
          <a:xfrm>
            <a:off x="1066647" y="4782312"/>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4837176"/>
            <a:ext cx="4251960" cy="457200"/>
          </a:xfrm>
          <a:prstGeom prst="rect">
            <a:avLst/>
          </a:prstGeom>
          <a:noFill/>
        </p:spPr>
        <p:txBody>
          <a:bodyPr wrap="square" lIns="0" rIns="0" tIns="0" bIns="0" anchor="ctr">
            <a:spAutoFit/>
          </a:bodyPr>
          <a:lstStyle/>
          <a:p>
            <a:pPr algn="l"/>
            <a:r>
              <a:rPr sz="1000" b="0" i="1">
                <a:solidFill>
                  <a:srgbClr val="EFEEEE"/>
                </a:solidFill>
                <a:latin typeface="Helvetica Neue"/>
              </a:rPr>
              <a:t>"Vinerna smakar som saft" (the wines taste like juice)</a:t>
            </a:r>
          </a:p>
        </p:txBody>
      </p:sp>
      <p:sp>
        <p:nvSpPr>
          <p:cNvPr id="16" name="Rounded Rectangle 15"/>
          <p:cNvSpPr/>
          <p:nvPr/>
        </p:nvSpPr>
        <p:spPr>
          <a:xfrm>
            <a:off x="1066647" y="5458968"/>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3807" y="5513832"/>
            <a:ext cx="4251960" cy="457200"/>
          </a:xfrm>
          <a:prstGeom prst="rect">
            <a:avLst/>
          </a:prstGeom>
          <a:noFill/>
        </p:spPr>
        <p:txBody>
          <a:bodyPr wrap="square" lIns="0" rIns="0" tIns="0" bIns="0" anchor="ctr">
            <a:spAutoFit/>
          </a:bodyPr>
          <a:lstStyle/>
          <a:p>
            <a:pPr algn="l"/>
            <a:r>
              <a:rPr sz="1000" b="0" i="1">
                <a:solidFill>
                  <a:srgbClr val="EFEEEE"/>
                </a:solidFill>
                <a:latin typeface="Helvetica Neue"/>
              </a:rPr>
              <a:t>"Jag saknar en beskrivning av respektive vin och vad det passar till." (I miss a description of each wine and what it pairs with)</a:t>
            </a:r>
          </a:p>
        </p:txBody>
      </p:sp>
      <p:sp>
        <p:nvSpPr>
          <p:cNvPr id="18" name="Rounded Rectangle 17"/>
          <p:cNvSpPr/>
          <p:nvPr/>
        </p:nvSpPr>
        <p:spPr>
          <a:xfrm>
            <a:off x="6324447" y="2724912"/>
            <a:ext cx="5074920" cy="356616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2953512"/>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The fix: a taste profile on every wine and box</a:t>
            </a:r>
          </a:p>
        </p:txBody>
      </p:sp>
      <p:sp>
        <p:nvSpPr>
          <p:cNvPr id="20" name="TextBox 19"/>
          <p:cNvSpPr txBox="1"/>
          <p:nvPr/>
        </p:nvSpPr>
        <p:spPr>
          <a:xfrm>
            <a:off x="6598767" y="3227832"/>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Show the flavor before the buy</a:t>
            </a:r>
          </a:p>
        </p:txBody>
      </p:sp>
      <p:sp>
        <p:nvSpPr>
          <p:cNvPr id="21" name="TextBox 20"/>
          <p:cNvSpPr txBox="1"/>
          <p:nvPr/>
        </p:nvSpPr>
        <p:spPr>
          <a:xfrm>
            <a:off x="6598767" y="3776472"/>
            <a:ext cx="1828800" cy="219456"/>
          </a:xfrm>
          <a:prstGeom prst="rect">
            <a:avLst/>
          </a:prstGeom>
          <a:noFill/>
        </p:spPr>
        <p:txBody>
          <a:bodyPr wrap="square" lIns="0" rIns="0" tIns="0" bIns="0" anchor="t">
            <a:spAutoFit/>
          </a:bodyPr>
          <a:lstStyle/>
          <a:p>
            <a:pPr algn="l"/>
            <a:r>
              <a:rPr sz="1000" b="1" i="0">
                <a:solidFill>
                  <a:srgbClr val="999999"/>
                </a:solidFill>
                <a:latin typeface="Helvetica Neue"/>
              </a:rPr>
              <a:t>Torrt</a:t>
            </a:r>
          </a:p>
        </p:txBody>
      </p:sp>
      <p:sp>
        <p:nvSpPr>
          <p:cNvPr id="22" name="TextBox 21"/>
          <p:cNvSpPr txBox="1"/>
          <p:nvPr/>
        </p:nvSpPr>
        <p:spPr>
          <a:xfrm>
            <a:off x="9296247" y="3776472"/>
            <a:ext cx="1828800" cy="219456"/>
          </a:xfrm>
          <a:prstGeom prst="rect">
            <a:avLst/>
          </a:prstGeom>
          <a:noFill/>
        </p:spPr>
        <p:txBody>
          <a:bodyPr wrap="square" lIns="0" rIns="0" tIns="0" bIns="0" anchor="t">
            <a:spAutoFit/>
          </a:bodyPr>
          <a:lstStyle/>
          <a:p>
            <a:pPr algn="r"/>
            <a:r>
              <a:rPr sz="1000" b="1" i="0">
                <a:solidFill>
                  <a:srgbClr val="999999"/>
                </a:solidFill>
                <a:latin typeface="Helvetica Neue"/>
              </a:rPr>
              <a:t>Sött</a:t>
            </a:r>
          </a:p>
        </p:txBody>
      </p:sp>
      <p:sp>
        <p:nvSpPr>
          <p:cNvPr id="23" name="Rounded Rectangle 22"/>
          <p:cNvSpPr/>
          <p:nvPr/>
        </p:nvSpPr>
        <p:spPr>
          <a:xfrm>
            <a:off x="6598767" y="4050792"/>
            <a:ext cx="4526280" cy="109728"/>
          </a:xfrm>
          <a:prstGeom prst="roundRect">
            <a:avLst>
              <a:gd name="adj" fmla="val 50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883499" y="3995928"/>
            <a:ext cx="182880" cy="182880"/>
          </a:xfrm>
          <a:prstGeom prst="ellipse">
            <a:avLst/>
          </a:prstGeom>
          <a:solidFill>
            <a:srgbClr val="F7D007"/>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98767" y="4398264"/>
            <a:ext cx="1828800" cy="219456"/>
          </a:xfrm>
          <a:prstGeom prst="rect">
            <a:avLst/>
          </a:prstGeom>
          <a:noFill/>
        </p:spPr>
        <p:txBody>
          <a:bodyPr wrap="square" lIns="0" rIns="0" tIns="0" bIns="0" anchor="t">
            <a:spAutoFit/>
          </a:bodyPr>
          <a:lstStyle/>
          <a:p>
            <a:pPr algn="l"/>
            <a:r>
              <a:rPr sz="1000" b="1" i="0">
                <a:solidFill>
                  <a:srgbClr val="999999"/>
                </a:solidFill>
                <a:latin typeface="Helvetica Neue"/>
              </a:rPr>
              <a:t>Lätt</a:t>
            </a:r>
          </a:p>
        </p:txBody>
      </p:sp>
      <p:sp>
        <p:nvSpPr>
          <p:cNvPr id="26" name="TextBox 25"/>
          <p:cNvSpPr txBox="1"/>
          <p:nvPr/>
        </p:nvSpPr>
        <p:spPr>
          <a:xfrm>
            <a:off x="9296247" y="4398264"/>
            <a:ext cx="1828800" cy="219456"/>
          </a:xfrm>
          <a:prstGeom prst="rect">
            <a:avLst/>
          </a:prstGeom>
          <a:noFill/>
        </p:spPr>
        <p:txBody>
          <a:bodyPr wrap="square" lIns="0" rIns="0" tIns="0" bIns="0" anchor="t">
            <a:spAutoFit/>
          </a:bodyPr>
          <a:lstStyle/>
          <a:p>
            <a:pPr algn="r"/>
            <a:r>
              <a:rPr sz="1000" b="1" i="0">
                <a:solidFill>
                  <a:srgbClr val="999999"/>
                </a:solidFill>
                <a:latin typeface="Helvetica Neue"/>
              </a:rPr>
              <a:t>Fylligt</a:t>
            </a:r>
          </a:p>
        </p:txBody>
      </p:sp>
      <p:sp>
        <p:nvSpPr>
          <p:cNvPr id="27" name="Rounded Rectangle 26"/>
          <p:cNvSpPr/>
          <p:nvPr/>
        </p:nvSpPr>
        <p:spPr>
          <a:xfrm>
            <a:off x="6598767" y="4672584"/>
            <a:ext cx="4526280" cy="109728"/>
          </a:xfrm>
          <a:prstGeom prst="roundRect">
            <a:avLst>
              <a:gd name="adj" fmla="val 50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3485" y="4617720"/>
            <a:ext cx="182880" cy="182880"/>
          </a:xfrm>
          <a:prstGeom prst="ellipse">
            <a:avLst/>
          </a:prstGeom>
          <a:solidFill>
            <a:srgbClr val="F7D007"/>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98767" y="5020056"/>
            <a:ext cx="11430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8767" y="5020056"/>
            <a:ext cx="1143000" cy="292608"/>
          </a:xfrm>
          <a:prstGeom prst="rect">
            <a:avLst/>
          </a:prstGeom>
          <a:noFill/>
        </p:spPr>
        <p:txBody>
          <a:bodyPr wrap="square" lIns="0" rIns="0" tIns="0" bIns="0" anchor="ctr">
            <a:spAutoFit/>
          </a:bodyPr>
          <a:lstStyle/>
          <a:p>
            <a:pPr algn="ctr"/>
            <a:r>
              <a:rPr sz="900" b="1" i="0" spc="50">
                <a:solidFill>
                  <a:srgbClr val="EFEEEE"/>
                </a:solidFill>
                <a:latin typeface="Helvetica Neue"/>
              </a:rPr>
              <a:t>Mörka bär</a:t>
            </a:r>
          </a:p>
        </p:txBody>
      </p:sp>
      <p:sp>
        <p:nvSpPr>
          <p:cNvPr id="31" name="Rounded Rectangle 30"/>
          <p:cNvSpPr/>
          <p:nvPr/>
        </p:nvSpPr>
        <p:spPr>
          <a:xfrm>
            <a:off x="7851495" y="5020056"/>
            <a:ext cx="96012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51495" y="5020056"/>
            <a:ext cx="960120" cy="292608"/>
          </a:xfrm>
          <a:prstGeom prst="rect">
            <a:avLst/>
          </a:prstGeom>
          <a:noFill/>
        </p:spPr>
        <p:txBody>
          <a:bodyPr wrap="square" lIns="0" rIns="0" tIns="0" bIns="0" anchor="ctr">
            <a:spAutoFit/>
          </a:bodyPr>
          <a:lstStyle/>
          <a:p>
            <a:pPr algn="ctr"/>
            <a:r>
              <a:rPr sz="900" b="1" i="0" spc="50">
                <a:solidFill>
                  <a:srgbClr val="EFEEEE"/>
                </a:solidFill>
                <a:latin typeface="Helvetica Neue"/>
              </a:rPr>
              <a:t>Kryddig</a:t>
            </a:r>
          </a:p>
        </p:txBody>
      </p:sp>
      <p:sp>
        <p:nvSpPr>
          <p:cNvPr id="33" name="Rounded Rectangle 32"/>
          <p:cNvSpPr/>
          <p:nvPr/>
        </p:nvSpPr>
        <p:spPr>
          <a:xfrm>
            <a:off x="8921343" y="5020056"/>
            <a:ext cx="16002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21343" y="5020056"/>
            <a:ext cx="1600200" cy="292608"/>
          </a:xfrm>
          <a:prstGeom prst="rect">
            <a:avLst/>
          </a:prstGeom>
          <a:noFill/>
        </p:spPr>
        <p:txBody>
          <a:bodyPr wrap="square" lIns="0" rIns="0" tIns="0" bIns="0" anchor="ctr">
            <a:spAutoFit/>
          </a:bodyPr>
          <a:lstStyle/>
          <a:p>
            <a:pPr algn="ctr"/>
            <a:r>
              <a:rPr sz="900" b="1" i="0" spc="50">
                <a:solidFill>
                  <a:srgbClr val="EFEEEE"/>
                </a:solidFill>
                <a:latin typeface="Helvetica Neue"/>
              </a:rPr>
              <a:t>Mjuka tanniner</a:t>
            </a:r>
          </a:p>
        </p:txBody>
      </p:sp>
      <p:sp>
        <p:nvSpPr>
          <p:cNvPr id="35" name="TextBox 34"/>
          <p:cNvSpPr txBox="1"/>
          <p:nvPr/>
        </p:nvSpPr>
        <p:spPr>
          <a:xfrm>
            <a:off x="6598767" y="5833872"/>
            <a:ext cx="4526280" cy="320040"/>
          </a:xfrm>
          <a:prstGeom prst="rect">
            <a:avLst/>
          </a:prstGeom>
          <a:noFill/>
        </p:spPr>
        <p:txBody>
          <a:bodyPr wrap="square" lIns="0" rIns="0" tIns="0" bIns="0" anchor="t">
            <a:spAutoFit/>
          </a:bodyPr>
          <a:lstStyle/>
          <a:p>
            <a:pPr algn="l"/>
            <a:r>
              <a:rPr sz="1000" b="1" i="0">
                <a:solidFill>
                  <a:srgbClr val="CCCCCC"/>
                </a:solidFill>
                <a:latin typeface="Helvetica Neue"/>
              </a:rPr>
              <a:t>Vivino 4,1Passar till grillat kött, pasta</a:t>
            </a:r>
          </a:p>
        </p:txBody>
      </p:sp>
      <p:sp>
        <p:nvSpPr>
          <p:cNvPr id="36" name="TextBox 3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The highest leverage content fix for a wine product page. A taste profile (dry to sweet, light to full, plain tasting notes, the Vivino score you already hold, and food pairing), plus a short "hitta din smak" taste match quiz, turns a blind box into an informed pick. Each buyer self selects the style they like, which lifts add to cart, powers the box ladder, and cuts both the "smakar som saft" complaints and the returns they cause.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22</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03</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The Trust Equation</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In Swedish online alcohol, two levers decide the first purchase: is it legal, and will it arrive. dittvin is silent on the first and unreliable on the second.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Market Context · Highest Leverage Gap</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Nobody Told the Swede It Is Legal</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Sweden runs the Systembolaget monopoly. dittvin lawfully ships as a Danish cross border private importer (Vinhuset ApS). It never explains this, so doubt fills the gap.</a:t>
            </a:r>
          </a:p>
        </p:txBody>
      </p:sp>
      <p:sp>
        <p:nvSpPr>
          <p:cNvPr id="10" name="Rounded Rectangle 9"/>
          <p:cNvSpPr/>
          <p:nvPr/>
        </p:nvSpPr>
        <p:spPr>
          <a:xfrm>
            <a:off x="792327" y="2066544"/>
            <a:ext cx="5074920"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295144"/>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What dittvin does today</a:t>
            </a:r>
          </a:p>
        </p:txBody>
      </p:sp>
      <p:sp>
        <p:nvSpPr>
          <p:cNvPr id="12" name="TextBox 11"/>
          <p:cNvSpPr txBox="1"/>
          <p:nvPr/>
        </p:nvSpPr>
        <p:spPr>
          <a:xfrm>
            <a:off x="1066647" y="2569464"/>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Silence on legality</a:t>
            </a:r>
          </a:p>
        </p:txBody>
      </p:sp>
      <p:sp>
        <p:nvSpPr>
          <p:cNvPr id="13" name="TextBox 12"/>
          <p:cNvSpPr txBox="1"/>
          <p:nvPr/>
        </p:nvSpPr>
        <p:spPr>
          <a:xfrm>
            <a:off x="1066647" y="2999232"/>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Zero mention of Systembolaget, private import, Swedish alcohol tax, or that VAT is included. The Danish operator identity is buried in the footer. The genuine assets (a 4.7 Trustpilot, award medals, Løvens Hule TV backing) sit far from the point of doubt.</a:t>
            </a:r>
          </a:p>
        </p:txBody>
      </p:sp>
      <p:sp>
        <p:nvSpPr>
          <p:cNvPr id="14" name="Rounded Rectangle 13"/>
          <p:cNvSpPr/>
          <p:nvPr/>
        </p:nvSpPr>
        <p:spPr>
          <a:xfrm>
            <a:off x="1066647" y="3895344"/>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3807" y="3950208"/>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"Så in i norden dåligt. leveransen har inte kommit fast det har gått 2 veckor. Tror detta r bedrägeri. VARNING" (I think this is fraud. WARNING)</a:t>
            </a:r>
          </a:p>
        </p:txBody>
      </p:sp>
      <p:sp>
        <p:nvSpPr>
          <p:cNvPr id="16" name="Rounded Rectangle 15"/>
          <p:cNvSpPr/>
          <p:nvPr/>
        </p:nvSpPr>
        <p:spPr>
          <a:xfrm>
            <a:off x="6324447" y="2066544"/>
            <a:ext cx="5074920" cy="338328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2295144"/>
            <a:ext cx="4526280" cy="228600"/>
          </a:xfrm>
          <a:prstGeom prst="rect">
            <a:avLst/>
          </a:prstGeom>
          <a:noFill/>
        </p:spPr>
        <p:txBody>
          <a:bodyPr wrap="square" lIns="0" rIns="0" tIns="0" bIns="0" anchor="t">
            <a:spAutoFit/>
          </a:bodyPr>
          <a:lstStyle/>
          <a:p>
            <a:pPr algn="l"/>
            <a:r>
              <a:rPr sz="1000" b="1" i="0" spc="150">
                <a:solidFill>
                  <a:srgbClr val="F7D007"/>
                </a:solidFill>
                <a:latin typeface="Helvetica Neue"/>
              </a:rPr>
              <a:t>What the best rival does</a:t>
            </a:r>
          </a:p>
        </p:txBody>
      </p:sp>
      <p:sp>
        <p:nvSpPr>
          <p:cNvPr id="18" name="TextBox 17"/>
          <p:cNvSpPr txBox="1"/>
          <p:nvPr/>
        </p:nvSpPr>
        <p:spPr>
          <a:xfrm>
            <a:off x="6598767" y="2569464"/>
            <a:ext cx="4526280" cy="365760"/>
          </a:xfrm>
          <a:prstGeom prst="rect">
            <a:avLst/>
          </a:prstGeom>
          <a:noFill/>
        </p:spPr>
        <p:txBody>
          <a:bodyPr wrap="square" lIns="0" rIns="0" tIns="0" bIns="0" anchor="t">
            <a:spAutoFit/>
          </a:bodyPr>
          <a:lstStyle/>
          <a:p>
            <a:pPr algn="l"/>
            <a:r>
              <a:rPr sz="1600" b="1" i="0">
                <a:solidFill>
                  <a:srgbClr val="FFFFFF"/>
                </a:solidFill>
                <a:latin typeface="Helvetica Neue"/>
              </a:rPr>
              <a:t>KRAN states it plainly</a:t>
            </a:r>
          </a:p>
        </p:txBody>
      </p:sp>
      <p:sp>
        <p:nvSpPr>
          <p:cNvPr id="19" name="TextBox 18"/>
          <p:cNvSpPr txBox="1"/>
          <p:nvPr/>
        </p:nvSpPr>
        <p:spPr>
          <a:xfrm>
            <a:off x="6598767" y="2999232"/>
            <a:ext cx="4526280" cy="1005840"/>
          </a:xfrm>
          <a:prstGeom prst="rect">
            <a:avLst/>
          </a:prstGeom>
          <a:noFill/>
        </p:spPr>
        <p:txBody>
          <a:bodyPr wrap="square" lIns="0" rIns="0" tIns="0" bIns="0" anchor="t">
            <a:spAutoFit/>
          </a:bodyPr>
          <a:lstStyle/>
          <a:p>
            <a:pPr algn="l"/>
            <a:r>
              <a:rPr sz="1200" b="0" i="0">
                <a:solidFill>
                  <a:srgbClr val="CCCCCC"/>
                </a:solidFill>
                <a:latin typeface="Helvetica Neue"/>
              </a:rPr>
              <a:t>"Vi lyder under den svenska alkohollagstiftningen och regleras av svenska Skatteverket som distansförsäljare." Winefamly reassures with "Alla priser inkl. svensk alkoholskatt &amp; moms." Winefinder, Winefamly and Supervin also show the Trygg E-handel trust mark. dittvin shows none of it.</a:t>
            </a:r>
          </a:p>
        </p:txBody>
      </p:sp>
      <p:sp>
        <p:nvSpPr>
          <p:cNvPr id="20" name="Rounded Rectangle 19"/>
          <p:cNvSpPr/>
          <p:nvPr/>
        </p:nvSpPr>
        <p:spPr>
          <a:xfrm>
            <a:off x="6598767" y="3895344"/>
            <a:ext cx="4526280" cy="566928"/>
          </a:xfrm>
          <a:prstGeom prst="roundRect">
            <a:avLst>
              <a:gd name="adj" fmla="val 8000"/>
            </a:avLst>
          </a:prstGeom>
          <a:solidFill>
            <a:srgbClr val="0A0A0A"/>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35927" y="3950208"/>
            <a:ext cx="4251960" cy="457200"/>
          </a:xfrm>
          <a:prstGeom prst="rect">
            <a:avLst/>
          </a:prstGeom>
          <a:noFill/>
        </p:spPr>
        <p:txBody>
          <a:bodyPr wrap="square" lIns="0" rIns="0" tIns="0" bIns="0" anchor="ctr">
            <a:spAutoFit/>
          </a:bodyPr>
          <a:lstStyle/>
          <a:p>
            <a:pPr algn="l"/>
            <a:r>
              <a:rPr sz="1100" b="0" i="1">
                <a:solidFill>
                  <a:srgbClr val="EFEEEE"/>
                </a:solidFill>
                <a:latin typeface="Helvetica Neue"/>
              </a:rPr>
              <a:t>The fix: a plain "Is this legal? Yes, and here is how" block on the product page and cart, with the age check, the Danish import model, and tax included stated up front.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Voice of Customer · Strategy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Three Beliefs to Destroy</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Every first time Swedish buyer carries these. Each has a specific, evidenced counter already available to dittvin.</a:t>
            </a:r>
          </a:p>
        </p:txBody>
      </p:sp>
      <p:sp>
        <p:nvSpPr>
          <p:cNvPr id="10" name="Rounded Rectangle 9"/>
          <p:cNvSpPr/>
          <p:nvPr/>
        </p:nvSpPr>
        <p:spPr>
          <a:xfrm>
            <a:off x="79232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2" name="TextBox 11"/>
          <p:cNvSpPr txBox="1"/>
          <p:nvPr/>
        </p:nvSpPr>
        <p:spPr>
          <a:xfrm>
            <a:off x="102092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"Buying wine privately in Sweden might be illegal or shady."</a:t>
            </a:r>
          </a:p>
        </p:txBody>
      </p:sp>
      <p:sp>
        <p:nvSpPr>
          <p:cNvPr id="13" name="TextBox 12"/>
          <p:cNvSpPr txBox="1"/>
          <p:nvPr/>
        </p:nvSpPr>
        <p:spPr>
          <a:xfrm>
            <a:off x="102092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Destroy it with a plain language legality block: lawful Danish private import, age verified, Vinhuset ApS named, tax and VAT included, and the 4.7 on 5,985 Trustpilot proof placed at the point of hesitation.</a:t>
            </a:r>
          </a:p>
        </p:txBody>
      </p:sp>
      <p:sp>
        <p:nvSpPr>
          <p:cNvPr id="14" name="Rounded Rectangle 13"/>
          <p:cNvSpPr/>
          <p:nvPr/>
        </p:nvSpPr>
        <p:spPr>
          <a:xfrm>
            <a:off x="102092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34% of buyers are brand new</a:t>
            </a:r>
          </a:p>
        </p:txBody>
      </p:sp>
      <p:sp>
        <p:nvSpPr>
          <p:cNvPr id="16" name="Rounded Rectangle 15"/>
          <p:cNvSpPr/>
          <p:nvPr/>
        </p:nvSpPr>
        <p:spPr>
          <a:xfrm>
            <a:off x="441944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8" name="TextBox 17"/>
          <p:cNvSpPr txBox="1"/>
          <p:nvPr/>
        </p:nvSpPr>
        <p:spPr>
          <a:xfrm>
            <a:off x="464804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"They will not deliver on time."</a:t>
            </a:r>
          </a:p>
        </p:txBody>
      </p:sp>
      <p:sp>
        <p:nvSpPr>
          <p:cNvPr id="19" name="TextBox 18"/>
          <p:cNvSpPr txBox="1"/>
          <p:nvPr/>
        </p:nvSpPr>
        <p:spPr>
          <a:xfrm>
            <a:off x="464804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This is the true belief driving the negative tail. Destroy it by fixing the promise, not the wine. Replace "1-3 dagar" with an honest order specific ETA and proactive status updates, and let customers pick a delivery window.</a:t>
            </a:r>
          </a:p>
        </p:txBody>
      </p:sp>
      <p:sp>
        <p:nvSpPr>
          <p:cNvPr id="20" name="Rounded Rectangle 19"/>
          <p:cNvSpPr/>
          <p:nvPr/>
        </p:nvSpPr>
        <p:spPr>
          <a:xfrm>
            <a:off x="464804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86% of complaints are delivery</a:t>
            </a:r>
          </a:p>
        </p:txBody>
      </p:sp>
      <p:sp>
        <p:nvSpPr>
          <p:cNvPr id="22" name="Rounded Rectangle 21"/>
          <p:cNvSpPr/>
          <p:nvPr/>
        </p:nvSpPr>
        <p:spPr>
          <a:xfrm>
            <a:off x="8046567" y="2066544"/>
            <a:ext cx="3352800" cy="3200400"/>
          </a:xfrm>
          <a:prstGeom prst="roundRect">
            <a:avLst>
              <a:gd name="adj" fmla="val 5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249424"/>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4" name="TextBox 23"/>
          <p:cNvSpPr txBox="1"/>
          <p:nvPr/>
        </p:nvSpPr>
        <p:spPr>
          <a:xfrm>
            <a:off x="8275167" y="2843784"/>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 'quality wines' are just cheap sweet plonk."</a:t>
            </a:r>
          </a:p>
        </p:txBody>
      </p:sp>
      <p:sp>
        <p:nvSpPr>
          <p:cNvPr id="25" name="TextBox 24"/>
          <p:cNvSpPr txBox="1"/>
          <p:nvPr/>
        </p:nvSpPr>
        <p:spPr>
          <a:xfrm>
            <a:off x="8275167" y="3438144"/>
            <a:ext cx="2895600" cy="1463040"/>
          </a:xfrm>
          <a:prstGeom prst="rect">
            <a:avLst/>
          </a:prstGeom>
          <a:noFill/>
        </p:spPr>
        <p:txBody>
          <a:bodyPr wrap="square" lIns="0" rIns="0" tIns="0" bIns="0" anchor="t">
            <a:spAutoFit/>
          </a:bodyPr>
          <a:lstStyle/>
          <a:p>
            <a:pPr algn="l"/>
            <a:r>
              <a:rPr sz="1100" b="0" i="0">
                <a:solidFill>
                  <a:srgbClr val="CCCCCC"/>
                </a:solidFill>
                <a:latin typeface="Helvetica Neue"/>
              </a:rPr>
              <a:t>Destroy it with real per wine specs on box product pages: grape, region, a dry to sweet scale, and the Vivino score you already hold. A box should not be a blind gamble.</a:t>
            </a:r>
          </a:p>
        </p:txBody>
      </p:sp>
      <p:sp>
        <p:nvSpPr>
          <p:cNvPr id="26" name="Rounded Rectangle 25"/>
          <p:cNvSpPr/>
          <p:nvPr/>
        </p:nvSpPr>
        <p:spPr>
          <a:xfrm>
            <a:off x="8275167" y="4764024"/>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4764024"/>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14% of complaints cite taste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25</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04</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Expert Review</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Entry, home, collection and product page, reviewed on the mobile experience that carries 86% of the store. Every claim is screenshot verified.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Expert Review · Entry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Two Walls Before a Single Product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Cold Facebook visitors (41% of traffic) land and hit a legally required age check stacked on top of a spin the wheel email popup, before they see any wine.</a:t>
            </a:r>
          </a:p>
        </p:txBody>
      </p:sp>
      <p:pic>
        <p:nvPicPr>
          <p:cNvPr id="10" name="Picture 9" descr="dittvin-home-mobile-fold.jpeg"/>
          <p:cNvPicPr>
            <a:picLocks noChangeAspect="1"/>
          </p:cNvPicPr>
          <p:nvPr/>
        </p:nvPicPr>
        <p:blipFill>
          <a:blip r:embed="rId3"/>
          <a:stretch>
            <a:fillRect/>
          </a:stretch>
        </p:blipFill>
        <p:spPr>
          <a:xfrm>
            <a:off x="822960" y="1783080"/>
            <a:ext cx="2070401" cy="4480560"/>
          </a:xfrm>
          <a:prstGeom prst="rect">
            <a:avLst/>
          </a:prstGeom>
        </p:spPr>
      </p:pic>
      <p:sp>
        <p:nvSpPr>
          <p:cNvPr id="11" name="Rounded Rectangle 10"/>
          <p:cNvSpPr/>
          <p:nvPr/>
        </p:nvSpPr>
        <p:spPr>
          <a:xfrm>
            <a:off x="777240" y="1737360"/>
            <a:ext cx="2161841"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2253281" cy="274320"/>
          </a:xfrm>
          <a:prstGeom prst="rect">
            <a:avLst/>
          </a:prstGeom>
          <a:noFill/>
        </p:spPr>
        <p:txBody>
          <a:bodyPr wrap="square" lIns="0" rIns="0" tIns="0" bIns="0" anchor="t">
            <a:spAutoFit/>
          </a:bodyPr>
          <a:lstStyle/>
          <a:p>
            <a:pPr algn="ctr"/>
            <a:r>
              <a:rPr sz="900" b="0" i="0" spc="100">
                <a:solidFill>
                  <a:srgbClr val="6B7C75"/>
                </a:solidFill>
                <a:latin typeface="Helvetica Neue"/>
              </a:rPr>
              <a:t>Live mobile entry · captured 2026-07-23</a:t>
            </a:r>
          </a:p>
        </p:txBody>
      </p:sp>
      <p:sp>
        <p:nvSpPr>
          <p:cNvPr id="13" name="Oval 12"/>
          <p:cNvSpPr/>
          <p:nvPr/>
        </p:nvSpPr>
        <p:spPr>
          <a:xfrm>
            <a:off x="3350561" y="187452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4881" y="1828800"/>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Two popups in a row. </a:t>
            </a:r>
            <a:r>
              <a:rPr sz="1100" b="0" i="0">
                <a:solidFill>
                  <a:srgbClr val="CCCCCC"/>
                </a:solidFill>
                <a:latin typeface="Helvetica Neue"/>
              </a:rPr>
              <a:t>The age check ("bekräfta att du är 20 år eller äldre") is legally needed, but a "Snurra på hjulet" spin the wheel popup stacks on top of it. People have to close two popups before they see a single wine.</a:t>
            </a:r>
          </a:p>
        </p:txBody>
      </p:sp>
      <p:sp>
        <p:nvSpPr>
          <p:cNvPr id="15" name="TextBox 14"/>
          <p:cNvSpPr txBox="1"/>
          <p:nvPr/>
        </p:nvSpPr>
        <p:spPr>
          <a:xfrm>
            <a:off x="3624881" y="2409444"/>
            <a:ext cx="8018174" cy="274320"/>
          </a:xfrm>
          <a:prstGeom prst="rect">
            <a:avLst/>
          </a:prstGeom>
          <a:noFill/>
        </p:spPr>
        <p:txBody>
          <a:bodyPr wrap="square" lIns="0" rIns="0" tIns="0" bIns="0" anchor="t">
            <a:spAutoFit/>
          </a:bodyPr>
          <a:lstStyle/>
          <a:p>
            <a:pPr algn="l"/>
            <a:r>
              <a:rPr sz="1000" b="1" i="0">
                <a:solidFill>
                  <a:srgbClr val="F7D007"/>
                </a:solidFill>
                <a:latin typeface="Helvetica Neue"/>
              </a:rPr>
              <a:t>Combine them into one step, and remember the choice with a cookie so repeat visitors are not asked again.</a:t>
            </a:r>
          </a:p>
        </p:txBody>
      </p:sp>
      <p:sp>
        <p:nvSpPr>
          <p:cNvPr id="16" name="Oval 15"/>
          <p:cNvSpPr/>
          <p:nvPr/>
        </p:nvSpPr>
        <p:spPr>
          <a:xfrm>
            <a:off x="3350561" y="278434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4881" y="273862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Turn the age gate into a trust moment. </a:t>
            </a:r>
            <a:r>
              <a:rPr sz="1100" b="0" i="0">
                <a:solidFill>
                  <a:srgbClr val="CCCCCC"/>
                </a:solidFill>
                <a:latin typeface="Helvetica Neue"/>
              </a:rPr>
              <a:t>Right now it only blocks. Add one line: lawful Danish import, tax included. It is the perfect place to answer the legality question.</a:t>
            </a:r>
          </a:p>
        </p:txBody>
      </p:sp>
      <p:sp>
        <p:nvSpPr>
          <p:cNvPr id="18" name="Oval 17"/>
          <p:cNvSpPr/>
          <p:nvPr/>
        </p:nvSpPr>
        <p:spPr>
          <a:xfrm>
            <a:off x="3350561" y="328726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24881" y="324154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Emoji heavy promo bar. </a:t>
            </a:r>
            <a:r>
              <a:rPr sz="1100" b="0" i="0">
                <a:solidFill>
                  <a:srgbClr val="CCCCCC"/>
                </a:solidFill>
                <a:latin typeface="Helvetica Neue"/>
              </a:rPr>
              <a:t>The top bar (party and clock emoji) clashes with a "kvalitetsviner" premium promise on a wine brand.</a:t>
            </a:r>
          </a:p>
        </p:txBody>
      </p:sp>
      <p:sp>
        <p:nvSpPr>
          <p:cNvPr id="20" name="Oval 19"/>
          <p:cNvSpPr/>
          <p:nvPr/>
        </p:nvSpPr>
        <p:spPr>
          <a:xfrm>
            <a:off x="3350561" y="3790188"/>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4881" y="3744468"/>
            <a:ext cx="801817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Chat and Klaviyo present. </a:t>
            </a:r>
            <a:r>
              <a:rPr sz="1100" b="0" i="0">
                <a:solidFill>
                  <a:srgbClr val="CCCCCC"/>
                </a:solidFill>
                <a:latin typeface="Helvetica Neue"/>
              </a:rPr>
              <a:t>Support and capture tools are live. The issue is stacking and sequence, not absence.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Expert Review · Homepage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Strong Bones, Two Real Cracks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Clear category nav and box carousels drive a 24.9% bounce. But blanket discounting and broken sections undercut the premium story.</a:t>
            </a:r>
          </a:p>
        </p:txBody>
      </p:sp>
      <p:pic>
        <p:nvPicPr>
          <p:cNvPr id="10" name="Picture 9" descr="dittvin-home-mobile-clean.jpeg"/>
          <p:cNvPicPr>
            <a:picLocks noChangeAspect="1"/>
          </p:cNvPicPr>
          <p:nvPr/>
        </p:nvPicPr>
        <p:blipFill>
          <a:blip r:embed="rId3"/>
          <a:stretch>
            <a:fillRect/>
          </a:stretch>
        </p:blipFill>
        <p:spPr>
          <a:xfrm>
            <a:off x="822960" y="1783080"/>
            <a:ext cx="289451" cy="4480560"/>
          </a:xfrm>
          <a:prstGeom prst="rect">
            <a:avLst/>
          </a:prstGeom>
        </p:spPr>
      </p:pic>
      <p:sp>
        <p:nvSpPr>
          <p:cNvPr id="11" name="Rounded Rectangle 10"/>
          <p:cNvSpPr/>
          <p:nvPr/>
        </p:nvSpPr>
        <p:spPr>
          <a:xfrm>
            <a:off x="777240" y="1737360"/>
            <a:ext cx="380891"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472331" cy="274320"/>
          </a:xfrm>
          <a:prstGeom prst="rect">
            <a:avLst/>
          </a:prstGeom>
          <a:noFill/>
        </p:spPr>
        <p:txBody>
          <a:bodyPr wrap="square" lIns="0" rIns="0" tIns="0" bIns="0" anchor="t">
            <a:spAutoFit/>
          </a:bodyPr>
          <a:lstStyle/>
          <a:p>
            <a:pPr algn="ctr"/>
            <a:r>
              <a:rPr sz="900" b="0" i="0" spc="100">
                <a:solidFill>
                  <a:srgbClr val="6B7C75"/>
                </a:solidFill>
                <a:latin typeface="Helvetica Neue"/>
              </a:rPr>
              <a:t>Homepage · mobile capture</a:t>
            </a:r>
          </a:p>
        </p:txBody>
      </p:sp>
      <p:sp>
        <p:nvSpPr>
          <p:cNvPr id="13" name="Oval 12"/>
          <p:cNvSpPr/>
          <p:nvPr/>
        </p:nvSpPr>
        <p:spPr>
          <a:xfrm>
            <a:off x="1569611" y="187452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43931" y="182880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Clear category circles. </a:t>
            </a:r>
            <a:r>
              <a:rPr sz="1100" b="0" i="0">
                <a:solidFill>
                  <a:srgbClr val="CCCCCC"/>
                </a:solidFill>
                <a:latin typeface="Helvetica Neue"/>
              </a:rPr>
              <a:t>Rött, Vitt, Mousserande, Rosé, Gin, Vinlådor, Erbjudanden, Abonnemang, Alkoholfri 0%. Easy orientation, with Vivino badges on products.</a:t>
            </a:r>
          </a:p>
        </p:txBody>
      </p:sp>
      <p:sp>
        <p:nvSpPr>
          <p:cNvPr id="15" name="Oval 14"/>
          <p:cNvSpPr/>
          <p:nvPr/>
        </p:nvSpPr>
        <p:spPr>
          <a:xfrm>
            <a:off x="1569611" y="237744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43931" y="233172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Everything is on sale. </a:t>
            </a:r>
            <a:r>
              <a:rPr sz="1100" b="0" i="0">
                <a:solidFill>
                  <a:srgbClr val="CCCCCC"/>
                </a:solidFill>
                <a:latin typeface="Helvetica Neue"/>
              </a:rPr>
              <a:t>Every product wears a red discount flag (-45%, -51%) plus "Spara X kr". Permanent discounting erodes urgency and reads as generic, not premium.</a:t>
            </a:r>
          </a:p>
        </p:txBody>
      </p:sp>
      <p:sp>
        <p:nvSpPr>
          <p:cNvPr id="17" name="TextBox 16"/>
          <p:cNvSpPr txBox="1"/>
          <p:nvPr/>
        </p:nvSpPr>
        <p:spPr>
          <a:xfrm>
            <a:off x="1843931" y="2724912"/>
            <a:ext cx="9799124" cy="274320"/>
          </a:xfrm>
          <a:prstGeom prst="rect">
            <a:avLst/>
          </a:prstGeom>
          <a:noFill/>
        </p:spPr>
        <p:txBody>
          <a:bodyPr wrap="square" lIns="0" rIns="0" tIns="0" bIns="0" anchor="t">
            <a:spAutoFit/>
          </a:bodyPr>
          <a:lstStyle/>
          <a:p>
            <a:pPr algn="l"/>
            <a:r>
              <a:rPr sz="1000" b="1" i="0">
                <a:solidFill>
                  <a:srgbClr val="F7D007"/>
                </a:solidFill>
                <a:latin typeface="Helvetica Neue"/>
              </a:rPr>
              <a:t>Reserve discounting for real offers. Merchandise awards and Vivino scores as the proof instead.</a:t>
            </a:r>
          </a:p>
        </p:txBody>
      </p:sp>
      <p:sp>
        <p:nvSpPr>
          <p:cNvPr id="18" name="Oval 17"/>
          <p:cNvSpPr/>
          <p:nvPr/>
        </p:nvSpPr>
        <p:spPr>
          <a:xfrm>
            <a:off x="1569611" y="3099815"/>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43931" y="3054095"/>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Sections render inconsistently. </a:t>
            </a:r>
            <a:r>
              <a:rPr sz="1100" b="0" i="0">
                <a:solidFill>
                  <a:srgbClr val="CCCCCC"/>
                </a:solidFill>
                <a:latin typeface="Helvetica Neue"/>
              </a:rPr>
              <a:t>"Upplev både nya..." and "Kunskap och inspiration" loaded as empty bands on one capture and filled on the next, consistent with the 90+ website errors.</a:t>
            </a:r>
          </a:p>
        </p:txBody>
      </p:sp>
      <p:sp>
        <p:nvSpPr>
          <p:cNvPr id="20" name="TextBox 19"/>
          <p:cNvSpPr txBox="1"/>
          <p:nvPr/>
        </p:nvSpPr>
        <p:spPr>
          <a:xfrm>
            <a:off x="1843931" y="3447287"/>
            <a:ext cx="9799124" cy="274320"/>
          </a:xfrm>
          <a:prstGeom prst="rect">
            <a:avLst/>
          </a:prstGeom>
          <a:noFill/>
        </p:spPr>
        <p:txBody>
          <a:bodyPr wrap="square" lIns="0" rIns="0" tIns="0" bIns="0" anchor="t">
            <a:spAutoFit/>
          </a:bodyPr>
          <a:lstStyle/>
          <a:p>
            <a:pPr algn="l"/>
            <a:r>
              <a:rPr sz="1000" b="1" i="0">
                <a:solidFill>
                  <a:srgbClr val="F7D007"/>
                </a:solidFill>
                <a:latin typeface="Helvetica Neue"/>
              </a:rPr>
              <a:t>Flaky product presentation blocks. Fix the errors and confirm sections render reliably on mobile Safari.</a:t>
            </a:r>
          </a:p>
        </p:txBody>
      </p:sp>
      <p:sp>
        <p:nvSpPr>
          <p:cNvPr id="21" name="Oval 20"/>
          <p:cNvSpPr/>
          <p:nvPr/>
        </p:nvSpPr>
        <p:spPr>
          <a:xfrm>
            <a:off x="1569611" y="3822190"/>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43931" y="3776470"/>
            <a:ext cx="9799124"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Trust assets buried. </a:t>
            </a:r>
            <a:r>
              <a:rPr sz="1100" b="0" i="0">
                <a:solidFill>
                  <a:srgbClr val="CCCCCC"/>
                </a:solidFill>
                <a:latin typeface="Helvetica Neue"/>
              </a:rPr>
              <a:t>The Danish operator line and Løvens Hule backing sit only in the footer, far from where doubt occurs.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Expert Review · Collection and Product Page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Good Product Page, Missing Reassurance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product page has a sticky add to cart, social proof and a free shipping bar, but it never tells buyers the order is legal, says almost nothing about how each wine tastes, and leaks Danish text.</a:t>
            </a:r>
          </a:p>
        </p:txBody>
      </p:sp>
      <p:pic>
        <p:nvPicPr>
          <p:cNvPr id="10" name="Picture 9" descr="dittvin-pdp-mobile-clean.jpeg"/>
          <p:cNvPicPr>
            <a:picLocks noChangeAspect="1"/>
          </p:cNvPicPr>
          <p:nvPr/>
        </p:nvPicPr>
        <p:blipFill>
          <a:blip r:embed="rId3"/>
          <a:stretch>
            <a:fillRect/>
          </a:stretch>
        </p:blipFill>
        <p:spPr>
          <a:xfrm>
            <a:off x="822960" y="1783080"/>
            <a:ext cx="1164946" cy="4480560"/>
          </a:xfrm>
          <a:prstGeom prst="rect">
            <a:avLst/>
          </a:prstGeom>
        </p:spPr>
      </p:pic>
      <p:sp>
        <p:nvSpPr>
          <p:cNvPr id="11" name="Rounded Rectangle 10"/>
          <p:cNvSpPr/>
          <p:nvPr/>
        </p:nvSpPr>
        <p:spPr>
          <a:xfrm>
            <a:off x="777240" y="1737360"/>
            <a:ext cx="1256386" cy="4572000"/>
          </a:xfrm>
          <a:prstGeom prst="roundRect">
            <a:avLst>
              <a:gd name="adj" fmla="val 4000"/>
            </a:avLst>
          </a:prstGeom>
          <a:noFill/>
          <a:ln w="19050">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55080"/>
            <a:ext cx="1347826" cy="274320"/>
          </a:xfrm>
          <a:prstGeom prst="rect">
            <a:avLst/>
          </a:prstGeom>
          <a:noFill/>
        </p:spPr>
        <p:txBody>
          <a:bodyPr wrap="square" lIns="0" rIns="0" tIns="0" bIns="0" anchor="t">
            <a:spAutoFit/>
          </a:bodyPr>
          <a:lstStyle/>
          <a:p>
            <a:pPr algn="ctr"/>
            <a:r>
              <a:rPr sz="900" b="0" i="0" spc="100">
                <a:solidFill>
                  <a:srgbClr val="6B7C75"/>
                </a:solidFill>
                <a:latin typeface="Helvetica Neue"/>
              </a:rPr>
              <a:t>Fantini box product page · mobile</a:t>
            </a:r>
          </a:p>
        </p:txBody>
      </p:sp>
      <p:sp>
        <p:nvSpPr>
          <p:cNvPr id="13" name="Oval 12"/>
          <p:cNvSpPr/>
          <p:nvPr/>
        </p:nvSpPr>
        <p:spPr>
          <a:xfrm>
            <a:off x="2445106" y="1874520"/>
            <a:ext cx="100584" cy="10058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19426" y="182880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Solid fundamentals. </a:t>
            </a:r>
            <a:r>
              <a:rPr sz="1100" b="0" i="0">
                <a:solidFill>
                  <a:srgbClr val="CCCCCC"/>
                </a:solidFill>
                <a:latin typeface="Helvetica Neue"/>
              </a:rPr>
              <a:t>Sticky add to cart, strikethrough price, "+75.000 vinälskare" social proof, Trustpilot and award badges, and a free shipping progress bar.</a:t>
            </a:r>
          </a:p>
        </p:txBody>
      </p:sp>
      <p:sp>
        <p:nvSpPr>
          <p:cNvPr id="15" name="Oval 14"/>
          <p:cNvSpPr/>
          <p:nvPr/>
        </p:nvSpPr>
        <p:spPr>
          <a:xfrm>
            <a:off x="2445106" y="2377440"/>
            <a:ext cx="100584" cy="100584"/>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9426" y="233172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No legality block at the decision point. </a:t>
            </a:r>
            <a:r>
              <a:rPr sz="1100" b="0" i="0">
                <a:solidFill>
                  <a:srgbClr val="CCCCCC"/>
                </a:solidFill>
                <a:latin typeface="Helvetica Neue"/>
              </a:rPr>
              <a:t>The exact place KRAN and Winefamly reassure, dittvin stays silent. This suppresses the 64% who view but never add.</a:t>
            </a:r>
          </a:p>
        </p:txBody>
      </p:sp>
      <p:sp>
        <p:nvSpPr>
          <p:cNvPr id="17" name="Oval 16"/>
          <p:cNvSpPr/>
          <p:nvPr/>
        </p:nvSpPr>
        <p:spPr>
          <a:xfrm>
            <a:off x="2445106" y="2880360"/>
            <a:ext cx="100584" cy="10058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19426" y="2834640"/>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You cannot tell how the wine tastes. </a:t>
            </a:r>
            <a:r>
              <a:rPr sz="1100" b="0" i="0">
                <a:solidFill>
                  <a:srgbClr val="CCCCCC"/>
                </a:solidFill>
                <a:latin typeface="Helvetica Neue"/>
              </a:rPr>
              <a:t>A 12 bottle box shows only 3 photos and no taste notes for the wines inside: no grape, no sweetness or body, no food pairing, and no Vivino rating. People are asked to buy without knowing what they will actually drink.</a:t>
            </a:r>
          </a:p>
        </p:txBody>
      </p:sp>
      <p:sp>
        <p:nvSpPr>
          <p:cNvPr id="19" name="TextBox 18"/>
          <p:cNvSpPr txBox="1"/>
          <p:nvPr/>
        </p:nvSpPr>
        <p:spPr>
          <a:xfrm>
            <a:off x="2719426" y="3415284"/>
            <a:ext cx="8923629" cy="274320"/>
          </a:xfrm>
          <a:prstGeom prst="rect">
            <a:avLst/>
          </a:prstGeom>
          <a:noFill/>
        </p:spPr>
        <p:txBody>
          <a:bodyPr wrap="square" lIns="0" rIns="0" tIns="0" bIns="0" anchor="t">
            <a:spAutoFit/>
          </a:bodyPr>
          <a:lstStyle/>
          <a:p>
            <a:pPr algn="l"/>
            <a:r>
              <a:rPr sz="1000" b="1" i="0">
                <a:solidFill>
                  <a:srgbClr val="F7D007"/>
                </a:solidFill>
                <a:latin typeface="Helvetica Neue"/>
              </a:rPr>
              <a:t>Customers explicitly ask: "Jag saknar en beskrivning av respektive vin."</a:t>
            </a:r>
          </a:p>
        </p:txBody>
      </p:sp>
      <p:sp>
        <p:nvSpPr>
          <p:cNvPr id="20" name="Oval 19"/>
          <p:cNvSpPr/>
          <p:nvPr/>
        </p:nvSpPr>
        <p:spPr>
          <a:xfrm>
            <a:off x="2445106" y="3790188"/>
            <a:ext cx="100584" cy="100584"/>
          </a:xfrm>
          <a:prstGeom prst="ellipse">
            <a:avLst/>
          </a:prstGeom>
          <a:solidFill>
            <a:srgbClr val="6AA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19426" y="3744468"/>
            <a:ext cx="8923629" cy="822960"/>
          </a:xfrm>
          <a:prstGeom prst="rect">
            <a:avLst/>
          </a:prstGeom>
          <a:noFill/>
        </p:spPr>
        <p:txBody>
          <a:bodyPr wrap="square" lIns="0" rIns="0" tIns="0" bIns="0" anchor="t">
            <a:spAutoFit/>
          </a:bodyPr>
          <a:lstStyle/>
          <a:p>
            <a:pPr algn="l">
              <a:lnSpc>
                <a:spcPct val="105000"/>
              </a:lnSpc>
            </a:pPr>
            <a:r>
              <a:rPr sz="1100" b="1" i="0">
                <a:solidFill>
                  <a:srgbClr val="FFFFFF"/>
                </a:solidFill>
                <a:latin typeface="Helvetica Neue"/>
              </a:rPr>
              <a:t>Danish leaks and shipping caveats. </a:t>
            </a:r>
            <a:r>
              <a:rPr sz="1100" b="0" i="0">
                <a:solidFill>
                  <a:srgbClr val="CCCCCC"/>
                </a:solidFill>
                <a:latin typeface="Helvetica Neue"/>
              </a:rPr>
              <a:t>Page title reads "Kjøb hos Dittvin.se" (Danish), and free shipping is quietly limited to the Airmee carrier, which confuses buyers who then see a Bring fee.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29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Expert Review · Balance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Strengths to Protect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This is a strong store. These assets should be preserved and amplified, not touched during optimization.</a:t>
            </a:r>
          </a:p>
        </p:txBody>
      </p:sp>
      <p:sp>
        <p:nvSpPr>
          <p:cNvPr id="10" name="Rounded Rectangle 9"/>
          <p:cNvSpPr/>
          <p:nvPr/>
        </p:nvSpPr>
        <p:spPr>
          <a:xfrm>
            <a:off x="79232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Box led assortment</a:t>
            </a:r>
          </a:p>
        </p:txBody>
      </p:sp>
      <p:sp>
        <p:nvSpPr>
          <p:cNvPr id="12" name="TextBox 11"/>
          <p:cNvSpPr txBox="1"/>
          <p:nvPr/>
        </p:nvSpPr>
        <p:spPr>
          <a:xfrm>
            <a:off x="102092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The wine box format is both the best converter (5.54%) and a genuine customer love ("hitta nya favoriter"). A rare product and data agreement.</a:t>
            </a:r>
          </a:p>
        </p:txBody>
      </p:sp>
      <p:sp>
        <p:nvSpPr>
          <p:cNvPr id="13" name="Rounded Rectangle 12"/>
          <p:cNvSpPr/>
          <p:nvPr/>
        </p:nvSpPr>
        <p:spPr>
          <a:xfrm>
            <a:off x="441944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804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4.7 Trustpilot on 5,985</a:t>
            </a:r>
          </a:p>
        </p:txBody>
      </p:sp>
      <p:sp>
        <p:nvSpPr>
          <p:cNvPr id="15" name="TextBox 14"/>
          <p:cNvSpPr txBox="1"/>
          <p:nvPr/>
        </p:nvSpPr>
        <p:spPr>
          <a:xfrm>
            <a:off x="464804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A deep, credible review base. Underused on site, but a powerful proof asset for the legality and quality objections.</a:t>
            </a:r>
          </a:p>
        </p:txBody>
      </p:sp>
      <p:sp>
        <p:nvSpPr>
          <p:cNvPr id="16" name="Rounded Rectangle 15"/>
          <p:cNvSpPr/>
          <p:nvPr/>
        </p:nvSpPr>
        <p:spPr>
          <a:xfrm>
            <a:off x="8046567" y="210312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167" y="23317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Low homepage bounce</a:t>
            </a:r>
          </a:p>
        </p:txBody>
      </p:sp>
      <p:sp>
        <p:nvSpPr>
          <p:cNvPr id="18" name="TextBox 17"/>
          <p:cNvSpPr txBox="1"/>
          <p:nvPr/>
        </p:nvSpPr>
        <p:spPr>
          <a:xfrm>
            <a:off x="8275167" y="288036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24.9% bounce on the homepage landing is excellent. The top of the experience works; the leaks are deeper in the funnel.</a:t>
            </a:r>
          </a:p>
        </p:txBody>
      </p:sp>
      <p:sp>
        <p:nvSpPr>
          <p:cNvPr id="19" name="Rounded Rectangle 18"/>
          <p:cNvSpPr/>
          <p:nvPr/>
        </p:nvSpPr>
        <p:spPr>
          <a:xfrm>
            <a:off x="79232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092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Sticky ATC and free ship bar</a:t>
            </a:r>
          </a:p>
        </p:txBody>
      </p:sp>
      <p:sp>
        <p:nvSpPr>
          <p:cNvPr id="21" name="TextBox 20"/>
          <p:cNvSpPr txBox="1"/>
          <p:nvPr/>
        </p:nvSpPr>
        <p:spPr>
          <a:xfrm>
            <a:off x="102092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Mobile buy box mechanics are already in place, including a cart progress bar toward free shipping.</a:t>
            </a:r>
          </a:p>
        </p:txBody>
      </p:sp>
      <p:sp>
        <p:nvSpPr>
          <p:cNvPr id="22" name="Rounded Rectangle 21"/>
          <p:cNvSpPr/>
          <p:nvPr/>
        </p:nvSpPr>
        <p:spPr>
          <a:xfrm>
            <a:off x="441944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804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Real differentiators</a:t>
            </a:r>
          </a:p>
        </p:txBody>
      </p:sp>
      <p:sp>
        <p:nvSpPr>
          <p:cNvPr id="24" name="TextBox 23"/>
          <p:cNvSpPr txBox="1"/>
          <p:nvPr/>
        </p:nvSpPr>
        <p:spPr>
          <a:xfrm>
            <a:off x="464804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Subscription plus boxes, alcohol free range, award medals, and a televised Løvens Hule backing that rivals lack.</a:t>
            </a:r>
          </a:p>
        </p:txBody>
      </p:sp>
      <p:sp>
        <p:nvSpPr>
          <p:cNvPr id="25" name="Rounded Rectangle 24"/>
          <p:cNvSpPr/>
          <p:nvPr/>
        </p:nvSpPr>
        <p:spPr>
          <a:xfrm>
            <a:off x="8046567" y="4206240"/>
            <a:ext cx="3352800" cy="18288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167" y="44348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Strong owned channels</a:t>
            </a:r>
          </a:p>
        </p:txBody>
      </p:sp>
      <p:sp>
        <p:nvSpPr>
          <p:cNvPr id="27" name="TextBox 26"/>
          <p:cNvSpPr txBox="1"/>
          <p:nvPr/>
        </p:nvSpPr>
        <p:spPr>
          <a:xfrm>
            <a:off x="8275167" y="4983480"/>
            <a:ext cx="2895600" cy="731520"/>
          </a:xfrm>
          <a:prstGeom prst="rect">
            <a:avLst/>
          </a:prstGeom>
          <a:noFill/>
        </p:spPr>
        <p:txBody>
          <a:bodyPr wrap="square" lIns="0" rIns="0" tIns="0" bIns="0" anchor="t">
            <a:spAutoFit/>
          </a:bodyPr>
          <a:lstStyle/>
          <a:p>
            <a:pPr algn="l"/>
            <a:r>
              <a:rPr sz="1100" b="0" i="0">
                <a:solidFill>
                  <a:srgbClr val="CCCCCC"/>
                </a:solidFill>
                <a:latin typeface="Helvetica Neue"/>
              </a:rPr>
              <a:t>Klaviyo email already drives 16% of orders at a 2.55% CVR. A ready lever to reduce paid dependency.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30</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05</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Competitor Landscape</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Five verified rivals plus the monopoly. Every competitor page was fetched before any claim. The pattern is clear: everyone reassures on legality except dittvin.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Competitor · Verified Matrix</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Where dittvin Sits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Scroll the table if needed. "Not shown" means the signal was absent from the fetched page, which is itself a finding. Den Sidste Flaske is dittvin's Danish market reference (same box and club model); it wins on free shipping with no minimum and a 100% satisfaction guarantee, both of which dittvin lacks.</a:t>
            </a:r>
          </a:p>
        </p:txBody>
      </p:sp>
      <p:graphicFrame>
        <p:nvGraphicFramePr>
          <p:cNvPr id="10" name="Table 9"/>
          <p:cNvGraphicFramePr>
            <a:graphicFrameLocks noGrp="1"/>
          </p:cNvGraphicFramePr>
          <p:nvPr/>
        </p:nvGraphicFramePr>
        <p:xfrm>
          <a:off x="457200" y="2505456"/>
          <a:ext cx="11274547" cy="4023360"/>
        </p:xfrm>
        <a:graphic>
          <a:graphicData uri="http://schemas.openxmlformats.org/drawingml/2006/table">
            <a:tbl>
              <a:tblPr>
                <a:tableStyleId>{2D5ABB26-0587-4C30-8999-92F81FD0307C}</a:tableStyleId>
              </a:tblPr>
              <a:tblGrid>
                <a:gridCol w="2406926"/>
                <a:gridCol w="1266803"/>
                <a:gridCol w="1266803"/>
                <a:gridCol w="1266803"/>
                <a:gridCol w="1266803"/>
                <a:gridCol w="1266803"/>
                <a:gridCol w="1266803"/>
                <a:gridCol w="1266803"/>
              </a:tblGrid>
              <a:tr h="365760">
                <a:tc>
                  <a:txBody>
                    <a:bodyPr wrap="square"/>
                    <a:lstStyle/>
                    <a:p>
                      <a:pPr algn="l"/>
                      <a:r>
                        <a:rPr sz="900" b="1" spc="100">
                          <a:solidFill>
                            <a:srgbClr val="999999"/>
                          </a:solidFill>
                          <a:latin typeface="Helvetica Neue"/>
                        </a:rPr>
                        <a:t>CAPABILITY</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DITTVIN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WINEFINDER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WINEFAMLY</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KRAN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SUPERVIN</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SYSTEMBOLAGET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SIDSTE FLASKE (DK)</a:t>
                      </a:r>
                    </a:p>
                  </a:txBody>
                  <a:tcPr marL="73152" marR="73152" marT="18288" marB="18288" anchor="ctr">
                    <a:solidFill>
                      <a:srgbClr val="0A0A0A"/>
                    </a:solidFill>
                  </a:tcPr>
                </a:tc>
              </a:tr>
              <a:tr h="457200">
                <a:tc>
                  <a:txBody>
                    <a:bodyPr wrap="square"/>
                    <a:lstStyle/>
                    <a:p>
                      <a:pPr algn="l"/>
                      <a:r>
                        <a:rPr sz="900" b="1">
                          <a:solidFill>
                            <a:srgbClr val="EFEEEE"/>
                          </a:solidFill>
                          <a:latin typeface="Helvetica Neue"/>
                        </a:rPr>
                        <a:t>Legality / tax messaging</a:t>
                      </a:r>
                    </a:p>
                  </a:txBody>
                  <a:tcPr marL="73152" marR="73152" marT="18288" marB="18288" anchor="ctr">
                    <a:solidFill>
                      <a:srgbClr val="000000"/>
                    </a:solidFill>
                  </a:tcPr>
                </a:tc>
                <a:tc>
                  <a:txBody>
                    <a:bodyPr wrap="square"/>
                    <a:lstStyle/>
                    <a:p>
                      <a:pPr algn="l"/>
                      <a:r>
                        <a:rPr sz="900" b="0">
                          <a:solidFill>
                            <a:srgbClr val="EF4444"/>
                          </a:solidFill>
                          <a:latin typeface="Helvetica Neue"/>
                        </a:rPr>
                        <a:t>None</a:t>
                      </a:r>
                    </a:p>
                  </a:txBody>
                  <a:tcPr marL="73152" marR="73152" marT="18288" marB="18288" anchor="ctr">
                    <a:solidFill>
                      <a:srgbClr val="000000"/>
                    </a:solidFill>
                  </a:tcPr>
                </a:tc>
                <a:tc>
                  <a:txBody>
                    <a:bodyPr wrap="square"/>
                    <a:lstStyle/>
                    <a:p>
                      <a:pPr algn="l"/>
                      <a:r>
                        <a:rPr sz="900" b="0">
                          <a:solidFill>
                            <a:srgbClr val="F59E0B"/>
                          </a:solidFill>
                          <a:latin typeface="Helvetica Neue"/>
                        </a:rPr>
                        <a:t>Trygg mark</a:t>
                      </a:r>
                    </a:p>
                  </a:txBody>
                  <a:tcPr marL="73152" marR="73152" marT="18288" marB="18288" anchor="ctr">
                    <a:solidFill>
                      <a:srgbClr val="000000"/>
                    </a:solidFill>
                  </a:tcPr>
                </a:tc>
                <a:tc>
                  <a:txBody>
                    <a:bodyPr wrap="square"/>
                    <a:lstStyle/>
                    <a:p>
                      <a:pPr algn="l"/>
                      <a:r>
                        <a:rPr sz="900" b="0">
                          <a:solidFill>
                            <a:srgbClr val="22C55E"/>
                          </a:solidFill>
                          <a:latin typeface="Helvetica Neue"/>
                        </a:rPr>
                        <a:t>Tax stated</a:t>
                      </a:r>
                    </a:p>
                  </a:txBody>
                  <a:tcPr marL="73152" marR="73152" marT="18288" marB="18288" anchor="ctr">
                    <a:solidFill>
                      <a:srgbClr val="000000"/>
                    </a:solidFill>
                  </a:tcPr>
                </a:tc>
                <a:tc>
                  <a:txBody>
                    <a:bodyPr wrap="square"/>
                    <a:lstStyle/>
                    <a:p>
                      <a:pPr algn="l"/>
                      <a:r>
                        <a:rPr sz="900" b="0">
                          <a:solidFill>
                            <a:srgbClr val="22C55E"/>
                          </a:solidFill>
                          <a:latin typeface="Helvetica Neue"/>
                        </a:rPr>
                        <a:t>Skatteverket stated</a:t>
                      </a:r>
                    </a:p>
                  </a:txBody>
                  <a:tcPr marL="73152" marR="73152" marT="18288" marB="18288" anchor="ctr">
                    <a:solidFill>
                      <a:srgbClr val="000000"/>
                    </a:solidFill>
                  </a:tcPr>
                </a:tc>
                <a:tc>
                  <a:txBody>
                    <a:bodyPr wrap="square"/>
                    <a:lstStyle/>
                    <a:p>
                      <a:pPr algn="l"/>
                      <a:r>
                        <a:rPr sz="900" b="0">
                          <a:solidFill>
                            <a:srgbClr val="F59E0B"/>
                          </a:solidFill>
                          <a:latin typeface="Helvetica Neue"/>
                        </a:rPr>
                        <a:t>CVR + Trygg</a:t>
                      </a:r>
                    </a:p>
                  </a:txBody>
                  <a:tcPr marL="73152" marR="73152" marT="18288" marB="18288" anchor="ctr">
                    <a:solidFill>
                      <a:srgbClr val="000000"/>
                    </a:solidFill>
                  </a:tcPr>
                </a:tc>
                <a:tc>
                  <a:txBody>
                    <a:bodyPr wrap="square"/>
                    <a:lstStyle/>
                    <a:p>
                      <a:pPr algn="l"/>
                      <a:r>
                        <a:rPr sz="900" b="0">
                          <a:solidFill>
                            <a:srgbClr val="22C55E"/>
                          </a:solidFill>
                          <a:latin typeface="Helvetica Neue"/>
                        </a:rPr>
                        <a:t>Is the channel</a:t>
                      </a:r>
                    </a:p>
                  </a:txBody>
                  <a:tcPr marL="73152" marR="73152" marT="18288" marB="18288" anchor="ctr">
                    <a:solidFill>
                      <a:srgbClr val="000000"/>
                    </a:solidFill>
                  </a:tcPr>
                </a:tc>
                <a:tc>
                  <a:txBody>
                    <a:bodyPr wrap="square"/>
                    <a:lstStyle/>
                    <a:p>
                      <a:pPr algn="l"/>
                      <a:r>
                        <a:rPr sz="900" b="0">
                          <a:solidFill>
                            <a:srgbClr val="EFEEEE"/>
                          </a:solidFill>
                          <a:latin typeface="Helvetica Neue"/>
                        </a:rPr>
                        <a:t>N/A, DK market</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Trygg E-handel badge</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22C55E"/>
                          </a:solidFill>
                          <a:latin typeface="Helvetica Neue"/>
                        </a:rPr>
                        <a:t>Yes</a:t>
                      </a:r>
                    </a:p>
                  </a:txBody>
                  <a:tcPr marL="73152" marR="73152" marT="18288" marB="18288" anchor="ctr">
                    <a:solidFill>
                      <a:srgbClr val="0B0B0B"/>
                    </a:solidFill>
                  </a:tcPr>
                </a:tc>
                <a:tc>
                  <a:txBody>
                    <a:bodyPr wrap="square"/>
                    <a:lstStyle/>
                    <a:p>
                      <a:pPr algn="l"/>
                      <a:r>
                        <a:rPr sz="900" b="0">
                          <a:solidFill>
                            <a:srgbClr val="22C55E"/>
                          </a:solidFill>
                          <a:latin typeface="Helvetica Neue"/>
                        </a:rPr>
                        <a:t>Yes</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22C55E"/>
                          </a:solidFill>
                          <a:latin typeface="Helvetica Neue"/>
                        </a:rPr>
                        <a:t>Yes</a:t>
                      </a:r>
                    </a:p>
                  </a:txBody>
                  <a:tcPr marL="73152" marR="73152" marT="18288" marB="18288" anchor="ctr">
                    <a:solidFill>
                      <a:srgbClr val="0B0B0B"/>
                    </a:solidFill>
                  </a:tcPr>
                </a:tc>
                <a:tc>
                  <a:txBody>
                    <a:bodyPr wrap="square"/>
                    <a:lstStyle/>
                    <a:p>
                      <a:pPr algn="l"/>
                      <a:r>
                        <a:rPr sz="900" b="0">
                          <a:solidFill>
                            <a:srgbClr val="EFEEEE"/>
                          </a:solidFill>
                          <a:latin typeface="Helvetica Neue"/>
                        </a:rPr>
                        <a:t>N/A</a:t>
                      </a:r>
                    </a:p>
                  </a:txBody>
                  <a:tcPr marL="73152" marR="73152" marT="18288" marB="18288" anchor="ctr">
                    <a:solidFill>
                      <a:srgbClr val="0B0B0B"/>
                    </a:solidFill>
                  </a:tcPr>
                </a:tc>
                <a:tc>
                  <a:txBody>
                    <a:bodyPr wrap="square"/>
                    <a:lstStyle/>
                    <a:p>
                      <a:pPr algn="l"/>
                      <a:r>
                        <a:rPr sz="900" b="0">
                          <a:solidFill>
                            <a:srgbClr val="EFEEEE"/>
                          </a:solidFill>
                          <a:latin typeface="Helvetica Neue"/>
                        </a:rPr>
                        <a:t>N/A (DK), e-mark</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Delivery cost / speed shown</a:t>
                      </a:r>
                    </a:p>
                  </a:txBody>
                  <a:tcPr marL="73152" marR="73152" marT="18288" marB="18288" anchor="ctr">
                    <a:solidFill>
                      <a:srgbClr val="000000"/>
                    </a:solidFill>
                  </a:tcPr>
                </a:tc>
                <a:tc>
                  <a:txBody>
                    <a:bodyPr wrap="square"/>
                    <a:lstStyle/>
                    <a:p>
                      <a:pPr algn="l"/>
                      <a:r>
                        <a:rPr sz="900" b="0">
                          <a:solidFill>
                            <a:srgbClr val="F59E0B"/>
                          </a:solidFill>
                          <a:latin typeface="Helvetica Neue"/>
                        </a:rPr>
                        <a:t>Vague, Airmee only</a:t>
                      </a:r>
                    </a:p>
                  </a:txBody>
                  <a:tcPr marL="73152" marR="73152" marT="18288" marB="18288" anchor="ctr">
                    <a:solidFill>
                      <a:srgbClr val="000000"/>
                    </a:solidFill>
                  </a:tcPr>
                </a:tc>
                <a:tc>
                  <a:txBody>
                    <a:bodyPr wrap="square"/>
                    <a:lstStyle/>
                    <a:p>
                      <a:pPr algn="l"/>
                      <a:r>
                        <a:rPr sz="900" b="0">
                          <a:solidFill>
                            <a:srgbClr val="F59E0B"/>
                          </a:solidFill>
                          <a:latin typeface="Helvetica Neue"/>
                        </a:rPr>
                        <a:t>Carriers named</a:t>
                      </a:r>
                    </a:p>
                  </a:txBody>
                  <a:tcPr marL="73152" marR="73152" marT="18288" marB="18288" anchor="ctr">
                    <a:solidFill>
                      <a:srgbClr val="000000"/>
                    </a:solidFill>
                  </a:tcPr>
                </a:tc>
                <a:tc>
                  <a:txBody>
                    <a:bodyPr wrap="square"/>
                    <a:lstStyle/>
                    <a:p>
                      <a:pPr algn="l"/>
                      <a:r>
                        <a:rPr sz="900" b="0">
                          <a:solidFill>
                            <a:srgbClr val="F59E0B"/>
                          </a:solidFill>
                          <a:latin typeface="Helvetica Neue"/>
                        </a:rPr>
                        <a:t>Home delivery</a:t>
                      </a:r>
                    </a:p>
                  </a:txBody>
                  <a:tcPr marL="73152" marR="73152" marT="18288" marB="18288" anchor="ctr">
                    <a:solidFill>
                      <a:srgbClr val="000000"/>
                    </a:solidFill>
                  </a:tcPr>
                </a:tc>
                <a:tc>
                  <a:txBody>
                    <a:bodyPr wrap="square"/>
                    <a:lstStyle/>
                    <a:p>
                      <a:pPr algn="l"/>
                      <a:r>
                        <a:rPr sz="900" b="0">
                          <a:solidFill>
                            <a:srgbClr val="F59E0B"/>
                          </a:solidFill>
                          <a:latin typeface="Helvetica Neue"/>
                        </a:rPr>
                        <a:t>Not stated</a:t>
                      </a:r>
                    </a:p>
                  </a:txBody>
                  <a:tcPr marL="73152" marR="73152" marT="18288" marB="18288" anchor="ctr">
                    <a:solidFill>
                      <a:srgbClr val="000000"/>
                    </a:solidFill>
                  </a:tcPr>
                </a:tc>
                <a:tc>
                  <a:txBody>
                    <a:bodyPr wrap="square"/>
                    <a:lstStyle/>
                    <a:p>
                      <a:pPr algn="l"/>
                      <a:r>
                        <a:rPr sz="900" b="0">
                          <a:solidFill>
                            <a:srgbClr val="22C55E"/>
                          </a:solidFill>
                          <a:latin typeface="Helvetica Neue"/>
                        </a:rPr>
                        <a:t>From 29 kr, 2-5 days</a:t>
                      </a:r>
                    </a:p>
                  </a:txBody>
                  <a:tcPr marL="73152" marR="73152" marT="18288" marB="18288" anchor="ctr">
                    <a:solidFill>
                      <a:srgbClr val="000000"/>
                    </a:solidFill>
                  </a:tcPr>
                </a:tc>
                <a:tc>
                  <a:txBody>
                    <a:bodyPr wrap="square"/>
                    <a:lstStyle/>
                    <a:p>
                      <a:pPr algn="l"/>
                      <a:r>
                        <a:rPr sz="900" b="0">
                          <a:solidFill>
                            <a:srgbClr val="F59E0B"/>
                          </a:solidFill>
                          <a:latin typeface="Helvetica Neue"/>
                        </a:rPr>
                        <a:t>Multiple</a:t>
                      </a:r>
                    </a:p>
                  </a:txBody>
                  <a:tcPr marL="73152" marR="73152" marT="18288" marB="18288" anchor="ctr">
                    <a:solidFill>
                      <a:srgbClr val="000000"/>
                    </a:solidFill>
                  </a:tcPr>
                </a:tc>
                <a:tc>
                  <a:txBody>
                    <a:bodyPr wrap="square"/>
                    <a:lstStyle/>
                    <a:p>
                      <a:pPr algn="l"/>
                      <a:r>
                        <a:rPr sz="900" b="0">
                          <a:solidFill>
                            <a:srgbClr val="EFEEEE"/>
                          </a:solidFill>
                          <a:latin typeface="Helvetica Neue"/>
                        </a:rPr>
                        <a:t>Free, no minimum</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Subscription</a:t>
                      </a:r>
                    </a:p>
                  </a:txBody>
                  <a:tcPr marL="73152" marR="73152" marT="18288" marB="18288" anchor="ctr">
                    <a:solidFill>
                      <a:srgbClr val="0B0B0B"/>
                    </a:solidFill>
                  </a:tcPr>
                </a:tc>
                <a:tc>
                  <a:txBody>
                    <a:bodyPr wrap="square"/>
                    <a:lstStyle/>
                    <a:p>
                      <a:pPr algn="l"/>
                      <a:r>
                        <a:rPr sz="900" b="0">
                          <a:solidFill>
                            <a:srgbClr val="22C55E"/>
                          </a:solidFill>
                          <a:latin typeface="Helvetica Neue"/>
                        </a:rPr>
                        <a:t>Yes</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F59E0B"/>
                          </a:solidFill>
                          <a:latin typeface="Helvetica Neue"/>
                        </a:rPr>
                        <a:t>Boxes</a:t>
                      </a:r>
                    </a:p>
                  </a:txBody>
                  <a:tcPr marL="73152" marR="73152" marT="18288" marB="18288" anchor="ctr">
                    <a:solidFill>
                      <a:srgbClr val="0B0B0B"/>
                    </a:solidFill>
                  </a:tcPr>
                </a:tc>
                <a:tc>
                  <a:txBody>
                    <a:bodyPr wrap="square"/>
                    <a:lstStyle/>
                    <a:p>
                      <a:pPr algn="l"/>
                      <a:r>
                        <a:rPr sz="900" b="0">
                          <a:solidFill>
                            <a:srgbClr val="22C55E"/>
                          </a:solidFill>
                          <a:latin typeface="Helvetica Neue"/>
                        </a:rPr>
                        <a:t>Release club</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EF4444"/>
                          </a:solidFill>
                          <a:latin typeface="Helvetica Neue"/>
                        </a:rPr>
                        <a:t>No</a:t>
                      </a:r>
                    </a:p>
                  </a:txBody>
                  <a:tcPr marL="73152" marR="73152" marT="18288" marB="18288" anchor="ctr">
                    <a:solidFill>
                      <a:srgbClr val="0B0B0B"/>
                    </a:solidFill>
                  </a:tcPr>
                </a:tc>
                <a:tc>
                  <a:txBody>
                    <a:bodyPr wrap="square"/>
                    <a:lstStyle/>
                    <a:p>
                      <a:pPr algn="l"/>
                      <a:r>
                        <a:rPr sz="900" b="0">
                          <a:solidFill>
                            <a:srgbClr val="EFEEEE"/>
                          </a:solidFill>
                          <a:latin typeface="Helvetica Neue"/>
                        </a:rPr>
                        <a:t>Yes, Vinklub</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Wine boxes / cases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EF4444"/>
                          </a:solidFill>
                          <a:latin typeface="Helvetica Neue"/>
                        </a:rPr>
                        <a:t>No</a:t>
                      </a:r>
                    </a:p>
                  </a:txBody>
                  <a:tcPr marL="73152" marR="73152" marT="18288" marB="18288" anchor="ctr">
                    <a:solidFill>
                      <a:srgbClr val="000000"/>
                    </a:solidFill>
                  </a:tcPr>
                </a:tc>
                <a:tc>
                  <a:txBody>
                    <a:bodyPr wrap="square"/>
                    <a:lstStyle/>
                    <a:p>
                      <a:pPr algn="l"/>
                      <a:r>
                        <a:rPr sz="900" b="0">
                          <a:solidFill>
                            <a:srgbClr val="EFEEEE"/>
                          </a:solidFill>
                          <a:latin typeface="Helvetica Neue"/>
                        </a:rPr>
                        <a:t>Yes, Smagekasser</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Reviews showcased</a:t>
                      </a:r>
                    </a:p>
                  </a:txBody>
                  <a:tcPr marL="73152" marR="73152" marT="18288" marB="18288" anchor="ctr">
                    <a:solidFill>
                      <a:srgbClr val="0B0B0B"/>
                    </a:solidFill>
                  </a:tcPr>
                </a:tc>
                <a:tc>
                  <a:txBody>
                    <a:bodyPr wrap="square"/>
                    <a:lstStyle/>
                    <a:p>
                      <a:pPr algn="l"/>
                      <a:r>
                        <a:rPr sz="900" b="0">
                          <a:solidFill>
                            <a:srgbClr val="F59E0B"/>
                          </a:solidFill>
                          <a:latin typeface="Helvetica Neue"/>
                        </a:rPr>
                        <a:t>Vivino + medals</a:t>
                      </a:r>
                    </a:p>
                  </a:txBody>
                  <a:tcPr marL="73152" marR="73152" marT="18288" marB="18288" anchor="ctr">
                    <a:solidFill>
                      <a:srgbClr val="0B0B0B"/>
                    </a:solidFill>
                  </a:tcPr>
                </a:tc>
                <a:tc>
                  <a:txBody>
                    <a:bodyPr wrap="square"/>
                    <a:lstStyle/>
                    <a:p>
                      <a:pPr algn="l"/>
                      <a:r>
                        <a:rPr sz="900" b="0">
                          <a:solidFill>
                            <a:srgbClr val="22C55E"/>
                          </a:solidFill>
                          <a:latin typeface="Helvetica Neue"/>
                        </a:rPr>
                        <a:t>Critic + stars</a:t>
                      </a:r>
                    </a:p>
                  </a:txBody>
                  <a:tcPr marL="73152" marR="73152" marT="18288" marB="18288" anchor="ctr">
                    <a:solidFill>
                      <a:srgbClr val="0B0B0B"/>
                    </a:solidFill>
                  </a:tcPr>
                </a:tc>
                <a:tc>
                  <a:txBody>
                    <a:bodyPr wrap="square"/>
                    <a:lstStyle/>
                    <a:p>
                      <a:pPr algn="l"/>
                      <a:r>
                        <a:rPr sz="900" b="0">
                          <a:solidFill>
                            <a:srgbClr val="F59E0B"/>
                          </a:solidFill>
                          <a:latin typeface="Helvetica Neue"/>
                        </a:rPr>
                        <a:t>Not shown</a:t>
                      </a:r>
                    </a:p>
                  </a:txBody>
                  <a:tcPr marL="73152" marR="73152" marT="18288" marB="18288" anchor="ctr">
                    <a:solidFill>
                      <a:srgbClr val="0B0B0B"/>
                    </a:solidFill>
                  </a:tcPr>
                </a:tc>
                <a:tc>
                  <a:txBody>
                    <a:bodyPr wrap="square"/>
                    <a:lstStyle/>
                    <a:p>
                      <a:pPr algn="l"/>
                      <a:r>
                        <a:rPr sz="900" b="0">
                          <a:solidFill>
                            <a:srgbClr val="F59E0B"/>
                          </a:solidFill>
                          <a:latin typeface="Helvetica Neue"/>
                        </a:rPr>
                        <a:t>Press quotes</a:t>
                      </a:r>
                    </a:p>
                  </a:txBody>
                  <a:tcPr marL="73152" marR="73152" marT="18288" marB="18288" anchor="ctr">
                    <a:solidFill>
                      <a:srgbClr val="0B0B0B"/>
                    </a:solidFill>
                  </a:tcPr>
                </a:tc>
                <a:tc>
                  <a:txBody>
                    <a:bodyPr wrap="square"/>
                    <a:lstStyle/>
                    <a:p>
                      <a:pPr algn="l"/>
                      <a:r>
                        <a:rPr sz="900" b="0">
                          <a:solidFill>
                            <a:srgbClr val="22C55E"/>
                          </a:solidFill>
                          <a:latin typeface="Helvetica Neue"/>
                        </a:rPr>
                        <a:t>Trustpilot embed</a:t>
                      </a:r>
                    </a:p>
                  </a:txBody>
                  <a:tcPr marL="73152" marR="73152" marT="18288" marB="18288" anchor="ctr">
                    <a:solidFill>
                      <a:srgbClr val="0B0B0B"/>
                    </a:solidFill>
                  </a:tcPr>
                </a:tc>
                <a:tc>
                  <a:txBody>
                    <a:bodyPr wrap="square"/>
                    <a:lstStyle/>
                    <a:p>
                      <a:pPr algn="l"/>
                      <a:r>
                        <a:rPr sz="900" b="0">
                          <a:solidFill>
                            <a:srgbClr val="EF4444"/>
                          </a:solidFill>
                          <a:latin typeface="Helvetica Neue"/>
                        </a:rPr>
                        <a:t>None</a:t>
                      </a:r>
                    </a:p>
                  </a:txBody>
                  <a:tcPr marL="73152" marR="73152" marT="18288" marB="18288" anchor="ctr">
                    <a:solidFill>
                      <a:srgbClr val="0B0B0B"/>
                    </a:solidFill>
                  </a:tcPr>
                </a:tc>
                <a:tc>
                  <a:txBody>
                    <a:bodyPr wrap="square"/>
                    <a:lstStyle/>
                    <a:p>
                      <a:pPr algn="l"/>
                      <a:r>
                        <a:rPr sz="900" b="0">
                          <a:solidFill>
                            <a:srgbClr val="EFEEEE"/>
                          </a:solidFill>
                          <a:latin typeface="Helvetica Neue"/>
                        </a:rPr>
                        <a:t>Trustpilot 4,6 + Vivino</a:t>
                      </a:r>
                    </a:p>
                  </a:txBody>
                  <a:tcPr marL="73152" marR="73152" marT="18288" marB="18288" anchor="ctr">
                    <a:solidFill>
                      <a:srgbClr val="0B0B0B"/>
                    </a:solidFill>
                  </a:tcPr>
                </a:tc>
              </a:tr>
              <a:tr h="457200">
                <a:tc>
                  <a:txBody>
                    <a:bodyPr wrap="square"/>
                    <a:lstStyle/>
                    <a:p>
                      <a:pPr algn="l"/>
                      <a:r>
                        <a:rPr sz="900" b="1">
                          <a:solidFill>
                            <a:srgbClr val="EFEEEE"/>
                          </a:solidFill>
                          <a:latin typeface="Helvetica Neue"/>
                        </a:rPr>
                        <a:t>Alcohol free range</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F59E0B"/>
                          </a:solidFill>
                          <a:latin typeface="Helvetica Neue"/>
                        </a:rPr>
                        <a:t>Not shown</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F59E0B"/>
                          </a:solidFill>
                          <a:latin typeface="Helvetica Neue"/>
                        </a:rPr>
                        <a:t>Not shown</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22C55E"/>
                          </a:solidFill>
                          <a:latin typeface="Helvetica Neue"/>
                        </a:rPr>
                        <a:t>Yes</a:t>
                      </a:r>
                    </a:p>
                  </a:txBody>
                  <a:tcPr marL="73152" marR="73152" marT="18288" marB="18288" anchor="ctr">
                    <a:solidFill>
                      <a:srgbClr val="000000"/>
                    </a:solidFill>
                  </a:tcPr>
                </a:tc>
                <a:tc>
                  <a:txBody>
                    <a:bodyPr wrap="square"/>
                    <a:lstStyle/>
                    <a:p>
                      <a:pPr algn="l"/>
                      <a:r>
                        <a:rPr sz="900" b="0">
                          <a:solidFill>
                            <a:srgbClr val="EFEEEE"/>
                          </a:solidFill>
                          <a:latin typeface="Helvetica Neue"/>
                        </a:rPr>
                        <a:t>Yes</a:t>
                      </a:r>
                    </a:p>
                  </a:txBody>
                  <a:tcPr marL="73152" marR="73152" marT="18288" marB="18288" anchor="ctr">
                    <a:solidFill>
                      <a:srgbClr val="000000"/>
                    </a:solidFill>
                  </a:tcPr>
                </a:tc>
              </a:tr>
              <a:tr h="457200">
                <a:tc>
                  <a:txBody>
                    <a:bodyPr wrap="square"/>
                    <a:lstStyle/>
                    <a:p>
                      <a:pPr algn="l"/>
                      <a:r>
                        <a:rPr sz="900" b="1">
                          <a:solidFill>
                            <a:srgbClr val="EFEEEE"/>
                          </a:solidFill>
                          <a:latin typeface="Helvetica Neue"/>
                        </a:rPr>
                        <a:t>Filtering / search</a:t>
                      </a:r>
                    </a:p>
                  </a:txBody>
                  <a:tcPr marL="73152" marR="73152" marT="18288" marB="18288" anchor="ctr">
                    <a:solidFill>
                      <a:srgbClr val="0B0B0B"/>
                    </a:solidFill>
                  </a:tcPr>
                </a:tc>
                <a:tc>
                  <a:txBody>
                    <a:bodyPr wrap="square"/>
                    <a:lstStyle/>
                    <a:p>
                      <a:pPr algn="l"/>
                      <a:r>
                        <a:rPr sz="900" b="0">
                          <a:solidFill>
                            <a:srgbClr val="F59E0B"/>
                          </a:solidFill>
                          <a:latin typeface="Helvetica Neue"/>
                        </a:rPr>
                        <a:t>Basic</a:t>
                      </a:r>
                    </a:p>
                  </a:txBody>
                  <a:tcPr marL="73152" marR="73152" marT="18288" marB="18288" anchor="ctr">
                    <a:solidFill>
                      <a:srgbClr val="0B0B0B"/>
                    </a:solidFill>
                  </a:tcPr>
                </a:tc>
                <a:tc>
                  <a:txBody>
                    <a:bodyPr wrap="square"/>
                    <a:lstStyle/>
                    <a:p>
                      <a:pPr algn="l"/>
                      <a:r>
                        <a:rPr sz="900" b="0">
                          <a:solidFill>
                            <a:srgbClr val="22C55E"/>
                          </a:solidFill>
                          <a:latin typeface="Helvetica Neue"/>
                        </a:rPr>
                        <a:t>Faceted + Vinprofil</a:t>
                      </a:r>
                    </a:p>
                  </a:txBody>
                  <a:tcPr marL="73152" marR="73152" marT="18288" marB="18288" anchor="ctr">
                    <a:solidFill>
                      <a:srgbClr val="0B0B0B"/>
                    </a:solidFill>
                  </a:tcPr>
                </a:tc>
                <a:tc>
                  <a:txBody>
                    <a:bodyPr wrap="square"/>
                    <a:lstStyle/>
                    <a:p>
                      <a:pPr algn="l"/>
                      <a:r>
                        <a:rPr sz="900" b="0">
                          <a:solidFill>
                            <a:srgbClr val="F59E0B"/>
                          </a:solidFill>
                          <a:latin typeface="Helvetica Neue"/>
                        </a:rPr>
                        <a:t>Category</a:t>
                      </a:r>
                    </a:p>
                  </a:txBody>
                  <a:tcPr marL="73152" marR="73152" marT="18288" marB="18288" anchor="ctr">
                    <a:solidFill>
                      <a:srgbClr val="0B0B0B"/>
                    </a:solidFill>
                  </a:tcPr>
                </a:tc>
                <a:tc>
                  <a:txBody>
                    <a:bodyPr wrap="square"/>
                    <a:lstStyle/>
                    <a:p>
                      <a:pPr algn="l"/>
                      <a:r>
                        <a:rPr sz="900" b="0">
                          <a:solidFill>
                            <a:srgbClr val="EF4444"/>
                          </a:solidFill>
                          <a:latin typeface="Helvetica Neue"/>
                        </a:rPr>
                        <a:t>Minimal</a:t>
                      </a:r>
                    </a:p>
                  </a:txBody>
                  <a:tcPr marL="73152" marR="73152" marT="18288" marB="18288" anchor="ctr">
                    <a:solidFill>
                      <a:srgbClr val="0B0B0B"/>
                    </a:solidFill>
                  </a:tcPr>
                </a:tc>
                <a:tc>
                  <a:txBody>
                    <a:bodyPr wrap="square"/>
                    <a:lstStyle/>
                    <a:p>
                      <a:pPr algn="l"/>
                      <a:r>
                        <a:rPr sz="900" b="0">
                          <a:solidFill>
                            <a:srgbClr val="F59E0B"/>
                          </a:solidFill>
                          <a:latin typeface="Helvetica Neue"/>
                        </a:rPr>
                        <a:t>Category</a:t>
                      </a:r>
                    </a:p>
                  </a:txBody>
                  <a:tcPr marL="73152" marR="73152" marT="18288" marB="18288" anchor="ctr">
                    <a:solidFill>
                      <a:srgbClr val="0B0B0B"/>
                    </a:solidFill>
                  </a:tcPr>
                </a:tc>
                <a:tc>
                  <a:txBody>
                    <a:bodyPr wrap="square"/>
                    <a:lstStyle/>
                    <a:p>
                      <a:pPr algn="l"/>
                      <a:r>
                        <a:rPr sz="900" b="0">
                          <a:solidFill>
                            <a:srgbClr val="22C55E"/>
                          </a:solidFill>
                          <a:latin typeface="Helvetica Neue"/>
                        </a:rPr>
                        <a:t>Food pairing</a:t>
                      </a:r>
                    </a:p>
                  </a:txBody>
                  <a:tcPr marL="73152" marR="73152" marT="18288" marB="18288" anchor="ctr">
                    <a:solidFill>
                      <a:srgbClr val="0B0B0B"/>
                    </a:solidFill>
                  </a:tcPr>
                </a:tc>
                <a:tc>
                  <a:txBody>
                    <a:bodyPr wrap="square"/>
                    <a:lstStyle/>
                    <a:p>
                      <a:pPr algn="l"/>
                      <a:r>
                        <a:rPr sz="900" b="0">
                          <a:solidFill>
                            <a:srgbClr val="EFEEEE"/>
                          </a:solidFill>
                          <a:latin typeface="Helvetica Neue"/>
                        </a:rPr>
                        <a:t>Category</a:t>
                      </a:r>
                    </a:p>
                  </a:txBody>
                  <a:tcPr marL="73152" marR="73152" marT="18288" marB="18288" anchor="ctr">
                    <a:solidFill>
                      <a:srgbClr val="0B0B0B"/>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Competitor · Opportunity</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Five Gaps, One Big Wedge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Close the gaps, then turn the biggest one into a differentiator no rival owns well.</a:t>
            </a:r>
          </a:p>
        </p:txBody>
      </p:sp>
      <p:sp>
        <p:nvSpPr>
          <p:cNvPr id="10" name="Rounded Rectangle 9"/>
          <p:cNvSpPr/>
          <p:nvPr/>
        </p:nvSpPr>
        <p:spPr>
          <a:xfrm>
            <a:off x="79232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1</a:t>
            </a:r>
          </a:p>
        </p:txBody>
      </p:sp>
      <p:sp>
        <p:nvSpPr>
          <p:cNvPr id="12" name="TextBox 11"/>
          <p:cNvSpPr txBox="1"/>
          <p:nvPr/>
        </p:nvSpPr>
        <p:spPr>
          <a:xfrm>
            <a:off x="102092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Own the legality question</a:t>
            </a:r>
          </a:p>
        </p:txBody>
      </p:sp>
      <p:sp>
        <p:nvSpPr>
          <p:cNvPr id="13" name="TextBox 12"/>
          <p:cNvSpPr txBox="1"/>
          <p:nvPr/>
        </p:nvSpPr>
        <p:spPr>
          <a:xfrm>
            <a:off x="102092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The category's top objection, and only KRAN answers it (buried in text). A friendly, visible "why this is legal" section would out reassure everyone.</a:t>
            </a:r>
          </a:p>
        </p:txBody>
      </p:sp>
      <p:sp>
        <p:nvSpPr>
          <p:cNvPr id="14" name="Rounded Rectangle 13"/>
          <p:cNvSpPr/>
          <p:nvPr/>
        </p:nvSpPr>
        <p:spPr>
          <a:xfrm>
            <a:off x="102092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Biggest wedge</a:t>
            </a:r>
          </a:p>
        </p:txBody>
      </p:sp>
      <p:sp>
        <p:nvSpPr>
          <p:cNvPr id="16" name="Rounded Rectangle 15"/>
          <p:cNvSpPr/>
          <p:nvPr/>
        </p:nvSpPr>
        <p:spPr>
          <a:xfrm>
            <a:off x="441944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2</a:t>
            </a:r>
          </a:p>
        </p:txBody>
      </p:sp>
      <p:sp>
        <p:nvSpPr>
          <p:cNvPr id="18" name="TextBox 17"/>
          <p:cNvSpPr txBox="1"/>
          <p:nvPr/>
        </p:nvSpPr>
        <p:spPr>
          <a:xfrm>
            <a:off x="464804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Add Trygg E-handel</a:t>
            </a:r>
          </a:p>
        </p:txBody>
      </p:sp>
      <p:sp>
        <p:nvSpPr>
          <p:cNvPr id="19" name="TextBox 18"/>
          <p:cNvSpPr txBox="1"/>
          <p:nvPr/>
        </p:nvSpPr>
        <p:spPr>
          <a:xfrm>
            <a:off x="464804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Three of four direct rivals show the Swedish trust mark. dittvin leans on a Danish TV endorsement that carries less "safe Swedish shop" signal.</a:t>
            </a:r>
          </a:p>
        </p:txBody>
      </p:sp>
      <p:sp>
        <p:nvSpPr>
          <p:cNvPr id="20" name="Rounded Rectangle 19"/>
          <p:cNvSpPr/>
          <p:nvPr/>
        </p:nvSpPr>
        <p:spPr>
          <a:xfrm>
            <a:off x="464804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Quick win</a:t>
            </a:r>
          </a:p>
        </p:txBody>
      </p:sp>
      <p:sp>
        <p:nvSpPr>
          <p:cNvPr id="22" name="Rounded Rectangle 21"/>
          <p:cNvSpPr/>
          <p:nvPr/>
        </p:nvSpPr>
        <p:spPr>
          <a:xfrm>
            <a:off x="8046567" y="201168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194560"/>
            <a:ext cx="731520" cy="457200"/>
          </a:xfrm>
          <a:prstGeom prst="rect">
            <a:avLst/>
          </a:prstGeom>
          <a:noFill/>
        </p:spPr>
        <p:txBody>
          <a:bodyPr wrap="square" lIns="0" rIns="0" tIns="0" bIns="0" anchor="t">
            <a:spAutoFit/>
          </a:bodyPr>
          <a:lstStyle/>
          <a:p>
            <a:pPr algn="l"/>
            <a:r>
              <a:rPr sz="2600" b="1" i="0">
                <a:solidFill>
                  <a:srgbClr val="EF4444"/>
                </a:solidFill>
                <a:latin typeface="Menlo"/>
              </a:rPr>
              <a:t>3</a:t>
            </a:r>
          </a:p>
        </p:txBody>
      </p:sp>
      <p:sp>
        <p:nvSpPr>
          <p:cNvPr id="24" name="TextBox 23"/>
          <p:cNvSpPr txBox="1"/>
          <p:nvPr/>
        </p:nvSpPr>
        <p:spPr>
          <a:xfrm>
            <a:off x="8275167" y="278892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Make delivery concrete</a:t>
            </a:r>
          </a:p>
        </p:txBody>
      </p:sp>
      <p:sp>
        <p:nvSpPr>
          <p:cNvPr id="25" name="TextBox 24"/>
          <p:cNvSpPr txBox="1"/>
          <p:nvPr/>
        </p:nvSpPr>
        <p:spPr>
          <a:xfrm>
            <a:off x="8275167" y="338328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Supervin states "from 29 kr, free over 999, 2-5 days". dittvin says only "snabb" with a caveated 695 kr Airmee threshold. Concrete beats vague.</a:t>
            </a:r>
          </a:p>
        </p:txBody>
      </p:sp>
      <p:sp>
        <p:nvSpPr>
          <p:cNvPr id="26" name="Rounded Rectangle 25"/>
          <p:cNvSpPr/>
          <p:nvPr/>
        </p:nvSpPr>
        <p:spPr>
          <a:xfrm>
            <a:off x="827516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Trust + clarity</a:t>
            </a:r>
          </a:p>
        </p:txBody>
      </p:sp>
      <p:sp>
        <p:nvSpPr>
          <p:cNvPr id="28" name="Rounded Rectangle 27"/>
          <p:cNvSpPr/>
          <p:nvPr/>
        </p:nvSpPr>
        <p:spPr>
          <a:xfrm>
            <a:off x="792327" y="434340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92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4</a:t>
            </a:r>
          </a:p>
        </p:txBody>
      </p:sp>
      <p:sp>
        <p:nvSpPr>
          <p:cNvPr id="30" name="TextBox 29"/>
          <p:cNvSpPr txBox="1"/>
          <p:nvPr/>
        </p:nvSpPr>
        <p:spPr>
          <a:xfrm>
            <a:off x="102092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Localize fully to Swedish</a:t>
            </a:r>
          </a:p>
        </p:txBody>
      </p:sp>
      <p:sp>
        <p:nvSpPr>
          <p:cNvPr id="31" name="TextBox 30"/>
          <p:cNvSpPr txBox="1"/>
          <p:nvPr/>
        </p:nvSpPr>
        <p:spPr>
          <a:xfrm>
            <a:off x="102092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Danish product types and page titles leak through ("Kjøb", "Smagekasser"). It reads un Swedish and hurts both trust and discovery.</a:t>
            </a:r>
          </a:p>
        </p:txBody>
      </p:sp>
      <p:sp>
        <p:nvSpPr>
          <p:cNvPr id="32" name="Rounded Rectangle 31"/>
          <p:cNvSpPr/>
          <p:nvPr/>
        </p:nvSpPr>
        <p:spPr>
          <a:xfrm>
            <a:off x="102092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092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Polish</a:t>
            </a:r>
          </a:p>
        </p:txBody>
      </p:sp>
      <p:sp>
        <p:nvSpPr>
          <p:cNvPr id="34" name="Rounded Rectangle 33"/>
          <p:cNvSpPr/>
          <p:nvPr/>
        </p:nvSpPr>
        <p:spPr>
          <a:xfrm>
            <a:off x="4419447" y="4343400"/>
            <a:ext cx="3352800" cy="2057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804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5</a:t>
            </a:r>
          </a:p>
        </p:txBody>
      </p:sp>
      <p:sp>
        <p:nvSpPr>
          <p:cNvPr id="36" name="TextBox 35"/>
          <p:cNvSpPr txBox="1"/>
          <p:nvPr/>
        </p:nvSpPr>
        <p:spPr>
          <a:xfrm>
            <a:off x="464804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Merchandise proof, not just discounts</a:t>
            </a:r>
          </a:p>
        </p:txBody>
      </p:sp>
      <p:sp>
        <p:nvSpPr>
          <p:cNvPr id="37" name="TextBox 36"/>
          <p:cNvSpPr txBox="1"/>
          <p:nvPr/>
        </p:nvSpPr>
        <p:spPr>
          <a:xfrm>
            <a:off x="464804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holds award medals, Vivino scores and 4.7 Trustpilot but relies on a blanket 10% off. Own "curated wines at honest prices, with the proof".</a:t>
            </a:r>
          </a:p>
        </p:txBody>
      </p:sp>
      <p:sp>
        <p:nvSpPr>
          <p:cNvPr id="38" name="Rounded Rectangle 37"/>
          <p:cNvSpPr/>
          <p:nvPr/>
        </p:nvSpPr>
        <p:spPr>
          <a:xfrm>
            <a:off x="464804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804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Positioning</a:t>
            </a:r>
          </a:p>
        </p:txBody>
      </p:sp>
      <p:sp>
        <p:nvSpPr>
          <p:cNvPr id="40" name="Rounded Rectangle 39"/>
          <p:cNvSpPr/>
          <p:nvPr/>
        </p:nvSpPr>
        <p:spPr>
          <a:xfrm>
            <a:off x="8046567" y="4343400"/>
            <a:ext cx="3352800" cy="205740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5167" y="4526280"/>
            <a:ext cx="731520" cy="457200"/>
          </a:xfrm>
          <a:prstGeom prst="rect">
            <a:avLst/>
          </a:prstGeom>
          <a:noFill/>
        </p:spPr>
        <p:txBody>
          <a:bodyPr wrap="square" lIns="0" rIns="0" tIns="0" bIns="0" anchor="t">
            <a:spAutoFit/>
          </a:bodyPr>
          <a:lstStyle/>
          <a:p>
            <a:pPr algn="l"/>
            <a:r>
              <a:rPr sz="2600" b="1" i="0">
                <a:solidFill>
                  <a:srgbClr val="22C55E"/>
                </a:solidFill>
                <a:latin typeface="Menlo"/>
              </a:rPr>
              <a:t>+</a:t>
            </a:r>
          </a:p>
        </p:txBody>
      </p:sp>
      <p:sp>
        <p:nvSpPr>
          <p:cNvPr id="42" name="TextBox 41"/>
          <p:cNvSpPr txBox="1"/>
          <p:nvPr/>
        </p:nvSpPr>
        <p:spPr>
          <a:xfrm>
            <a:off x="827516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The retention moat rivals lack</a:t>
            </a:r>
          </a:p>
        </p:txBody>
      </p:sp>
      <p:sp>
        <p:nvSpPr>
          <p:cNvPr id="43" name="TextBox 42"/>
          <p:cNvSpPr txBox="1"/>
          <p:nvPr/>
        </p:nvSpPr>
        <p:spPr>
          <a:xfrm>
            <a:off x="8275167" y="5715000"/>
            <a:ext cx="2895600" cy="320040"/>
          </a:xfrm>
          <a:prstGeom prst="rect">
            <a:avLst/>
          </a:prstGeom>
          <a:noFill/>
        </p:spPr>
        <p:txBody>
          <a:bodyPr wrap="square" lIns="0" rIns="0" tIns="0" bIns="0" anchor="t">
            <a:spAutoFit/>
          </a:bodyPr>
          <a:lstStyle/>
          <a:p>
            <a:pPr algn="l"/>
            <a:r>
              <a:rPr sz="1100" b="0" i="0">
                <a:solidFill>
                  <a:srgbClr val="CCCCCC"/>
                </a:solidFill>
                <a:latin typeface="Helvetica Neue"/>
              </a:rPr>
              <a:t>dittvin already has subscription plus boxes. Winefinder and Supervin have no subscription at all. Own "the recurring discovery box for everyday Swedes".</a:t>
            </a:r>
          </a:p>
        </p:txBody>
      </p:sp>
      <p:sp>
        <p:nvSpPr>
          <p:cNvPr id="44" name="Rounded Rectangle 43"/>
          <p:cNvSpPr/>
          <p:nvPr/>
        </p:nvSpPr>
        <p:spPr>
          <a:xfrm>
            <a:off x="8275167" y="589788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167" y="589788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Defensible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06</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Technical Audit</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Verified by live network capture, not an HTML scan. The tags are all present, but the configuration is noisy and partly wrong.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Technical · Tracking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Clean the Data Before You Trust It</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Everything fires (GTM, GA4, Meta Pixel, Google Ads, Klaviyo, Clarity, Cookiebot). The problem is redundancy and one clear misconfiguration.</a:t>
            </a:r>
          </a:p>
        </p:txBody>
      </p:sp>
      <p:sp>
        <p:nvSpPr>
          <p:cNvPr id="10" name="Rounded Rectangle 9"/>
          <p:cNvSpPr/>
          <p:nvPr/>
        </p:nvSpPr>
        <p:spPr>
          <a:xfrm>
            <a:off x="792327" y="2148840"/>
            <a:ext cx="3352800" cy="192024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092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High</a:t>
            </a:r>
          </a:p>
        </p:txBody>
      </p:sp>
      <p:sp>
        <p:nvSpPr>
          <p:cNvPr id="12" name="TextBox 11"/>
          <p:cNvSpPr txBox="1"/>
          <p:nvPr/>
        </p:nvSpPr>
        <p:spPr>
          <a:xfrm>
            <a:off x="102092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Conversion fires on the homepage</a:t>
            </a:r>
          </a:p>
        </p:txBody>
      </p:sp>
      <p:sp>
        <p:nvSpPr>
          <p:cNvPr id="13" name="TextBox 12"/>
          <p:cNvSpPr txBox="1"/>
          <p:nvPr/>
        </p:nvSpPr>
        <p:spPr>
          <a:xfrm>
            <a:off x="102092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A Google Ads conversion tag (AW-16748333837) fires "en=conversion, value 1.43 SEK" on homepage load. Every visit logs a conversion, polluting Ads data and misleading bidding.</a:t>
            </a:r>
          </a:p>
        </p:txBody>
      </p:sp>
      <p:sp>
        <p:nvSpPr>
          <p:cNvPr id="14" name="Rounded Rectangle 13"/>
          <p:cNvSpPr/>
          <p:nvPr/>
        </p:nvSpPr>
        <p:spPr>
          <a:xfrm>
            <a:off x="102092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092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Low effort · High impact</a:t>
            </a:r>
          </a:p>
        </p:txBody>
      </p:sp>
      <p:sp>
        <p:nvSpPr>
          <p:cNvPr id="16" name="Rounded Rectangle 15"/>
          <p:cNvSpPr/>
          <p:nvPr/>
        </p:nvSpPr>
        <p:spPr>
          <a:xfrm>
            <a:off x="4419447" y="2148840"/>
            <a:ext cx="3352800" cy="1920240"/>
          </a:xfrm>
          <a:prstGeom prst="roundRect">
            <a:avLst>
              <a:gd name="adj" fmla="val 5000"/>
            </a:avLst>
          </a:prstGeom>
          <a:solidFill>
            <a:srgbClr val="1A0808"/>
          </a:solidFill>
          <a:ln w="9525">
            <a:solidFill>
              <a:srgbClr val="4A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04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High</a:t>
            </a:r>
          </a:p>
        </p:txBody>
      </p:sp>
      <p:sp>
        <p:nvSpPr>
          <p:cNvPr id="18" name="TextBox 17"/>
          <p:cNvSpPr txBox="1"/>
          <p:nvPr/>
        </p:nvSpPr>
        <p:spPr>
          <a:xfrm>
            <a:off x="464804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Four GA4 properties at once</a:t>
            </a:r>
          </a:p>
        </p:txBody>
      </p:sp>
      <p:sp>
        <p:nvSpPr>
          <p:cNvPr id="19" name="TextBox 18"/>
          <p:cNvSpPr txBox="1"/>
          <p:nvPr/>
        </p:nvSpPr>
        <p:spPr>
          <a:xfrm>
            <a:off x="464804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G-2H577FR3BL, G-QVVPL3QFTK, G-ZHBPVPWFVY and G-ZPDXL42WNW all fire page_view in parallel. Fragmented, duplicated reporting. Consolidate to one source of truth.</a:t>
            </a:r>
          </a:p>
        </p:txBody>
      </p:sp>
      <p:sp>
        <p:nvSpPr>
          <p:cNvPr id="20" name="Rounded Rectangle 19"/>
          <p:cNvSpPr/>
          <p:nvPr/>
        </p:nvSpPr>
        <p:spPr>
          <a:xfrm>
            <a:off x="464804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804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Med effort · High impact</a:t>
            </a:r>
          </a:p>
        </p:txBody>
      </p:sp>
      <p:sp>
        <p:nvSpPr>
          <p:cNvPr id="22" name="Rounded Rectangle 21"/>
          <p:cNvSpPr/>
          <p:nvPr/>
        </p:nvSpPr>
        <p:spPr>
          <a:xfrm>
            <a:off x="8046567" y="214884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167" y="233172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24" name="TextBox 23"/>
          <p:cNvSpPr txBox="1"/>
          <p:nvPr/>
        </p:nvSpPr>
        <p:spPr>
          <a:xfrm>
            <a:off x="8275167" y="292608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Dead and duplicate tags</a:t>
            </a:r>
          </a:p>
        </p:txBody>
      </p:sp>
      <p:sp>
        <p:nvSpPr>
          <p:cNvPr id="25" name="TextBox 24"/>
          <p:cNvSpPr txBox="1"/>
          <p:nvPr/>
        </p:nvSpPr>
        <p:spPr>
          <a:xfrm>
            <a:off x="8275167" y="352044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Legacy Universal Analytics (UA-234356383-1) still sits in GTM (dead since 2023), and two Google Ads accounts fire. Prune to prevent double counting.</a:t>
            </a:r>
          </a:p>
        </p:txBody>
      </p:sp>
      <p:sp>
        <p:nvSpPr>
          <p:cNvPr id="26" name="Rounded Rectangle 25"/>
          <p:cNvSpPr/>
          <p:nvPr/>
        </p:nvSpPr>
        <p:spPr>
          <a:xfrm>
            <a:off x="8275167" y="356616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167" y="356616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Low effort · Med impact</a:t>
            </a:r>
          </a:p>
        </p:txBody>
      </p:sp>
      <p:sp>
        <p:nvSpPr>
          <p:cNvPr id="28" name="Rounded Rectangle 27"/>
          <p:cNvSpPr/>
          <p:nvPr/>
        </p:nvSpPr>
        <p:spPr>
          <a:xfrm>
            <a:off x="792327" y="434340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092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30" name="TextBox 29"/>
          <p:cNvSpPr txBox="1"/>
          <p:nvPr/>
        </p:nvSpPr>
        <p:spPr>
          <a:xfrm>
            <a:off x="102092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90+ console errors per load</a:t>
            </a:r>
          </a:p>
        </p:txBody>
      </p:sp>
      <p:sp>
        <p:nvSpPr>
          <p:cNvPr id="31" name="TextBox 30"/>
          <p:cNvSpPr txBox="1"/>
          <p:nvPr/>
        </p:nvSpPr>
        <p:spPr>
          <a:xfrm>
            <a:off x="102092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Every page throws 90 to 190 JS errors. This is the likely cause of the blank homepage sections and a suspect in checkout drop off.</a:t>
            </a:r>
          </a:p>
        </p:txBody>
      </p:sp>
      <p:sp>
        <p:nvSpPr>
          <p:cNvPr id="32" name="Rounded Rectangle 31"/>
          <p:cNvSpPr/>
          <p:nvPr/>
        </p:nvSpPr>
        <p:spPr>
          <a:xfrm>
            <a:off x="102092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092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Med effort · Med impact</a:t>
            </a:r>
          </a:p>
        </p:txBody>
      </p:sp>
      <p:sp>
        <p:nvSpPr>
          <p:cNvPr id="34" name="Rounded Rectangle 33"/>
          <p:cNvSpPr/>
          <p:nvPr/>
        </p:nvSpPr>
        <p:spPr>
          <a:xfrm>
            <a:off x="4419447" y="4343400"/>
            <a:ext cx="3352800" cy="1920240"/>
          </a:xfrm>
          <a:prstGeom prst="roundRect">
            <a:avLst>
              <a:gd name="adj" fmla="val 5000"/>
            </a:avLst>
          </a:prstGeom>
          <a:solidFill>
            <a:srgbClr val="08140C"/>
          </a:solidFill>
          <a:ln w="9525">
            <a:solidFill>
              <a:srgbClr val="1A3A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804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Asset</a:t>
            </a:r>
          </a:p>
        </p:txBody>
      </p:sp>
      <p:sp>
        <p:nvSpPr>
          <p:cNvPr id="36" name="TextBox 35"/>
          <p:cNvSpPr txBox="1"/>
          <p:nvPr/>
        </p:nvSpPr>
        <p:spPr>
          <a:xfrm>
            <a:off x="464804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Clarity is already installed</a:t>
            </a:r>
          </a:p>
        </p:txBody>
      </p:sp>
      <p:sp>
        <p:nvSpPr>
          <p:cNvPr id="37" name="TextBox 36"/>
          <p:cNvSpPr txBox="1"/>
          <p:nvPr/>
        </p:nvSpPr>
        <p:spPr>
          <a:xfrm>
            <a:off x="464804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Microsoft Clarity (project v7fb9kby3w) is live and collecting session replays. You are sitting on behavioral data you are not using. Grant dashboard access.</a:t>
            </a:r>
          </a:p>
        </p:txBody>
      </p:sp>
      <p:sp>
        <p:nvSpPr>
          <p:cNvPr id="38" name="Rounded Rectangle 37"/>
          <p:cNvSpPr/>
          <p:nvPr/>
        </p:nvSpPr>
        <p:spPr>
          <a:xfrm>
            <a:off x="464804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804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No effort · Insight</a:t>
            </a:r>
          </a:p>
        </p:txBody>
      </p:sp>
      <p:sp>
        <p:nvSpPr>
          <p:cNvPr id="40" name="Rounded Rectangle 39"/>
          <p:cNvSpPr/>
          <p:nvPr/>
        </p:nvSpPr>
        <p:spPr>
          <a:xfrm>
            <a:off x="8046567" y="4343400"/>
            <a:ext cx="3352800" cy="192024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5167" y="4526280"/>
            <a:ext cx="731520" cy="457200"/>
          </a:xfrm>
          <a:prstGeom prst="rect">
            <a:avLst/>
          </a:prstGeom>
          <a:noFill/>
        </p:spPr>
        <p:txBody>
          <a:bodyPr wrap="square" lIns="0" rIns="0" tIns="0" bIns="0" anchor="t">
            <a:spAutoFit/>
          </a:bodyPr>
          <a:lstStyle/>
          <a:p>
            <a:pPr algn="l"/>
            <a:r>
              <a:rPr sz="2600" b="1" i="0">
                <a:solidFill>
                  <a:srgbClr val="EF4444"/>
                </a:solidFill>
                <a:latin typeface="Menlo"/>
              </a:rPr>
              <a:t>Medium</a:t>
            </a:r>
          </a:p>
        </p:txBody>
      </p:sp>
      <p:sp>
        <p:nvSpPr>
          <p:cNvPr id="42" name="TextBox 41"/>
          <p:cNvSpPr txBox="1"/>
          <p:nvPr/>
        </p:nvSpPr>
        <p:spPr>
          <a:xfrm>
            <a:off x="8275167" y="5120640"/>
            <a:ext cx="2895600" cy="548640"/>
          </a:xfrm>
          <a:prstGeom prst="rect">
            <a:avLst/>
          </a:prstGeom>
          <a:noFill/>
        </p:spPr>
        <p:txBody>
          <a:bodyPr wrap="square" lIns="0" rIns="0" tIns="0" bIns="0" anchor="t">
            <a:spAutoFit/>
          </a:bodyPr>
          <a:lstStyle/>
          <a:p>
            <a:pPr algn="l"/>
            <a:r>
              <a:rPr sz="1300" b="1" i="0">
                <a:solidFill>
                  <a:srgbClr val="FFFFFF"/>
                </a:solidFill>
                <a:latin typeface="Helvetica Neue"/>
              </a:rPr>
              <a:t>Recover the "(not set)" signal</a:t>
            </a:r>
          </a:p>
        </p:txBody>
      </p:sp>
      <p:sp>
        <p:nvSpPr>
          <p:cNvPr id="43" name="TextBox 42"/>
          <p:cNvSpPr txBox="1"/>
          <p:nvPr/>
        </p:nvSpPr>
        <p:spPr>
          <a:xfrm>
            <a:off x="8275167" y="5715000"/>
            <a:ext cx="2895600" cy="182880"/>
          </a:xfrm>
          <a:prstGeom prst="rect">
            <a:avLst/>
          </a:prstGeom>
          <a:noFill/>
        </p:spPr>
        <p:txBody>
          <a:bodyPr wrap="square" lIns="0" rIns="0" tIns="0" bIns="0" anchor="t">
            <a:spAutoFit/>
          </a:bodyPr>
          <a:lstStyle/>
          <a:p>
            <a:pPr algn="l"/>
            <a:r>
              <a:rPr sz="1100" b="0" i="0">
                <a:solidFill>
                  <a:srgbClr val="CCCCCC"/>
                </a:solidFill>
                <a:latin typeface="Helvetica Neue"/>
              </a:rPr>
              <a:t>Server side GTM plus Meta server side tracking and consent mode modeling would recover the 29% of sessions currently lost, and feed better data to the ad channel you depend on.</a:t>
            </a:r>
          </a:p>
        </p:txBody>
      </p:sp>
      <p:sp>
        <p:nvSpPr>
          <p:cNvPr id="44" name="Rounded Rectangle 43"/>
          <p:cNvSpPr/>
          <p:nvPr/>
        </p:nvSpPr>
        <p:spPr>
          <a:xfrm>
            <a:off x="8275167" y="5760720"/>
            <a:ext cx="1828800" cy="292608"/>
          </a:xfrm>
          <a:prstGeom prst="roundRect">
            <a:avLst>
              <a:gd name="adj" fmla="val 50000"/>
            </a:avLst>
          </a:prstGeom>
          <a:solidFill>
            <a:srgbClr val="1A16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5167" y="5760720"/>
            <a:ext cx="1828800" cy="292608"/>
          </a:xfrm>
          <a:prstGeom prst="rect">
            <a:avLst/>
          </a:prstGeom>
          <a:noFill/>
        </p:spPr>
        <p:txBody>
          <a:bodyPr wrap="square" lIns="0" rIns="0" tIns="0" bIns="0" anchor="ctr">
            <a:spAutoFit/>
          </a:bodyPr>
          <a:lstStyle/>
          <a:p>
            <a:pPr algn="ctr"/>
            <a:r>
              <a:rPr sz="900" b="1" i="0" spc="100">
                <a:solidFill>
                  <a:srgbClr val="F7D007"/>
                </a:solidFill>
                <a:latin typeface="Helvetica Neue"/>
              </a:rPr>
              <a:t>High effort · High impact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Technical · Speed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Too Many Tags Slow the Store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store loads a lot of third party tags and scripts on every page. On mobile, where 86% of buyers are, all that extra weight makes the page slower. The fix is smart tag management: remove what is not needed and combine the rest.</a:t>
            </a:r>
          </a:p>
        </p:txBody>
      </p:sp>
      <p:sp>
        <p:nvSpPr>
          <p:cNvPr id="10" name="Rounded Rectangle 9"/>
          <p:cNvSpPr/>
          <p:nvPr/>
        </p:nvSpPr>
        <p:spPr>
          <a:xfrm>
            <a:off x="79232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542032"/>
            <a:ext cx="2446020" cy="502920"/>
          </a:xfrm>
          <a:prstGeom prst="rect">
            <a:avLst/>
          </a:prstGeom>
          <a:noFill/>
        </p:spPr>
        <p:txBody>
          <a:bodyPr wrap="square" lIns="0" rIns="0" tIns="0" bIns="0" anchor="t">
            <a:spAutoFit/>
          </a:bodyPr>
          <a:lstStyle/>
          <a:p>
            <a:pPr algn="ctr"/>
            <a:r>
              <a:rPr sz="3000" b="1" i="0">
                <a:solidFill>
                  <a:srgbClr val="FFFFFF"/>
                </a:solidFill>
                <a:latin typeface="Menlo"/>
              </a:rPr>
              <a:t>417</a:t>
            </a:r>
          </a:p>
        </p:txBody>
      </p:sp>
      <p:sp>
        <p:nvSpPr>
          <p:cNvPr id="12" name="TextBox 11"/>
          <p:cNvSpPr txBox="1"/>
          <p:nvPr/>
        </p:nvSpPr>
        <p:spPr>
          <a:xfrm>
            <a:off x="79232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Things Load on the Homepage</a:t>
            </a:r>
          </a:p>
        </p:txBody>
      </p:sp>
      <p:sp>
        <p:nvSpPr>
          <p:cNvPr id="13" name="TextBox 12"/>
          <p:cNvSpPr txBox="1"/>
          <p:nvPr/>
        </p:nvSpPr>
        <p:spPr>
          <a:xfrm>
            <a:off x="79232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A heavy pile of third party scripts</a:t>
            </a:r>
          </a:p>
        </p:txBody>
      </p:sp>
      <p:sp>
        <p:nvSpPr>
          <p:cNvPr id="14" name="Rounded Rectangle 13"/>
          <p:cNvSpPr/>
          <p:nvPr/>
        </p:nvSpPr>
        <p:spPr>
          <a:xfrm>
            <a:off x="351266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542032"/>
            <a:ext cx="2446020" cy="502920"/>
          </a:xfrm>
          <a:prstGeom prst="rect">
            <a:avLst/>
          </a:prstGeom>
          <a:noFill/>
        </p:spPr>
        <p:txBody>
          <a:bodyPr wrap="square" lIns="0" rIns="0" tIns="0" bIns="0" anchor="t">
            <a:spAutoFit/>
          </a:bodyPr>
          <a:lstStyle/>
          <a:p>
            <a:pPr algn="ctr"/>
            <a:r>
              <a:rPr sz="3000" b="1" i="0">
                <a:solidFill>
                  <a:srgbClr val="EF4444"/>
                </a:solidFill>
                <a:latin typeface="Menlo"/>
              </a:rPr>
              <a:t>90+</a:t>
            </a:r>
          </a:p>
        </p:txBody>
      </p:sp>
      <p:sp>
        <p:nvSpPr>
          <p:cNvPr id="16" name="TextBox 15"/>
          <p:cNvSpPr txBox="1"/>
          <p:nvPr/>
        </p:nvSpPr>
        <p:spPr>
          <a:xfrm>
            <a:off x="351266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Errors on Every Page</a:t>
            </a:r>
          </a:p>
        </p:txBody>
      </p:sp>
      <p:sp>
        <p:nvSpPr>
          <p:cNvPr id="17" name="TextBox 16"/>
          <p:cNvSpPr txBox="1"/>
          <p:nvPr/>
        </p:nvSpPr>
        <p:spPr>
          <a:xfrm>
            <a:off x="351266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Code errors to clear</a:t>
            </a:r>
          </a:p>
        </p:txBody>
      </p:sp>
      <p:sp>
        <p:nvSpPr>
          <p:cNvPr id="18" name="Rounded Rectangle 17"/>
          <p:cNvSpPr/>
          <p:nvPr/>
        </p:nvSpPr>
        <p:spPr>
          <a:xfrm>
            <a:off x="623300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542032"/>
            <a:ext cx="2446020" cy="502920"/>
          </a:xfrm>
          <a:prstGeom prst="rect">
            <a:avLst/>
          </a:prstGeom>
          <a:noFill/>
        </p:spPr>
        <p:txBody>
          <a:bodyPr wrap="square" lIns="0" rIns="0" tIns="0" bIns="0" anchor="t">
            <a:spAutoFit/>
          </a:bodyPr>
          <a:lstStyle/>
          <a:p>
            <a:pPr algn="ctr"/>
            <a:r>
              <a:rPr sz="3000" b="1" i="0">
                <a:solidFill>
                  <a:srgbClr val="FFFFFF"/>
                </a:solidFill>
                <a:latin typeface="Menlo"/>
              </a:rPr>
              <a:t>4 + 2</a:t>
            </a:r>
          </a:p>
        </p:txBody>
      </p:sp>
      <p:sp>
        <p:nvSpPr>
          <p:cNvPr id="20" name="TextBox 19"/>
          <p:cNvSpPr txBox="1"/>
          <p:nvPr/>
        </p:nvSpPr>
        <p:spPr>
          <a:xfrm>
            <a:off x="623300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GA4 and Ads Tags</a:t>
            </a:r>
          </a:p>
        </p:txBody>
      </p:sp>
      <p:sp>
        <p:nvSpPr>
          <p:cNvPr id="21" name="TextBox 20"/>
          <p:cNvSpPr txBox="1"/>
          <p:nvPr/>
        </p:nvSpPr>
        <p:spPr>
          <a:xfrm>
            <a:off x="623300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Plus Meta, Rebuy, Klaviyo, chat</a:t>
            </a:r>
          </a:p>
        </p:txBody>
      </p:sp>
      <p:sp>
        <p:nvSpPr>
          <p:cNvPr id="22" name="Rounded Rectangle 21"/>
          <p:cNvSpPr/>
          <p:nvPr/>
        </p:nvSpPr>
        <p:spPr>
          <a:xfrm>
            <a:off x="8953347" y="228600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542032"/>
            <a:ext cx="2446020" cy="502920"/>
          </a:xfrm>
          <a:prstGeom prst="rect">
            <a:avLst/>
          </a:prstGeom>
          <a:noFill/>
        </p:spPr>
        <p:txBody>
          <a:bodyPr wrap="square" lIns="0" rIns="0" tIns="0" bIns="0" anchor="t">
            <a:spAutoFit/>
          </a:bodyPr>
          <a:lstStyle/>
          <a:p>
            <a:pPr algn="ctr"/>
            <a:r>
              <a:rPr sz="3000" b="1" i="0">
                <a:solidFill>
                  <a:srgbClr val="F59E0B"/>
                </a:solidFill>
                <a:latin typeface="Menlo"/>
              </a:rPr>
              <a:t>Blocked</a:t>
            </a:r>
          </a:p>
        </p:txBody>
      </p:sp>
      <p:sp>
        <p:nvSpPr>
          <p:cNvPr id="24" name="TextBox 23"/>
          <p:cNvSpPr txBox="1"/>
          <p:nvPr/>
        </p:nvSpPr>
        <p:spPr>
          <a:xfrm>
            <a:off x="8953347" y="307238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Speed Score</a:t>
            </a:r>
          </a:p>
        </p:txBody>
      </p:sp>
      <p:sp>
        <p:nvSpPr>
          <p:cNvPr id="25" name="TextBox 24"/>
          <p:cNvSpPr txBox="1"/>
          <p:nvPr/>
        </p:nvSpPr>
        <p:spPr>
          <a:xfrm>
            <a:off x="8953347" y="331012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The speed test hit a daily limit; measure real speed in Clarity</a:t>
            </a:r>
          </a:p>
        </p:txBody>
      </p:sp>
      <p:sp>
        <p:nvSpPr>
          <p:cNvPr id="26" name="TextBox 25"/>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The speed test was blocked by a daily limit, so there is no 0 to 100 score here. Shopify speed scores also read lower than real life, so treat speed as basic hygiene: cut the tag weight, clear the errors, then track real visitor speed in Clarity and Search Console.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36</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07</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RPV: The Northstar</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Revenue per visitor = conversion x order value, compounded by repeat. Before we grow it, we have to be able to see it. On Shopify numbers, here is where it stands and how to grow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The Real Numbers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Revenue Base (Shopify)</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RPV = revenue per visitor. Here is the true 90 day base it multiplies from, straight from Shopify.</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graphicFrame>
        <p:nvGraphicFramePr>
          <p:cNvPr id="11" name="Table 10"/>
          <p:cNvGraphicFramePr>
            <a:graphicFrameLocks noGrp="1"/>
          </p:cNvGraphicFramePr>
          <p:nvPr/>
        </p:nvGraphicFramePr>
        <p:xfrm>
          <a:off x="883767" y="2377440"/>
          <a:ext cx="10424158" cy="2194560"/>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METRIC (SHOPIFY, 90 DAYS)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VALUE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NOTE</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Orders</a:t>
                      </a:r>
                    </a:p>
                  </a:txBody>
                  <a:tcPr marL="73152" marR="73152" marT="18288" marB="18288" anchor="ctr">
                    <a:solidFill>
                      <a:srgbClr val="000000"/>
                    </a:solidFill>
                  </a:tcPr>
                </a:tc>
                <a:tc>
                  <a:txBody>
                    <a:bodyPr wrap="square"/>
                    <a:lstStyle/>
                    <a:p>
                      <a:pPr algn="r"/>
                      <a:r>
                        <a:rPr sz="1100" b="0">
                          <a:solidFill>
                            <a:srgbClr val="EFEEEE"/>
                          </a:solidFill>
                          <a:latin typeface="Menlo"/>
                        </a:rPr>
                        <a:t>38,306</a:t>
                      </a:r>
                    </a:p>
                  </a:txBody>
                  <a:tcPr marL="73152" marR="73152" marT="18288" marB="18288" anchor="ctr">
                    <a:solidFill>
                      <a:srgbClr val="000000"/>
                    </a:solidFill>
                  </a:tcPr>
                </a:tc>
                <a:tc>
                  <a:txBody>
                    <a:bodyPr wrap="square"/>
                    <a:lstStyle/>
                    <a:p>
                      <a:pPr algn="l"/>
                      <a:r>
                        <a:rPr sz="1100" b="0">
                          <a:solidFill>
                            <a:srgbClr val="EFEEEE"/>
                          </a:solidFill>
                          <a:latin typeface="Helvetica Neue"/>
                        </a:rPr>
                        <a:t>31,860 customers</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Gross sales</a:t>
                      </a:r>
                    </a:p>
                  </a:txBody>
                  <a:tcPr marL="73152" marR="73152" marT="18288" marB="18288" anchor="ctr">
                    <a:solidFill>
                      <a:srgbClr val="0B0B0B"/>
                    </a:solidFill>
                  </a:tcPr>
                </a:tc>
                <a:tc>
                  <a:txBody>
                    <a:bodyPr wrap="square"/>
                    <a:lstStyle/>
                    <a:p>
                      <a:pPr algn="r"/>
                      <a:r>
                        <a:rPr sz="1100" b="0">
                          <a:solidFill>
                            <a:srgbClr val="EFEEEE"/>
                          </a:solidFill>
                          <a:latin typeface="Menlo"/>
                        </a:rPr>
                        <a:t>33.3M SEK</a:t>
                      </a:r>
                    </a:p>
                  </a:txBody>
                  <a:tcPr marL="73152" marR="73152" marT="18288" marB="18288" anchor="ctr">
                    <a:solidFill>
                      <a:srgbClr val="0B0B0B"/>
                    </a:solidFill>
                  </a:tcPr>
                </a:tc>
                <a:tc>
                  <a:txBody>
                    <a:bodyPr wrap="square"/>
                    <a:lstStyle/>
                    <a:p>
                      <a:pPr algn="l"/>
                      <a:r>
                        <a:rPr sz="1100" b="0">
                          <a:solidFill>
                            <a:srgbClr val="EFEEEE"/>
                          </a:solidFill>
                          <a:latin typeface="Helvetica Neue"/>
                        </a:rPr>
                        <a:t>ex VAT, discounts, refunds</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Total sales incl VAT + shipping</a:t>
                      </a:r>
                    </a:p>
                  </a:txBody>
                  <a:tcPr marL="73152" marR="73152" marT="18288" marB="18288" anchor="ctr">
                    <a:solidFill>
                      <a:srgbClr val="000000"/>
                    </a:solidFill>
                  </a:tcPr>
                </a:tc>
                <a:tc>
                  <a:txBody>
                    <a:bodyPr wrap="square"/>
                    <a:lstStyle/>
                    <a:p>
                      <a:pPr algn="r"/>
                      <a:r>
                        <a:rPr sz="1100" b="0">
                          <a:solidFill>
                            <a:srgbClr val="EFEEEE"/>
                          </a:solidFill>
                          <a:latin typeface="Menlo"/>
                        </a:rPr>
                        <a:t>41.5M SEK</a:t>
                      </a:r>
                    </a:p>
                  </a:txBody>
                  <a:tcPr marL="73152" marR="73152" marT="18288" marB="18288" anchor="ctr">
                    <a:solidFill>
                      <a:srgbClr val="000000"/>
                    </a:solidFill>
                  </a:tcPr>
                </a:tc>
                <a:tc>
                  <a:txBody>
                    <a:bodyPr wrap="square"/>
                    <a:lstStyle/>
                    <a:p>
                      <a:pPr algn="l"/>
                      <a:r>
                        <a:rPr sz="1100" b="0">
                          <a:solidFill>
                            <a:srgbClr val="EFEEEE"/>
                          </a:solidFill>
                          <a:latin typeface="Helvetica Neue"/>
                        </a:rPr>
                        <a:t>money collected</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Net sales</a:t>
                      </a:r>
                    </a:p>
                  </a:txBody>
                  <a:tcPr marL="73152" marR="73152" marT="18288" marB="18288" anchor="ctr">
                    <a:solidFill>
                      <a:srgbClr val="0B0B0B"/>
                    </a:solidFill>
                  </a:tcPr>
                </a:tc>
                <a:tc>
                  <a:txBody>
                    <a:bodyPr wrap="square"/>
                    <a:lstStyle/>
                    <a:p>
                      <a:pPr algn="r"/>
                      <a:r>
                        <a:rPr sz="1100" b="0">
                          <a:solidFill>
                            <a:srgbClr val="EFEEEE"/>
                          </a:solidFill>
                          <a:latin typeface="Menlo"/>
                        </a:rPr>
                        <a:t>31.7M SEK</a:t>
                      </a:r>
                    </a:p>
                  </a:txBody>
                  <a:tcPr marL="73152" marR="73152" marT="18288" marB="18288" anchor="ctr">
                    <a:solidFill>
                      <a:srgbClr val="0B0B0B"/>
                    </a:solidFill>
                  </a:tcPr>
                </a:tc>
                <a:tc>
                  <a:txBody>
                    <a:bodyPr wrap="square"/>
                    <a:lstStyle/>
                    <a:p>
                      <a:pPr algn="l"/>
                      <a:r>
                        <a:rPr sz="1100" b="0">
                          <a:solidFill>
                            <a:srgbClr val="EFEEEE"/>
                          </a:solidFill>
                          <a:latin typeface="Helvetica Neue"/>
                        </a:rPr>
                        <a:t>recognised revenue</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AOV</a:t>
                      </a:r>
                    </a:p>
                  </a:txBody>
                  <a:tcPr marL="73152" marR="73152" marT="18288" marB="18288" anchor="ctr">
                    <a:solidFill>
                      <a:srgbClr val="000000"/>
                    </a:solidFill>
                  </a:tcPr>
                </a:tc>
                <a:tc>
                  <a:txBody>
                    <a:bodyPr wrap="square"/>
                    <a:lstStyle/>
                    <a:p>
                      <a:pPr algn="r"/>
                      <a:r>
                        <a:rPr sz="1100" b="0">
                          <a:solidFill>
                            <a:srgbClr val="EFEEEE"/>
                          </a:solidFill>
                          <a:latin typeface="Menlo"/>
                        </a:rPr>
                        <a:t>864 SEK</a:t>
                      </a:r>
                    </a:p>
                  </a:txBody>
                  <a:tcPr marL="73152" marR="73152" marT="18288" marB="18288" anchor="ctr">
                    <a:solidFill>
                      <a:srgbClr val="000000"/>
                    </a:solidFill>
                  </a:tcPr>
                </a:tc>
                <a:tc>
                  <a:txBody>
                    <a:bodyPr wrap="square"/>
                    <a:lstStyle/>
                    <a:p>
                      <a:pPr algn="l"/>
                      <a:r>
                        <a:rPr sz="1100" b="0">
                          <a:solidFill>
                            <a:srgbClr val="EFEEEE"/>
                          </a:solidFill>
                          <a:latin typeface="Helvetica Neue"/>
                        </a:rPr>
                        <a:t>gross / orders</a:t>
                      </a:r>
                    </a:p>
                  </a:txBody>
                  <a:tcPr marL="73152" marR="73152" marT="18288" marB="18288" anchor="ctr">
                    <a:solidFill>
                      <a:srgbClr val="000000"/>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Run rate: about 135M SEK/year gross, 165M incl VAT. GA4 would imply roughly a third of that, which is why measurement is lever one. RPV grows by lifting conversion (checkout), order value (box ladder) and repeat (subscription).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The Equation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RPV = Conversion x Order Value</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Four levers move the northstar: traffic quality, conversion, order value, and repeat. The real numbers, corrected against Shopify.</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sp>
        <p:nvSpPr>
          <p:cNvPr id="11" name="Rounded Rectangle 10"/>
          <p:cNvSpPr/>
          <p:nvPr/>
        </p:nvSpPr>
        <p:spPr>
          <a:xfrm>
            <a:off x="79232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868 SEK</a:t>
            </a:r>
          </a:p>
        </p:txBody>
      </p:sp>
      <p:sp>
        <p:nvSpPr>
          <p:cNvPr id="13" name="TextBox 12"/>
          <p:cNvSpPr txBox="1"/>
          <p:nvPr/>
        </p:nvSpPr>
        <p:spPr>
          <a:xfrm>
            <a:off x="79232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True AOV (Shopify)</a:t>
            </a:r>
          </a:p>
        </p:txBody>
      </p:sp>
      <p:sp>
        <p:nvSpPr>
          <p:cNvPr id="14" name="TextBox 13"/>
          <p:cNvSpPr txBox="1"/>
          <p:nvPr/>
        </p:nvSpPr>
        <p:spPr>
          <a:xfrm>
            <a:off x="79232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GA4 overstated it at 1,017</a:t>
            </a:r>
          </a:p>
        </p:txBody>
      </p:sp>
      <p:sp>
        <p:nvSpPr>
          <p:cNvPr id="15" name="Rounded Rectangle 14"/>
          <p:cNvSpPr/>
          <p:nvPr/>
        </p:nvSpPr>
        <p:spPr>
          <a:xfrm>
            <a:off x="351266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633472"/>
            <a:ext cx="2446020" cy="502920"/>
          </a:xfrm>
          <a:prstGeom prst="rect">
            <a:avLst/>
          </a:prstGeom>
          <a:noFill/>
        </p:spPr>
        <p:txBody>
          <a:bodyPr wrap="square" lIns="0" rIns="0" tIns="0" bIns="0" anchor="t">
            <a:spAutoFit/>
          </a:bodyPr>
          <a:lstStyle/>
          <a:p>
            <a:pPr algn="ctr"/>
            <a:r>
              <a:rPr sz="3000" b="1" i="0">
                <a:solidFill>
                  <a:srgbClr val="F7D007"/>
                </a:solidFill>
                <a:latin typeface="Menlo"/>
              </a:rPr>
              <a:t>99 SEK</a:t>
            </a:r>
          </a:p>
        </p:txBody>
      </p:sp>
      <p:sp>
        <p:nvSpPr>
          <p:cNvPr id="17" name="TextBox 16"/>
          <p:cNvSpPr txBox="1"/>
          <p:nvPr/>
        </p:nvSpPr>
        <p:spPr>
          <a:xfrm>
            <a:off x="351266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RPV / session</a:t>
            </a:r>
          </a:p>
        </p:txBody>
      </p:sp>
      <p:sp>
        <p:nvSpPr>
          <p:cNvPr id="18" name="TextBox 17"/>
          <p:cNvSpPr txBox="1"/>
          <p:nvPr/>
        </p:nvSpPr>
        <p:spPr>
          <a:xfrm>
            <a:off x="351266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33.3M / 336,855 sessions</a:t>
            </a:r>
          </a:p>
        </p:txBody>
      </p:sp>
      <p:sp>
        <p:nvSpPr>
          <p:cNvPr id="19" name="Rounded Rectangle 18"/>
          <p:cNvSpPr/>
          <p:nvPr/>
        </p:nvSpPr>
        <p:spPr>
          <a:xfrm>
            <a:off x="623300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633472"/>
            <a:ext cx="2446020" cy="502920"/>
          </a:xfrm>
          <a:prstGeom prst="rect">
            <a:avLst/>
          </a:prstGeom>
          <a:noFill/>
        </p:spPr>
        <p:txBody>
          <a:bodyPr wrap="square" lIns="0" rIns="0" tIns="0" bIns="0" anchor="t">
            <a:spAutoFit/>
          </a:bodyPr>
          <a:lstStyle/>
          <a:p>
            <a:pPr algn="ctr"/>
            <a:r>
              <a:rPr sz="3000" b="1" i="0">
                <a:solidFill>
                  <a:srgbClr val="FFFFFF"/>
                </a:solidFill>
                <a:latin typeface="Menlo"/>
              </a:rPr>
              <a:t>38,306</a:t>
            </a:r>
          </a:p>
        </p:txBody>
      </p:sp>
      <p:sp>
        <p:nvSpPr>
          <p:cNvPr id="21" name="TextBox 20"/>
          <p:cNvSpPr txBox="1"/>
          <p:nvPr/>
        </p:nvSpPr>
        <p:spPr>
          <a:xfrm>
            <a:off x="623300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Real Orders / 90d</a:t>
            </a:r>
          </a:p>
        </p:txBody>
      </p:sp>
      <p:sp>
        <p:nvSpPr>
          <p:cNvPr id="22" name="TextBox 21"/>
          <p:cNvSpPr txBox="1"/>
          <p:nvPr/>
        </p:nvSpPr>
        <p:spPr>
          <a:xfrm>
            <a:off x="623300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3.3x the GA4 count</a:t>
            </a:r>
          </a:p>
        </p:txBody>
      </p:sp>
      <p:sp>
        <p:nvSpPr>
          <p:cNvPr id="23" name="Rounded Rectangle 22"/>
          <p:cNvSpPr/>
          <p:nvPr/>
        </p:nvSpPr>
        <p:spPr>
          <a:xfrm>
            <a:off x="8953347" y="2377440"/>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633472"/>
            <a:ext cx="2446020" cy="502920"/>
          </a:xfrm>
          <a:prstGeom prst="rect">
            <a:avLst/>
          </a:prstGeom>
          <a:noFill/>
        </p:spPr>
        <p:txBody>
          <a:bodyPr wrap="square" lIns="0" rIns="0" tIns="0" bIns="0" anchor="t">
            <a:spAutoFit/>
          </a:bodyPr>
          <a:lstStyle/>
          <a:p>
            <a:pPr algn="ctr"/>
            <a:r>
              <a:rPr sz="3000" b="1" i="0">
                <a:solidFill>
                  <a:srgbClr val="22C55E"/>
                </a:solidFill>
                <a:latin typeface="Menlo"/>
              </a:rPr>
              <a:t>66%</a:t>
            </a:r>
          </a:p>
        </p:txBody>
      </p:sp>
      <p:sp>
        <p:nvSpPr>
          <p:cNvPr id="25" name="TextBox 24"/>
          <p:cNvSpPr txBox="1"/>
          <p:nvPr/>
        </p:nvSpPr>
        <p:spPr>
          <a:xfrm>
            <a:off x="8953347" y="3163824"/>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Buyers</a:t>
            </a:r>
          </a:p>
        </p:txBody>
      </p:sp>
      <p:sp>
        <p:nvSpPr>
          <p:cNvPr id="26" name="TextBox 25"/>
          <p:cNvSpPr txBox="1"/>
          <p:nvPr/>
        </p:nvSpPr>
        <p:spPr>
          <a:xfrm>
            <a:off x="8953347" y="3401568"/>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the repeat engine is on</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RPV = Shopify gross 33.3M / Shopify sessions 336,855 = ~99 SEK per session, roughly 2.7x the Shopify benchmark. The levers with the most room are checkout conversion and subscription sign ups; measurement is what lets us steer them.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39</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GA4 Rates + Shopify Revenue · Directional</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New Customer Conversion Gap</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New visitors are about twice the volume of returning ones, but they convert lower and bring only a quarter of revenue. Lifting new customer conversion toward the returning rate is the biggest immediate and lasting lift, and taste clarity is the lever.</a:t>
            </a:r>
          </a:p>
        </p:txBody>
      </p:sp>
      <p:sp>
        <p:nvSpPr>
          <p:cNvPr id="10" name="TextBox 9"/>
          <p:cNvSpPr txBox="1"/>
          <p:nvPr/>
        </p:nvSpPr>
        <p:spPr>
          <a:xfrm>
            <a:off x="640080" y="2286000"/>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GA4 · 90 days · 25 April to 23 July 2026 · directional</a:t>
            </a:r>
          </a:p>
        </p:txBody>
      </p:sp>
      <p:sp>
        <p:nvSpPr>
          <p:cNvPr id="11" name="Rounded Rectangle 10"/>
          <p:cNvSpPr/>
          <p:nvPr/>
        </p:nvSpPr>
        <p:spPr>
          <a:xfrm>
            <a:off x="792327" y="2596896"/>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327" y="2852928"/>
            <a:ext cx="2446020" cy="502920"/>
          </a:xfrm>
          <a:prstGeom prst="rect">
            <a:avLst/>
          </a:prstGeom>
          <a:noFill/>
        </p:spPr>
        <p:txBody>
          <a:bodyPr wrap="square" lIns="0" rIns="0" tIns="0" bIns="0" anchor="t">
            <a:spAutoFit/>
          </a:bodyPr>
          <a:lstStyle/>
          <a:p>
            <a:pPr algn="ctr"/>
            <a:r>
              <a:rPr sz="3000" b="1" i="0">
                <a:solidFill>
                  <a:srgbClr val="F59E0B"/>
                </a:solidFill>
                <a:latin typeface="Menlo"/>
              </a:rPr>
              <a:t>2.62%</a:t>
            </a:r>
          </a:p>
        </p:txBody>
      </p:sp>
      <p:sp>
        <p:nvSpPr>
          <p:cNvPr id="13" name="TextBox 12"/>
          <p:cNvSpPr txBox="1"/>
          <p:nvPr/>
        </p:nvSpPr>
        <p:spPr>
          <a:xfrm>
            <a:off x="79232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Visitor CVR</a:t>
            </a:r>
          </a:p>
        </p:txBody>
      </p:sp>
      <p:sp>
        <p:nvSpPr>
          <p:cNvPr id="14" name="TextBox 13"/>
          <p:cNvSpPr txBox="1"/>
          <p:nvPr/>
        </p:nvSpPr>
        <p:spPr>
          <a:xfrm>
            <a:off x="79232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GA4, directional</a:t>
            </a:r>
          </a:p>
        </p:txBody>
      </p:sp>
      <p:sp>
        <p:nvSpPr>
          <p:cNvPr id="15" name="Rounded Rectangle 14"/>
          <p:cNvSpPr/>
          <p:nvPr/>
        </p:nvSpPr>
        <p:spPr>
          <a:xfrm>
            <a:off x="3512667" y="2596896"/>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2667" y="2852928"/>
            <a:ext cx="2446020" cy="502920"/>
          </a:xfrm>
          <a:prstGeom prst="rect">
            <a:avLst/>
          </a:prstGeom>
          <a:noFill/>
        </p:spPr>
        <p:txBody>
          <a:bodyPr wrap="square" lIns="0" rIns="0" tIns="0" bIns="0" anchor="t">
            <a:spAutoFit/>
          </a:bodyPr>
          <a:lstStyle/>
          <a:p>
            <a:pPr algn="ctr"/>
            <a:r>
              <a:rPr sz="3000" b="1" i="0">
                <a:solidFill>
                  <a:srgbClr val="22C55E"/>
                </a:solidFill>
                <a:latin typeface="Menlo"/>
              </a:rPr>
              <a:t>3.42%</a:t>
            </a:r>
          </a:p>
        </p:txBody>
      </p:sp>
      <p:sp>
        <p:nvSpPr>
          <p:cNvPr id="17" name="TextBox 16"/>
          <p:cNvSpPr txBox="1"/>
          <p:nvPr/>
        </p:nvSpPr>
        <p:spPr>
          <a:xfrm>
            <a:off x="351266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Returning Visitor CVR</a:t>
            </a:r>
          </a:p>
        </p:txBody>
      </p:sp>
      <p:sp>
        <p:nvSpPr>
          <p:cNvPr id="18" name="TextBox 17"/>
          <p:cNvSpPr txBox="1"/>
          <p:nvPr/>
        </p:nvSpPr>
        <p:spPr>
          <a:xfrm>
            <a:off x="351266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~1.3x new (GA4)</a:t>
            </a:r>
          </a:p>
        </p:txBody>
      </p:sp>
      <p:sp>
        <p:nvSpPr>
          <p:cNvPr id="19" name="Rounded Rectangle 18"/>
          <p:cNvSpPr/>
          <p:nvPr/>
        </p:nvSpPr>
        <p:spPr>
          <a:xfrm>
            <a:off x="6233007" y="2596896"/>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2852928"/>
            <a:ext cx="2446020" cy="502920"/>
          </a:xfrm>
          <a:prstGeom prst="rect">
            <a:avLst/>
          </a:prstGeom>
          <a:noFill/>
        </p:spPr>
        <p:txBody>
          <a:bodyPr wrap="square" lIns="0" rIns="0" tIns="0" bIns="0" anchor="t">
            <a:spAutoFit/>
          </a:bodyPr>
          <a:lstStyle/>
          <a:p>
            <a:pPr algn="ctr"/>
            <a:r>
              <a:rPr sz="3000" b="1" i="0">
                <a:solidFill>
                  <a:srgbClr val="F59E0B"/>
                </a:solidFill>
                <a:latin typeface="Menlo"/>
              </a:rPr>
              <a:t>25%</a:t>
            </a:r>
          </a:p>
        </p:txBody>
      </p:sp>
      <p:sp>
        <p:nvSpPr>
          <p:cNvPr id="21" name="TextBox 20"/>
          <p:cNvSpPr txBox="1"/>
          <p:nvPr/>
        </p:nvSpPr>
        <p:spPr>
          <a:xfrm>
            <a:off x="623300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Customer Revenue</a:t>
            </a:r>
          </a:p>
        </p:txBody>
      </p:sp>
      <p:sp>
        <p:nvSpPr>
          <p:cNvPr id="22" name="TextBox 21"/>
          <p:cNvSpPr txBox="1"/>
          <p:nvPr/>
        </p:nvSpPr>
        <p:spPr>
          <a:xfrm>
            <a:off x="623300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Shopify: 10.9M of 43.7M</a:t>
            </a:r>
          </a:p>
        </p:txBody>
      </p:sp>
      <p:sp>
        <p:nvSpPr>
          <p:cNvPr id="23" name="Rounded Rectangle 22"/>
          <p:cNvSpPr/>
          <p:nvPr/>
        </p:nvSpPr>
        <p:spPr>
          <a:xfrm>
            <a:off x="8953347" y="2596896"/>
            <a:ext cx="2446020" cy="146304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3347" y="2852928"/>
            <a:ext cx="2446020" cy="502920"/>
          </a:xfrm>
          <a:prstGeom prst="rect">
            <a:avLst/>
          </a:prstGeom>
          <a:noFill/>
        </p:spPr>
        <p:txBody>
          <a:bodyPr wrap="square" lIns="0" rIns="0" tIns="0" bIns="0" anchor="t">
            <a:spAutoFit/>
          </a:bodyPr>
          <a:lstStyle/>
          <a:p>
            <a:pPr algn="ctr"/>
            <a:r>
              <a:rPr sz="3000" b="1" i="0">
                <a:solidFill>
                  <a:srgbClr val="22C55E"/>
                </a:solidFill>
                <a:latin typeface="Menlo"/>
              </a:rPr>
              <a:t>+30%</a:t>
            </a:r>
          </a:p>
        </p:txBody>
      </p:sp>
      <p:sp>
        <p:nvSpPr>
          <p:cNvPr id="25" name="TextBox 24"/>
          <p:cNvSpPr txBox="1"/>
          <p:nvPr/>
        </p:nvSpPr>
        <p:spPr>
          <a:xfrm>
            <a:off x="8953347" y="338328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New Orders If Gap Closes</a:t>
            </a:r>
          </a:p>
        </p:txBody>
      </p:sp>
      <p:sp>
        <p:nvSpPr>
          <p:cNvPr id="26" name="TextBox 25"/>
          <p:cNvSpPr txBox="1"/>
          <p:nvPr/>
        </p:nvSpPr>
        <p:spPr>
          <a:xfrm>
            <a:off x="8953347" y="362102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~+3,300 orders, +3.3M SEK (Est.)</a:t>
            </a:r>
          </a:p>
        </p:txBody>
      </p:sp>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GA4 tracks fewer purchases than Shopify (about 31% of orders), so read the counts as directional; we use the rates, not the absolutes, and the gap holds regardless of the undercount. Revenue split is Shopify (source of truth): new customers are 26% of orders and 25% of revenue. The lever to close the gap is removing the biggest new buyer hesitations: taste clarity first, then legality reassurance and a believable delivery promise. Every new customer converted compounds, because they become the returning base that already drives 75% of revenue.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RPV · The AOV Engine</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Boxes Are the Business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Tasting boxes are 76% of net sales at near full price. The realized blended discount is only 3.4%, so the on-site "-45%" flags are theatre, not margin loss.</a:t>
            </a:r>
          </a:p>
        </p:txBody>
      </p:sp>
      <p:sp>
        <p:nvSpPr>
          <p:cNvPr id="10" name="TextBox 9"/>
          <p:cNvSpPr txBox="1"/>
          <p:nvPr/>
        </p:nvSpPr>
        <p:spPr>
          <a:xfrm>
            <a:off x="640080" y="2066544"/>
            <a:ext cx="10911535" cy="228600"/>
          </a:xfrm>
          <a:prstGeom prst="rect">
            <a:avLst/>
          </a:prstGeom>
          <a:noFill/>
        </p:spPr>
        <p:txBody>
          <a:bodyPr wrap="square" lIns="0" rIns="0" tIns="0" bIns="0" anchor="t">
            <a:spAutoFit/>
          </a:bodyPr>
          <a:lstStyle/>
          <a:p>
            <a:pPr algn="ctr"/>
            <a:r>
              <a:rPr sz="1000" b="0" i="0" spc="100">
                <a:solidFill>
                  <a:srgbClr val="6B7C75"/>
                </a:solidFill>
                <a:latin typeface="Menlo"/>
              </a:rPr>
              <a:t>Shopify · 90 days · 25 April to 23 July 2026</a:t>
            </a:r>
          </a:p>
        </p:txBody>
      </p:sp>
      <p:graphicFrame>
        <p:nvGraphicFramePr>
          <p:cNvPr id="11" name="Table 10"/>
          <p:cNvGraphicFramePr>
            <a:graphicFrameLocks noGrp="1"/>
          </p:cNvGraphicFramePr>
          <p:nvPr/>
        </p:nvGraphicFramePr>
        <p:xfrm>
          <a:off x="883767" y="2377440"/>
          <a:ext cx="10424156" cy="1828800"/>
        </p:xfrm>
        <a:graphic>
          <a:graphicData uri="http://schemas.openxmlformats.org/drawingml/2006/table">
            <a:tbl>
              <a:tblPr>
                <a:tableStyleId>{2D5ABB26-0587-4C30-8999-92F81FD0307C}</a:tableStyleId>
              </a:tblPr>
              <a:tblGrid>
                <a:gridCol w="3356932"/>
                <a:gridCol w="1766806"/>
                <a:gridCol w="1766806"/>
                <a:gridCol w="1766806"/>
                <a:gridCol w="1766806"/>
              </a:tblGrid>
              <a:tr h="365760">
                <a:tc>
                  <a:txBody>
                    <a:bodyPr wrap="square"/>
                    <a:lstStyle/>
                    <a:p>
                      <a:pPr algn="l"/>
                      <a:r>
                        <a:rPr sz="900" b="1" spc="100">
                          <a:solidFill>
                            <a:srgbClr val="999999"/>
                          </a:solidFill>
                          <a:latin typeface="Helvetica Neue"/>
                        </a:rPr>
                        <a:t>SEGMENT</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UNITS 91D</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SHARE OF NET SALES</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AVG PRICE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REALIZED DISCOUNT</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Tasting boxes (vinlådor)</a:t>
                      </a:r>
                    </a:p>
                  </a:txBody>
                  <a:tcPr marL="73152" marR="73152" marT="18288" marB="18288" anchor="ctr">
                    <a:solidFill>
                      <a:srgbClr val="000000"/>
                    </a:solidFill>
                  </a:tcPr>
                </a:tc>
                <a:tc>
                  <a:txBody>
                    <a:bodyPr wrap="square"/>
                    <a:lstStyle/>
                    <a:p>
                      <a:pPr algn="r"/>
                      <a:r>
                        <a:rPr sz="1100" b="0">
                          <a:solidFill>
                            <a:srgbClr val="EFEEEE"/>
                          </a:solidFill>
                          <a:latin typeface="Menlo"/>
                        </a:rPr>
                        <a:t>43,617</a:t>
                      </a:r>
                    </a:p>
                  </a:txBody>
                  <a:tcPr marL="73152" marR="73152" marT="18288" marB="18288" anchor="ctr">
                    <a:solidFill>
                      <a:srgbClr val="000000"/>
                    </a:solidFill>
                  </a:tcPr>
                </a:tc>
                <a:tc>
                  <a:txBody>
                    <a:bodyPr wrap="square"/>
                    <a:lstStyle/>
                    <a:p>
                      <a:pPr algn="r"/>
                      <a:r>
                        <a:rPr sz="1100" b="0">
                          <a:solidFill>
                            <a:srgbClr val="22C55E"/>
                          </a:solidFill>
                          <a:latin typeface="Menlo"/>
                        </a:rPr>
                        <a:t>76.3%</a:t>
                      </a:r>
                    </a:p>
                  </a:txBody>
                  <a:tcPr marL="73152" marR="73152" marT="18288" marB="18288" anchor="ctr">
                    <a:solidFill>
                      <a:srgbClr val="000000"/>
                    </a:solidFill>
                  </a:tcPr>
                </a:tc>
                <a:tc>
                  <a:txBody>
                    <a:bodyPr wrap="square"/>
                    <a:lstStyle/>
                    <a:p>
                      <a:pPr algn="r"/>
                      <a:r>
                        <a:rPr sz="1100" b="0">
                          <a:solidFill>
                            <a:srgbClr val="EFEEEE"/>
                          </a:solidFill>
                          <a:latin typeface="Menlo"/>
                        </a:rPr>
                        <a:t>567 SEK</a:t>
                      </a:r>
                    </a:p>
                  </a:txBody>
                  <a:tcPr marL="73152" marR="73152" marT="18288" marB="18288" anchor="ctr">
                    <a:solidFill>
                      <a:srgbClr val="000000"/>
                    </a:solidFill>
                  </a:tcPr>
                </a:tc>
                <a:tc>
                  <a:txBody>
                    <a:bodyPr wrap="square"/>
                    <a:lstStyle/>
                    <a:p>
                      <a:pPr algn="r"/>
                      <a:r>
                        <a:rPr sz="1100" b="0">
                          <a:solidFill>
                            <a:srgbClr val="22C55E"/>
                          </a:solidFill>
                          <a:latin typeface="Menlo"/>
                        </a:rPr>
                        <a:t>1.2%</a:t>
                      </a:r>
                    </a:p>
                  </a:txBody>
                  <a:tcPr marL="73152" marR="73152" marT="18288" marB="18288" anchor="ctr">
                    <a:solidFill>
                      <a:srgbClr val="000000"/>
                    </a:solidFill>
                  </a:tcPr>
                </a:tc>
              </a:tr>
              <a:tr h="365760">
                <a:tc>
                  <a:txBody>
                    <a:bodyPr wrap="square"/>
                    <a:lstStyle/>
                    <a:p>
                      <a:pPr algn="l"/>
                      <a:r>
                        <a:rPr sz="1100" b="1">
                          <a:solidFill>
                            <a:srgbClr val="EFEEEE"/>
                          </a:solidFill>
                          <a:latin typeface="Helvetica Neue"/>
                        </a:rPr>
                        <a:t>Single red bottles</a:t>
                      </a:r>
                    </a:p>
                  </a:txBody>
                  <a:tcPr marL="73152" marR="73152" marT="18288" marB="18288" anchor="ctr">
                    <a:solidFill>
                      <a:srgbClr val="0B0B0B"/>
                    </a:solidFill>
                  </a:tcPr>
                </a:tc>
                <a:tc>
                  <a:txBody>
                    <a:bodyPr wrap="square"/>
                    <a:lstStyle/>
                    <a:p>
                      <a:pPr algn="r"/>
                      <a:r>
                        <a:rPr sz="1100" b="0">
                          <a:solidFill>
                            <a:srgbClr val="EFEEEE"/>
                          </a:solidFill>
                          <a:latin typeface="Menlo"/>
                        </a:rPr>
                        <a:t>11,396</a:t>
                      </a:r>
                    </a:p>
                  </a:txBody>
                  <a:tcPr marL="73152" marR="73152" marT="18288" marB="18288" anchor="ctr">
                    <a:solidFill>
                      <a:srgbClr val="0B0B0B"/>
                    </a:solidFill>
                  </a:tcPr>
                </a:tc>
                <a:tc>
                  <a:txBody>
                    <a:bodyPr wrap="square"/>
                    <a:lstStyle/>
                    <a:p>
                      <a:pPr algn="r"/>
                      <a:r>
                        <a:rPr sz="1100" b="0">
                          <a:solidFill>
                            <a:srgbClr val="EFEEEE"/>
                          </a:solidFill>
                          <a:latin typeface="Menlo"/>
                        </a:rPr>
                        <a:t>12%</a:t>
                      </a:r>
                    </a:p>
                  </a:txBody>
                  <a:tcPr marL="73152" marR="73152" marT="18288" marB="18288" anchor="ctr">
                    <a:solidFill>
                      <a:srgbClr val="0B0B0B"/>
                    </a:solidFill>
                  </a:tcPr>
                </a:tc>
                <a:tc>
                  <a:txBody>
                    <a:bodyPr wrap="square"/>
                    <a:lstStyle/>
                    <a:p>
                      <a:pPr algn="r"/>
                      <a:r>
                        <a:rPr sz="1100" b="0">
                          <a:solidFill>
                            <a:srgbClr val="EFEEEE"/>
                          </a:solidFill>
                          <a:latin typeface="Menlo"/>
                        </a:rPr>
                        <a:t>~400 SEK</a:t>
                      </a:r>
                    </a:p>
                  </a:txBody>
                  <a:tcPr marL="73152" marR="73152" marT="18288" marB="18288" anchor="ctr">
                    <a:solidFill>
                      <a:srgbClr val="0B0B0B"/>
                    </a:solidFill>
                  </a:tcPr>
                </a:tc>
                <a:tc>
                  <a:txBody>
                    <a:bodyPr wrap="square"/>
                    <a:lstStyle/>
                    <a:p>
                      <a:pPr algn="r"/>
                      <a:r>
                        <a:rPr sz="1100" b="0">
                          <a:solidFill>
                            <a:srgbClr val="EF4444"/>
                          </a:solidFill>
                          <a:latin typeface="Menlo"/>
                        </a:rPr>
                        <a:t>18.4%</a:t>
                      </a:r>
                    </a:p>
                  </a:txBody>
                  <a:tcPr marL="73152" marR="73152" marT="18288" marB="18288" anchor="ctr">
                    <a:solidFill>
                      <a:srgbClr val="0B0B0B"/>
                    </a:solidFill>
                  </a:tcPr>
                </a:tc>
              </a:tr>
              <a:tr h="365760">
                <a:tc>
                  <a:txBody>
                    <a:bodyPr wrap="square"/>
                    <a:lstStyle/>
                    <a:p>
                      <a:pPr algn="l"/>
                      <a:r>
                        <a:rPr sz="1100" b="1">
                          <a:solidFill>
                            <a:srgbClr val="EFEEEE"/>
                          </a:solidFill>
                          <a:latin typeface="Helvetica Neue"/>
                        </a:rPr>
                        <a:t>Premium boxes (Grill, Guld, Deluxe)</a:t>
                      </a:r>
                    </a:p>
                  </a:txBody>
                  <a:tcPr marL="73152" marR="73152" marT="18288" marB="18288" anchor="ctr">
                    <a:solidFill>
                      <a:srgbClr val="000000"/>
                    </a:solidFill>
                  </a:tcPr>
                </a:tc>
                <a:tc>
                  <a:txBody>
                    <a:bodyPr wrap="square"/>
                    <a:lstStyle/>
                    <a:p>
                      <a:pPr algn="r"/>
                      <a:r>
                        <a:rPr sz="1100" b="0">
                          <a:solidFill>
                            <a:srgbClr val="EFEEEE"/>
                          </a:solidFill>
                          <a:latin typeface="Menlo"/>
                        </a:rPr>
                        <a:t>2,668</a:t>
                      </a:r>
                    </a:p>
                  </a:txBody>
                  <a:tcPr marL="73152" marR="73152" marT="18288" marB="18288" anchor="ctr">
                    <a:solidFill>
                      <a:srgbClr val="000000"/>
                    </a:solidFill>
                  </a:tcPr>
                </a:tc>
                <a:tc>
                  <a:txBody>
                    <a:bodyPr wrap="square"/>
                    <a:lstStyle/>
                    <a:p>
                      <a:pPr algn="r"/>
                      <a:r>
                        <a:rPr sz="1100" b="0">
                          <a:solidFill>
                            <a:srgbClr val="EFEEEE"/>
                          </a:solidFill>
                          <a:latin typeface="Menlo"/>
                        </a:rPr>
                        <a:t>7%</a:t>
                      </a:r>
                    </a:p>
                  </a:txBody>
                  <a:tcPr marL="73152" marR="73152" marT="18288" marB="18288" anchor="ctr">
                    <a:solidFill>
                      <a:srgbClr val="000000"/>
                    </a:solidFill>
                  </a:tcPr>
                </a:tc>
                <a:tc>
                  <a:txBody>
                    <a:bodyPr wrap="square"/>
                    <a:lstStyle/>
                    <a:p>
                      <a:pPr algn="r"/>
                      <a:r>
                        <a:rPr sz="1100" b="0">
                          <a:solidFill>
                            <a:srgbClr val="EFEEEE"/>
                          </a:solidFill>
                          <a:latin typeface="Menlo"/>
                        </a:rPr>
                        <a:t>700 to 865 SEK</a:t>
                      </a:r>
                    </a:p>
                  </a:txBody>
                  <a:tcPr marL="73152" marR="73152" marT="18288" marB="18288" anchor="ctr">
                    <a:solidFill>
                      <a:srgbClr val="000000"/>
                    </a:solidFill>
                  </a:tcPr>
                </a:tc>
                <a:tc>
                  <a:txBody>
                    <a:bodyPr wrap="square"/>
                    <a:lstStyle/>
                    <a:p>
                      <a:pPr algn="r"/>
                      <a:r>
                        <a:rPr sz="1100" b="0">
                          <a:solidFill>
                            <a:srgbClr val="EFEEEE"/>
                          </a:solidFill>
                          <a:latin typeface="Menlo"/>
                        </a:rPr>
                        <a:t>2 to 5%</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Subscription (3 tiers)</a:t>
                      </a:r>
                    </a:p>
                  </a:txBody>
                  <a:tcPr marL="73152" marR="73152" marT="18288" marB="18288" anchor="ctr">
                    <a:solidFill>
                      <a:srgbClr val="0B0B0B"/>
                    </a:solidFill>
                  </a:tcPr>
                </a:tc>
                <a:tc>
                  <a:txBody>
                    <a:bodyPr wrap="square"/>
                    <a:lstStyle/>
                    <a:p>
                      <a:pPr algn="r"/>
                      <a:r>
                        <a:rPr sz="1100" b="0">
                          <a:solidFill>
                            <a:srgbClr val="EFEEEE"/>
                          </a:solidFill>
                          <a:latin typeface="Menlo"/>
                        </a:rPr>
                        <a:t>live</a:t>
                      </a:r>
                    </a:p>
                  </a:txBody>
                  <a:tcPr marL="73152" marR="73152" marT="18288" marB="18288" anchor="ctr">
                    <a:solidFill>
                      <a:srgbClr val="0B0B0B"/>
                    </a:solidFill>
                  </a:tcPr>
                </a:tc>
                <a:tc>
                  <a:txBody>
                    <a:bodyPr wrap="square"/>
                    <a:lstStyle/>
                    <a:p>
                      <a:pPr algn="r"/>
                      <a:r>
                        <a:rPr sz="1100" b="0">
                          <a:solidFill>
                            <a:srgbClr val="F59E0B"/>
                          </a:solidFill>
                          <a:latin typeface="Menlo"/>
                        </a:rPr>
                        <a:t>101 orders / 90d</a:t>
                      </a:r>
                    </a:p>
                  </a:txBody>
                  <a:tcPr marL="73152" marR="73152" marT="18288" marB="18288" anchor="ctr">
                    <a:solidFill>
                      <a:srgbClr val="0B0B0B"/>
                    </a:solidFill>
                  </a:tcPr>
                </a:tc>
                <a:tc>
                  <a:txBody>
                    <a:bodyPr wrap="square"/>
                    <a:lstStyle/>
                    <a:p>
                      <a:pPr algn="r"/>
                      <a:r>
                        <a:rPr sz="1100" b="0">
                          <a:solidFill>
                            <a:srgbClr val="EFEEEE"/>
                          </a:solidFill>
                          <a:latin typeface="Menlo"/>
                        </a:rPr>
                        <a:t>749-849 SEK</a:t>
                      </a:r>
                    </a:p>
                  </a:txBody>
                  <a:tcPr marL="73152" marR="73152" marT="18288" marB="18288" anchor="ctr">
                    <a:solidFill>
                      <a:srgbClr val="0B0B0B"/>
                    </a:solidFill>
                  </a:tcPr>
                </a:tc>
                <a:tc>
                  <a:txBody>
                    <a:bodyPr wrap="square"/>
                    <a:lstStyle/>
                    <a:p>
                      <a:pPr algn="r"/>
                      <a:r>
                        <a:rPr sz="1100" b="0">
                          <a:solidFill>
                            <a:srgbClr val="EFEEEE"/>
                          </a:solidFill>
                          <a:latin typeface="Menlo"/>
                        </a:rPr>
                        <a:t>0%</a:t>
                      </a:r>
                    </a:p>
                  </a:txBody>
                  <a:tcPr marL="73152" marR="73152" marT="18288" marB="18288" anchor="ctr">
                    <a:solidFill>
                      <a:srgbClr val="0B0B0B"/>
                    </a:solidFill>
                  </a:tcPr>
                </a:tc>
              </a:tr>
            </a:tbl>
          </a:graphicData>
        </a:graphic>
      </p:graphicFrame>
      <p:sp>
        <p:nvSpPr>
          <p:cNvPr id="12" name="TextBox 11"/>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Top 2 SKUs (THE FANTINI BOX, XL Introlåda) = 26.5% of net sales. Top 30 SKUs (6% of the catalog) = 80%. The AOV lever is a box ladder (move the 567 SEK buyer up to the 700 SEK+ premium tiers) plus growing the existing subscription sign ups, not more discounting.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EcomHouse · Proven Winners</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RPV Wins We Have Shipped</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same levers in this roadmap, run as A/B tests for other EU ecom brands. Client names under NDA, every one lifted revenue per visitor.</a:t>
            </a:r>
          </a:p>
        </p:txBody>
      </p:sp>
      <p:graphicFrame>
        <p:nvGraphicFramePr>
          <p:cNvPr id="10" name="Table 9"/>
          <p:cNvGraphicFramePr>
            <a:graphicFrameLocks noGrp="1"/>
          </p:cNvGraphicFramePr>
          <p:nvPr/>
        </p:nvGraphicFramePr>
        <p:xfrm>
          <a:off x="883767" y="2103120"/>
          <a:ext cx="10424158" cy="2560320"/>
        </p:xfrm>
        <a:graphic>
          <a:graphicData uri="http://schemas.openxmlformats.org/drawingml/2006/table">
            <a:tbl>
              <a:tblPr>
                <a:tableStyleId>{2D5ABB26-0587-4C30-8999-92F81FD0307C}</a:tableStyleId>
              </a:tblPr>
              <a:tblGrid>
                <a:gridCol w="5078436"/>
                <a:gridCol w="2672861"/>
                <a:gridCol w="2672861"/>
              </a:tblGrid>
              <a:tr h="365760">
                <a:tc>
                  <a:txBody>
                    <a:bodyPr wrap="square"/>
                    <a:lstStyle/>
                    <a:p>
                      <a:pPr algn="l"/>
                      <a:r>
                        <a:rPr sz="900" b="1" spc="100">
                          <a:solidFill>
                            <a:srgbClr val="999999"/>
                          </a:solidFill>
                          <a:latin typeface="Helvetica Neue"/>
                        </a:rPr>
                        <a:t>TEST (ON THE PRODUCT PAGE)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UPLIFT CVR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UPLIFT RPV</a:t>
                      </a:r>
                    </a:p>
                  </a:txBody>
                  <a:tcPr marL="73152" marR="73152" marT="18288" marB="18288" anchor="ctr">
                    <a:solidFill>
                      <a:srgbClr val="0A0A0A"/>
                    </a:solidFill>
                  </a:tcPr>
                </a:tc>
              </a:tr>
              <a:tr h="365760">
                <a:tc>
                  <a:txBody>
                    <a:bodyPr wrap="square"/>
                    <a:lstStyle/>
                    <a:p>
                      <a:pPr algn="l"/>
                      <a:r>
                        <a:rPr sz="1100" b="1">
                          <a:solidFill>
                            <a:srgbClr val="F7D007"/>
                          </a:solidFill>
                          <a:latin typeface="Helvetica Neue"/>
                        </a:rPr>
                        <a:t>Trust section</a:t>
                      </a:r>
                    </a:p>
                  </a:txBody>
                  <a:tcPr marL="73152" marR="73152" marT="18288" marB="18288" anchor="ctr">
                    <a:solidFill>
                      <a:srgbClr val="000000"/>
                    </a:solidFill>
                  </a:tcPr>
                </a:tc>
                <a:tc>
                  <a:txBody>
                    <a:bodyPr wrap="square"/>
                    <a:lstStyle/>
                    <a:p>
                      <a:pPr algn="r"/>
                      <a:r>
                        <a:rPr sz="1100" b="0">
                          <a:solidFill>
                            <a:srgbClr val="EFEEEE"/>
                          </a:solidFill>
                          <a:latin typeface="Menlo"/>
                        </a:rPr>
                        <a:t>n/a</a:t>
                      </a:r>
                    </a:p>
                  </a:txBody>
                  <a:tcPr marL="73152" marR="73152" marT="18288" marB="18288" anchor="ctr">
                    <a:solidFill>
                      <a:srgbClr val="000000"/>
                    </a:solidFill>
                  </a:tcPr>
                </a:tc>
                <a:tc>
                  <a:txBody>
                    <a:bodyPr wrap="square"/>
                    <a:lstStyle/>
                    <a:p>
                      <a:pPr algn="r"/>
                      <a:r>
                        <a:rPr sz="1100" b="0">
                          <a:solidFill>
                            <a:srgbClr val="22C55E"/>
                          </a:solidFill>
                          <a:latin typeface="Menlo"/>
                        </a:rPr>
                        <a:t>+38.0%</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Sticky add to cart</a:t>
                      </a:r>
                    </a:p>
                  </a:txBody>
                  <a:tcPr marL="73152" marR="73152" marT="18288" marB="18288" anchor="ctr">
                    <a:solidFill>
                      <a:srgbClr val="0B0B0B"/>
                    </a:solidFill>
                  </a:tcPr>
                </a:tc>
                <a:tc>
                  <a:txBody>
                    <a:bodyPr wrap="square"/>
                    <a:lstStyle/>
                    <a:p>
                      <a:pPr algn="r"/>
                      <a:r>
                        <a:rPr sz="1100" b="0">
                          <a:solidFill>
                            <a:srgbClr val="22C55E"/>
                          </a:solidFill>
                          <a:latin typeface="Menlo"/>
                        </a:rPr>
                        <a:t>+25.3%</a:t>
                      </a:r>
                    </a:p>
                  </a:txBody>
                  <a:tcPr marL="73152" marR="73152" marT="18288" marB="18288" anchor="ctr">
                    <a:solidFill>
                      <a:srgbClr val="0B0B0B"/>
                    </a:solidFill>
                  </a:tcPr>
                </a:tc>
                <a:tc>
                  <a:txBody>
                    <a:bodyPr wrap="square"/>
                    <a:lstStyle/>
                    <a:p>
                      <a:pPr algn="r"/>
                      <a:r>
                        <a:rPr sz="1100" b="0">
                          <a:solidFill>
                            <a:srgbClr val="22C55E"/>
                          </a:solidFill>
                          <a:latin typeface="Menlo"/>
                        </a:rPr>
                        <a:t>+21.1%</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Volume discount display</a:t>
                      </a:r>
                    </a:p>
                  </a:txBody>
                  <a:tcPr marL="73152" marR="73152" marT="18288" marB="18288" anchor="ctr">
                    <a:solidFill>
                      <a:srgbClr val="000000"/>
                    </a:solidFill>
                  </a:tcPr>
                </a:tc>
                <a:tc>
                  <a:txBody>
                    <a:bodyPr wrap="square"/>
                    <a:lstStyle/>
                    <a:p>
                      <a:pPr algn="r"/>
                      <a:r>
                        <a:rPr sz="1100" b="0">
                          <a:solidFill>
                            <a:srgbClr val="22C55E"/>
                          </a:solidFill>
                          <a:latin typeface="Menlo"/>
                        </a:rPr>
                        <a:t>+13.5%</a:t>
                      </a:r>
                    </a:p>
                  </a:txBody>
                  <a:tcPr marL="73152" marR="73152" marT="18288" marB="18288" anchor="ctr">
                    <a:solidFill>
                      <a:srgbClr val="000000"/>
                    </a:solidFill>
                  </a:tcPr>
                </a:tc>
                <a:tc>
                  <a:txBody>
                    <a:bodyPr wrap="square"/>
                    <a:lstStyle/>
                    <a:p>
                      <a:pPr algn="r"/>
                      <a:r>
                        <a:rPr sz="1100" b="0">
                          <a:solidFill>
                            <a:srgbClr val="22C55E"/>
                          </a:solidFill>
                          <a:latin typeface="Menlo"/>
                        </a:rPr>
                        <a:t>+20.7%</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Product trust tags</a:t>
                      </a:r>
                    </a:p>
                  </a:txBody>
                  <a:tcPr marL="73152" marR="73152" marT="18288" marB="18288" anchor="ctr">
                    <a:solidFill>
                      <a:srgbClr val="0B0B0B"/>
                    </a:solidFill>
                  </a:tcPr>
                </a:tc>
                <a:tc>
                  <a:txBody>
                    <a:bodyPr wrap="square"/>
                    <a:lstStyle/>
                    <a:p>
                      <a:pPr algn="r"/>
                      <a:r>
                        <a:rPr sz="1100" b="0">
                          <a:solidFill>
                            <a:srgbClr val="22C55E"/>
                          </a:solidFill>
                          <a:latin typeface="Menlo"/>
                        </a:rPr>
                        <a:t>+13.2%</a:t>
                      </a:r>
                    </a:p>
                  </a:txBody>
                  <a:tcPr marL="73152" marR="73152" marT="18288" marB="18288" anchor="ctr">
                    <a:solidFill>
                      <a:srgbClr val="0B0B0B"/>
                    </a:solidFill>
                  </a:tcPr>
                </a:tc>
                <a:tc>
                  <a:txBody>
                    <a:bodyPr wrap="square"/>
                    <a:lstStyle/>
                    <a:p>
                      <a:pPr algn="r"/>
                      <a:r>
                        <a:rPr sz="1100" b="0">
                          <a:solidFill>
                            <a:srgbClr val="22C55E"/>
                          </a:solidFill>
                          <a:latin typeface="Menlo"/>
                        </a:rPr>
                        <a:t>+10.8%</a:t>
                      </a:r>
                    </a:p>
                  </a:txBody>
                  <a:tcPr marL="73152" marR="73152" marT="18288" marB="18288" anchor="ctr">
                    <a:solidFill>
                      <a:srgbClr val="0B0B0B"/>
                    </a:solidFill>
                  </a:tcPr>
                </a:tc>
              </a:tr>
              <a:tr h="365760">
                <a:tc>
                  <a:txBody>
                    <a:bodyPr wrap="square"/>
                    <a:lstStyle/>
                    <a:p>
                      <a:pPr algn="l"/>
                      <a:r>
                        <a:rPr sz="1100" b="1">
                          <a:solidFill>
                            <a:srgbClr val="F7D007"/>
                          </a:solidFill>
                          <a:latin typeface="Helvetica Neue"/>
                        </a:rPr>
                        <a:t>Quantity selector badge</a:t>
                      </a:r>
                    </a:p>
                  </a:txBody>
                  <a:tcPr marL="73152" marR="73152" marT="18288" marB="18288" anchor="ctr">
                    <a:solidFill>
                      <a:srgbClr val="000000"/>
                    </a:solidFill>
                  </a:tcPr>
                </a:tc>
                <a:tc>
                  <a:txBody>
                    <a:bodyPr wrap="square"/>
                    <a:lstStyle/>
                    <a:p>
                      <a:pPr algn="r"/>
                      <a:r>
                        <a:rPr sz="1100" b="0">
                          <a:solidFill>
                            <a:srgbClr val="22C55E"/>
                          </a:solidFill>
                          <a:latin typeface="Menlo"/>
                        </a:rPr>
                        <a:t>+5.8%</a:t>
                      </a:r>
                    </a:p>
                  </a:txBody>
                  <a:tcPr marL="73152" marR="73152" marT="18288" marB="18288" anchor="ctr">
                    <a:solidFill>
                      <a:srgbClr val="000000"/>
                    </a:solidFill>
                  </a:tcPr>
                </a:tc>
                <a:tc>
                  <a:txBody>
                    <a:bodyPr wrap="square"/>
                    <a:lstStyle/>
                    <a:p>
                      <a:pPr algn="r"/>
                      <a:r>
                        <a:rPr sz="1100" b="0">
                          <a:solidFill>
                            <a:srgbClr val="22C55E"/>
                          </a:solidFill>
                          <a:latin typeface="Menlo"/>
                        </a:rPr>
                        <a:t>+8.7%</a:t>
                      </a:r>
                    </a:p>
                  </a:txBody>
                  <a:tcPr marL="73152" marR="73152" marT="18288" marB="18288" anchor="ctr">
                    <a:solidFill>
                      <a:srgbClr val="000000"/>
                    </a:solidFill>
                  </a:tcPr>
                </a:tc>
              </a:tr>
              <a:tr h="365760">
                <a:tc>
                  <a:txBody>
                    <a:bodyPr wrap="square"/>
                    <a:lstStyle/>
                    <a:p>
                      <a:pPr algn="l"/>
                      <a:r>
                        <a:rPr sz="1100" b="1">
                          <a:solidFill>
                            <a:srgbClr val="F7D007"/>
                          </a:solidFill>
                          <a:latin typeface="Helvetica Neue"/>
                        </a:rPr>
                        <a:t>Above the fold redesign</a:t>
                      </a:r>
                    </a:p>
                  </a:txBody>
                  <a:tcPr marL="73152" marR="73152" marT="18288" marB="18288" anchor="ctr">
                    <a:solidFill>
                      <a:srgbClr val="0B0B0B"/>
                    </a:solidFill>
                  </a:tcPr>
                </a:tc>
                <a:tc>
                  <a:txBody>
                    <a:bodyPr wrap="square"/>
                    <a:lstStyle/>
                    <a:p>
                      <a:pPr algn="r"/>
                      <a:r>
                        <a:rPr sz="1100" b="0">
                          <a:solidFill>
                            <a:srgbClr val="22C55E"/>
                          </a:solidFill>
                          <a:latin typeface="Menlo"/>
                        </a:rPr>
                        <a:t>+6.9%</a:t>
                      </a:r>
                    </a:p>
                  </a:txBody>
                  <a:tcPr marL="73152" marR="73152" marT="18288" marB="18288" anchor="ctr">
                    <a:solidFill>
                      <a:srgbClr val="0B0B0B"/>
                    </a:solidFill>
                  </a:tcPr>
                </a:tc>
                <a:tc>
                  <a:txBody>
                    <a:bodyPr wrap="square"/>
                    <a:lstStyle/>
                    <a:p>
                      <a:pPr algn="r"/>
                      <a:r>
                        <a:rPr sz="1100" b="0">
                          <a:solidFill>
                            <a:srgbClr val="22C55E"/>
                          </a:solidFill>
                          <a:latin typeface="Menlo"/>
                        </a:rPr>
                        <a:t>+5.2%</a:t>
                      </a:r>
                    </a:p>
                  </a:txBody>
                  <a:tcPr marL="73152" marR="73152" marT="18288" marB="18288" anchor="ctr">
                    <a:solidFill>
                      <a:srgbClr val="0B0B0B"/>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Six A/B tests EcomHouse ran for other EU ecommerce brands (client names under NDA), all on product pages and all run to statistical significance (86 to 96%). They map directly to this roadmap: trust, sticky add to cart, and volume or quantity offers. Every one lifted revenue per visitor, the same northstar we are optimising for dittvin.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42</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08</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CRO &amp; RPV Roadmap</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Sequenced by impact and evidence. Fix trust and the cart leak first, then the product page and delivery experience, then the polish and the plumbing.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43</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The RPV Growth Plan</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Five Levers, In Order</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Sequenced by leverage on revenue per visitor. Measurement first because it multiplies every other lever and every paid krona.</a:t>
            </a:r>
          </a:p>
        </p:txBody>
      </p:sp>
      <p:graphicFrame>
        <p:nvGraphicFramePr>
          <p:cNvPr id="10" name="Table 9"/>
          <p:cNvGraphicFramePr>
            <a:graphicFrameLocks noGrp="1"/>
          </p:cNvGraphicFramePr>
          <p:nvPr/>
        </p:nvGraphicFramePr>
        <p:xfrm>
          <a:off x="457200" y="2066544"/>
          <a:ext cx="11274550" cy="4480560"/>
        </p:xfrm>
        <a:graphic>
          <a:graphicData uri="http://schemas.openxmlformats.org/drawingml/2006/table">
            <a:tbl>
              <a:tblPr>
                <a:tableStyleId>{2D5ABB26-0587-4C30-8999-92F81FD0307C}</a:tableStyleId>
              </a:tblPr>
              <a:tblGrid>
                <a:gridCol w="894805"/>
                <a:gridCol w="1789611"/>
                <a:gridCol w="1789611"/>
                <a:gridCol w="5010912"/>
                <a:gridCol w="1789611"/>
              </a:tblGrid>
              <a:tr h="365760">
                <a:tc>
                  <a:txBody>
                    <a:bodyPr wrap="square"/>
                    <a:lstStyle/>
                    <a:p>
                      <a:pPr algn="l"/>
                      <a:r>
                        <a:rPr sz="900" b="1" spc="100">
                          <a:solidFill>
                            <a:srgbClr val="999999"/>
                          </a:solidFill>
                          <a:latin typeface="Helvetica Neue"/>
                        </a:rPr>
                        <a: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LEVER</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MOVE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WHY IT MOVES RPV</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EFFORT</a:t>
                      </a:r>
                    </a:p>
                  </a:txBody>
                  <a:tcPr marL="73152" marR="73152" marT="18288" marB="18288" anchor="ctr">
                    <a:solidFill>
                      <a:srgbClr val="0A0A0A"/>
                    </a:solidFill>
                  </a:tcPr>
                </a:tc>
              </a:tr>
              <a:tr h="822960">
                <a:tc>
                  <a:txBody>
                    <a:bodyPr wrap="square"/>
                    <a:lstStyle/>
                    <a:p>
                      <a:pPr algn="l"/>
                      <a:r>
                        <a:rPr sz="900" b="1">
                          <a:solidFill>
                            <a:srgbClr val="EF4444"/>
                          </a:solidFill>
                          <a:latin typeface="Helvetica Neue"/>
                        </a:rPr>
                        <a:t>1</a:t>
                      </a:r>
                    </a:p>
                  </a:txBody>
                  <a:tcPr marL="73152" marR="73152" marT="18288" marB="18288" anchor="ctr">
                    <a:solidFill>
                      <a:srgbClr val="000000"/>
                    </a:solidFill>
                  </a:tcPr>
                </a:tc>
                <a:tc>
                  <a:txBody>
                    <a:bodyPr wrap="square"/>
                    <a:lstStyle/>
                    <a:p>
                      <a:pPr algn="l"/>
                      <a:r>
                        <a:rPr sz="900" b="0">
                          <a:solidFill>
                            <a:srgbClr val="F7D007"/>
                          </a:solidFill>
                          <a:latin typeface="Helvetica Neue"/>
                        </a:rPr>
                        <a:t>Measurement</a:t>
                      </a:r>
                    </a:p>
                  </a:txBody>
                  <a:tcPr marL="73152" marR="73152" marT="18288" marB="18288" anchor="ctr">
                    <a:solidFill>
                      <a:srgbClr val="000000"/>
                    </a:solidFill>
                  </a:tcPr>
                </a:tc>
                <a:tc>
                  <a:txBody>
                    <a:bodyPr wrap="square"/>
                    <a:lstStyle/>
                    <a:p>
                      <a:pPr algn="l"/>
                      <a:r>
                        <a:rPr sz="900" b="0">
                          <a:solidFill>
                            <a:srgbClr val="EFEEEE"/>
                          </a:solidFill>
                          <a:latin typeface="Helvetica Neue"/>
                        </a:rPr>
                        <a:t>Server side GTM + Consent Mode modeling + Meta server side tracking; consolidate to one GA4</a:t>
                      </a:r>
                    </a:p>
                  </a:txBody>
                  <a:tcPr marL="73152" marR="73152" marT="18288" marB="18288" anchor="ctr">
                    <a:solidFill>
                      <a:srgbClr val="000000"/>
                    </a:solidFill>
                  </a:tcPr>
                </a:tc>
                <a:tc>
                  <a:txBody>
                    <a:bodyPr wrap="square"/>
                    <a:lstStyle/>
                    <a:p>
                      <a:pPr algn="l"/>
                      <a:r>
                        <a:rPr sz="900" b="0">
                          <a:solidFill>
                            <a:srgbClr val="EFEEEE"/>
                          </a:solidFill>
                          <a:latin typeface="Helvetica Neue"/>
                        </a:rPr>
                        <a:t>Unlocks true RPV and feeds the ad algorithms 3x the conversion signal, lifting ROAS on the same spend</a:t>
                      </a:r>
                    </a:p>
                  </a:txBody>
                  <a:tcPr marL="73152" marR="73152" marT="18288" marB="18288" anchor="ctr">
                    <a:solidFill>
                      <a:srgbClr val="000000"/>
                    </a:solidFill>
                  </a:tcPr>
                </a:tc>
                <a:tc>
                  <a:txBody>
                    <a:bodyPr wrap="square"/>
                    <a:lstStyle/>
                    <a:p>
                      <a:pPr algn="r"/>
                      <a:r>
                        <a:rPr sz="900" b="0">
                          <a:solidFill>
                            <a:srgbClr val="EFEEEE"/>
                          </a:solidFill>
                          <a:latin typeface="Menlo"/>
                        </a:rPr>
                        <a:t>High</a:t>
                      </a:r>
                    </a:p>
                  </a:txBody>
                  <a:tcPr marL="73152" marR="73152" marT="18288" marB="18288" anchor="ctr">
                    <a:solidFill>
                      <a:srgbClr val="000000"/>
                    </a:solidFill>
                  </a:tcPr>
                </a:tc>
              </a:tr>
              <a:tr h="822960">
                <a:tc>
                  <a:txBody>
                    <a:bodyPr wrap="square"/>
                    <a:lstStyle/>
                    <a:p>
                      <a:pPr algn="l"/>
                      <a:r>
                        <a:rPr sz="900" b="1">
                          <a:solidFill>
                            <a:srgbClr val="EF4444"/>
                          </a:solidFill>
                          <a:latin typeface="Helvetica Neue"/>
                        </a:rPr>
                        <a:t>2</a:t>
                      </a:r>
                    </a:p>
                  </a:txBody>
                  <a:tcPr marL="73152" marR="73152" marT="18288" marB="18288" anchor="ctr">
                    <a:solidFill>
                      <a:srgbClr val="0B0B0B"/>
                    </a:solidFill>
                  </a:tcPr>
                </a:tc>
                <a:tc>
                  <a:txBody>
                    <a:bodyPr wrap="square"/>
                    <a:lstStyle/>
                    <a:p>
                      <a:pPr algn="l"/>
                      <a:r>
                        <a:rPr sz="900" b="0">
                          <a:solidFill>
                            <a:srgbClr val="F7D007"/>
                          </a:solidFill>
                          <a:latin typeface="Helvetica Neue"/>
                        </a:rPr>
                        <a:t>Subscription</a:t>
                      </a:r>
                    </a:p>
                  </a:txBody>
                  <a:tcPr marL="73152" marR="73152" marT="18288" marB="18288" anchor="ctr">
                    <a:solidFill>
                      <a:srgbClr val="0B0B0B"/>
                    </a:solidFill>
                  </a:tcPr>
                </a:tc>
                <a:tc>
                  <a:txBody>
                    <a:bodyPr wrap="square"/>
                    <a:lstStyle/>
                    <a:p>
                      <a:pPr algn="l"/>
                      <a:r>
                        <a:rPr sz="900" b="0">
                          <a:solidFill>
                            <a:srgbClr val="EFEEEE"/>
                          </a:solidFill>
                          <a:latin typeface="Helvetica Neue"/>
                        </a:rPr>
                        <a:t>Grow the existing subscription (Wine, Gin, Champagne 749-849 SEK): showcase it, add sign up prompts at product page and checkout</a:t>
                      </a:r>
                    </a:p>
                  </a:txBody>
                  <a:tcPr marL="73152" marR="73152" marT="18288" marB="18288" anchor="ctr">
                    <a:solidFill>
                      <a:srgbClr val="0B0B0B"/>
                    </a:solidFill>
                  </a:tcPr>
                </a:tc>
                <a:tc>
                  <a:txBody>
                    <a:bodyPr wrap="square"/>
                    <a:lstStyle/>
                    <a:p>
                      <a:pPr algn="l"/>
                      <a:r>
                        <a:rPr sz="900" b="0">
                          <a:solidFill>
                            <a:srgbClr val="EFEEEE"/>
                          </a:solidFill>
                          <a:latin typeface="Helvetica Neue"/>
                        </a:rPr>
                        <a:t>Repeat is already strong (66%); a bigger subscription base turns it into predictable recurring RPV</a:t>
                      </a:r>
                    </a:p>
                  </a:txBody>
                  <a:tcPr marL="73152" marR="73152" marT="18288" marB="18288" anchor="ctr">
                    <a:solidFill>
                      <a:srgbClr val="0B0B0B"/>
                    </a:solidFill>
                  </a:tcPr>
                </a:tc>
                <a:tc>
                  <a:txBody>
                    <a:bodyPr wrap="square"/>
                    <a:lstStyle/>
                    <a:p>
                      <a:pPr algn="r"/>
                      <a:r>
                        <a:rPr sz="900" b="0">
                          <a:solidFill>
                            <a:srgbClr val="EFEEEE"/>
                          </a:solidFill>
                          <a:latin typeface="Menlo"/>
                        </a:rPr>
                        <a:t>Med</a:t>
                      </a:r>
                    </a:p>
                  </a:txBody>
                  <a:tcPr marL="73152" marR="73152" marT="18288" marB="18288" anchor="ctr">
                    <a:solidFill>
                      <a:srgbClr val="0B0B0B"/>
                    </a:solidFill>
                  </a:tcPr>
                </a:tc>
              </a:tr>
              <a:tr h="822960">
                <a:tc>
                  <a:txBody>
                    <a:bodyPr wrap="square"/>
                    <a:lstStyle/>
                    <a:p>
                      <a:pPr algn="l"/>
                      <a:r>
                        <a:rPr sz="900" b="1">
                          <a:solidFill>
                            <a:srgbClr val="F59E0B"/>
                          </a:solidFill>
                          <a:latin typeface="Helvetica Neue"/>
                        </a:rPr>
                        <a:t>3</a:t>
                      </a:r>
                    </a:p>
                  </a:txBody>
                  <a:tcPr marL="73152" marR="73152" marT="18288" marB="18288" anchor="ctr">
                    <a:solidFill>
                      <a:srgbClr val="000000"/>
                    </a:solidFill>
                  </a:tcPr>
                </a:tc>
                <a:tc>
                  <a:txBody>
                    <a:bodyPr wrap="square"/>
                    <a:lstStyle/>
                    <a:p>
                      <a:pPr algn="l"/>
                      <a:r>
                        <a:rPr sz="900" b="0">
                          <a:solidFill>
                            <a:srgbClr val="F7D007"/>
                          </a:solidFill>
                          <a:latin typeface="Helvetica Neue"/>
                        </a:rPr>
                        <a:t>AOV ladder</a:t>
                      </a:r>
                    </a:p>
                  </a:txBody>
                  <a:tcPr marL="73152" marR="73152" marT="18288" marB="18288" anchor="ctr">
                    <a:solidFill>
                      <a:srgbClr val="000000"/>
                    </a:solidFill>
                  </a:tcPr>
                </a:tc>
                <a:tc>
                  <a:txBody>
                    <a:bodyPr wrap="square"/>
                    <a:lstStyle/>
                    <a:p>
                      <a:pPr algn="l"/>
                      <a:r>
                        <a:rPr sz="900" b="0">
                          <a:solidFill>
                            <a:srgbClr val="EFEEEE"/>
                          </a:solidFill>
                          <a:latin typeface="Helvetica Neue"/>
                        </a:rPr>
                        <a:t>Anchor and upsell 567 SEK buyers to 700 SEK+ boxes; Rebuy cart add ons; tune free ship threshold</a:t>
                      </a:r>
                    </a:p>
                  </a:txBody>
                  <a:tcPr marL="73152" marR="73152" marT="18288" marB="18288" anchor="ctr">
                    <a:solidFill>
                      <a:srgbClr val="000000"/>
                    </a:solidFill>
                  </a:tcPr>
                </a:tc>
                <a:tc>
                  <a:txBody>
                    <a:bodyPr wrap="square"/>
                    <a:lstStyle/>
                    <a:p>
                      <a:pPr algn="l"/>
                      <a:r>
                        <a:rPr sz="900" b="0">
                          <a:solidFill>
                            <a:srgbClr val="EFEEEE"/>
                          </a:solidFill>
                          <a:latin typeface="Helvetica Neue"/>
                        </a:rPr>
                        <a:t>Boxes are 76% of revenue; moving box tier and sign ups rate lifts the AOV half of RPV without new traffic</a:t>
                      </a:r>
                    </a:p>
                  </a:txBody>
                  <a:tcPr marL="73152" marR="73152" marT="18288" marB="18288" anchor="ctr">
                    <a:solidFill>
                      <a:srgbClr val="000000"/>
                    </a:solidFill>
                  </a:tcPr>
                </a:tc>
                <a:tc>
                  <a:txBody>
                    <a:bodyPr wrap="square"/>
                    <a:lstStyle/>
                    <a:p>
                      <a:pPr algn="r"/>
                      <a:r>
                        <a:rPr sz="900" b="0">
                          <a:solidFill>
                            <a:srgbClr val="EFEEEE"/>
                          </a:solidFill>
                          <a:latin typeface="Menlo"/>
                        </a:rPr>
                        <a:t>Med</a:t>
                      </a:r>
                    </a:p>
                  </a:txBody>
                  <a:tcPr marL="73152" marR="73152" marT="18288" marB="18288" anchor="ctr">
                    <a:solidFill>
                      <a:srgbClr val="000000"/>
                    </a:solidFill>
                  </a:tcPr>
                </a:tc>
              </a:tr>
              <a:tr h="822960">
                <a:tc>
                  <a:txBody>
                    <a:bodyPr wrap="square"/>
                    <a:lstStyle/>
                    <a:p>
                      <a:pPr algn="l"/>
                      <a:r>
                        <a:rPr sz="900" b="1">
                          <a:solidFill>
                            <a:srgbClr val="F59E0B"/>
                          </a:solidFill>
                          <a:latin typeface="Helvetica Neue"/>
                        </a:rPr>
                        <a:t>4</a:t>
                      </a:r>
                    </a:p>
                  </a:txBody>
                  <a:tcPr marL="73152" marR="73152" marT="18288" marB="18288" anchor="ctr">
                    <a:solidFill>
                      <a:srgbClr val="0B0B0B"/>
                    </a:solidFill>
                  </a:tcPr>
                </a:tc>
                <a:tc>
                  <a:txBody>
                    <a:bodyPr wrap="square"/>
                    <a:lstStyle/>
                    <a:p>
                      <a:pPr algn="l"/>
                      <a:r>
                        <a:rPr sz="900" b="0">
                          <a:solidFill>
                            <a:srgbClr val="F7D007"/>
                          </a:solidFill>
                          <a:latin typeface="Helvetica Neue"/>
                        </a:rPr>
                        <a:t>Conversion</a:t>
                      </a:r>
                    </a:p>
                  </a:txBody>
                  <a:tcPr marL="73152" marR="73152" marT="18288" marB="18288" anchor="ctr">
                    <a:solidFill>
                      <a:srgbClr val="0B0B0B"/>
                    </a:solidFill>
                  </a:tcPr>
                </a:tc>
                <a:tc>
                  <a:txBody>
                    <a:bodyPr wrap="square"/>
                    <a:lstStyle/>
                    <a:p>
                      <a:pPr algn="l"/>
                      <a:r>
                        <a:rPr sz="900" b="0">
                          <a:solidFill>
                            <a:srgbClr val="EFEEEE"/>
                          </a:solidFill>
                          <a:latin typeface="Helvetica Neue"/>
                        </a:rPr>
                        <a:t>Taste profiles on every box + legality trust block + honest delivery promise + cart shipping clarity</a:t>
                      </a:r>
                    </a:p>
                  </a:txBody>
                  <a:tcPr marL="73152" marR="73152" marT="18288" marB="18288" anchor="ctr">
                    <a:solidFill>
                      <a:srgbClr val="0B0B0B"/>
                    </a:solidFill>
                  </a:tcPr>
                </a:tc>
                <a:tc>
                  <a:txBody>
                    <a:bodyPr wrap="square"/>
                    <a:lstStyle/>
                    <a:p>
                      <a:pPr algn="l"/>
                      <a:r>
                        <a:rPr sz="900" b="0">
                          <a:solidFill>
                            <a:srgbClr val="EFEEEE"/>
                          </a:solidFill>
                          <a:latin typeface="Helvetica Neue"/>
                        </a:rPr>
                        <a:t>Lifts the conversion half of RPV by closing the new customer gap (2.62% vs 3.42% returning), and new visitors are most of the traffic</a:t>
                      </a:r>
                    </a:p>
                  </a:txBody>
                  <a:tcPr marL="73152" marR="73152" marT="18288" marB="18288" anchor="ctr">
                    <a:solidFill>
                      <a:srgbClr val="0B0B0B"/>
                    </a:solidFill>
                  </a:tcPr>
                </a:tc>
                <a:tc>
                  <a:txBody>
                    <a:bodyPr wrap="square"/>
                    <a:lstStyle/>
                    <a:p>
                      <a:pPr algn="r"/>
                      <a:r>
                        <a:rPr sz="900" b="0">
                          <a:solidFill>
                            <a:srgbClr val="EFEEEE"/>
                          </a:solidFill>
                          <a:latin typeface="Menlo"/>
                        </a:rPr>
                        <a:t>Med</a:t>
                      </a:r>
                    </a:p>
                  </a:txBody>
                  <a:tcPr marL="73152" marR="73152" marT="18288" marB="18288" anchor="ctr">
                    <a:solidFill>
                      <a:srgbClr val="0B0B0B"/>
                    </a:solidFill>
                  </a:tcPr>
                </a:tc>
              </a:tr>
              <a:tr h="822960">
                <a:tc>
                  <a:txBody>
                    <a:bodyPr wrap="square"/>
                    <a:lstStyle/>
                    <a:p>
                      <a:pPr algn="l"/>
                      <a:r>
                        <a:rPr sz="900" b="1">
                          <a:solidFill>
                            <a:srgbClr val="6AA9FF"/>
                          </a:solidFill>
                          <a:latin typeface="Helvetica Neue"/>
                        </a:rPr>
                        <a:t>5</a:t>
                      </a:r>
                    </a:p>
                  </a:txBody>
                  <a:tcPr marL="73152" marR="73152" marT="18288" marB="18288" anchor="ctr">
                    <a:solidFill>
                      <a:srgbClr val="000000"/>
                    </a:solidFill>
                  </a:tcPr>
                </a:tc>
                <a:tc>
                  <a:txBody>
                    <a:bodyPr wrap="square"/>
                    <a:lstStyle/>
                    <a:p>
                      <a:pPr algn="l"/>
                      <a:r>
                        <a:rPr sz="900" b="0">
                          <a:solidFill>
                            <a:srgbClr val="F7D007"/>
                          </a:solidFill>
                          <a:latin typeface="Helvetica Neue"/>
                        </a:rPr>
                        <a:t>Traffic mix</a:t>
                      </a:r>
                    </a:p>
                  </a:txBody>
                  <a:tcPr marL="73152" marR="73152" marT="18288" marB="18288" anchor="ctr">
                    <a:solidFill>
                      <a:srgbClr val="000000"/>
                    </a:solidFill>
                  </a:tcPr>
                </a:tc>
                <a:tc>
                  <a:txBody>
                    <a:bodyPr wrap="square"/>
                    <a:lstStyle/>
                    <a:p>
                      <a:pPr algn="l"/>
                      <a:r>
                        <a:rPr sz="900" b="0">
                          <a:solidFill>
                            <a:srgbClr val="EFEEEE"/>
                          </a:solidFill>
                          <a:latin typeface="Helvetica Neue"/>
                        </a:rPr>
                        <a:t>Grow organic search and balance the paid social mix (49% direct, 33% Meta today)</a:t>
                      </a:r>
                    </a:p>
                  </a:txBody>
                  <a:tcPr marL="73152" marR="73152" marT="18288" marB="18288" anchor="ctr">
                    <a:solidFill>
                      <a:srgbClr val="000000"/>
                    </a:solidFill>
                  </a:tcPr>
                </a:tc>
                <a:tc>
                  <a:txBody>
                    <a:bodyPr wrap="square"/>
                    <a:lstStyle/>
                    <a:p>
                      <a:pPr algn="l"/>
                      <a:r>
                        <a:rPr sz="900" b="0">
                          <a:solidFill>
                            <a:srgbClr val="EFEEEE"/>
                          </a:solidFill>
                          <a:latin typeface="Helvetica Neue"/>
                        </a:rPr>
                        <a:t>Diversified, cheaper traffic de risks the ~33% paid social dependence and steadies blended RPV</a:t>
                      </a:r>
                    </a:p>
                  </a:txBody>
                  <a:tcPr marL="73152" marR="73152" marT="18288" marB="18288" anchor="ctr">
                    <a:solidFill>
                      <a:srgbClr val="000000"/>
                    </a:solidFill>
                  </a:tcPr>
                </a:tc>
                <a:tc>
                  <a:txBody>
                    <a:bodyPr wrap="square"/>
                    <a:lstStyle/>
                    <a:p>
                      <a:pPr algn="r"/>
                      <a:r>
                        <a:rPr sz="900" b="0">
                          <a:solidFill>
                            <a:srgbClr val="EFEEEE"/>
                          </a:solidFill>
                          <a:latin typeface="Menlo"/>
                        </a:rPr>
                        <a:t>Strategic</a:t>
                      </a:r>
                    </a:p>
                  </a:txBody>
                  <a:tcPr marL="73152" marR="73152" marT="18288" marB="18288" anchor="ctr">
                    <a:solidFill>
                      <a:srgbClr val="000000"/>
                    </a:solidFill>
                  </a:tcPr>
                </a:tc>
              </a:tr>
            </a:tbl>
          </a:graphicData>
        </a:graphic>
      </p:graphicFrame>
      <p:sp>
        <p:nvSpPr>
          <p:cNvPr id="11" name="TextBox 10"/>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Levers 1 and 2 are the RPV multipliers. Levers 3 and 4 are the CRO roadmap that follows. Lever 5 protects the whole system.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44</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Expected Uplift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What 90 Days of CRO Is Worth</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 program lifts revenue per visitor by removing buyer hesitation (taste, legality, delivery) so more of today's visitors buy, and by nudging order value up. A 5 to 10% RPV lift in 90 days also builds the conversion foundation to capture the holiday traffic peak, when the same fixes pay back on far more traffic.</a:t>
            </a:r>
          </a:p>
        </p:txBody>
      </p:sp>
      <p:sp>
        <p:nvSpPr>
          <p:cNvPr id="10" name="Rounded Rectangle 9"/>
          <p:cNvSpPr/>
          <p:nvPr/>
        </p:nvSpPr>
        <p:spPr>
          <a:xfrm>
            <a:off x="79232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327" y="2761488"/>
            <a:ext cx="2446020" cy="502920"/>
          </a:xfrm>
          <a:prstGeom prst="rect">
            <a:avLst/>
          </a:prstGeom>
          <a:noFill/>
        </p:spPr>
        <p:txBody>
          <a:bodyPr wrap="square" lIns="0" rIns="0" tIns="0" bIns="0" anchor="t">
            <a:spAutoFit/>
          </a:bodyPr>
          <a:lstStyle/>
          <a:p>
            <a:pPr algn="ctr"/>
            <a:r>
              <a:rPr sz="3000" b="1" i="0">
                <a:solidFill>
                  <a:srgbClr val="F7D007"/>
                </a:solidFill>
                <a:latin typeface="Menlo"/>
              </a:rPr>
              <a:t>+5 to 10%</a:t>
            </a:r>
          </a:p>
        </p:txBody>
      </p:sp>
      <p:sp>
        <p:nvSpPr>
          <p:cNvPr id="12" name="TextBox 11"/>
          <p:cNvSpPr txBox="1"/>
          <p:nvPr/>
        </p:nvSpPr>
        <p:spPr>
          <a:xfrm>
            <a:off x="79232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RPV Uplift (Est.)</a:t>
            </a:r>
          </a:p>
        </p:txBody>
      </p:sp>
      <p:sp>
        <p:nvSpPr>
          <p:cNvPr id="13" name="TextBox 12"/>
          <p:cNvSpPr txBox="1"/>
          <p:nvPr/>
        </p:nvSpPr>
        <p:spPr>
          <a:xfrm>
            <a:off x="79232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90 day target</a:t>
            </a:r>
          </a:p>
        </p:txBody>
      </p:sp>
      <p:sp>
        <p:nvSpPr>
          <p:cNvPr id="14" name="Rounded Rectangle 13"/>
          <p:cNvSpPr/>
          <p:nvPr/>
        </p:nvSpPr>
        <p:spPr>
          <a:xfrm>
            <a:off x="351266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2667" y="2761488"/>
            <a:ext cx="2446020" cy="502920"/>
          </a:xfrm>
          <a:prstGeom prst="rect">
            <a:avLst/>
          </a:prstGeom>
          <a:noFill/>
        </p:spPr>
        <p:txBody>
          <a:bodyPr wrap="square" lIns="0" rIns="0" tIns="0" bIns="0" anchor="t">
            <a:spAutoFit/>
          </a:bodyPr>
          <a:lstStyle/>
          <a:p>
            <a:pPr algn="ctr"/>
            <a:r>
              <a:rPr sz="3000" b="1" i="0">
                <a:solidFill>
                  <a:srgbClr val="22C55E"/>
                </a:solidFill>
                <a:latin typeface="Menlo"/>
              </a:rPr>
              <a:t>104 to 109 SEK</a:t>
            </a:r>
          </a:p>
        </p:txBody>
      </p:sp>
      <p:sp>
        <p:nvSpPr>
          <p:cNvPr id="16" name="TextBox 15"/>
          <p:cNvSpPr txBox="1"/>
          <p:nvPr/>
        </p:nvSpPr>
        <p:spPr>
          <a:xfrm>
            <a:off x="351266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Target RPV / session</a:t>
            </a:r>
          </a:p>
        </p:txBody>
      </p:sp>
      <p:sp>
        <p:nvSpPr>
          <p:cNvPr id="17" name="TextBox 16"/>
          <p:cNvSpPr txBox="1"/>
          <p:nvPr/>
        </p:nvSpPr>
        <p:spPr>
          <a:xfrm>
            <a:off x="351266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from 99 SEK today</a:t>
            </a:r>
          </a:p>
        </p:txBody>
      </p:sp>
      <p:sp>
        <p:nvSpPr>
          <p:cNvPr id="18" name="Rounded Rectangle 17"/>
          <p:cNvSpPr/>
          <p:nvPr/>
        </p:nvSpPr>
        <p:spPr>
          <a:xfrm>
            <a:off x="623300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3007" y="2761488"/>
            <a:ext cx="2446020" cy="502920"/>
          </a:xfrm>
          <a:prstGeom prst="rect">
            <a:avLst/>
          </a:prstGeom>
          <a:noFill/>
        </p:spPr>
        <p:txBody>
          <a:bodyPr wrap="square" lIns="0" rIns="0" tIns="0" bIns="0" anchor="t">
            <a:spAutoFit/>
          </a:bodyPr>
          <a:lstStyle/>
          <a:p>
            <a:pPr algn="ctr"/>
            <a:r>
              <a:rPr sz="3000" b="1" i="0">
                <a:solidFill>
                  <a:srgbClr val="FFFFFF"/>
                </a:solidFill>
                <a:latin typeface="Menlo"/>
              </a:rPr>
              <a:t>+1.7 to 3.3M SEK</a:t>
            </a:r>
          </a:p>
        </p:txBody>
      </p:sp>
      <p:sp>
        <p:nvSpPr>
          <p:cNvPr id="20" name="TextBox 19"/>
          <p:cNvSpPr txBox="1"/>
          <p:nvPr/>
        </p:nvSpPr>
        <p:spPr>
          <a:xfrm>
            <a:off x="623300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Gross / 90 days (Est.)</a:t>
            </a:r>
          </a:p>
        </p:txBody>
      </p:sp>
      <p:sp>
        <p:nvSpPr>
          <p:cNvPr id="21" name="TextBox 20"/>
          <p:cNvSpPr txBox="1"/>
          <p:nvPr/>
        </p:nvSpPr>
        <p:spPr>
          <a:xfrm>
            <a:off x="623300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on the current base</a:t>
            </a:r>
          </a:p>
        </p:txBody>
      </p:sp>
      <p:sp>
        <p:nvSpPr>
          <p:cNvPr id="22" name="Rounded Rectangle 21"/>
          <p:cNvSpPr/>
          <p:nvPr/>
        </p:nvSpPr>
        <p:spPr>
          <a:xfrm>
            <a:off x="8953347" y="2505456"/>
            <a:ext cx="2446020" cy="118872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53347" y="2761488"/>
            <a:ext cx="2446020" cy="502920"/>
          </a:xfrm>
          <a:prstGeom prst="rect">
            <a:avLst/>
          </a:prstGeom>
          <a:noFill/>
        </p:spPr>
        <p:txBody>
          <a:bodyPr wrap="square" lIns="0" rIns="0" tIns="0" bIns="0" anchor="t">
            <a:spAutoFit/>
          </a:bodyPr>
          <a:lstStyle/>
          <a:p>
            <a:pPr algn="ctr"/>
            <a:r>
              <a:rPr sz="3000" b="1" i="0">
                <a:solidFill>
                  <a:srgbClr val="FFFFFF"/>
                </a:solidFill>
                <a:latin typeface="Menlo"/>
              </a:rPr>
              <a:t>+7 to 13M SEK</a:t>
            </a:r>
          </a:p>
        </p:txBody>
      </p:sp>
      <p:sp>
        <p:nvSpPr>
          <p:cNvPr id="24" name="TextBox 23"/>
          <p:cNvSpPr txBox="1"/>
          <p:nvPr/>
        </p:nvSpPr>
        <p:spPr>
          <a:xfrm>
            <a:off x="8953347" y="3291840"/>
            <a:ext cx="2446020" cy="274320"/>
          </a:xfrm>
          <a:prstGeom prst="rect">
            <a:avLst/>
          </a:prstGeom>
          <a:noFill/>
        </p:spPr>
        <p:txBody>
          <a:bodyPr wrap="square" lIns="0" rIns="0" tIns="0" bIns="0" anchor="t">
            <a:spAutoFit/>
          </a:bodyPr>
          <a:lstStyle/>
          <a:p>
            <a:pPr algn="ctr"/>
            <a:r>
              <a:rPr sz="1000" b="1" i="0" spc="150">
                <a:solidFill>
                  <a:srgbClr val="999999"/>
                </a:solidFill>
                <a:latin typeface="Helvetica Neue"/>
              </a:rPr>
              <a:t>Annualized (Est.)</a:t>
            </a:r>
          </a:p>
        </p:txBody>
      </p:sp>
      <p:sp>
        <p:nvSpPr>
          <p:cNvPr id="25" name="TextBox 24"/>
          <p:cNvSpPr txBox="1"/>
          <p:nvPr/>
        </p:nvSpPr>
        <p:spPr>
          <a:xfrm>
            <a:off x="8953347" y="3529584"/>
            <a:ext cx="2446020" cy="320040"/>
          </a:xfrm>
          <a:prstGeom prst="rect">
            <a:avLst/>
          </a:prstGeom>
          <a:noFill/>
        </p:spPr>
        <p:txBody>
          <a:bodyPr wrap="square" lIns="0" rIns="0" tIns="0" bIns="0" anchor="t">
            <a:spAutoFit/>
          </a:bodyPr>
          <a:lstStyle/>
          <a:p>
            <a:pPr algn="ctr"/>
            <a:r>
              <a:rPr sz="900" b="0" i="0">
                <a:solidFill>
                  <a:srgbClr val="6B7C75"/>
                </a:solidFill>
                <a:latin typeface="Helvetica Neue"/>
              </a:rPr>
              <a:t>before holiday upside</a:t>
            </a:r>
          </a:p>
        </p:txBody>
      </p:sp>
      <p:graphicFrame>
        <p:nvGraphicFramePr>
          <p:cNvPr id="26" name="Table 25"/>
          <p:cNvGraphicFramePr>
            <a:graphicFrameLocks noGrp="1"/>
          </p:cNvGraphicFramePr>
          <p:nvPr/>
        </p:nvGraphicFramePr>
        <p:xfrm>
          <a:off x="883767" y="3922776"/>
          <a:ext cx="10424158" cy="1353312"/>
        </p:xfrm>
        <a:graphic>
          <a:graphicData uri="http://schemas.openxmlformats.org/drawingml/2006/table">
            <a:tbl>
              <a:tblPr>
                <a:tableStyleId>{2D5ABB26-0587-4C30-8999-92F81FD0307C}</a:tableStyleId>
              </a:tblPr>
              <a:tblGrid>
                <a:gridCol w="4042021"/>
                <a:gridCol w="2127379"/>
                <a:gridCol w="2127379"/>
                <a:gridCol w="2127379"/>
              </a:tblGrid>
              <a:tr h="365760">
                <a:tc>
                  <a:txBody>
                    <a:bodyPr wrap="square"/>
                    <a:lstStyle/>
                    <a:p>
                      <a:pPr algn="l"/>
                      <a:r>
                        <a:rPr sz="900" b="1" spc="100">
                          <a:solidFill>
                            <a:srgbClr val="999999"/>
                          </a:solidFill>
                          <a:latin typeface="Helvetica Neue"/>
                        </a:rPr>
                        <a:t>LEVER</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TODAY</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TARGET</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HOW</a:t>
                      </a:r>
                    </a:p>
                  </a:txBody>
                  <a:tcPr marL="73152" marR="73152" marT="18288" marB="18288" anchor="ctr">
                    <a:solidFill>
                      <a:srgbClr val="0A0A0A"/>
                    </a:solidFill>
                  </a:tcPr>
                </a:tc>
              </a:tr>
              <a:tr h="329184">
                <a:tc>
                  <a:txBody>
                    <a:bodyPr wrap="square"/>
                    <a:lstStyle/>
                    <a:p>
                      <a:pPr algn="l"/>
                      <a:r>
                        <a:rPr sz="1000" b="1">
                          <a:solidFill>
                            <a:srgbClr val="F7D007"/>
                          </a:solidFill>
                          <a:latin typeface="Helvetica Neue"/>
                        </a:rPr>
                        <a:t>Checkout completion</a:t>
                      </a:r>
                    </a:p>
                  </a:txBody>
                  <a:tcPr marL="73152" marR="73152" marT="18288" marB="18288" anchor="ctr">
                    <a:solidFill>
                      <a:srgbClr val="000000"/>
                    </a:solidFill>
                  </a:tcPr>
                </a:tc>
                <a:tc>
                  <a:txBody>
                    <a:bodyPr wrap="square"/>
                    <a:lstStyle/>
                    <a:p>
                      <a:pPr algn="r"/>
                      <a:r>
                        <a:rPr sz="1000" b="0">
                          <a:solidFill>
                            <a:srgbClr val="EFEEEE"/>
                          </a:solidFill>
                          <a:latin typeface="Menlo"/>
                        </a:rPr>
                        <a:t>41%</a:t>
                      </a:r>
                    </a:p>
                  </a:txBody>
                  <a:tcPr marL="73152" marR="73152" marT="18288" marB="18288" anchor="ctr">
                    <a:solidFill>
                      <a:srgbClr val="000000"/>
                    </a:solidFill>
                  </a:tcPr>
                </a:tc>
                <a:tc>
                  <a:txBody>
                    <a:bodyPr wrap="square"/>
                    <a:lstStyle/>
                    <a:p>
                      <a:pPr algn="r"/>
                      <a:r>
                        <a:rPr sz="1000" b="0">
                          <a:solidFill>
                            <a:srgbClr val="EFEEEE"/>
                          </a:solidFill>
                          <a:latin typeface="Menlo"/>
                        </a:rPr>
                        <a:t>43 to 44%</a:t>
                      </a:r>
                    </a:p>
                  </a:txBody>
                  <a:tcPr marL="73152" marR="73152" marT="18288" marB="18288" anchor="ctr">
                    <a:solidFill>
                      <a:srgbClr val="000000"/>
                    </a:solidFill>
                  </a:tcPr>
                </a:tc>
                <a:tc>
                  <a:txBody>
                    <a:bodyPr wrap="square"/>
                    <a:lstStyle/>
                    <a:p>
                      <a:pPr algn="l"/>
                      <a:r>
                        <a:rPr sz="1000" b="0">
                          <a:solidFill>
                            <a:srgbClr val="EFEEEE"/>
                          </a:solidFill>
                          <a:latin typeface="Helvetica Neue"/>
                        </a:rPr>
                        <a:t>Delivery clarity, legality reassurance, fewer website errors</a:t>
                      </a:r>
                    </a:p>
                  </a:txBody>
                  <a:tcPr marL="73152" marR="73152" marT="18288" marB="18288" anchor="ctr">
                    <a:solidFill>
                      <a:srgbClr val="000000"/>
                    </a:solidFill>
                  </a:tcPr>
                </a:tc>
              </a:tr>
              <a:tr h="329184">
                <a:tc>
                  <a:txBody>
                    <a:bodyPr wrap="square"/>
                    <a:lstStyle/>
                    <a:p>
                      <a:pPr algn="l"/>
                      <a:r>
                        <a:rPr sz="1000" b="1">
                          <a:solidFill>
                            <a:srgbClr val="F7D007"/>
                          </a:solidFill>
                          <a:latin typeface="Helvetica Neue"/>
                        </a:rPr>
                        <a:t>Add to cart</a:t>
                      </a:r>
                    </a:p>
                  </a:txBody>
                  <a:tcPr marL="73152" marR="73152" marT="18288" marB="18288" anchor="ctr">
                    <a:solidFill>
                      <a:srgbClr val="0B0B0B"/>
                    </a:solidFill>
                  </a:tcPr>
                </a:tc>
                <a:tc>
                  <a:txBody>
                    <a:bodyPr wrap="square"/>
                    <a:lstStyle/>
                    <a:p>
                      <a:pPr algn="r"/>
                      <a:r>
                        <a:rPr sz="1000" b="0">
                          <a:solidFill>
                            <a:srgbClr val="EFEEEE"/>
                          </a:solidFill>
                          <a:latin typeface="Menlo"/>
                        </a:rPr>
                        <a:t>12.6%</a:t>
                      </a:r>
                    </a:p>
                  </a:txBody>
                  <a:tcPr marL="73152" marR="73152" marT="18288" marB="18288" anchor="ctr">
                    <a:solidFill>
                      <a:srgbClr val="0B0B0B"/>
                    </a:solidFill>
                  </a:tcPr>
                </a:tc>
                <a:tc>
                  <a:txBody>
                    <a:bodyPr wrap="square"/>
                    <a:lstStyle/>
                    <a:p>
                      <a:pPr algn="r"/>
                      <a:r>
                        <a:rPr sz="1000" b="0">
                          <a:solidFill>
                            <a:srgbClr val="EFEEEE"/>
                          </a:solidFill>
                          <a:latin typeface="Menlo"/>
                        </a:rPr>
                        <a:t>12.9 to 13.2%</a:t>
                      </a:r>
                    </a:p>
                  </a:txBody>
                  <a:tcPr marL="73152" marR="73152" marT="18288" marB="18288" anchor="ctr">
                    <a:solidFill>
                      <a:srgbClr val="0B0B0B"/>
                    </a:solidFill>
                  </a:tcPr>
                </a:tc>
                <a:tc>
                  <a:txBody>
                    <a:bodyPr wrap="square"/>
                    <a:lstStyle/>
                    <a:p>
                      <a:pPr algn="l"/>
                      <a:r>
                        <a:rPr sz="1000" b="0">
                          <a:solidFill>
                            <a:srgbClr val="EFEEEE"/>
                          </a:solidFill>
                          <a:latin typeface="Helvetica Neue"/>
                        </a:rPr>
                        <a:t>Clearer taste and trust on product pages</a:t>
                      </a:r>
                    </a:p>
                  </a:txBody>
                  <a:tcPr marL="73152" marR="73152" marT="18288" marB="18288" anchor="ctr">
                    <a:solidFill>
                      <a:srgbClr val="0B0B0B"/>
                    </a:solidFill>
                  </a:tcPr>
                </a:tc>
              </a:tr>
              <a:tr h="329184">
                <a:tc>
                  <a:txBody>
                    <a:bodyPr wrap="square"/>
                    <a:lstStyle/>
                    <a:p>
                      <a:pPr algn="l"/>
                      <a:r>
                        <a:rPr sz="1000" b="1">
                          <a:solidFill>
                            <a:srgbClr val="F7D007"/>
                          </a:solidFill>
                          <a:latin typeface="Helvetica Neue"/>
                        </a:rPr>
                        <a:t>Average order value</a:t>
                      </a:r>
                    </a:p>
                  </a:txBody>
                  <a:tcPr marL="73152" marR="73152" marT="18288" marB="18288" anchor="ctr">
                    <a:solidFill>
                      <a:srgbClr val="000000"/>
                    </a:solidFill>
                  </a:tcPr>
                </a:tc>
                <a:tc>
                  <a:txBody>
                    <a:bodyPr wrap="square"/>
                    <a:lstStyle/>
                    <a:p>
                      <a:pPr algn="r"/>
                      <a:r>
                        <a:rPr sz="1000" b="0">
                          <a:solidFill>
                            <a:srgbClr val="EFEEEE"/>
                          </a:solidFill>
                          <a:latin typeface="Menlo"/>
                        </a:rPr>
                        <a:t>868 SEK</a:t>
                      </a:r>
                    </a:p>
                  </a:txBody>
                  <a:tcPr marL="73152" marR="73152" marT="18288" marB="18288" anchor="ctr">
                    <a:solidFill>
                      <a:srgbClr val="000000"/>
                    </a:solidFill>
                  </a:tcPr>
                </a:tc>
                <a:tc>
                  <a:txBody>
                    <a:bodyPr wrap="square"/>
                    <a:lstStyle/>
                    <a:p>
                      <a:pPr algn="r"/>
                      <a:r>
                        <a:rPr sz="1000" b="0">
                          <a:solidFill>
                            <a:srgbClr val="EFEEEE"/>
                          </a:solidFill>
                          <a:latin typeface="Menlo"/>
                        </a:rPr>
                        <a:t>880 to 895 SEK</a:t>
                      </a:r>
                    </a:p>
                  </a:txBody>
                  <a:tcPr marL="73152" marR="73152" marT="18288" marB="18288" anchor="ctr">
                    <a:solidFill>
                      <a:srgbClr val="000000"/>
                    </a:solidFill>
                  </a:tcPr>
                </a:tc>
                <a:tc>
                  <a:txBody>
                    <a:bodyPr wrap="square"/>
                    <a:lstStyle/>
                    <a:p>
                      <a:pPr algn="l"/>
                      <a:r>
                        <a:rPr sz="1000" b="0">
                          <a:solidFill>
                            <a:srgbClr val="EFEEEE"/>
                          </a:solidFill>
                          <a:latin typeface="Helvetica Neue"/>
                        </a:rPr>
                        <a:t>Box ladder, add-ons, subscription sign ups</a:t>
                      </a:r>
                    </a:p>
                  </a:txBody>
                  <a:tcPr marL="73152" marR="73152" marT="18288" marB="18288" anchor="ctr">
                    <a:solidFill>
                      <a:srgbClr val="000000"/>
                    </a:solidFill>
                  </a:tcPr>
                </a:tc>
              </a:tr>
            </a:tbl>
          </a:graphicData>
        </a:graphic>
      </p:graphicFrame>
      <p:sp>
        <p:nvSpPr>
          <p:cNvPr id="27" name="TextBox 26"/>
          <p:cNvSpPr txBox="1"/>
          <p:nvPr/>
        </p:nvSpPr>
        <p:spPr>
          <a:xfrm>
            <a:off x="822960" y="6053328"/>
            <a:ext cx="10545775" cy="731520"/>
          </a:xfrm>
          <a:prstGeom prst="rect">
            <a:avLst/>
          </a:prstGeom>
          <a:noFill/>
        </p:spPr>
        <p:txBody>
          <a:bodyPr wrap="square" lIns="0" rIns="0" tIns="0" bIns="0" anchor="t">
            <a:spAutoFit/>
          </a:bodyPr>
          <a:lstStyle/>
          <a:p>
            <a:pPr algn="ctr"/>
            <a:r>
              <a:rPr sz="800" b="0" i="0">
                <a:solidFill>
                  <a:srgbClr val="6B7C75"/>
                </a:solidFill>
                <a:latin typeface="Helvetica Neue"/>
              </a:rPr>
              <a:t>Est. Modeled on the Shopify 90 day base, a conservative 5 to 10% RPV lift. The levers are the cheapest and highest intent ones: recover checkout, lift add to cart with clearer taste and trust, and nudge order value. The bigger prize is timing: a stronger conversion base before the holiday season means the store converts more of the seasonal spike, not just today's traffic.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45</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P0 · Do First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The Two Trust Levers</a:t>
            </a:r>
          </a:p>
        </p:txBody>
      </p:sp>
      <p:graphicFrame>
        <p:nvGraphicFramePr>
          <p:cNvPr id="9" name="Table 8"/>
          <p:cNvGraphicFramePr>
            <a:graphicFrameLocks noGrp="1"/>
          </p:cNvGraphicFramePr>
          <p:nvPr/>
        </p:nvGraphicFramePr>
        <p:xfrm>
          <a:off x="457200" y="1828800"/>
          <a:ext cx="11274550" cy="2834640"/>
        </p:xfrm>
        <a:graphic>
          <a:graphicData uri="http://schemas.openxmlformats.org/drawingml/2006/table">
            <a:tbl>
              <a:tblPr>
                <a:tableStyleId>{2D5ABB26-0587-4C30-8999-92F81FD0307C}</a:tableStyleId>
              </a:tblPr>
              <a:tblGrid>
                <a:gridCol w="2782032"/>
                <a:gridCol w="4099837"/>
                <a:gridCol w="1464227"/>
                <a:gridCol w="1464227"/>
                <a:gridCol w="1464227"/>
              </a:tblGrid>
              <a:tr h="365760">
                <a:tc>
                  <a:txBody>
                    <a:bodyPr wrap="square"/>
                    <a:lstStyle/>
                    <a:p>
                      <a:pPr algn="l"/>
                      <a:r>
                        <a:rPr sz="900" b="1" spc="100">
                          <a:solidFill>
                            <a:srgbClr val="999999"/>
                          </a:solidFill>
                          <a:latin typeface="Helvetica Neue"/>
                        </a:rPr>
                        <a:t>WHERE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FIX</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HYPOTHESIS</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IMPACT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Global / product page / Cart</a:t>
                      </a:r>
                    </a:p>
                  </a:txBody>
                  <a:tcPr marL="73152" marR="73152" marT="18288" marB="18288" anchor="ctr">
                    <a:solidFill>
                      <a:srgbClr val="000000"/>
                    </a:solidFill>
                  </a:tcPr>
                </a:tc>
                <a:tc>
                  <a:txBody>
                    <a:bodyPr wrap="square"/>
                    <a:lstStyle/>
                    <a:p>
                      <a:pPr algn="l"/>
                      <a:r>
                        <a:rPr sz="900" b="0">
                          <a:solidFill>
                            <a:srgbClr val="EFEEEE"/>
                          </a:solidFill>
                          <a:latin typeface="Helvetica Neue"/>
                        </a:rPr>
                        <a:t>Add a plain language legality trust block (lawful Danish import, tax included, age verified, Trustpilot 4.7)</a:t>
                      </a:r>
                    </a:p>
                  </a:txBody>
                  <a:tcPr marL="73152" marR="73152" marT="18288" marB="18288" anchor="ctr">
                    <a:solidFill>
                      <a:srgbClr val="000000"/>
                    </a:solidFill>
                  </a:tcPr>
                </a:tc>
                <a:tc>
                  <a:txBody>
                    <a:bodyPr wrap="square"/>
                    <a:lstStyle/>
                    <a:p>
                      <a:pPr algn="l"/>
                      <a:r>
                        <a:rPr sz="900" b="0">
                          <a:solidFill>
                            <a:srgbClr val="EFEEEE"/>
                          </a:solidFill>
                          <a:latin typeface="Helvetica Neue"/>
                        </a:rPr>
                        <a:t>Neutralizing the monopoly doubt lifts first time buyer add to cart and 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Zero on-site legality copy; fraud language in reviews; KRAN and Winefamly reassure</a:t>
                      </a:r>
                    </a:p>
                  </a:txBody>
                  <a:tcPr marL="73152" marR="73152" marT="18288" marB="18288" anchor="ctr">
                    <a:solidFill>
                      <a:srgbClr val="000000"/>
                    </a:solidFill>
                  </a:tcPr>
                </a:tc>
                <a:tc>
                  <a:txBody>
                    <a:bodyPr wrap="square"/>
                    <a:lstStyle/>
                    <a:p>
                      <a:pPr algn="r"/>
                      <a:r>
                        <a:rPr sz="900" b="0">
                          <a:solidFill>
                            <a:srgbClr val="F7D007"/>
                          </a:solidFill>
                          <a:latin typeface="Menlo"/>
                        </a:rPr>
                        <a:t>High</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Delivery promise</a:t>
                      </a:r>
                    </a:p>
                  </a:txBody>
                  <a:tcPr marL="73152" marR="73152" marT="18288" marB="18288" anchor="ctr">
                    <a:solidFill>
                      <a:srgbClr val="0B0B0B"/>
                    </a:solidFill>
                  </a:tcPr>
                </a:tc>
                <a:tc>
                  <a:txBody>
                    <a:bodyPr wrap="square"/>
                    <a:lstStyle/>
                    <a:p>
                      <a:pPr algn="l"/>
                      <a:r>
                        <a:rPr sz="900" b="0">
                          <a:solidFill>
                            <a:srgbClr val="EFEEEE"/>
                          </a:solidFill>
                          <a:latin typeface="Helvetica Neue"/>
                        </a:rPr>
                        <a:t>Replace "1-3 dagar" with an honest order specific ETA and proactive status updates</a:t>
                      </a:r>
                    </a:p>
                  </a:txBody>
                  <a:tcPr marL="73152" marR="73152" marT="18288" marB="18288" anchor="ctr">
                    <a:solidFill>
                      <a:srgbClr val="0B0B0B"/>
                    </a:solidFill>
                  </a:tcPr>
                </a:tc>
                <a:tc>
                  <a:txBody>
                    <a:bodyPr wrap="square"/>
                    <a:lstStyle/>
                    <a:p>
                      <a:pPr algn="l"/>
                      <a:r>
                        <a:rPr sz="900" b="0">
                          <a:solidFill>
                            <a:srgbClr val="EFEEEE"/>
                          </a:solidFill>
                          <a:latin typeface="Helvetica Neue"/>
                        </a:rPr>
                        <a:t>An accurate promise cuts the negative tail and protects repeat revenue</a:t>
                      </a:r>
                    </a:p>
                  </a:txBody>
                  <a:tcPr marL="73152" marR="73152" marT="18288" marB="18288" anchor="ctr">
                    <a:solidFill>
                      <a:srgbClr val="0B0B0B"/>
                    </a:solidFill>
                  </a:tcPr>
                </a:tc>
                <a:tc>
                  <a:txBody>
                    <a:bodyPr wrap="square"/>
                    <a:lstStyle/>
                    <a:p>
                      <a:pPr algn="l"/>
                      <a:r>
                        <a:rPr sz="900" b="0">
                          <a:solidFill>
                            <a:srgbClr val="EFEEEE"/>
                          </a:solidFill>
                          <a:latin typeface="Helvetica Neue"/>
                        </a:rPr>
                        <a:t>86% of complaints, 31% cite the broken promise, repeat buyers churning</a:t>
                      </a:r>
                    </a:p>
                  </a:txBody>
                  <a:tcPr marL="73152" marR="73152" marT="18288" marB="18288" anchor="ctr">
                    <a:solidFill>
                      <a:srgbClr val="0B0B0B"/>
                    </a:solidFill>
                  </a:tcPr>
                </a:tc>
                <a:tc>
                  <a:txBody>
                    <a:bodyPr wrap="square"/>
                    <a:lstStyle/>
                    <a:p>
                      <a:pPr algn="r"/>
                      <a:r>
                        <a:rPr sz="900" b="0">
                          <a:solidFill>
                            <a:srgbClr val="F7D007"/>
                          </a:solidFill>
                          <a:latin typeface="Menlo"/>
                        </a:rPr>
                        <a:t>High</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Cart to 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Surface shipping rule and free ship threshold in cart, add a clear continue step</a:t>
                      </a:r>
                    </a:p>
                  </a:txBody>
                  <a:tcPr marL="73152" marR="73152" marT="18288" marB="18288" anchor="ctr">
                    <a:solidFill>
                      <a:srgbClr val="000000"/>
                    </a:solidFill>
                  </a:tcPr>
                </a:tc>
                <a:tc>
                  <a:txBody>
                    <a:bodyPr wrap="square"/>
                    <a:lstStyle/>
                    <a:p>
                      <a:pPr algn="l"/>
                      <a:r>
                        <a:rPr sz="900" b="0">
                          <a:solidFill>
                            <a:srgbClr val="EFEEEE"/>
                          </a:solidFill>
                          <a:latin typeface="Helvetica Neue"/>
                        </a:rPr>
                        <a:t>Removing the shipping surprise recovers the largest abandonment pool</a:t>
                      </a:r>
                    </a:p>
                  </a:txBody>
                  <a:tcPr marL="73152" marR="73152" marT="18288" marB="18288" anchor="ctr">
                    <a:solidFill>
                      <a:srgbClr val="000000"/>
                    </a:solidFill>
                  </a:tcPr>
                </a:tc>
                <a:tc>
                  <a:txBody>
                    <a:bodyPr wrap="square"/>
                    <a:lstStyle/>
                    <a:p>
                      <a:pPr algn="l"/>
                      <a:r>
                        <a:rPr sz="900" b="0">
                          <a:solidFill>
                            <a:srgbClr val="EFEEEE"/>
                          </a:solidFill>
                          <a:latin typeface="Helvetica Neue"/>
                        </a:rPr>
                        <a:t>60.2% cart abandonment, 32,859 users/90 days; free ship confusion in reviews</a:t>
                      </a:r>
                    </a:p>
                  </a:txBody>
                  <a:tcPr marL="73152" marR="73152" marT="18288" marB="18288" anchor="ctr">
                    <a:solidFill>
                      <a:srgbClr val="000000"/>
                    </a:solidFill>
                  </a:tcPr>
                </a:tc>
                <a:tc>
                  <a:txBody>
                    <a:bodyPr wrap="square"/>
                    <a:lstStyle/>
                    <a:p>
                      <a:pPr algn="r"/>
                      <a:r>
                        <a:rPr sz="900" b="0">
                          <a:solidFill>
                            <a:srgbClr val="F7D007"/>
                          </a:solidFill>
                          <a:latin typeface="Menlo"/>
                        </a:rPr>
                        <a:t>1.5 to 1.8M SEK/qtr (Est.)</a:t>
                      </a:r>
                    </a:p>
                  </a:txBody>
                  <a:tcPr marL="73152" marR="73152" marT="18288" marB="18288" anchor="ctr">
                    <a:solidFill>
                      <a:srgbClr val="000000"/>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46</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P1 · Do Next</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Conversion and Product Depth</a:t>
            </a:r>
          </a:p>
        </p:txBody>
      </p:sp>
      <p:graphicFrame>
        <p:nvGraphicFramePr>
          <p:cNvPr id="9" name="Table 8"/>
          <p:cNvGraphicFramePr>
            <a:graphicFrameLocks noGrp="1"/>
          </p:cNvGraphicFramePr>
          <p:nvPr/>
        </p:nvGraphicFramePr>
        <p:xfrm>
          <a:off x="457200" y="1828800"/>
          <a:ext cx="11274550" cy="3657600"/>
        </p:xfrm>
        <a:graphic>
          <a:graphicData uri="http://schemas.openxmlformats.org/drawingml/2006/table">
            <a:tbl>
              <a:tblPr>
                <a:tableStyleId>{2D5ABB26-0587-4C30-8999-92F81FD0307C}</a:tableStyleId>
              </a:tblPr>
              <a:tblGrid>
                <a:gridCol w="2782032"/>
                <a:gridCol w="1464227"/>
                <a:gridCol w="4099837"/>
                <a:gridCol w="1464227"/>
                <a:gridCol w="1464227"/>
              </a:tblGrid>
              <a:tr h="365760">
                <a:tc>
                  <a:txBody>
                    <a:bodyPr wrap="square"/>
                    <a:lstStyle/>
                    <a:p>
                      <a:pPr algn="l"/>
                      <a:r>
                        <a:rPr sz="900" b="1" spc="100">
                          <a:solidFill>
                            <a:srgbClr val="999999"/>
                          </a:solidFill>
                          <a:latin typeface="Helvetica Neue"/>
                        </a:rPr>
                        <a:t>WHERE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FIX</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HYPOTHESIS</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IMPACT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Checkout</a:t>
                      </a:r>
                    </a:p>
                  </a:txBody>
                  <a:tcPr marL="73152" marR="73152" marT="18288" marB="18288" anchor="ctr">
                    <a:solidFill>
                      <a:srgbClr val="000000"/>
                    </a:solidFill>
                  </a:tcPr>
                </a:tc>
                <a:tc>
                  <a:txBody>
                    <a:bodyPr wrap="square"/>
                    <a:lstStyle/>
                    <a:p>
                      <a:pPr algn="l"/>
                      <a:r>
                        <a:rPr sz="900" b="0">
                          <a:solidFill>
                            <a:srgbClr val="EFEEEE"/>
                          </a:solidFill>
                          <a:latin typeface="Helvetica Neue"/>
                        </a:rPr>
                        <a:t>Diagnose and clear the website errors, verify payment path on mobile Safari</a:t>
                      </a:r>
                    </a:p>
                  </a:txBody>
                  <a:tcPr marL="73152" marR="73152" marT="18288" marB="18288" anchor="ctr">
                    <a:solidFill>
                      <a:srgbClr val="000000"/>
                    </a:solidFill>
                  </a:tcPr>
                </a:tc>
                <a:tc>
                  <a:txBody>
                    <a:bodyPr wrap="square"/>
                    <a:lstStyle/>
                    <a:p>
                      <a:pPr algn="l"/>
                      <a:r>
                        <a:rPr sz="900" b="0">
                          <a:solidFill>
                            <a:srgbClr val="EFEEEE"/>
                          </a:solidFill>
                          <a:latin typeface="Helvetica Neue"/>
                        </a:rPr>
                        <a:t>Removing checkout errors recovers the highest intent, cheapest audience</a:t>
                      </a:r>
                    </a:p>
                  </a:txBody>
                  <a:tcPr marL="73152" marR="73152" marT="18288" marB="18288" anchor="ctr">
                    <a:solidFill>
                      <a:srgbClr val="000000"/>
                    </a:solidFill>
                  </a:tcPr>
                </a:tc>
                <a:tc>
                  <a:txBody>
                    <a:bodyPr wrap="square"/>
                    <a:lstStyle/>
                    <a:p>
                      <a:pPr algn="l"/>
                      <a:r>
                        <a:rPr sz="900" b="0">
                          <a:solidFill>
                            <a:srgbClr val="EFEEEE"/>
                          </a:solidFill>
                          <a:latin typeface="Helvetica Neue"/>
                        </a:rPr>
                        <a:t>46.9% checkout abandonment; 90+ JS errors per load</a:t>
                      </a:r>
                    </a:p>
                  </a:txBody>
                  <a:tcPr marL="73152" marR="73152" marT="18288" marB="18288" anchor="ctr">
                    <a:solidFill>
                      <a:srgbClr val="000000"/>
                    </a:solidFill>
                  </a:tcPr>
                </a:tc>
                <a:tc>
                  <a:txBody>
                    <a:bodyPr wrap="square"/>
                    <a:lstStyle/>
                    <a:p>
                      <a:pPr algn="r"/>
                      <a:r>
                        <a:rPr sz="900" b="0">
                          <a:solidFill>
                            <a:srgbClr val="F7D007"/>
                          </a:solidFill>
                          <a:latin typeface="Menlo"/>
                        </a:rPr>
                        <a:t>High</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Box product page</a:t>
                      </a:r>
                    </a:p>
                  </a:txBody>
                  <a:tcPr marL="73152" marR="73152" marT="18288" marB="18288" anchor="ctr">
                    <a:solidFill>
                      <a:srgbClr val="0B0B0B"/>
                    </a:solidFill>
                  </a:tcPr>
                </a:tc>
                <a:tc>
                  <a:txBody>
                    <a:bodyPr wrap="square"/>
                    <a:lstStyle/>
                    <a:p>
                      <a:pPr algn="l"/>
                      <a:r>
                        <a:rPr sz="900" b="0">
                          <a:solidFill>
                            <a:srgbClr val="EFEEEE"/>
                          </a:solidFill>
                          <a:latin typeface="Helvetica Neue"/>
                        </a:rPr>
                        <a:t>Add per wine detail: grape, region, dry to sweet scale, Vivino score, more images</a:t>
                      </a:r>
                    </a:p>
                  </a:txBody>
                  <a:tcPr marL="73152" marR="73152" marT="18288" marB="18288" anchor="ctr">
                    <a:solidFill>
                      <a:srgbClr val="0B0B0B"/>
                    </a:solidFill>
                  </a:tcPr>
                </a:tc>
                <a:tc>
                  <a:txBody>
                    <a:bodyPr wrap="square"/>
                    <a:lstStyle/>
                    <a:p>
                      <a:pPr algn="l"/>
                      <a:r>
                        <a:rPr sz="900" b="0">
                          <a:solidFill>
                            <a:srgbClr val="EFEEEE"/>
                          </a:solidFill>
                          <a:latin typeface="Helvetica Neue"/>
                        </a:rPr>
                        <a:t>Turning a blind box into an informed pick lifts add to cart and cuts taste complaints</a:t>
                      </a:r>
                    </a:p>
                  </a:txBody>
                  <a:tcPr marL="73152" marR="73152" marT="18288" marB="18288" anchor="ctr">
                    <a:solidFill>
                      <a:srgbClr val="0B0B0B"/>
                    </a:solidFill>
                  </a:tcPr>
                </a:tc>
                <a:tc>
                  <a:txBody>
                    <a:bodyPr wrap="square"/>
                    <a:lstStyle/>
                    <a:p>
                      <a:pPr algn="l"/>
                      <a:r>
                        <a:rPr sz="900" b="0">
                          <a:solidFill>
                            <a:srgbClr val="EFEEEE"/>
                          </a:solidFill>
                          <a:latin typeface="Helvetica Neue"/>
                        </a:rPr>
                        <a:t>"Jag saknar en beskrivning av respektive vin"; 14% taste complaints; 3 images only</a:t>
                      </a:r>
                    </a:p>
                  </a:txBody>
                  <a:tcPr marL="73152" marR="73152" marT="18288" marB="18288" anchor="ctr">
                    <a:solidFill>
                      <a:srgbClr val="0B0B0B"/>
                    </a:solidFill>
                  </a:tcPr>
                </a:tc>
                <a:tc>
                  <a:txBody>
                    <a:bodyPr wrap="square"/>
                    <a:lstStyle/>
                    <a:p>
                      <a:pPr algn="r"/>
                      <a:r>
                        <a:rPr sz="900" b="0">
                          <a:solidFill>
                            <a:srgbClr val="F7D007"/>
                          </a:solidFill>
                          <a:latin typeface="Menlo"/>
                        </a:rPr>
                        <a:t>Med to High</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Delivery UX</a:t>
                      </a:r>
                    </a:p>
                  </a:txBody>
                  <a:tcPr marL="73152" marR="73152" marT="18288" marB="18288" anchor="ctr">
                    <a:solidFill>
                      <a:srgbClr val="000000"/>
                    </a:solidFill>
                  </a:tcPr>
                </a:tc>
                <a:tc>
                  <a:txBody>
                    <a:bodyPr wrap="square"/>
                    <a:lstStyle/>
                    <a:p>
                      <a:pPr algn="l"/>
                      <a:r>
                        <a:rPr sz="900" b="0">
                          <a:solidFill>
                            <a:srgbClr val="EFEEEE"/>
                          </a:solidFill>
                          <a:latin typeface="Helvetica Neue"/>
                        </a:rPr>
                        <a:t>Let customers choose a delivery day/window, align carrier expectations</a:t>
                      </a:r>
                    </a:p>
                  </a:txBody>
                  <a:tcPr marL="73152" marR="73152" marT="18288" marB="18288" anchor="ctr">
                    <a:solidFill>
                      <a:srgbClr val="000000"/>
                    </a:solidFill>
                  </a:tcPr>
                </a:tc>
                <a:tc>
                  <a:txBody>
                    <a:bodyPr wrap="square"/>
                    <a:lstStyle/>
                    <a:p>
                      <a:pPr algn="l"/>
                      <a:r>
                        <a:rPr sz="900" b="0">
                          <a:solidFill>
                            <a:srgbClr val="EFEEEE"/>
                          </a:solidFill>
                          <a:latin typeface="Helvetica Neue"/>
                        </a:rPr>
                        <a:t>Solving the be home problem reduces cancellations and 1 to 3 star reviews</a:t>
                      </a:r>
                    </a:p>
                  </a:txBody>
                  <a:tcPr marL="73152" marR="73152" marT="18288" marB="18288" anchor="ctr">
                    <a:solidFill>
                      <a:srgbClr val="000000"/>
                    </a:solidFill>
                  </a:tcPr>
                </a:tc>
                <a:tc>
                  <a:txBody>
                    <a:bodyPr wrap="square"/>
                    <a:lstStyle/>
                    <a:p>
                      <a:pPr algn="l"/>
                      <a:r>
                        <a:rPr sz="900" b="0">
                          <a:solidFill>
                            <a:srgbClr val="EFEEEE"/>
                          </a:solidFill>
                          <a:latin typeface="Helvetica Neue"/>
                        </a:rPr>
                        <a:t>23% cite the cancelled window / be home problem</a:t>
                      </a:r>
                    </a:p>
                  </a:txBody>
                  <a:tcPr marL="73152" marR="73152" marT="18288" marB="18288" anchor="ctr">
                    <a:solidFill>
                      <a:srgbClr val="000000"/>
                    </a:solidFill>
                  </a:tcPr>
                </a:tc>
                <a:tc>
                  <a:txBody>
                    <a:bodyPr wrap="square"/>
                    <a:lstStyle/>
                    <a:p>
                      <a:pPr algn="r"/>
                      <a:r>
                        <a:rPr sz="900" b="0">
                          <a:solidFill>
                            <a:srgbClr val="F7D007"/>
                          </a:solidFill>
                          <a:latin typeface="Menlo"/>
                        </a:rPr>
                        <a:t>Med</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Collection</a:t>
                      </a:r>
                    </a:p>
                  </a:txBody>
                  <a:tcPr marL="73152" marR="73152" marT="18288" marB="18288" anchor="ctr">
                    <a:solidFill>
                      <a:srgbClr val="0B0B0B"/>
                    </a:solidFill>
                  </a:tcPr>
                </a:tc>
                <a:tc>
                  <a:txBody>
                    <a:bodyPr wrap="square"/>
                    <a:lstStyle/>
                    <a:p>
                      <a:pPr algn="l"/>
                      <a:r>
                        <a:rPr sz="900" b="0">
                          <a:solidFill>
                            <a:srgbClr val="EFEEEE"/>
                          </a:solidFill>
                          <a:latin typeface="Helvetica Neue"/>
                        </a:rPr>
                        <a:t>Box first layout, stronger faceted filtering (grape, sweetness, occasion)</a:t>
                      </a:r>
                    </a:p>
                  </a:txBody>
                  <a:tcPr marL="73152" marR="73152" marT="18288" marB="18288" anchor="ctr">
                    <a:solidFill>
                      <a:srgbClr val="0B0B0B"/>
                    </a:solidFill>
                  </a:tcPr>
                </a:tc>
                <a:tc>
                  <a:txBody>
                    <a:bodyPr wrap="square"/>
                    <a:lstStyle/>
                    <a:p>
                      <a:pPr algn="l"/>
                      <a:r>
                        <a:rPr sz="900" b="0">
                          <a:solidFill>
                            <a:srgbClr val="EFEEEE"/>
                          </a:solidFill>
                          <a:latin typeface="Helvetica Neue"/>
                        </a:rPr>
                        <a:t>Better discovery lifts the collection page from 2.6% toward box level CVR</a:t>
                      </a:r>
                    </a:p>
                  </a:txBody>
                  <a:tcPr marL="73152" marR="73152" marT="18288" marB="18288" anchor="ctr">
                    <a:solidFill>
                      <a:srgbClr val="0B0B0B"/>
                    </a:solidFill>
                  </a:tcPr>
                </a:tc>
                <a:tc>
                  <a:txBody>
                    <a:bodyPr wrap="square"/>
                    <a:lstStyle/>
                    <a:p>
                      <a:pPr algn="l"/>
                      <a:r>
                        <a:rPr sz="900" b="0">
                          <a:solidFill>
                            <a:srgbClr val="EFEEEE"/>
                          </a:solidFill>
                          <a:latin typeface="Helvetica Neue"/>
                        </a:rPr>
                        <a:t>Collection 2.6% vs boxes 4 to 5.5%; requests for a sortable list</a:t>
                      </a:r>
                    </a:p>
                  </a:txBody>
                  <a:tcPr marL="73152" marR="73152" marT="18288" marB="18288" anchor="ctr">
                    <a:solidFill>
                      <a:srgbClr val="0B0B0B"/>
                    </a:solidFill>
                  </a:tcPr>
                </a:tc>
                <a:tc>
                  <a:txBody>
                    <a:bodyPr wrap="square"/>
                    <a:lstStyle/>
                    <a:p>
                      <a:pPr algn="r"/>
                      <a:r>
                        <a:rPr sz="900" b="0">
                          <a:solidFill>
                            <a:srgbClr val="F7D007"/>
                          </a:solidFill>
                          <a:latin typeface="Menlo"/>
                        </a:rPr>
                        <a:t>Med</a:t>
                      </a:r>
                    </a:p>
                  </a:txBody>
                  <a:tcPr marL="73152" marR="73152" marT="18288" marB="18288" anchor="ctr">
                    <a:solidFill>
                      <a:srgbClr val="0B0B0B"/>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47</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P2 · Polish and Plumbing</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Clean Up and De Risk</a:t>
            </a:r>
          </a:p>
        </p:txBody>
      </p:sp>
      <p:graphicFrame>
        <p:nvGraphicFramePr>
          <p:cNvPr id="9" name="Table 8"/>
          <p:cNvGraphicFramePr>
            <a:graphicFrameLocks noGrp="1"/>
          </p:cNvGraphicFramePr>
          <p:nvPr/>
        </p:nvGraphicFramePr>
        <p:xfrm>
          <a:off x="457200" y="1828800"/>
          <a:ext cx="11274550" cy="4480560"/>
        </p:xfrm>
        <a:graphic>
          <a:graphicData uri="http://schemas.openxmlformats.org/drawingml/2006/table">
            <a:tbl>
              <a:tblPr>
                <a:tableStyleId>{2D5ABB26-0587-4C30-8999-92F81FD0307C}</a:tableStyleId>
              </a:tblPr>
              <a:tblGrid>
                <a:gridCol w="2782032"/>
                <a:gridCol w="4099837"/>
                <a:gridCol w="1464227"/>
                <a:gridCol w="1464227"/>
                <a:gridCol w="1464227"/>
              </a:tblGrid>
              <a:tr h="365760">
                <a:tc>
                  <a:txBody>
                    <a:bodyPr wrap="square"/>
                    <a:lstStyle/>
                    <a:p>
                      <a:pPr algn="l"/>
                      <a:r>
                        <a:rPr sz="900" b="1" spc="100">
                          <a:solidFill>
                            <a:srgbClr val="999999"/>
                          </a:solidFill>
                          <a:latin typeface="Helvetica Neue"/>
                        </a:rPr>
                        <a:t>WHERE</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TEST / FIX</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HYPOTHESIS</a:t>
                      </a:r>
                    </a:p>
                  </a:txBody>
                  <a:tcPr marL="73152" marR="73152" marT="18288" marB="18288" anchor="ctr">
                    <a:solidFill>
                      <a:srgbClr val="0A0A0A"/>
                    </a:solidFill>
                  </a:tcPr>
                </a:tc>
                <a:tc>
                  <a:txBody>
                    <a:bodyPr wrap="square"/>
                    <a:lstStyle/>
                    <a:p>
                      <a:pPr algn="l"/>
                      <a:r>
                        <a:rPr sz="900" b="1" spc="100">
                          <a:solidFill>
                            <a:srgbClr val="999999"/>
                          </a:solidFill>
                          <a:latin typeface="Helvetica Neue"/>
                        </a:rPr>
                        <a:t>EVIDENCE</a:t>
                      </a:r>
                    </a:p>
                  </a:txBody>
                  <a:tcPr marL="73152" marR="73152" marT="18288" marB="18288" anchor="ctr">
                    <a:solidFill>
                      <a:srgbClr val="0A0A0A"/>
                    </a:solidFill>
                  </a:tcPr>
                </a:tc>
                <a:tc>
                  <a:txBody>
                    <a:bodyPr wrap="square"/>
                    <a:lstStyle/>
                    <a:p>
                      <a:pPr algn="r"/>
                      <a:r>
                        <a:rPr sz="900" b="1" spc="100">
                          <a:solidFill>
                            <a:srgbClr val="999999"/>
                          </a:solidFill>
                          <a:latin typeface="Helvetica Neue"/>
                        </a:rPr>
                        <a:t>EST. IMPACT</a:t>
                      </a:r>
                    </a:p>
                  </a:txBody>
                  <a:tcPr marL="73152" marR="73152" marT="18288" marB="18288" anchor="ctr">
                    <a:solidFill>
                      <a:srgbClr val="0A0A0A"/>
                    </a:solidFill>
                  </a:tcPr>
                </a:tc>
              </a:tr>
              <a:tr h="822960">
                <a:tc>
                  <a:txBody>
                    <a:bodyPr wrap="square"/>
                    <a:lstStyle/>
                    <a:p>
                      <a:pPr algn="l"/>
                      <a:r>
                        <a:rPr sz="900" b="1">
                          <a:solidFill>
                            <a:srgbClr val="F7D007"/>
                          </a:solidFill>
                          <a:latin typeface="Helvetica Neue"/>
                        </a:rPr>
                        <a:t>Entry</a:t>
                      </a:r>
                    </a:p>
                  </a:txBody>
                  <a:tcPr marL="73152" marR="73152" marT="18288" marB="18288" anchor="ctr">
                    <a:solidFill>
                      <a:srgbClr val="000000"/>
                    </a:solidFill>
                  </a:tcPr>
                </a:tc>
                <a:tc>
                  <a:txBody>
                    <a:bodyPr wrap="square"/>
                    <a:lstStyle/>
                    <a:p>
                      <a:pPr algn="l"/>
                      <a:r>
                        <a:rPr sz="900" b="0">
                          <a:solidFill>
                            <a:srgbClr val="EFEEEE"/>
                          </a:solidFill>
                          <a:latin typeface="Helvetica Neue"/>
                        </a:rPr>
                        <a:t>Merge age gate and spin wheel into one step, remember the choice</a:t>
                      </a:r>
                    </a:p>
                  </a:txBody>
                  <a:tcPr marL="73152" marR="73152" marT="18288" marB="18288" anchor="ctr">
                    <a:solidFill>
                      <a:srgbClr val="000000"/>
                    </a:solidFill>
                  </a:tcPr>
                </a:tc>
                <a:tc>
                  <a:txBody>
                    <a:bodyPr wrap="square"/>
                    <a:lstStyle/>
                    <a:p>
                      <a:pPr algn="l"/>
                      <a:r>
                        <a:rPr sz="900" b="0">
                          <a:solidFill>
                            <a:srgbClr val="EFEEEE"/>
                          </a:solidFill>
                          <a:latin typeface="Helvetica Neue"/>
                        </a:rPr>
                        <a:t>One clean gate reduces entry friction on cold paid traffic</a:t>
                      </a:r>
                    </a:p>
                  </a:txBody>
                  <a:tcPr marL="73152" marR="73152" marT="18288" marB="18288" anchor="ctr">
                    <a:solidFill>
                      <a:srgbClr val="000000"/>
                    </a:solidFill>
                  </a:tcPr>
                </a:tc>
                <a:tc>
                  <a:txBody>
                    <a:bodyPr wrap="square"/>
                    <a:lstStyle/>
                    <a:p>
                      <a:pPr algn="l"/>
                      <a:r>
                        <a:rPr sz="900" b="0">
                          <a:solidFill>
                            <a:srgbClr val="EFEEEE"/>
                          </a:solidFill>
                          <a:latin typeface="Helvetica Neue"/>
                        </a:rPr>
                        <a:t>Double popup verified on mobile; 41% cold Facebook traffic</a:t>
                      </a:r>
                    </a:p>
                  </a:txBody>
                  <a:tcPr marL="73152" marR="73152" marT="18288" marB="18288" anchor="ctr">
                    <a:solidFill>
                      <a:srgbClr val="000000"/>
                    </a:solidFill>
                  </a:tcPr>
                </a:tc>
                <a:tc>
                  <a:txBody>
                    <a:bodyPr wrap="square"/>
                    <a:lstStyle/>
                    <a:p>
                      <a:pPr algn="r"/>
                      <a:r>
                        <a:rPr sz="900" b="0">
                          <a:solidFill>
                            <a:srgbClr val="F7D007"/>
                          </a:solidFill>
                          <a:latin typeface="Menlo"/>
                        </a:rPr>
                        <a:t>Med</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Tracking</a:t>
                      </a:r>
                    </a:p>
                  </a:txBody>
                  <a:tcPr marL="73152" marR="73152" marT="18288" marB="18288" anchor="ctr">
                    <a:solidFill>
                      <a:srgbClr val="0B0B0B"/>
                    </a:solidFill>
                  </a:tcPr>
                </a:tc>
                <a:tc>
                  <a:txBody>
                    <a:bodyPr wrap="square"/>
                    <a:lstStyle/>
                    <a:p>
                      <a:pPr algn="l"/>
                      <a:r>
                        <a:rPr sz="900" b="0">
                          <a:solidFill>
                            <a:srgbClr val="EFEEEE"/>
                          </a:solidFill>
                          <a:latin typeface="Helvetica Neue"/>
                        </a:rPr>
                        <a:t>Fix homepage conversion tag, consolidate to one GA4, remove dead UA</a:t>
                      </a:r>
                    </a:p>
                  </a:txBody>
                  <a:tcPr marL="73152" marR="73152" marT="18288" marB="18288" anchor="ctr">
                    <a:solidFill>
                      <a:srgbClr val="0B0B0B"/>
                    </a:solidFill>
                  </a:tcPr>
                </a:tc>
                <a:tc>
                  <a:txBody>
                    <a:bodyPr wrap="square"/>
                    <a:lstStyle/>
                    <a:p>
                      <a:pPr algn="l"/>
                      <a:r>
                        <a:rPr sz="900" b="0">
                          <a:solidFill>
                            <a:srgbClr val="EFEEEE"/>
                          </a:solidFill>
                          <a:latin typeface="Helvetica Neue"/>
                        </a:rPr>
                        <a:t>Clean data improves ad optimization and decision quality</a:t>
                      </a:r>
                    </a:p>
                  </a:txBody>
                  <a:tcPr marL="73152" marR="73152" marT="18288" marB="18288" anchor="ctr">
                    <a:solidFill>
                      <a:srgbClr val="0B0B0B"/>
                    </a:solidFill>
                  </a:tcPr>
                </a:tc>
                <a:tc>
                  <a:txBody>
                    <a:bodyPr wrap="square"/>
                    <a:lstStyle/>
                    <a:p>
                      <a:pPr algn="l"/>
                      <a:r>
                        <a:rPr sz="900" b="0">
                          <a:solidFill>
                            <a:srgbClr val="EFEEEE"/>
                          </a:solidFill>
                          <a:latin typeface="Helvetica Neue"/>
                        </a:rPr>
                        <a:t>Conversion on pageview; 4 GA4 + dead UA verified</a:t>
                      </a:r>
                    </a:p>
                  </a:txBody>
                  <a:tcPr marL="73152" marR="73152" marT="18288" marB="18288" anchor="ctr">
                    <a:solidFill>
                      <a:srgbClr val="0B0B0B"/>
                    </a:solidFill>
                  </a:tcPr>
                </a:tc>
                <a:tc>
                  <a:txBody>
                    <a:bodyPr wrap="square"/>
                    <a:lstStyle/>
                    <a:p>
                      <a:pPr algn="r"/>
                      <a:r>
                        <a:rPr sz="900" b="0">
                          <a:solidFill>
                            <a:srgbClr val="F7D007"/>
                          </a:solidFill>
                          <a:latin typeface="Menlo"/>
                        </a:rPr>
                        <a:t>High (data)</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Trust marks</a:t>
                      </a:r>
                    </a:p>
                  </a:txBody>
                  <a:tcPr marL="73152" marR="73152" marT="18288" marB="18288" anchor="ctr">
                    <a:solidFill>
                      <a:srgbClr val="000000"/>
                    </a:solidFill>
                  </a:tcPr>
                </a:tc>
                <a:tc>
                  <a:txBody>
                    <a:bodyPr wrap="square"/>
                    <a:lstStyle/>
                    <a:p>
                      <a:pPr algn="l"/>
                      <a:r>
                        <a:rPr sz="900" b="0">
                          <a:solidFill>
                            <a:srgbClr val="EFEEEE"/>
                          </a:solidFill>
                          <a:latin typeface="Helvetica Neue"/>
                        </a:rPr>
                        <a:t>Add Trygg E-handel, surface Danish operator and Løvens Hule higher up</a:t>
                      </a:r>
                    </a:p>
                  </a:txBody>
                  <a:tcPr marL="73152" marR="73152" marT="18288" marB="18288" anchor="ctr">
                    <a:solidFill>
                      <a:srgbClr val="000000"/>
                    </a:solidFill>
                  </a:tcPr>
                </a:tc>
                <a:tc>
                  <a:txBody>
                    <a:bodyPr wrap="square"/>
                    <a:lstStyle/>
                    <a:p>
                      <a:pPr algn="l"/>
                      <a:r>
                        <a:rPr sz="900" b="0">
                          <a:solidFill>
                            <a:srgbClr val="EFEEEE"/>
                          </a:solidFill>
                          <a:latin typeface="Helvetica Neue"/>
                        </a:rPr>
                        <a:t>Recognized Swedish trust marks lift legitimacy for new buyers</a:t>
                      </a:r>
                    </a:p>
                  </a:txBody>
                  <a:tcPr marL="73152" marR="73152" marT="18288" marB="18288" anchor="ctr">
                    <a:solidFill>
                      <a:srgbClr val="000000"/>
                    </a:solidFill>
                  </a:tcPr>
                </a:tc>
                <a:tc>
                  <a:txBody>
                    <a:bodyPr wrap="square"/>
                    <a:lstStyle/>
                    <a:p>
                      <a:pPr algn="l"/>
                      <a:r>
                        <a:rPr sz="900" b="0">
                          <a:solidFill>
                            <a:srgbClr val="EFEEEE"/>
                          </a:solidFill>
                          <a:latin typeface="Helvetica Neue"/>
                        </a:rPr>
                        <a:t>3 of 4 rivals show Trygg; assets buried in footer</a:t>
                      </a:r>
                    </a:p>
                  </a:txBody>
                  <a:tcPr marL="73152" marR="73152" marT="18288" marB="18288" anchor="ctr">
                    <a:solidFill>
                      <a:srgbClr val="000000"/>
                    </a:solidFill>
                  </a:tcPr>
                </a:tc>
                <a:tc>
                  <a:txBody>
                    <a:bodyPr wrap="square"/>
                    <a:lstStyle/>
                    <a:p>
                      <a:pPr algn="r"/>
                      <a:r>
                        <a:rPr sz="900" b="0">
                          <a:solidFill>
                            <a:srgbClr val="F7D007"/>
                          </a:solidFill>
                          <a:latin typeface="Menlo"/>
                        </a:rPr>
                        <a:t>Med</a:t>
                      </a:r>
                    </a:p>
                  </a:txBody>
                  <a:tcPr marL="73152" marR="73152" marT="18288" marB="18288" anchor="ctr">
                    <a:solidFill>
                      <a:srgbClr val="000000"/>
                    </a:solidFill>
                  </a:tcPr>
                </a:tc>
              </a:tr>
              <a:tr h="822960">
                <a:tc>
                  <a:txBody>
                    <a:bodyPr wrap="square"/>
                    <a:lstStyle/>
                    <a:p>
                      <a:pPr algn="l"/>
                      <a:r>
                        <a:rPr sz="900" b="1">
                          <a:solidFill>
                            <a:srgbClr val="F7D007"/>
                          </a:solidFill>
                          <a:latin typeface="Helvetica Neue"/>
                        </a:rPr>
                        <a:t>Localization</a:t>
                      </a:r>
                    </a:p>
                  </a:txBody>
                  <a:tcPr marL="73152" marR="73152" marT="18288" marB="18288" anchor="ctr">
                    <a:solidFill>
                      <a:srgbClr val="0B0B0B"/>
                    </a:solidFill>
                  </a:tcPr>
                </a:tc>
                <a:tc>
                  <a:txBody>
                    <a:bodyPr wrap="square"/>
                    <a:lstStyle/>
                    <a:p>
                      <a:pPr algn="l"/>
                      <a:r>
                        <a:rPr sz="900" b="0">
                          <a:solidFill>
                            <a:srgbClr val="EFEEEE"/>
                          </a:solidFill>
                          <a:latin typeface="Helvetica Neue"/>
                        </a:rPr>
                        <a:t>Remove Danish leaks ("Kjøb", "Smagekasser") and the stray .dk Trustpilot widget</a:t>
                      </a:r>
                    </a:p>
                  </a:txBody>
                  <a:tcPr marL="73152" marR="73152" marT="18288" marB="18288" anchor="ctr">
                    <a:solidFill>
                      <a:srgbClr val="0B0B0B"/>
                    </a:solidFill>
                  </a:tcPr>
                </a:tc>
                <a:tc>
                  <a:txBody>
                    <a:bodyPr wrap="square"/>
                    <a:lstStyle/>
                    <a:p>
                      <a:pPr algn="l"/>
                      <a:r>
                        <a:rPr sz="900" b="0">
                          <a:solidFill>
                            <a:srgbClr val="EFEEEE"/>
                          </a:solidFill>
                          <a:latin typeface="Helvetica Neue"/>
                        </a:rPr>
                        <a:t>Full Swedish polish removes trust dissonance</a:t>
                      </a:r>
                    </a:p>
                  </a:txBody>
                  <a:tcPr marL="73152" marR="73152" marT="18288" marB="18288" anchor="ctr">
                    <a:solidFill>
                      <a:srgbClr val="0B0B0B"/>
                    </a:solidFill>
                  </a:tcPr>
                </a:tc>
                <a:tc>
                  <a:txBody>
                    <a:bodyPr wrap="square"/>
                    <a:lstStyle/>
                    <a:p>
                      <a:pPr algn="l"/>
                      <a:r>
                        <a:rPr sz="900" b="0">
                          <a:solidFill>
                            <a:srgbClr val="EFEEEE"/>
                          </a:solidFill>
                          <a:latin typeface="Helvetica Neue"/>
                        </a:rPr>
                        <a:t>Danish page title + .dk widget shown to Swedes</a:t>
                      </a:r>
                    </a:p>
                  </a:txBody>
                  <a:tcPr marL="73152" marR="73152" marT="18288" marB="18288" anchor="ctr">
                    <a:solidFill>
                      <a:srgbClr val="0B0B0B"/>
                    </a:solidFill>
                  </a:tcPr>
                </a:tc>
                <a:tc>
                  <a:txBody>
                    <a:bodyPr wrap="square"/>
                    <a:lstStyle/>
                    <a:p>
                      <a:pPr algn="r"/>
                      <a:r>
                        <a:rPr sz="900" b="0">
                          <a:solidFill>
                            <a:srgbClr val="F7D007"/>
                          </a:solidFill>
                          <a:latin typeface="Menlo"/>
                        </a:rPr>
                        <a:t>Low</a:t>
                      </a:r>
                    </a:p>
                  </a:txBody>
                  <a:tcPr marL="73152" marR="73152" marT="18288" marB="18288" anchor="ctr">
                    <a:solidFill>
                      <a:srgbClr val="0B0B0B"/>
                    </a:solidFill>
                  </a:tcPr>
                </a:tc>
              </a:tr>
              <a:tr h="822960">
                <a:tc>
                  <a:txBody>
                    <a:bodyPr wrap="square"/>
                    <a:lstStyle/>
                    <a:p>
                      <a:pPr algn="l"/>
                      <a:r>
                        <a:rPr sz="900" b="1">
                          <a:solidFill>
                            <a:srgbClr val="F7D007"/>
                          </a:solidFill>
                          <a:latin typeface="Helvetica Neue"/>
                        </a:rPr>
                        <a:t>Owned channels</a:t>
                      </a:r>
                    </a:p>
                  </a:txBody>
                  <a:tcPr marL="73152" marR="73152" marT="18288" marB="18288" anchor="ctr">
                    <a:solidFill>
                      <a:srgbClr val="000000"/>
                    </a:solidFill>
                  </a:tcPr>
                </a:tc>
                <a:tc>
                  <a:txBody>
                    <a:bodyPr wrap="square"/>
                    <a:lstStyle/>
                    <a:p>
                      <a:pPr algn="l"/>
                      <a:r>
                        <a:rPr sz="900" b="0">
                          <a:solidFill>
                            <a:srgbClr val="EFEEEE"/>
                          </a:solidFill>
                          <a:latin typeface="Helvetica Neue"/>
                        </a:rPr>
                        <a:t>Grow email and search to balance the ~33% paid social share</a:t>
                      </a:r>
                    </a:p>
                  </a:txBody>
                  <a:tcPr marL="73152" marR="73152" marT="18288" marB="18288" anchor="ctr">
                    <a:solidFill>
                      <a:srgbClr val="000000"/>
                    </a:solidFill>
                  </a:tcPr>
                </a:tc>
                <a:tc>
                  <a:txBody>
                    <a:bodyPr wrap="square"/>
                    <a:lstStyle/>
                    <a:p>
                      <a:pPr algn="l"/>
                      <a:r>
                        <a:rPr sz="900" b="0">
                          <a:solidFill>
                            <a:srgbClr val="EFEEEE"/>
                          </a:solidFill>
                          <a:latin typeface="Helvetica Neue"/>
                        </a:rPr>
                        <a:t>Diversified demand de risks the whole business</a:t>
                      </a:r>
                    </a:p>
                  </a:txBody>
                  <a:tcPr marL="73152" marR="73152" marT="18288" marB="18288" anchor="ctr">
                    <a:solidFill>
                      <a:srgbClr val="000000"/>
                    </a:solidFill>
                  </a:tcPr>
                </a:tc>
                <a:tc>
                  <a:txBody>
                    <a:bodyPr wrap="square"/>
                    <a:lstStyle/>
                    <a:p>
                      <a:pPr algn="l"/>
                      <a:r>
                        <a:rPr sz="900" b="0">
                          <a:solidFill>
                            <a:srgbClr val="EFEEEE"/>
                          </a:solidFill>
                          <a:latin typeface="Helvetica Neue"/>
                        </a:rPr>
                        <a:t>Paid social ~33% of sessions; tagged email ~1% of sessions yet ~16% of orders, barely instrumented</a:t>
                      </a:r>
                    </a:p>
                  </a:txBody>
                  <a:tcPr marL="73152" marR="73152" marT="18288" marB="18288" anchor="ctr">
                    <a:solidFill>
                      <a:srgbClr val="000000"/>
                    </a:solidFill>
                  </a:tcPr>
                </a:tc>
                <a:tc>
                  <a:txBody>
                    <a:bodyPr wrap="square"/>
                    <a:lstStyle/>
                    <a:p>
                      <a:pPr algn="r"/>
                      <a:r>
                        <a:rPr sz="900" b="0">
                          <a:solidFill>
                            <a:srgbClr val="F7D007"/>
                          </a:solidFill>
                          <a:latin typeface="Menlo"/>
                        </a:rPr>
                        <a:t>Strategic</a:t>
                      </a:r>
                    </a:p>
                  </a:txBody>
                  <a:tcPr marL="73152" marR="73152" marT="18288" marB="18288" anchor="ctr">
                    <a:solidFill>
                      <a:srgbClr val="000000"/>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48</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Roadmap · The One Page Read</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If You Do Only Three Things</a:t>
            </a:r>
          </a:p>
        </p:txBody>
      </p:sp>
      <p:sp>
        <p:nvSpPr>
          <p:cNvPr id="9" name="TextBox 8"/>
          <p:cNvSpPr txBox="1"/>
          <p:nvPr/>
        </p:nvSpPr>
        <p:spPr>
          <a:xfrm>
            <a:off x="1828800" y="1463040"/>
            <a:ext cx="8534095" cy="548640"/>
          </a:xfrm>
          <a:prstGeom prst="rect">
            <a:avLst/>
          </a:prstGeom>
          <a:noFill/>
        </p:spPr>
        <p:txBody>
          <a:bodyPr wrap="square" lIns="0" rIns="0" tIns="0" bIns="0" anchor="t">
            <a:spAutoFit/>
          </a:bodyPr>
          <a:lstStyle/>
          <a:p>
            <a:pPr algn="ctr"/>
            <a:r>
              <a:rPr sz="1200" b="0" i="0">
                <a:solidFill>
                  <a:srgbClr val="999999"/>
                </a:solidFill>
                <a:latin typeface="Helvetica Neue"/>
              </a:rPr>
              <a:t>These three sit at the intersection of biggest evidence and lowest effort. Start here.</a:t>
            </a:r>
          </a:p>
        </p:txBody>
      </p:sp>
      <p:sp>
        <p:nvSpPr>
          <p:cNvPr id="10" name="Rounded Rectangle 9"/>
          <p:cNvSpPr/>
          <p:nvPr/>
        </p:nvSpPr>
        <p:spPr>
          <a:xfrm>
            <a:off x="79232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64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1</a:t>
            </a:r>
          </a:p>
        </p:txBody>
      </p:sp>
      <p:sp>
        <p:nvSpPr>
          <p:cNvPr id="12" name="TextBox 11"/>
          <p:cNvSpPr txBox="1"/>
          <p:nvPr/>
        </p:nvSpPr>
        <p:spPr>
          <a:xfrm>
            <a:off x="106664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Answer the legality question</a:t>
            </a:r>
          </a:p>
        </p:txBody>
      </p:sp>
      <p:sp>
        <p:nvSpPr>
          <p:cNvPr id="13" name="TextBox 12"/>
          <p:cNvSpPr txBox="1"/>
          <p:nvPr/>
        </p:nvSpPr>
        <p:spPr>
          <a:xfrm>
            <a:off x="106664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Trust wedge</a:t>
            </a:r>
          </a:p>
        </p:txBody>
      </p:sp>
      <p:sp>
        <p:nvSpPr>
          <p:cNvPr id="14" name="TextBox 13"/>
          <p:cNvSpPr txBox="1"/>
          <p:nvPr/>
        </p:nvSpPr>
        <p:spPr>
          <a:xfrm>
            <a:off x="106664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A visible "why this is legal" block on product page and cart, with the age check, Danish import model, tax included, and your 4.7 Trustpilot proof.</a:t>
            </a:r>
          </a:p>
        </p:txBody>
      </p:sp>
      <p:sp>
        <p:nvSpPr>
          <p:cNvPr id="15" name="TextBox 14"/>
          <p:cNvSpPr txBox="1"/>
          <p:nvPr/>
        </p:nvSpPr>
        <p:spPr>
          <a:xfrm>
            <a:off x="106664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Lifts first time buyers</a:t>
            </a:r>
          </a:p>
        </p:txBody>
      </p:sp>
      <p:sp>
        <p:nvSpPr>
          <p:cNvPr id="16" name="Rounded Rectangle 15"/>
          <p:cNvSpPr/>
          <p:nvPr/>
        </p:nvSpPr>
        <p:spPr>
          <a:xfrm>
            <a:off x="441944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9376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2</a:t>
            </a:r>
          </a:p>
        </p:txBody>
      </p:sp>
      <p:sp>
        <p:nvSpPr>
          <p:cNvPr id="18" name="TextBox 17"/>
          <p:cNvSpPr txBox="1"/>
          <p:nvPr/>
        </p:nvSpPr>
        <p:spPr>
          <a:xfrm>
            <a:off x="469376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Fix the delivery promise</a:t>
            </a:r>
          </a:p>
        </p:txBody>
      </p:sp>
      <p:sp>
        <p:nvSpPr>
          <p:cNvPr id="19" name="TextBox 18"/>
          <p:cNvSpPr txBox="1"/>
          <p:nvPr/>
        </p:nvSpPr>
        <p:spPr>
          <a:xfrm>
            <a:off x="469376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Retention</a:t>
            </a:r>
          </a:p>
        </p:txBody>
      </p:sp>
      <p:sp>
        <p:nvSpPr>
          <p:cNvPr id="20" name="TextBox 19"/>
          <p:cNvSpPr txBox="1"/>
          <p:nvPr/>
        </p:nvSpPr>
        <p:spPr>
          <a:xfrm>
            <a:off x="469376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Replace "1-3 dagar" with an honest ETA and proactive updates. Protects the 40% of revenue that comes from repeat buyers.</a:t>
            </a:r>
          </a:p>
        </p:txBody>
      </p:sp>
      <p:sp>
        <p:nvSpPr>
          <p:cNvPr id="21" name="TextBox 20"/>
          <p:cNvSpPr txBox="1"/>
          <p:nvPr/>
        </p:nvSpPr>
        <p:spPr>
          <a:xfrm>
            <a:off x="469376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Kills 86% of complaints at the source</a:t>
            </a:r>
          </a:p>
        </p:txBody>
      </p:sp>
      <p:sp>
        <p:nvSpPr>
          <p:cNvPr id="22" name="Rounded Rectangle 21"/>
          <p:cNvSpPr/>
          <p:nvPr/>
        </p:nvSpPr>
        <p:spPr>
          <a:xfrm>
            <a:off x="8046567" y="2103120"/>
            <a:ext cx="3352800" cy="3200400"/>
          </a:xfrm>
          <a:prstGeom prst="roundRect">
            <a:avLst>
              <a:gd name="adj" fmla="val 5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0887" y="2286000"/>
            <a:ext cx="914400" cy="457200"/>
          </a:xfrm>
          <a:prstGeom prst="rect">
            <a:avLst/>
          </a:prstGeom>
          <a:noFill/>
        </p:spPr>
        <p:txBody>
          <a:bodyPr wrap="square" lIns="0" rIns="0" tIns="0" bIns="0" anchor="t">
            <a:spAutoFit/>
          </a:bodyPr>
          <a:lstStyle/>
          <a:p>
            <a:pPr algn="l"/>
            <a:r>
              <a:rPr sz="2400" b="1" i="0">
                <a:solidFill>
                  <a:srgbClr val="F7D007"/>
                </a:solidFill>
                <a:latin typeface="Menlo"/>
              </a:rPr>
              <a:t>3</a:t>
            </a:r>
          </a:p>
        </p:txBody>
      </p:sp>
      <p:sp>
        <p:nvSpPr>
          <p:cNvPr id="24" name="TextBox 23"/>
          <p:cNvSpPr txBox="1"/>
          <p:nvPr/>
        </p:nvSpPr>
        <p:spPr>
          <a:xfrm>
            <a:off x="8320887" y="2816352"/>
            <a:ext cx="2804160" cy="365760"/>
          </a:xfrm>
          <a:prstGeom prst="rect">
            <a:avLst/>
          </a:prstGeom>
          <a:noFill/>
        </p:spPr>
        <p:txBody>
          <a:bodyPr wrap="square" lIns="0" rIns="0" tIns="0" bIns="0" anchor="t">
            <a:spAutoFit/>
          </a:bodyPr>
          <a:lstStyle/>
          <a:p>
            <a:pPr algn="l"/>
            <a:r>
              <a:rPr sz="1300" b="1" i="0">
                <a:solidFill>
                  <a:srgbClr val="FFFFFF"/>
                </a:solidFill>
                <a:latin typeface="Helvetica Neue"/>
              </a:rPr>
              <a:t>Recover the cart leak</a:t>
            </a:r>
          </a:p>
        </p:txBody>
      </p:sp>
      <p:sp>
        <p:nvSpPr>
          <p:cNvPr id="25" name="TextBox 24"/>
          <p:cNvSpPr txBox="1"/>
          <p:nvPr/>
        </p:nvSpPr>
        <p:spPr>
          <a:xfrm>
            <a:off x="8320887" y="3200400"/>
            <a:ext cx="2804160" cy="502920"/>
          </a:xfrm>
          <a:prstGeom prst="rect">
            <a:avLst/>
          </a:prstGeom>
          <a:noFill/>
        </p:spPr>
        <p:txBody>
          <a:bodyPr wrap="square" lIns="0" rIns="0" tIns="0" bIns="0" anchor="t">
            <a:spAutoFit/>
          </a:bodyPr>
          <a:lstStyle/>
          <a:p>
            <a:pPr algn="l"/>
            <a:r>
              <a:rPr sz="2800" b="1" i="0">
                <a:solidFill>
                  <a:srgbClr val="F7D007"/>
                </a:solidFill>
                <a:latin typeface="Menlo"/>
              </a:rPr>
              <a:t>1.5 to 1.8M</a:t>
            </a:r>
          </a:p>
        </p:txBody>
      </p:sp>
      <p:sp>
        <p:nvSpPr>
          <p:cNvPr id="26" name="TextBox 25"/>
          <p:cNvSpPr txBox="1"/>
          <p:nvPr/>
        </p:nvSpPr>
        <p:spPr>
          <a:xfrm>
            <a:off x="8320887" y="3794760"/>
            <a:ext cx="2804160" cy="1051560"/>
          </a:xfrm>
          <a:prstGeom prst="rect">
            <a:avLst/>
          </a:prstGeom>
          <a:noFill/>
        </p:spPr>
        <p:txBody>
          <a:bodyPr wrap="square" lIns="0" rIns="0" tIns="0" bIns="0" anchor="t">
            <a:spAutoFit/>
          </a:bodyPr>
          <a:lstStyle/>
          <a:p>
            <a:pPr algn="l"/>
            <a:r>
              <a:rPr sz="1000" b="0" i="0">
                <a:solidFill>
                  <a:srgbClr val="CCCCCC"/>
                </a:solidFill>
                <a:latin typeface="Helvetica Neue"/>
              </a:rPr>
              <a:t>Surface shipping rules in cart and add a clear continue step. 60.2% of carts never reach checkout today.</a:t>
            </a:r>
          </a:p>
        </p:txBody>
      </p:sp>
      <p:sp>
        <p:nvSpPr>
          <p:cNvPr id="27" name="TextBox 26"/>
          <p:cNvSpPr txBox="1"/>
          <p:nvPr/>
        </p:nvSpPr>
        <p:spPr>
          <a:xfrm>
            <a:off x="8320887" y="4846320"/>
            <a:ext cx="2804160" cy="365760"/>
          </a:xfrm>
          <a:prstGeom prst="rect">
            <a:avLst/>
          </a:prstGeom>
          <a:noFill/>
        </p:spPr>
        <p:txBody>
          <a:bodyPr wrap="square" lIns="0" rIns="0" tIns="0" bIns="0" anchor="t">
            <a:spAutoFit/>
          </a:bodyPr>
          <a:lstStyle/>
          <a:p>
            <a:pPr algn="l"/>
            <a:r>
              <a:rPr sz="900" b="0" i="0">
                <a:solidFill>
                  <a:srgbClr val="F59E0B"/>
                </a:solidFill>
                <a:latin typeface="Helvetica Neue"/>
              </a:rPr>
              <a:t>Est. SEK per quarter at current AOV</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49</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09</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09</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Recommended Tests</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The first three tests to run, each with a hypothesis, primary metric, and a pre-agreed target. Built and QA'd by EcomHouse.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50</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DV-01</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PDP legality &amp; trust block</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64% of product viewers never add to cart.</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Zero on-site legality copy in a monopoly market.</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80,8% of buyers are first time and new to private import.</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Answering "is it legal?" at the buy box (Danish import, Skatteverket, tax included) removes the top objection and lifts add to cart for new buyers.</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View to add to cart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PDP to purchase</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New visitor conversion rate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ATC rate</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DURATION</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2-4 wks</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1.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LEGALITY BLOCK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51</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DV-02</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Cart drawer: delivery clarity</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60,2% of add to carts never begin checkout.</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Delivery estimate is buried; "1-3 dagar" promise is broken.</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Free shipping is quietly Airmee-only, which confuses buyers.</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Elevating an honest 2-5 day delivery block with a chooseable day, plus tax-included and payment trust at checkout, recovers the cart to checkout leak.</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Cart to begin checkout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Checkout completion</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Revenue per session</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Cart→CO</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EST.</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1,5-1,8M/qtr</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2.jpeg"/>
          <p:cNvPicPr>
            <a:picLocks noChangeAspect="1"/>
          </p:cNvPicPr>
          <p:nvPr/>
        </p:nvPicPr>
        <p:blipFill>
          <a:blip r:embed="rId3"/>
          <a:stretch>
            <a:fillRect/>
          </a:stretch>
        </p:blipFill>
        <p:spPr>
          <a:xfrm>
            <a:off x="7824209" y="868680"/>
            <a:ext cx="202967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CART CLARITY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52</a:t>
            </a:r>
          </a:p>
        </p:txBody>
      </p:sp>
      <p:sp>
        <p:nvSpPr>
          <p:cNvPr id="7" name="Rectangle 6"/>
          <p:cNvSpPr/>
          <p:nvPr/>
        </p:nvSpPr>
        <p:spPr>
          <a:xfrm>
            <a:off x="0" y="0"/>
            <a:ext cx="5486400" cy="6858000"/>
          </a:xfrm>
          <a:prstGeom prst="rect">
            <a:avLst/>
          </a:prstGeom>
          <a:solidFill>
            <a:srgbClr val="0C0C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822960"/>
            <a:ext cx="1828800" cy="310896"/>
          </a:xfrm>
          <a:prstGeom prst="roundRect">
            <a:avLst>
              <a:gd name="adj" fmla="val 50000"/>
            </a:avLst>
          </a:prstGeom>
          <a:solidFill>
            <a:srgbClr val="F7D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822960"/>
            <a:ext cx="1828800" cy="310896"/>
          </a:xfrm>
          <a:prstGeom prst="rect">
            <a:avLst/>
          </a:prstGeom>
          <a:noFill/>
        </p:spPr>
        <p:txBody>
          <a:bodyPr wrap="square" lIns="0" rIns="0" tIns="0" bIns="0" anchor="ctr">
            <a:spAutoFit/>
          </a:bodyPr>
          <a:lstStyle/>
          <a:p>
            <a:pPr algn="ctr"/>
            <a:r>
              <a:rPr sz="1000" b="1" i="0" spc="120">
                <a:solidFill>
                  <a:srgbClr val="000000"/>
                </a:solidFill>
                <a:latin typeface="Helvetica Neue"/>
              </a:rPr>
              <a:t>TEST · DV-03</a:t>
            </a:r>
          </a:p>
        </p:txBody>
      </p:sp>
      <p:sp>
        <p:nvSpPr>
          <p:cNvPr id="10" name="TextBox 9"/>
          <p:cNvSpPr txBox="1"/>
          <p:nvPr/>
        </p:nvSpPr>
        <p:spPr>
          <a:xfrm>
            <a:off x="457200" y="1371600"/>
            <a:ext cx="4572000" cy="548640"/>
          </a:xfrm>
          <a:prstGeom prst="rect">
            <a:avLst/>
          </a:prstGeom>
          <a:noFill/>
        </p:spPr>
        <p:txBody>
          <a:bodyPr wrap="square" lIns="0" rIns="0" tIns="0" bIns="0" anchor="t">
            <a:spAutoFit/>
          </a:bodyPr>
          <a:lstStyle/>
          <a:p>
            <a:pPr algn="l"/>
            <a:r>
              <a:rPr sz="2200" b="1" i="0" spc="-40">
                <a:solidFill>
                  <a:srgbClr val="FFFFFF"/>
                </a:solidFill>
                <a:latin typeface="Helvetica Neue"/>
              </a:rPr>
              <a:t>Box PDP: AOV ladder &amp; taste detail</a:t>
            </a:r>
          </a:p>
        </p:txBody>
      </p:sp>
      <p:sp>
        <p:nvSpPr>
          <p:cNvPr id="11" name="TextBox 10"/>
          <p:cNvSpPr txBox="1"/>
          <p:nvPr/>
        </p:nvSpPr>
        <p:spPr>
          <a:xfrm>
            <a:off x="457200" y="208483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OBSERVATION</a:t>
            </a:r>
          </a:p>
        </p:txBody>
      </p:sp>
      <p:sp>
        <p:nvSpPr>
          <p:cNvPr id="12" name="Rectangle 11"/>
          <p:cNvSpPr/>
          <p:nvPr/>
        </p:nvSpPr>
        <p:spPr>
          <a:xfrm>
            <a:off x="457200" y="230428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32304"/>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4" name="TextBox 13"/>
          <p:cNvSpPr txBox="1"/>
          <p:nvPr/>
        </p:nvSpPr>
        <p:spPr>
          <a:xfrm>
            <a:off x="694944" y="2432304"/>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Boxes are 76% of revenue; avg box 567 SEK.</a:t>
            </a:r>
          </a:p>
        </p:txBody>
      </p:sp>
      <p:sp>
        <p:nvSpPr>
          <p:cNvPr id="15" name="TextBox 14"/>
          <p:cNvSpPr txBox="1"/>
          <p:nvPr/>
        </p:nvSpPr>
        <p:spPr>
          <a:xfrm>
            <a:off x="457200" y="2688336"/>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6" name="TextBox 15"/>
          <p:cNvSpPr txBox="1"/>
          <p:nvPr/>
        </p:nvSpPr>
        <p:spPr>
          <a:xfrm>
            <a:off x="694944" y="2688336"/>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Premium 700 SEK+ tiers exist but sell in low volume.</a:t>
            </a:r>
          </a:p>
        </p:txBody>
      </p:sp>
      <p:sp>
        <p:nvSpPr>
          <p:cNvPr id="17" name="TextBox 16"/>
          <p:cNvSpPr txBox="1"/>
          <p:nvPr/>
        </p:nvSpPr>
        <p:spPr>
          <a:xfrm>
            <a:off x="457200" y="2944368"/>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8" name="TextBox 17"/>
          <p:cNvSpPr txBox="1"/>
          <p:nvPr/>
        </p:nvSpPr>
        <p:spPr>
          <a:xfrm>
            <a:off x="694944" y="2944368"/>
            <a:ext cx="4334256" cy="457200"/>
          </a:xfrm>
          <a:prstGeom prst="rect">
            <a:avLst/>
          </a:prstGeom>
          <a:noFill/>
        </p:spPr>
        <p:txBody>
          <a:bodyPr wrap="square" lIns="0" rIns="0" tIns="0" bIns="0" anchor="t">
            <a:spAutoFit/>
          </a:bodyPr>
          <a:lstStyle/>
          <a:p>
            <a:pPr algn="l"/>
            <a:r>
              <a:rPr sz="1100" b="0" i="0">
                <a:solidFill>
                  <a:srgbClr val="CCCCCC"/>
                </a:solidFill>
                <a:latin typeface="Helvetica Neue"/>
              </a:rPr>
              <a:t>Buyers cannot taste; 14% of complaints are about taste.</a:t>
            </a:r>
          </a:p>
        </p:txBody>
      </p:sp>
      <p:sp>
        <p:nvSpPr>
          <p:cNvPr id="19" name="TextBox 18"/>
          <p:cNvSpPr txBox="1"/>
          <p:nvPr/>
        </p:nvSpPr>
        <p:spPr>
          <a:xfrm>
            <a:off x="457200" y="3273552"/>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HYPOTHESIS</a:t>
            </a:r>
          </a:p>
        </p:txBody>
      </p:sp>
      <p:sp>
        <p:nvSpPr>
          <p:cNvPr id="20" name="Rectangle 19"/>
          <p:cNvSpPr/>
          <p:nvPr/>
        </p:nvSpPr>
        <p:spPr>
          <a:xfrm>
            <a:off x="457200" y="3493008"/>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621024"/>
            <a:ext cx="4572000" cy="777240"/>
          </a:xfrm>
          <a:prstGeom prst="rect">
            <a:avLst/>
          </a:prstGeom>
          <a:noFill/>
        </p:spPr>
        <p:txBody>
          <a:bodyPr wrap="square" lIns="0" rIns="0" tIns="0" bIns="0" anchor="t">
            <a:spAutoFit/>
          </a:bodyPr>
          <a:lstStyle/>
          <a:p>
            <a:pPr algn="l"/>
            <a:r>
              <a:rPr sz="1100" b="0" i="0">
                <a:solidFill>
                  <a:srgbClr val="CCCCCC"/>
                </a:solidFill>
                <a:latin typeface="Helvetica Neue"/>
              </a:rPr>
              <a:t>A tier ladder (6 / 12 XL / 12 Guld) with per bottle math and a per wine taste profile lifts order value and add to cart by removing the blind box risk.</a:t>
            </a:r>
          </a:p>
        </p:txBody>
      </p:sp>
      <p:sp>
        <p:nvSpPr>
          <p:cNvPr id="22" name="TextBox 21"/>
          <p:cNvSpPr txBox="1"/>
          <p:nvPr/>
        </p:nvSpPr>
        <p:spPr>
          <a:xfrm>
            <a:off x="457200" y="4443984"/>
            <a:ext cx="4572000" cy="201168"/>
          </a:xfrm>
          <a:prstGeom prst="rect">
            <a:avLst/>
          </a:prstGeom>
          <a:noFill/>
        </p:spPr>
        <p:txBody>
          <a:bodyPr wrap="square" lIns="0" rIns="0" tIns="0" bIns="0" anchor="t">
            <a:spAutoFit/>
          </a:bodyPr>
          <a:lstStyle/>
          <a:p>
            <a:pPr algn="l"/>
            <a:r>
              <a:rPr sz="900" b="1" i="0" spc="200">
                <a:solidFill>
                  <a:srgbClr val="F7D007"/>
                </a:solidFill>
                <a:latin typeface="Helvetica Neue"/>
              </a:rPr>
              <a:t>KEY METRICS</a:t>
            </a:r>
          </a:p>
        </p:txBody>
      </p:sp>
      <p:sp>
        <p:nvSpPr>
          <p:cNvPr id="23" name="Rectangle 22"/>
          <p:cNvSpPr/>
          <p:nvPr/>
        </p:nvSpPr>
        <p:spPr>
          <a:xfrm>
            <a:off x="457200" y="4663440"/>
            <a:ext cx="4572000" cy="12700"/>
          </a:xfrm>
          <a:prstGeom prst="rect">
            <a:avLst/>
          </a:prstGeom>
          <a:solidFill>
            <a:srgbClr val="5749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791456"/>
            <a:ext cx="274320" cy="228600"/>
          </a:xfrm>
          <a:prstGeom prst="rect">
            <a:avLst/>
          </a:prstGeom>
          <a:noFill/>
        </p:spPr>
        <p:txBody>
          <a:bodyPr wrap="square" lIns="0" rIns="0" tIns="0" bIns="0" anchor="t">
            <a:spAutoFit/>
          </a:bodyPr>
          <a:lstStyle/>
          <a:p>
            <a:pPr algn="l"/>
            <a:r>
              <a:rPr sz="1100" b="1" i="0">
                <a:solidFill>
                  <a:srgbClr val="F7D007"/>
                </a:solidFill>
                <a:latin typeface="Menlo"/>
              </a:rPr>
              <a:t>1.</a:t>
            </a:r>
          </a:p>
        </p:txBody>
      </p:sp>
      <p:sp>
        <p:nvSpPr>
          <p:cNvPr id="25" name="TextBox 24"/>
          <p:cNvSpPr txBox="1"/>
          <p:nvPr/>
        </p:nvSpPr>
        <p:spPr>
          <a:xfrm>
            <a:off x="731520" y="4791456"/>
            <a:ext cx="4297680" cy="228600"/>
          </a:xfrm>
          <a:prstGeom prst="rect">
            <a:avLst/>
          </a:prstGeom>
          <a:noFill/>
        </p:spPr>
        <p:txBody>
          <a:bodyPr wrap="square" lIns="0" rIns="0" tIns="0" bIns="0" anchor="t">
            <a:spAutoFit/>
          </a:bodyPr>
          <a:lstStyle/>
          <a:p>
            <a:pPr algn="l"/>
            <a:r>
              <a:rPr sz="1100" b="1" i="0">
                <a:solidFill>
                  <a:srgbClr val="F7D007"/>
                </a:solidFill>
                <a:latin typeface="Helvetica Neue"/>
              </a:rPr>
              <a:t>Revenue per session (primary)</a:t>
            </a:r>
          </a:p>
        </p:txBody>
      </p:sp>
      <p:sp>
        <p:nvSpPr>
          <p:cNvPr id="26" name="TextBox 25"/>
          <p:cNvSpPr txBox="1"/>
          <p:nvPr/>
        </p:nvSpPr>
        <p:spPr>
          <a:xfrm>
            <a:off x="457200" y="5047488"/>
            <a:ext cx="274320" cy="228600"/>
          </a:xfrm>
          <a:prstGeom prst="rect">
            <a:avLst/>
          </a:prstGeom>
          <a:noFill/>
        </p:spPr>
        <p:txBody>
          <a:bodyPr wrap="square" lIns="0" rIns="0" tIns="0" bIns="0" anchor="t">
            <a:spAutoFit/>
          </a:bodyPr>
          <a:lstStyle/>
          <a:p>
            <a:pPr algn="l"/>
            <a:r>
              <a:rPr sz="1100" b="1" i="0">
                <a:solidFill>
                  <a:srgbClr val="CCCCCC"/>
                </a:solidFill>
                <a:latin typeface="Menlo"/>
              </a:rPr>
              <a:t>2.</a:t>
            </a:r>
          </a:p>
        </p:txBody>
      </p:sp>
      <p:sp>
        <p:nvSpPr>
          <p:cNvPr id="27" name="TextBox 26"/>
          <p:cNvSpPr txBox="1"/>
          <p:nvPr/>
        </p:nvSpPr>
        <p:spPr>
          <a:xfrm>
            <a:off x="731520" y="5047488"/>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Average order value</a:t>
            </a:r>
          </a:p>
        </p:txBody>
      </p:sp>
      <p:sp>
        <p:nvSpPr>
          <p:cNvPr id="28" name="TextBox 27"/>
          <p:cNvSpPr txBox="1"/>
          <p:nvPr/>
        </p:nvSpPr>
        <p:spPr>
          <a:xfrm>
            <a:off x="457200" y="5303520"/>
            <a:ext cx="274320" cy="228600"/>
          </a:xfrm>
          <a:prstGeom prst="rect">
            <a:avLst/>
          </a:prstGeom>
          <a:noFill/>
        </p:spPr>
        <p:txBody>
          <a:bodyPr wrap="square" lIns="0" rIns="0" tIns="0" bIns="0" anchor="t">
            <a:spAutoFit/>
          </a:bodyPr>
          <a:lstStyle/>
          <a:p>
            <a:pPr algn="l"/>
            <a:r>
              <a:rPr sz="1100" b="1" i="0">
                <a:solidFill>
                  <a:srgbClr val="CCCCCC"/>
                </a:solidFill>
                <a:latin typeface="Menlo"/>
              </a:rPr>
              <a:t>3.</a:t>
            </a:r>
          </a:p>
        </p:txBody>
      </p:sp>
      <p:sp>
        <p:nvSpPr>
          <p:cNvPr id="29" name="TextBox 28"/>
          <p:cNvSpPr txBox="1"/>
          <p:nvPr/>
        </p:nvSpPr>
        <p:spPr>
          <a:xfrm>
            <a:off x="731520" y="5303520"/>
            <a:ext cx="4297680" cy="228600"/>
          </a:xfrm>
          <a:prstGeom prst="rect">
            <a:avLst/>
          </a:prstGeom>
          <a:noFill/>
        </p:spPr>
        <p:txBody>
          <a:bodyPr wrap="square" lIns="0" rIns="0" tIns="0" bIns="0" anchor="t">
            <a:spAutoFit/>
          </a:bodyPr>
          <a:lstStyle/>
          <a:p>
            <a:pPr algn="l"/>
            <a:r>
              <a:rPr sz="1100" b="0" i="0">
                <a:solidFill>
                  <a:srgbClr val="CCCCCC"/>
                </a:solidFill>
                <a:latin typeface="Helvetica Neue"/>
              </a:rPr>
              <a:t>Add to cart rate</a:t>
            </a:r>
          </a:p>
        </p:txBody>
      </p:sp>
      <p:sp>
        <p:nvSpPr>
          <p:cNvPr id="30" name="Rounded Rectangle 29"/>
          <p:cNvSpPr/>
          <p:nvPr/>
        </p:nvSpPr>
        <p:spPr>
          <a:xfrm>
            <a:off x="457200" y="5943600"/>
            <a:ext cx="4572000" cy="640080"/>
          </a:xfrm>
          <a:prstGeom prst="roundRect">
            <a:avLst>
              <a:gd name="adj" fmla="val 10000"/>
            </a:avLst>
          </a:prstGeom>
          <a:solidFill>
            <a:srgbClr val="070707"/>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METRIC</a:t>
            </a:r>
          </a:p>
        </p:txBody>
      </p:sp>
      <p:sp>
        <p:nvSpPr>
          <p:cNvPr id="32" name="TextBox 31"/>
          <p:cNvSpPr txBox="1"/>
          <p:nvPr/>
        </p:nvSpPr>
        <p:spPr>
          <a:xfrm>
            <a:off x="548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RPV / AOV</a:t>
            </a:r>
          </a:p>
        </p:txBody>
      </p:sp>
      <p:sp>
        <p:nvSpPr>
          <p:cNvPr id="33" name="TextBox 32"/>
          <p:cNvSpPr txBox="1"/>
          <p:nvPr/>
        </p:nvSpPr>
        <p:spPr>
          <a:xfrm>
            <a:off x="1691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CONFIDENCE</a:t>
            </a:r>
          </a:p>
        </p:txBody>
      </p:sp>
      <p:sp>
        <p:nvSpPr>
          <p:cNvPr id="34" name="TextBox 33"/>
          <p:cNvSpPr txBox="1"/>
          <p:nvPr/>
        </p:nvSpPr>
        <p:spPr>
          <a:xfrm>
            <a:off x="1691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80%</a:t>
            </a:r>
          </a:p>
        </p:txBody>
      </p:sp>
      <p:sp>
        <p:nvSpPr>
          <p:cNvPr id="35" name="TextBox 34"/>
          <p:cNvSpPr txBox="1"/>
          <p:nvPr/>
        </p:nvSpPr>
        <p:spPr>
          <a:xfrm>
            <a:off x="2834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MIN ORDERS</a:t>
            </a:r>
          </a:p>
        </p:txBody>
      </p:sp>
      <p:sp>
        <p:nvSpPr>
          <p:cNvPr id="36" name="TextBox 35"/>
          <p:cNvSpPr txBox="1"/>
          <p:nvPr/>
        </p:nvSpPr>
        <p:spPr>
          <a:xfrm>
            <a:off x="2834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300</a:t>
            </a:r>
          </a:p>
        </p:txBody>
      </p:sp>
      <p:sp>
        <p:nvSpPr>
          <p:cNvPr id="37" name="TextBox 36"/>
          <p:cNvSpPr txBox="1"/>
          <p:nvPr/>
        </p:nvSpPr>
        <p:spPr>
          <a:xfrm>
            <a:off x="3977640" y="6035040"/>
            <a:ext cx="996696" cy="182880"/>
          </a:xfrm>
          <a:prstGeom prst="rect">
            <a:avLst/>
          </a:prstGeom>
          <a:noFill/>
        </p:spPr>
        <p:txBody>
          <a:bodyPr wrap="square" lIns="0" rIns="0" tIns="0" bIns="0" anchor="t">
            <a:spAutoFit/>
          </a:bodyPr>
          <a:lstStyle/>
          <a:p>
            <a:pPr algn="l"/>
            <a:r>
              <a:rPr sz="800" b="1" i="0" spc="100">
                <a:solidFill>
                  <a:srgbClr val="F7D007"/>
                </a:solidFill>
                <a:latin typeface="Helvetica Neue"/>
              </a:rPr>
              <a:t>DURATION</a:t>
            </a:r>
          </a:p>
        </p:txBody>
      </p:sp>
      <p:sp>
        <p:nvSpPr>
          <p:cNvPr id="38" name="TextBox 37"/>
          <p:cNvSpPr txBox="1"/>
          <p:nvPr/>
        </p:nvSpPr>
        <p:spPr>
          <a:xfrm>
            <a:off x="3977640" y="6254496"/>
            <a:ext cx="996696" cy="274320"/>
          </a:xfrm>
          <a:prstGeom prst="rect">
            <a:avLst/>
          </a:prstGeom>
          <a:noFill/>
        </p:spPr>
        <p:txBody>
          <a:bodyPr wrap="square" lIns="0" rIns="0" tIns="0" bIns="0" anchor="t">
            <a:spAutoFit/>
          </a:bodyPr>
          <a:lstStyle/>
          <a:p>
            <a:pPr algn="l"/>
            <a:r>
              <a:rPr sz="1000" b="1" i="0">
                <a:solidFill>
                  <a:srgbClr val="FFFFFF"/>
                </a:solidFill>
                <a:latin typeface="Helvetica Neue"/>
              </a:rPr>
              <a:t>2-4 wks</a:t>
            </a:r>
          </a:p>
        </p:txBody>
      </p:sp>
      <p:sp>
        <p:nvSpPr>
          <p:cNvPr id="39" name="Rectangle 38"/>
          <p:cNvSpPr/>
          <p:nvPr/>
        </p:nvSpPr>
        <p:spPr>
          <a:xfrm>
            <a:off x="5486400" y="0"/>
            <a:ext cx="6705295" cy="6858000"/>
          </a:xfrm>
          <a:prstGeom prst="rect">
            <a:avLst/>
          </a:prstGeom>
          <a:solidFill>
            <a:srgbClr val="F4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764627" y="868680"/>
            <a:ext cx="2148840" cy="48920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pptx-var-t3.jpeg"/>
          <p:cNvPicPr>
            <a:picLocks noChangeAspect="1"/>
          </p:cNvPicPr>
          <p:nvPr/>
        </p:nvPicPr>
        <p:blipFill>
          <a:blip r:embed="rId3"/>
          <a:stretch>
            <a:fillRect/>
          </a:stretch>
        </p:blipFill>
        <p:spPr>
          <a:xfrm>
            <a:off x="7941404" y="868680"/>
            <a:ext cx="1795286" cy="4892040"/>
          </a:xfrm>
          <a:prstGeom prst="rect">
            <a:avLst/>
          </a:prstGeom>
        </p:spPr>
      </p:pic>
      <p:sp>
        <p:nvSpPr>
          <p:cNvPr id="42" name="TextBox 41"/>
          <p:cNvSpPr txBox="1"/>
          <p:nvPr/>
        </p:nvSpPr>
        <p:spPr>
          <a:xfrm>
            <a:off x="7764627" y="5833872"/>
            <a:ext cx="2148840" cy="274320"/>
          </a:xfrm>
          <a:prstGeom prst="rect">
            <a:avLst/>
          </a:prstGeom>
          <a:noFill/>
        </p:spPr>
        <p:txBody>
          <a:bodyPr wrap="square" lIns="0" rIns="0" tIns="0" bIns="0" anchor="t">
            <a:spAutoFit/>
          </a:bodyPr>
          <a:lstStyle/>
          <a:p>
            <a:pPr algn="ctr"/>
            <a:r>
              <a:rPr sz="1000" b="1" i="0" spc="200">
                <a:solidFill>
                  <a:srgbClr val="111111"/>
                </a:solidFill>
                <a:latin typeface="Helvetica Neue"/>
              </a:rPr>
              <a:t>VARIANT · AOV LADDER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53</a:t>
            </a:r>
          </a:p>
        </p:txBody>
      </p:sp>
      <p:sp>
        <p:nvSpPr>
          <p:cNvPr id="7" name="TextBox 6"/>
          <p:cNvSpPr txBox="1"/>
          <p:nvPr/>
        </p:nvSpPr>
        <p:spPr>
          <a:xfrm>
            <a:off x="0" y="1828800"/>
            <a:ext cx="12191695" cy="1828800"/>
          </a:xfrm>
          <a:prstGeom prst="rect">
            <a:avLst/>
          </a:prstGeom>
          <a:noFill/>
        </p:spPr>
        <p:txBody>
          <a:bodyPr wrap="square" lIns="0" rIns="0" tIns="0" bIns="0" anchor="ctr">
            <a:spAutoFit/>
          </a:bodyPr>
          <a:lstStyle/>
          <a:p>
            <a:pPr algn="ctr"/>
            <a:r>
              <a:rPr sz="11000" b="0" i="0">
                <a:solidFill>
                  <a:srgbClr val="332A02"/>
                </a:solidFill>
                <a:latin typeface="Menlo"/>
              </a:rPr>
              <a:t>10</a:t>
            </a:r>
          </a:p>
        </p:txBody>
      </p:sp>
      <p:sp>
        <p:nvSpPr>
          <p:cNvPr id="8" name="TextBox 7"/>
          <p:cNvSpPr txBox="1"/>
          <p:nvPr/>
        </p:nvSpPr>
        <p:spPr>
          <a:xfrm>
            <a:off x="0" y="3291840"/>
            <a:ext cx="12191695" cy="274320"/>
          </a:xfrm>
          <a:prstGeom prst="rect">
            <a:avLst/>
          </a:prstGeom>
          <a:noFill/>
        </p:spPr>
        <p:txBody>
          <a:bodyPr wrap="square" lIns="0" rIns="0" tIns="0" bIns="0" anchor="t">
            <a:spAutoFit/>
          </a:bodyPr>
          <a:lstStyle/>
          <a:p>
            <a:pPr algn="ctr"/>
            <a:r>
              <a:rPr sz="1100" b="1" i="0" spc="400">
                <a:solidFill>
                  <a:srgbClr val="F7D007"/>
                </a:solidFill>
                <a:latin typeface="Helvetica Neue"/>
              </a:rPr>
              <a:t>SECTION 10</a:t>
            </a:r>
          </a:p>
        </p:txBody>
      </p:sp>
      <p:sp>
        <p:nvSpPr>
          <p:cNvPr id="9" name="TextBox 8"/>
          <p:cNvSpPr txBox="1"/>
          <p:nvPr/>
        </p:nvSpPr>
        <p:spPr>
          <a:xfrm>
            <a:off x="731520" y="3611880"/>
            <a:ext cx="10728655" cy="822960"/>
          </a:xfrm>
          <a:prstGeom prst="rect">
            <a:avLst/>
          </a:prstGeom>
          <a:noFill/>
        </p:spPr>
        <p:txBody>
          <a:bodyPr wrap="square" lIns="0" rIns="0" tIns="0" bIns="0" anchor="t">
            <a:spAutoFit/>
          </a:bodyPr>
          <a:lstStyle/>
          <a:p>
            <a:pPr algn="ctr"/>
            <a:r>
              <a:rPr sz="4400" b="1" i="0" spc="-100">
                <a:solidFill>
                  <a:srgbClr val="FFFFFF"/>
                </a:solidFill>
                <a:latin typeface="Helvetica Neue"/>
              </a:rPr>
              <a:t>Working With EcomHouse</a:t>
            </a:r>
          </a:p>
        </p:txBody>
      </p:sp>
      <p:sp>
        <p:nvSpPr>
          <p:cNvPr id="10" name="TextBox 9"/>
          <p:cNvSpPr txBox="1"/>
          <p:nvPr/>
        </p:nvSpPr>
        <p:spPr>
          <a:xfrm>
            <a:off x="2103120" y="4480560"/>
            <a:ext cx="7985455" cy="1097280"/>
          </a:xfrm>
          <a:prstGeom prst="rect">
            <a:avLst/>
          </a:prstGeom>
          <a:noFill/>
        </p:spPr>
        <p:txBody>
          <a:bodyPr wrap="square" lIns="0" rIns="0" tIns="0" bIns="0" anchor="t">
            <a:spAutoFit/>
          </a:bodyPr>
          <a:lstStyle/>
          <a:p>
            <a:pPr algn="ctr"/>
            <a:r>
              <a:rPr sz="1300" b="0" i="0">
                <a:solidFill>
                  <a:srgbClr val="999999"/>
                </a:solidFill>
                <a:latin typeface="Helvetica Neue"/>
              </a:rPr>
              <a:t>You approve, we execute. Research through rollout, priced on the wins. Recent results from other clients.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54</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THE ECOMHOUSE METHOD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Six steps, end to end</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You approve. We execute. Every step is owned by us, including build, QA, and rollout. Client only approves the brief and rollout.</a:t>
            </a:r>
          </a:p>
        </p:txBody>
      </p:sp>
      <p:sp>
        <p:nvSpPr>
          <p:cNvPr id="10" name="Rounded Rectangle 9"/>
          <p:cNvSpPr/>
          <p:nvPr/>
        </p:nvSpPr>
        <p:spPr>
          <a:xfrm>
            <a:off x="44942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01</a:t>
            </a:r>
          </a:p>
        </p:txBody>
      </p:sp>
      <p:sp>
        <p:nvSpPr>
          <p:cNvPr id="12" name="TextBox 11"/>
          <p:cNvSpPr txBox="1"/>
          <p:nvPr/>
        </p:nvSpPr>
        <p:spPr>
          <a:xfrm>
            <a:off x="63230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Research</a:t>
            </a:r>
          </a:p>
        </p:txBody>
      </p:sp>
      <p:sp>
        <p:nvSpPr>
          <p:cNvPr id="13" name="TextBox 12"/>
          <p:cNvSpPr txBox="1"/>
          <p:nvPr/>
        </p:nvSpPr>
        <p:spPr>
          <a:xfrm>
            <a:off x="63230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GA4, Shopify, heatmaps, recordings, reviews, support.</a:t>
            </a:r>
          </a:p>
        </p:txBody>
      </p:sp>
      <p:sp>
        <p:nvSpPr>
          <p:cNvPr id="14" name="TextBox 13"/>
          <p:cNvSpPr txBox="1"/>
          <p:nvPr/>
        </p:nvSpPr>
        <p:spPr>
          <a:xfrm>
            <a:off x="2232507"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15" name="Rounded Rectangle 14"/>
          <p:cNvSpPr/>
          <p:nvPr/>
        </p:nvSpPr>
        <p:spPr>
          <a:xfrm>
            <a:off x="2351379"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4259"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02</a:t>
            </a:r>
          </a:p>
        </p:txBody>
      </p:sp>
      <p:sp>
        <p:nvSpPr>
          <p:cNvPr id="17" name="TextBox 16"/>
          <p:cNvSpPr txBox="1"/>
          <p:nvPr/>
        </p:nvSpPr>
        <p:spPr>
          <a:xfrm>
            <a:off x="2534259"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Ideate</a:t>
            </a:r>
          </a:p>
        </p:txBody>
      </p:sp>
      <p:sp>
        <p:nvSpPr>
          <p:cNvPr id="18" name="TextBox 17"/>
          <p:cNvSpPr txBox="1"/>
          <p:nvPr/>
        </p:nvSpPr>
        <p:spPr>
          <a:xfrm>
            <a:off x="2534259"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Hypothesis, variant concepts, copy, Figma prototype.</a:t>
            </a:r>
          </a:p>
        </p:txBody>
      </p:sp>
      <p:sp>
        <p:nvSpPr>
          <p:cNvPr id="19" name="TextBox 18"/>
          <p:cNvSpPr txBox="1"/>
          <p:nvPr/>
        </p:nvSpPr>
        <p:spPr>
          <a:xfrm>
            <a:off x="4134459"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0" name="Rounded Rectangle 19"/>
          <p:cNvSpPr/>
          <p:nvPr/>
        </p:nvSpPr>
        <p:spPr>
          <a:xfrm>
            <a:off x="4253331"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6211"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03</a:t>
            </a:r>
          </a:p>
        </p:txBody>
      </p:sp>
      <p:sp>
        <p:nvSpPr>
          <p:cNvPr id="22" name="TextBox 21"/>
          <p:cNvSpPr txBox="1"/>
          <p:nvPr/>
        </p:nvSpPr>
        <p:spPr>
          <a:xfrm>
            <a:off x="4436211"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Pre-test brief</a:t>
            </a:r>
          </a:p>
        </p:txBody>
      </p:sp>
      <p:sp>
        <p:nvSpPr>
          <p:cNvPr id="23" name="TextBox 22"/>
          <p:cNvSpPr txBox="1"/>
          <p:nvPr/>
        </p:nvSpPr>
        <p:spPr>
          <a:xfrm>
            <a:off x="4436211"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brief with metric, confidence, sample size.</a:t>
            </a:r>
          </a:p>
        </p:txBody>
      </p:sp>
      <p:sp>
        <p:nvSpPr>
          <p:cNvPr id="24" name="TextBox 23"/>
          <p:cNvSpPr txBox="1"/>
          <p:nvPr/>
        </p:nvSpPr>
        <p:spPr>
          <a:xfrm>
            <a:off x="6036411"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25" name="Rounded Rectangle 24"/>
          <p:cNvSpPr/>
          <p:nvPr/>
        </p:nvSpPr>
        <p:spPr>
          <a:xfrm>
            <a:off x="6155283"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38163"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04</a:t>
            </a:r>
          </a:p>
        </p:txBody>
      </p:sp>
      <p:sp>
        <p:nvSpPr>
          <p:cNvPr id="27" name="TextBox 26"/>
          <p:cNvSpPr txBox="1"/>
          <p:nvPr/>
        </p:nvSpPr>
        <p:spPr>
          <a:xfrm>
            <a:off x="6338163"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Build + QA</a:t>
            </a:r>
          </a:p>
        </p:txBody>
      </p:sp>
      <p:sp>
        <p:nvSpPr>
          <p:cNvPr id="28" name="TextBox 27"/>
          <p:cNvSpPr txBox="1"/>
          <p:nvPr/>
        </p:nvSpPr>
        <p:spPr>
          <a:xfrm>
            <a:off x="6338163"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Shopify or test tool variant, tracked, QA'd across devices.</a:t>
            </a:r>
          </a:p>
        </p:txBody>
      </p:sp>
      <p:sp>
        <p:nvSpPr>
          <p:cNvPr id="29" name="TextBox 28"/>
          <p:cNvSpPr txBox="1"/>
          <p:nvPr/>
        </p:nvSpPr>
        <p:spPr>
          <a:xfrm>
            <a:off x="7938363"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0" name="Rounded Rectangle 29"/>
          <p:cNvSpPr/>
          <p:nvPr/>
        </p:nvSpPr>
        <p:spPr>
          <a:xfrm>
            <a:off x="8057235"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40115"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05</a:t>
            </a:r>
          </a:p>
        </p:txBody>
      </p:sp>
      <p:sp>
        <p:nvSpPr>
          <p:cNvPr id="32" name="TextBox 31"/>
          <p:cNvSpPr txBox="1"/>
          <p:nvPr/>
        </p:nvSpPr>
        <p:spPr>
          <a:xfrm>
            <a:off x="8240115"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Run + monitor</a:t>
            </a:r>
          </a:p>
        </p:txBody>
      </p:sp>
      <p:sp>
        <p:nvSpPr>
          <p:cNvPr id="33" name="TextBox 32"/>
          <p:cNvSpPr txBox="1"/>
          <p:nvPr/>
        </p:nvSpPr>
        <p:spPr>
          <a:xfrm>
            <a:off x="8240115"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Live test with guardrail watch, weekly progress updates.</a:t>
            </a:r>
          </a:p>
        </p:txBody>
      </p:sp>
      <p:sp>
        <p:nvSpPr>
          <p:cNvPr id="34" name="TextBox 33"/>
          <p:cNvSpPr txBox="1"/>
          <p:nvPr/>
        </p:nvSpPr>
        <p:spPr>
          <a:xfrm>
            <a:off x="9840315" y="3383280"/>
            <a:ext cx="118872" cy="274320"/>
          </a:xfrm>
          <a:prstGeom prst="rect">
            <a:avLst/>
          </a:prstGeom>
          <a:noFill/>
        </p:spPr>
        <p:txBody>
          <a:bodyPr wrap="square" lIns="0" rIns="0" tIns="0" bIns="0" anchor="ctr">
            <a:spAutoFit/>
          </a:bodyPr>
          <a:lstStyle/>
          <a:p>
            <a:pPr algn="ctr"/>
            <a:r>
              <a:rPr sz="1400" b="1" i="0">
                <a:solidFill>
                  <a:srgbClr val="F7D007"/>
                </a:solidFill>
                <a:latin typeface="Helvetica Neue"/>
              </a:rPr>
              <a:t>→</a:t>
            </a:r>
          </a:p>
        </p:txBody>
      </p:sp>
      <p:sp>
        <p:nvSpPr>
          <p:cNvPr id="35" name="Rounded Rectangle 34"/>
          <p:cNvSpPr/>
          <p:nvPr/>
        </p:nvSpPr>
        <p:spPr>
          <a:xfrm>
            <a:off x="9959187" y="2423160"/>
            <a:ext cx="1783080" cy="2194560"/>
          </a:xfrm>
          <a:prstGeom prst="roundRect">
            <a:avLst>
              <a:gd name="adj" fmla="val 6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42067" y="2651760"/>
            <a:ext cx="1417320" cy="274320"/>
          </a:xfrm>
          <a:prstGeom prst="rect">
            <a:avLst/>
          </a:prstGeom>
          <a:noFill/>
        </p:spPr>
        <p:txBody>
          <a:bodyPr wrap="square" lIns="0" rIns="0" tIns="0" bIns="0" anchor="t">
            <a:spAutoFit/>
          </a:bodyPr>
          <a:lstStyle/>
          <a:p>
            <a:pPr algn="ctr"/>
            <a:r>
              <a:rPr sz="1000" b="1" i="0">
                <a:solidFill>
                  <a:srgbClr val="F7D007"/>
                </a:solidFill>
                <a:latin typeface="Menlo"/>
              </a:rPr>
              <a:t>// 06</a:t>
            </a:r>
          </a:p>
        </p:txBody>
      </p:sp>
      <p:sp>
        <p:nvSpPr>
          <p:cNvPr id="37" name="TextBox 36"/>
          <p:cNvSpPr txBox="1"/>
          <p:nvPr/>
        </p:nvSpPr>
        <p:spPr>
          <a:xfrm>
            <a:off x="10142067" y="3063240"/>
            <a:ext cx="1417320" cy="365760"/>
          </a:xfrm>
          <a:prstGeom prst="rect">
            <a:avLst/>
          </a:prstGeom>
          <a:noFill/>
        </p:spPr>
        <p:txBody>
          <a:bodyPr wrap="square" lIns="0" rIns="0" tIns="0" bIns="0" anchor="t">
            <a:spAutoFit/>
          </a:bodyPr>
          <a:lstStyle/>
          <a:p>
            <a:pPr algn="ctr"/>
            <a:r>
              <a:rPr sz="1400" b="1" i="0">
                <a:solidFill>
                  <a:srgbClr val="FFFFFF"/>
                </a:solidFill>
                <a:latin typeface="Helvetica Neue"/>
              </a:rPr>
              <a:t>Analyze + roll out</a:t>
            </a:r>
          </a:p>
        </p:txBody>
      </p:sp>
      <p:sp>
        <p:nvSpPr>
          <p:cNvPr id="38" name="TextBox 37"/>
          <p:cNvSpPr txBox="1"/>
          <p:nvPr/>
        </p:nvSpPr>
        <p:spPr>
          <a:xfrm>
            <a:off x="10142067" y="3520440"/>
            <a:ext cx="1417320" cy="1005840"/>
          </a:xfrm>
          <a:prstGeom prst="rect">
            <a:avLst/>
          </a:prstGeom>
          <a:noFill/>
        </p:spPr>
        <p:txBody>
          <a:bodyPr wrap="square" lIns="0" rIns="0" tIns="0" bIns="0" anchor="t">
            <a:spAutoFit/>
          </a:bodyPr>
          <a:lstStyle/>
          <a:p>
            <a:pPr algn="ctr"/>
            <a:r>
              <a:rPr sz="900" b="0" i="0">
                <a:solidFill>
                  <a:srgbClr val="CCCCCC"/>
                </a:solidFill>
                <a:latin typeface="Helvetica Neue"/>
              </a:rPr>
              <a:t>Written verdict, fee invoiced on rollout to 100 % of traffic.</a:t>
            </a:r>
          </a:p>
        </p:txBody>
      </p:sp>
      <p:sp>
        <p:nvSpPr>
          <p:cNvPr id="39" name="Rounded Rectangle 38"/>
          <p:cNvSpPr/>
          <p:nvPr/>
        </p:nvSpPr>
        <p:spPr>
          <a:xfrm>
            <a:off x="914400" y="5029200"/>
            <a:ext cx="10360152" cy="91440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5166360"/>
            <a:ext cx="9902952" cy="64008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Zero-row service: </a:t>
            </a:r>
            <a:r>
              <a:rPr sz="1100" b="0" i="0">
                <a:solidFill>
                  <a:srgbClr val="CCCCCC"/>
                </a:solidFill>
                <a:latin typeface="Helvetica Neue"/>
              </a:rPr>
              <a:t>the client is not expected to do production work. We handle everything from research through analysis. The client approves the pre-test brief and the rollout decision in writing.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55</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BRIEF + PROTOCOL</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How every test launches and concludes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No test starts without a written, approved brief. Tests only conclude when all approved conditions are met.</a:t>
            </a:r>
          </a:p>
        </p:txBody>
      </p:sp>
      <p:sp>
        <p:nvSpPr>
          <p:cNvPr id="10" name="Rounded Rectangle 9"/>
          <p:cNvSpPr/>
          <p:nvPr/>
        </p:nvSpPr>
        <p:spPr>
          <a:xfrm>
            <a:off x="640080" y="2286000"/>
            <a:ext cx="6858000" cy="420624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514600"/>
            <a:ext cx="6309360" cy="274320"/>
          </a:xfrm>
          <a:prstGeom prst="rect">
            <a:avLst/>
          </a:prstGeom>
          <a:noFill/>
        </p:spPr>
        <p:txBody>
          <a:bodyPr wrap="square" lIns="0" rIns="0" tIns="0" bIns="0" anchor="t">
            <a:spAutoFit/>
          </a:bodyPr>
          <a:lstStyle/>
          <a:p>
            <a:pPr algn="l"/>
            <a:r>
              <a:rPr sz="900" b="1" i="0" spc="200">
                <a:solidFill>
                  <a:srgbClr val="F7D007"/>
                </a:solidFill>
                <a:latin typeface="Helvetica Neue"/>
              </a:rPr>
              <a:t>PRE-TEST BRIEF</a:t>
            </a:r>
          </a:p>
        </p:txBody>
      </p:sp>
      <p:sp>
        <p:nvSpPr>
          <p:cNvPr id="12" name="TextBox 11"/>
          <p:cNvSpPr txBox="1"/>
          <p:nvPr/>
        </p:nvSpPr>
        <p:spPr>
          <a:xfrm>
            <a:off x="914400" y="2788920"/>
            <a:ext cx="6309360" cy="365760"/>
          </a:xfrm>
          <a:prstGeom prst="rect">
            <a:avLst/>
          </a:prstGeom>
          <a:noFill/>
        </p:spPr>
        <p:txBody>
          <a:bodyPr wrap="square" lIns="0" rIns="0" tIns="0" bIns="0" anchor="t">
            <a:spAutoFit/>
          </a:bodyPr>
          <a:lstStyle/>
          <a:p>
            <a:pPr algn="l"/>
            <a:r>
              <a:rPr sz="1500" b="1" i="0">
                <a:solidFill>
                  <a:srgbClr val="FFFFFF"/>
                </a:solidFill>
                <a:latin typeface="Helvetica Neue"/>
              </a:rPr>
              <a:t>Every test launches with a written, approved brief</a:t>
            </a:r>
          </a:p>
        </p:txBody>
      </p:sp>
      <p:sp>
        <p:nvSpPr>
          <p:cNvPr id="13" name="TextBox 12"/>
          <p:cNvSpPr txBox="1"/>
          <p:nvPr/>
        </p:nvSpPr>
        <p:spPr>
          <a:xfrm>
            <a:off x="91440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1   Test setup</a:t>
            </a:r>
          </a:p>
        </p:txBody>
      </p:sp>
      <p:sp>
        <p:nvSpPr>
          <p:cNvPr id="14" name="TextBox 13"/>
          <p:cNvSpPr txBox="1"/>
          <p:nvPr/>
        </p:nvSpPr>
        <p:spPr>
          <a:xfrm>
            <a:off x="91440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5" name="TextBox 14"/>
          <p:cNvSpPr txBox="1"/>
          <p:nvPr/>
        </p:nvSpPr>
        <p:spPr>
          <a:xfrm>
            <a:off x="114300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Hypothesis and Control vs Variant difference</a:t>
            </a:r>
          </a:p>
        </p:txBody>
      </p:sp>
      <p:sp>
        <p:nvSpPr>
          <p:cNvPr id="16" name="TextBox 15"/>
          <p:cNvSpPr txBox="1"/>
          <p:nvPr/>
        </p:nvSpPr>
        <p:spPr>
          <a:xfrm>
            <a:off x="91440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7" name="TextBox 16"/>
          <p:cNvSpPr txBox="1"/>
          <p:nvPr/>
        </p:nvSpPr>
        <p:spPr>
          <a:xfrm>
            <a:off x="114300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Audience and traffic filters</a:t>
            </a:r>
          </a:p>
        </p:txBody>
      </p:sp>
      <p:sp>
        <p:nvSpPr>
          <p:cNvPr id="18" name="TextBox 17"/>
          <p:cNvSpPr txBox="1"/>
          <p:nvPr/>
        </p:nvSpPr>
        <p:spPr>
          <a:xfrm>
            <a:off x="91440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19" name="TextBox 18"/>
          <p:cNvSpPr txBox="1"/>
          <p:nvPr/>
        </p:nvSpPr>
        <p:spPr>
          <a:xfrm>
            <a:off x="114300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Funnel stage and stage multiplier</a:t>
            </a:r>
          </a:p>
        </p:txBody>
      </p:sp>
      <p:sp>
        <p:nvSpPr>
          <p:cNvPr id="20" name="TextBox 19"/>
          <p:cNvSpPr txBox="1"/>
          <p:nvPr/>
        </p:nvSpPr>
        <p:spPr>
          <a:xfrm>
            <a:off x="91440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1" name="TextBox 20"/>
          <p:cNvSpPr txBox="1"/>
          <p:nvPr/>
        </p:nvSpPr>
        <p:spPr>
          <a:xfrm>
            <a:off x="114300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URL targeting</a:t>
            </a:r>
          </a:p>
        </p:txBody>
      </p:sp>
      <p:sp>
        <p:nvSpPr>
          <p:cNvPr id="22" name="TextBox 21"/>
          <p:cNvSpPr txBox="1"/>
          <p:nvPr/>
        </p:nvSpPr>
        <p:spPr>
          <a:xfrm>
            <a:off x="91440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3" name="TextBox 22"/>
          <p:cNvSpPr txBox="1"/>
          <p:nvPr/>
        </p:nvSpPr>
        <p:spPr>
          <a:xfrm>
            <a:off x="114300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Frozen baselines from trailing 30 days</a:t>
            </a:r>
          </a:p>
        </p:txBody>
      </p:sp>
      <p:sp>
        <p:nvSpPr>
          <p:cNvPr id="24" name="TextBox 23"/>
          <p:cNvSpPr txBox="1"/>
          <p:nvPr/>
        </p:nvSpPr>
        <p:spPr>
          <a:xfrm>
            <a:off x="4206240" y="3337560"/>
            <a:ext cx="3017520" cy="274320"/>
          </a:xfrm>
          <a:prstGeom prst="rect">
            <a:avLst/>
          </a:prstGeom>
          <a:noFill/>
        </p:spPr>
        <p:txBody>
          <a:bodyPr wrap="square" lIns="0" rIns="0" tIns="0" bIns="0" anchor="t">
            <a:spAutoFit/>
          </a:bodyPr>
          <a:lstStyle/>
          <a:p>
            <a:pPr algn="l"/>
            <a:r>
              <a:rPr sz="900" b="1" i="0" spc="150">
                <a:solidFill>
                  <a:srgbClr val="F7D007"/>
                </a:solidFill>
                <a:latin typeface="Menlo"/>
              </a:rPr>
              <a:t>// PART 2   Statistical parameters</a:t>
            </a:r>
          </a:p>
        </p:txBody>
      </p:sp>
      <p:sp>
        <p:nvSpPr>
          <p:cNvPr id="25" name="TextBox 24"/>
          <p:cNvSpPr txBox="1"/>
          <p:nvPr/>
        </p:nvSpPr>
        <p:spPr>
          <a:xfrm>
            <a:off x="4206240" y="37033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6" name="TextBox 25"/>
          <p:cNvSpPr txBox="1"/>
          <p:nvPr/>
        </p:nvSpPr>
        <p:spPr>
          <a:xfrm>
            <a:off x="4434840" y="37033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Primary metric (RPV or funnel metric)</a:t>
            </a:r>
          </a:p>
        </p:txBody>
      </p:sp>
      <p:sp>
        <p:nvSpPr>
          <p:cNvPr id="27" name="TextBox 26"/>
          <p:cNvSpPr txBox="1"/>
          <p:nvPr/>
        </p:nvSpPr>
        <p:spPr>
          <a:xfrm>
            <a:off x="4206240" y="41605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28" name="TextBox 27"/>
          <p:cNvSpPr txBox="1"/>
          <p:nvPr/>
        </p:nvSpPr>
        <p:spPr>
          <a:xfrm>
            <a:off x="4434840" y="41605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Statistical confidence (80 % default)</a:t>
            </a:r>
          </a:p>
        </p:txBody>
      </p:sp>
      <p:sp>
        <p:nvSpPr>
          <p:cNvPr id="29" name="TextBox 28"/>
          <p:cNvSpPr txBox="1"/>
          <p:nvPr/>
        </p:nvSpPr>
        <p:spPr>
          <a:xfrm>
            <a:off x="4206240" y="46177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0" name="TextBox 29"/>
          <p:cNvSpPr txBox="1"/>
          <p:nvPr/>
        </p:nvSpPr>
        <p:spPr>
          <a:xfrm>
            <a:off x="4434840" y="46177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Minimum visitor and order count</a:t>
            </a:r>
          </a:p>
        </p:txBody>
      </p:sp>
      <p:sp>
        <p:nvSpPr>
          <p:cNvPr id="31" name="TextBox 30"/>
          <p:cNvSpPr txBox="1"/>
          <p:nvPr/>
        </p:nvSpPr>
        <p:spPr>
          <a:xfrm>
            <a:off x="4206240" y="50749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2" name="TextBox 31"/>
          <p:cNvSpPr txBox="1"/>
          <p:nvPr/>
        </p:nvSpPr>
        <p:spPr>
          <a:xfrm>
            <a:off x="4434840" y="50749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Worked fee range at +5 / +10 / +15 %</a:t>
            </a:r>
          </a:p>
        </p:txBody>
      </p:sp>
      <p:sp>
        <p:nvSpPr>
          <p:cNvPr id="33" name="TextBox 32"/>
          <p:cNvSpPr txBox="1"/>
          <p:nvPr/>
        </p:nvSpPr>
        <p:spPr>
          <a:xfrm>
            <a:off x="4206240" y="5532120"/>
            <a:ext cx="182880" cy="274320"/>
          </a:xfrm>
          <a:prstGeom prst="rect">
            <a:avLst/>
          </a:prstGeom>
          <a:noFill/>
        </p:spPr>
        <p:txBody>
          <a:bodyPr wrap="square" lIns="0" rIns="0" tIns="0" bIns="0" anchor="t">
            <a:spAutoFit/>
          </a:bodyPr>
          <a:lstStyle/>
          <a:p>
            <a:pPr algn="l"/>
            <a:r>
              <a:rPr sz="1100" b="1" i="0">
                <a:solidFill>
                  <a:srgbClr val="F7D007"/>
                </a:solidFill>
                <a:latin typeface="Helvetica Neue"/>
              </a:rPr>
              <a:t>✓</a:t>
            </a:r>
          </a:p>
        </p:txBody>
      </p:sp>
      <p:sp>
        <p:nvSpPr>
          <p:cNvPr id="34" name="TextBox 33"/>
          <p:cNvSpPr txBox="1"/>
          <p:nvPr/>
        </p:nvSpPr>
        <p:spPr>
          <a:xfrm>
            <a:off x="4434840" y="5532120"/>
            <a:ext cx="2743200" cy="457200"/>
          </a:xfrm>
          <a:prstGeom prst="rect">
            <a:avLst/>
          </a:prstGeom>
          <a:noFill/>
        </p:spPr>
        <p:txBody>
          <a:bodyPr wrap="square" lIns="0" rIns="0" tIns="0" bIns="0" anchor="t">
            <a:spAutoFit/>
          </a:bodyPr>
          <a:lstStyle/>
          <a:p>
            <a:pPr algn="l"/>
            <a:r>
              <a:rPr sz="1000" b="0" i="0">
                <a:solidFill>
                  <a:srgbClr val="CCCCCC"/>
                </a:solidFill>
                <a:latin typeface="Helvetica Neue"/>
              </a:rPr>
              <a:t>Data sources named explicitly</a:t>
            </a:r>
          </a:p>
        </p:txBody>
      </p:sp>
      <p:sp>
        <p:nvSpPr>
          <p:cNvPr id="35" name="Rounded Rectangle 34"/>
          <p:cNvSpPr/>
          <p:nvPr/>
        </p:nvSpPr>
        <p:spPr>
          <a:xfrm>
            <a:off x="7680960" y="2286000"/>
            <a:ext cx="3886200" cy="4206240"/>
          </a:xfrm>
          <a:prstGeom prst="roundRect">
            <a:avLst>
              <a:gd name="adj" fmla="val 4000"/>
            </a:avLst>
          </a:prstGeom>
          <a:solidFill>
            <a:srgbClr val="101010"/>
          </a:solidFill>
          <a:ln w="15240">
            <a:solidFill>
              <a:srgbClr val="6AA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0" y="2514600"/>
            <a:ext cx="3337560" cy="274320"/>
          </a:xfrm>
          <a:prstGeom prst="rect">
            <a:avLst/>
          </a:prstGeom>
          <a:noFill/>
        </p:spPr>
        <p:txBody>
          <a:bodyPr wrap="square" lIns="0" rIns="0" tIns="0" bIns="0" anchor="t">
            <a:spAutoFit/>
          </a:bodyPr>
          <a:lstStyle/>
          <a:p>
            <a:pPr algn="l"/>
            <a:r>
              <a:rPr sz="900" b="1" i="0" spc="200">
                <a:solidFill>
                  <a:srgbClr val="6AA9FF"/>
                </a:solidFill>
                <a:latin typeface="Helvetica Neue"/>
              </a:rPr>
              <a:t>TESTING PROTOCOL</a:t>
            </a:r>
          </a:p>
        </p:txBody>
      </p:sp>
      <p:sp>
        <p:nvSpPr>
          <p:cNvPr id="37" name="TextBox 36"/>
          <p:cNvSpPr txBox="1"/>
          <p:nvPr/>
        </p:nvSpPr>
        <p:spPr>
          <a:xfrm>
            <a:off x="7955280" y="2788920"/>
            <a:ext cx="3337560" cy="365760"/>
          </a:xfrm>
          <a:prstGeom prst="rect">
            <a:avLst/>
          </a:prstGeom>
          <a:noFill/>
        </p:spPr>
        <p:txBody>
          <a:bodyPr wrap="square" lIns="0" rIns="0" tIns="0" bIns="0" anchor="t">
            <a:spAutoFit/>
          </a:bodyPr>
          <a:lstStyle/>
          <a:p>
            <a:pPr algn="l"/>
            <a:r>
              <a:rPr sz="1400" b="1" i="0">
                <a:solidFill>
                  <a:srgbClr val="FFFFFF"/>
                </a:solidFill>
                <a:latin typeface="Helvetica Neue"/>
              </a:rPr>
              <a:t>Guardrails on tooling, rigor, conclusion</a:t>
            </a:r>
          </a:p>
        </p:txBody>
      </p:sp>
      <p:sp>
        <p:nvSpPr>
          <p:cNvPr id="38" name="TextBox 37"/>
          <p:cNvSpPr txBox="1"/>
          <p:nvPr/>
        </p:nvSpPr>
        <p:spPr>
          <a:xfrm>
            <a:off x="795528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DEFAULT TOOL</a:t>
            </a:r>
          </a:p>
        </p:txBody>
      </p:sp>
      <p:sp>
        <p:nvSpPr>
          <p:cNvPr id="39" name="TextBox 38"/>
          <p:cNvSpPr txBox="1"/>
          <p:nvPr/>
        </p:nvSpPr>
        <p:spPr>
          <a:xfrm>
            <a:off x="795528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IntelliGEMS</a:t>
            </a:r>
          </a:p>
        </p:txBody>
      </p:sp>
      <p:sp>
        <p:nvSpPr>
          <p:cNvPr id="40" name="TextBox 39"/>
          <p:cNvSpPr txBox="1"/>
          <p:nvPr/>
        </p:nvSpPr>
        <p:spPr>
          <a:xfrm>
            <a:off x="795528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Or Convert, GrowthBook, Shopify-native with written approval.</a:t>
            </a:r>
          </a:p>
        </p:txBody>
      </p:sp>
      <p:sp>
        <p:nvSpPr>
          <p:cNvPr id="41" name="TextBox 40"/>
          <p:cNvSpPr txBox="1"/>
          <p:nvPr/>
        </p:nvSpPr>
        <p:spPr>
          <a:xfrm>
            <a:off x="9761220" y="338328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CONFIDENCE</a:t>
            </a:r>
          </a:p>
        </p:txBody>
      </p:sp>
      <p:sp>
        <p:nvSpPr>
          <p:cNvPr id="42" name="TextBox 41"/>
          <p:cNvSpPr txBox="1"/>
          <p:nvPr/>
        </p:nvSpPr>
        <p:spPr>
          <a:xfrm>
            <a:off x="9761220" y="361188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80 % min</a:t>
            </a:r>
          </a:p>
        </p:txBody>
      </p:sp>
      <p:sp>
        <p:nvSpPr>
          <p:cNvPr id="43" name="TextBox 42"/>
          <p:cNvSpPr txBox="1"/>
          <p:nvPr/>
        </p:nvSpPr>
        <p:spPr>
          <a:xfrm>
            <a:off x="9761220" y="397764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Higher per test if you require it.</a:t>
            </a:r>
          </a:p>
        </p:txBody>
      </p:sp>
      <p:sp>
        <p:nvSpPr>
          <p:cNvPr id="44" name="TextBox 43"/>
          <p:cNvSpPr txBox="1"/>
          <p:nvPr/>
        </p:nvSpPr>
        <p:spPr>
          <a:xfrm>
            <a:off x="795528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CONCLUSION</a:t>
            </a:r>
          </a:p>
        </p:txBody>
      </p:sp>
      <p:sp>
        <p:nvSpPr>
          <p:cNvPr id="45" name="TextBox 44"/>
          <p:cNvSpPr txBox="1"/>
          <p:nvPr/>
        </p:nvSpPr>
        <p:spPr>
          <a:xfrm>
            <a:off x="795528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All conditions met</a:t>
            </a:r>
          </a:p>
        </p:txBody>
      </p:sp>
      <p:sp>
        <p:nvSpPr>
          <p:cNvPr id="46" name="TextBox 45"/>
          <p:cNvSpPr txBox="1"/>
          <p:nvPr/>
        </p:nvSpPr>
        <p:spPr>
          <a:xfrm>
            <a:off x="795528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Min visitors, orders, and confidence reached.</a:t>
            </a:r>
          </a:p>
        </p:txBody>
      </p:sp>
      <p:sp>
        <p:nvSpPr>
          <p:cNvPr id="47" name="TextBox 46"/>
          <p:cNvSpPr txBox="1"/>
          <p:nvPr/>
        </p:nvSpPr>
        <p:spPr>
          <a:xfrm>
            <a:off x="9761220" y="4892040"/>
            <a:ext cx="1531620" cy="182880"/>
          </a:xfrm>
          <a:prstGeom prst="rect">
            <a:avLst/>
          </a:prstGeom>
          <a:noFill/>
        </p:spPr>
        <p:txBody>
          <a:bodyPr wrap="square" lIns="0" rIns="0" tIns="0" bIns="0" anchor="t">
            <a:spAutoFit/>
          </a:bodyPr>
          <a:lstStyle/>
          <a:p>
            <a:pPr algn="l"/>
            <a:r>
              <a:rPr sz="800" b="1" i="0" spc="150">
                <a:solidFill>
                  <a:srgbClr val="6AA9FF"/>
                </a:solidFill>
                <a:latin typeface="Menlo"/>
              </a:rPr>
              <a:t>REPORTING</a:t>
            </a:r>
          </a:p>
        </p:txBody>
      </p:sp>
      <p:sp>
        <p:nvSpPr>
          <p:cNvPr id="48" name="TextBox 47"/>
          <p:cNvSpPr txBox="1"/>
          <p:nvPr/>
        </p:nvSpPr>
        <p:spPr>
          <a:xfrm>
            <a:off x="9761220" y="5120640"/>
            <a:ext cx="1531620" cy="320040"/>
          </a:xfrm>
          <a:prstGeom prst="rect">
            <a:avLst/>
          </a:prstGeom>
          <a:noFill/>
        </p:spPr>
        <p:txBody>
          <a:bodyPr wrap="square" lIns="0" rIns="0" tIns="0" bIns="0" anchor="t">
            <a:spAutoFit/>
          </a:bodyPr>
          <a:lstStyle/>
          <a:p>
            <a:pPr algn="l"/>
            <a:r>
              <a:rPr sz="1300" b="1" i="0">
                <a:solidFill>
                  <a:srgbClr val="FFFFFF"/>
                </a:solidFill>
                <a:latin typeface="Helvetica Neue"/>
              </a:rPr>
              <a:t>Weekly Loom</a:t>
            </a:r>
          </a:p>
        </p:txBody>
      </p:sp>
      <p:sp>
        <p:nvSpPr>
          <p:cNvPr id="49" name="TextBox 48"/>
          <p:cNvSpPr txBox="1"/>
          <p:nvPr/>
        </p:nvSpPr>
        <p:spPr>
          <a:xfrm>
            <a:off x="9761220" y="5486400"/>
            <a:ext cx="1531620" cy="822960"/>
          </a:xfrm>
          <a:prstGeom prst="rect">
            <a:avLst/>
          </a:prstGeom>
          <a:noFill/>
        </p:spPr>
        <p:txBody>
          <a:bodyPr wrap="square" lIns="0" rIns="0" tIns="0" bIns="0" anchor="t">
            <a:spAutoFit/>
          </a:bodyPr>
          <a:lstStyle/>
          <a:p>
            <a:pPr algn="l"/>
            <a:r>
              <a:rPr sz="850" b="0" i="0">
                <a:solidFill>
                  <a:srgbClr val="CCCCCC"/>
                </a:solidFill>
                <a:latin typeface="Helvetica Neue"/>
              </a:rPr>
              <a:t>Plus a running test log you can access anytime.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56</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TRACK RECORD</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Three winning EcomHouse tests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Real results from EcomHouse client engagements. Each test rolled out to 100 % of traffic after meeting the pre-approved confidence threshold. IntelliGEMS test tool.</a:t>
            </a:r>
          </a:p>
        </p:txBody>
      </p:sp>
      <p:sp>
        <p:nvSpPr>
          <p:cNvPr id="10" name="Rounded Rectangle 9"/>
          <p:cNvSpPr/>
          <p:nvPr/>
        </p:nvSpPr>
        <p:spPr>
          <a:xfrm>
            <a:off x="335129"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449"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Comforth · DK</a:t>
            </a:r>
          </a:p>
        </p:txBody>
      </p:sp>
      <p:sp>
        <p:nvSpPr>
          <p:cNvPr id="12" name="TextBox 11"/>
          <p:cNvSpPr txBox="1"/>
          <p:nvPr/>
        </p:nvSpPr>
        <p:spPr>
          <a:xfrm>
            <a:off x="609449"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Product tags on collection cards</a:t>
            </a:r>
          </a:p>
        </p:txBody>
      </p:sp>
      <p:sp>
        <p:nvSpPr>
          <p:cNvPr id="13" name="TextBox 12"/>
          <p:cNvSpPr txBox="1"/>
          <p:nvPr/>
        </p:nvSpPr>
        <p:spPr>
          <a:xfrm>
            <a:off x="609449"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PROFIT / VISITOR</a:t>
            </a:r>
          </a:p>
        </p:txBody>
      </p:sp>
      <p:sp>
        <p:nvSpPr>
          <p:cNvPr id="14" name="TextBox 13"/>
          <p:cNvSpPr txBox="1"/>
          <p:nvPr/>
        </p:nvSpPr>
        <p:spPr>
          <a:xfrm>
            <a:off x="609449"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+11,42%</a:t>
            </a:r>
          </a:p>
        </p:txBody>
      </p:sp>
      <p:sp>
        <p:nvSpPr>
          <p:cNvPr id="15" name="TextBox 14"/>
          <p:cNvSpPr txBox="1"/>
          <p:nvPr/>
        </p:nvSpPr>
        <p:spPr>
          <a:xfrm>
            <a:off x="609449"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-11 % to +39 %</a:t>
            </a:r>
          </a:p>
        </p:txBody>
      </p:sp>
      <p:sp>
        <p:nvSpPr>
          <p:cNvPr id="16" name="TextBox 15"/>
          <p:cNvSpPr txBox="1"/>
          <p:nvPr/>
        </p:nvSpPr>
        <p:spPr>
          <a:xfrm>
            <a:off x="609449"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+106.550 kr / mo</a:t>
            </a:r>
          </a:p>
        </p:txBody>
      </p:sp>
      <p:sp>
        <p:nvSpPr>
          <p:cNvPr id="17" name="Rectangle 16"/>
          <p:cNvSpPr/>
          <p:nvPr/>
        </p:nvSpPr>
        <p:spPr>
          <a:xfrm>
            <a:off x="609449"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449"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19" name="TextBox 18"/>
          <p:cNvSpPr txBox="1"/>
          <p:nvPr/>
        </p:nvSpPr>
        <p:spPr>
          <a:xfrm>
            <a:off x="1615289"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2,09% → 2,37%</a:t>
            </a:r>
          </a:p>
        </p:txBody>
      </p:sp>
      <p:sp>
        <p:nvSpPr>
          <p:cNvPr id="20" name="TextBox 19"/>
          <p:cNvSpPr txBox="1"/>
          <p:nvPr/>
        </p:nvSpPr>
        <p:spPr>
          <a:xfrm>
            <a:off x="609449"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+13,07%</a:t>
            </a:r>
          </a:p>
        </p:txBody>
      </p:sp>
      <p:sp>
        <p:nvSpPr>
          <p:cNvPr id="21" name="TextBox 20"/>
          <p:cNvSpPr txBox="1"/>
          <p:nvPr/>
        </p:nvSpPr>
        <p:spPr>
          <a:xfrm>
            <a:off x="609449"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22" name="TextBox 21"/>
          <p:cNvSpPr txBox="1"/>
          <p:nvPr/>
        </p:nvSpPr>
        <p:spPr>
          <a:xfrm>
            <a:off x="1615289"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26,88 → 29,87 kr</a:t>
            </a:r>
          </a:p>
        </p:txBody>
      </p:sp>
      <p:sp>
        <p:nvSpPr>
          <p:cNvPr id="23" name="TextBox 22"/>
          <p:cNvSpPr txBox="1"/>
          <p:nvPr/>
        </p:nvSpPr>
        <p:spPr>
          <a:xfrm>
            <a:off x="609449"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+11,13%</a:t>
            </a:r>
          </a:p>
        </p:txBody>
      </p:sp>
      <p:sp>
        <p:nvSpPr>
          <p:cNvPr id="24" name="TextBox 23"/>
          <p:cNvSpPr txBox="1"/>
          <p:nvPr/>
        </p:nvSpPr>
        <p:spPr>
          <a:xfrm>
            <a:off x="609449"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25" name="TextBox 24"/>
          <p:cNvSpPr txBox="1"/>
          <p:nvPr/>
        </p:nvSpPr>
        <p:spPr>
          <a:xfrm>
            <a:off x="1615289"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+169</a:t>
            </a:r>
          </a:p>
        </p:txBody>
      </p:sp>
      <p:sp>
        <p:nvSpPr>
          <p:cNvPr id="26" name="TextBox 25"/>
          <p:cNvSpPr txBox="1"/>
          <p:nvPr/>
        </p:nvSpPr>
        <p:spPr>
          <a:xfrm>
            <a:off x="609449"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Added trust + benefit tags to collection product cards. Lift compounded across all three metrics.</a:t>
            </a:r>
          </a:p>
        </p:txBody>
      </p:sp>
      <p:sp>
        <p:nvSpPr>
          <p:cNvPr id="27" name="Rounded Rectangle 26"/>
          <p:cNvSpPr/>
          <p:nvPr/>
        </p:nvSpPr>
        <p:spPr>
          <a:xfrm>
            <a:off x="4221328"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5648"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29" name="TextBox 28"/>
          <p:cNvSpPr txBox="1"/>
          <p:nvPr/>
        </p:nvSpPr>
        <p:spPr>
          <a:xfrm>
            <a:off x="4495648"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PDP volume discount tiers</a:t>
            </a:r>
          </a:p>
        </p:txBody>
      </p:sp>
      <p:sp>
        <p:nvSpPr>
          <p:cNvPr id="30" name="TextBox 29"/>
          <p:cNvSpPr txBox="1"/>
          <p:nvPr/>
        </p:nvSpPr>
        <p:spPr>
          <a:xfrm>
            <a:off x="4495648"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CONVERSION RATE</a:t>
            </a:r>
          </a:p>
        </p:txBody>
      </p:sp>
      <p:sp>
        <p:nvSpPr>
          <p:cNvPr id="31" name="TextBox 30"/>
          <p:cNvSpPr txBox="1"/>
          <p:nvPr/>
        </p:nvSpPr>
        <p:spPr>
          <a:xfrm>
            <a:off x="4495648"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+11,08%</a:t>
            </a:r>
          </a:p>
        </p:txBody>
      </p:sp>
      <p:sp>
        <p:nvSpPr>
          <p:cNvPr id="32" name="TextBox 31"/>
          <p:cNvSpPr txBox="1"/>
          <p:nvPr/>
        </p:nvSpPr>
        <p:spPr>
          <a:xfrm>
            <a:off x="4495648"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-3 % to +27 %</a:t>
            </a:r>
          </a:p>
        </p:txBody>
      </p:sp>
      <p:sp>
        <p:nvSpPr>
          <p:cNvPr id="33" name="TextBox 32"/>
          <p:cNvSpPr txBox="1"/>
          <p:nvPr/>
        </p:nvSpPr>
        <p:spPr>
          <a:xfrm>
            <a:off x="4495648"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+134.917 kr / mo (RPV)</a:t>
            </a:r>
          </a:p>
        </p:txBody>
      </p:sp>
      <p:sp>
        <p:nvSpPr>
          <p:cNvPr id="34" name="Rectangle 33"/>
          <p:cNvSpPr/>
          <p:nvPr/>
        </p:nvSpPr>
        <p:spPr>
          <a:xfrm>
            <a:off x="4495648"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5648"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RPV</a:t>
            </a:r>
          </a:p>
        </p:txBody>
      </p:sp>
      <p:sp>
        <p:nvSpPr>
          <p:cNvPr id="36" name="TextBox 35"/>
          <p:cNvSpPr txBox="1"/>
          <p:nvPr/>
        </p:nvSpPr>
        <p:spPr>
          <a:xfrm>
            <a:off x="5501488"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20,36 → 23,84 kr</a:t>
            </a:r>
          </a:p>
        </p:txBody>
      </p:sp>
      <p:sp>
        <p:nvSpPr>
          <p:cNvPr id="37" name="TextBox 36"/>
          <p:cNvSpPr txBox="1"/>
          <p:nvPr/>
        </p:nvSpPr>
        <p:spPr>
          <a:xfrm>
            <a:off x="4495648"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+17,10%</a:t>
            </a:r>
          </a:p>
        </p:txBody>
      </p:sp>
      <p:sp>
        <p:nvSpPr>
          <p:cNvPr id="38" name="TextBox 37"/>
          <p:cNvSpPr txBox="1"/>
          <p:nvPr/>
        </p:nvSpPr>
        <p:spPr>
          <a:xfrm>
            <a:off x="4495648"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39" name="TextBox 38"/>
          <p:cNvSpPr txBox="1"/>
          <p:nvPr/>
        </p:nvSpPr>
        <p:spPr>
          <a:xfrm>
            <a:off x="5501488"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293,47 → 309,37 kr</a:t>
            </a:r>
          </a:p>
        </p:txBody>
      </p:sp>
      <p:sp>
        <p:nvSpPr>
          <p:cNvPr id="40" name="TextBox 39"/>
          <p:cNvSpPr txBox="1"/>
          <p:nvPr/>
        </p:nvSpPr>
        <p:spPr>
          <a:xfrm>
            <a:off x="4495648"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+5,42%</a:t>
            </a:r>
          </a:p>
        </p:txBody>
      </p:sp>
      <p:sp>
        <p:nvSpPr>
          <p:cNvPr id="41" name="TextBox 40"/>
          <p:cNvSpPr txBox="1"/>
          <p:nvPr/>
        </p:nvSpPr>
        <p:spPr>
          <a:xfrm>
            <a:off x="4495648"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Orders / mo</a:t>
            </a:r>
          </a:p>
        </p:txBody>
      </p:sp>
      <p:sp>
        <p:nvSpPr>
          <p:cNvPr id="42" name="TextBox 41"/>
          <p:cNvSpPr txBox="1"/>
          <p:nvPr/>
        </p:nvSpPr>
        <p:spPr>
          <a:xfrm>
            <a:off x="5501488"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+298</a:t>
            </a:r>
          </a:p>
        </p:txBody>
      </p:sp>
      <p:sp>
        <p:nvSpPr>
          <p:cNvPr id="43" name="TextBox 42"/>
          <p:cNvSpPr txBox="1"/>
          <p:nvPr/>
        </p:nvSpPr>
        <p:spPr>
          <a:xfrm>
            <a:off x="4495648"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Surfaced volume discount tiers directly on the PDP. CR was primary, RPV and AOV lifted simultaneously.</a:t>
            </a:r>
          </a:p>
        </p:txBody>
      </p:sp>
      <p:sp>
        <p:nvSpPr>
          <p:cNvPr id="44" name="Rounded Rectangle 43"/>
          <p:cNvSpPr/>
          <p:nvPr/>
        </p:nvSpPr>
        <p:spPr>
          <a:xfrm>
            <a:off x="8107527" y="2194560"/>
            <a:ext cx="3749039" cy="4160520"/>
          </a:xfrm>
          <a:prstGeom prst="roundRect">
            <a:avLst>
              <a:gd name="adj" fmla="val 4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81847" y="2423160"/>
            <a:ext cx="3200399" cy="228600"/>
          </a:xfrm>
          <a:prstGeom prst="rect">
            <a:avLst/>
          </a:prstGeom>
          <a:noFill/>
        </p:spPr>
        <p:txBody>
          <a:bodyPr wrap="square" lIns="0" rIns="0" tIns="0" bIns="0" anchor="t">
            <a:spAutoFit/>
          </a:bodyPr>
          <a:lstStyle/>
          <a:p>
            <a:pPr algn="l"/>
            <a:r>
              <a:rPr sz="900" b="1" i="0" spc="150">
                <a:solidFill>
                  <a:srgbClr val="999999"/>
                </a:solidFill>
                <a:latin typeface="Menlo"/>
              </a:rPr>
              <a:t>PH Import · DK</a:t>
            </a:r>
          </a:p>
        </p:txBody>
      </p:sp>
      <p:sp>
        <p:nvSpPr>
          <p:cNvPr id="46" name="TextBox 45"/>
          <p:cNvSpPr txBox="1"/>
          <p:nvPr/>
        </p:nvSpPr>
        <p:spPr>
          <a:xfrm>
            <a:off x="8381847" y="2651760"/>
            <a:ext cx="3200399" cy="548640"/>
          </a:xfrm>
          <a:prstGeom prst="rect">
            <a:avLst/>
          </a:prstGeom>
          <a:noFill/>
        </p:spPr>
        <p:txBody>
          <a:bodyPr wrap="square" lIns="0" rIns="0" tIns="0" bIns="0" anchor="t">
            <a:spAutoFit/>
          </a:bodyPr>
          <a:lstStyle/>
          <a:p>
            <a:pPr algn="l"/>
            <a:r>
              <a:rPr sz="1500" b="1" i="0" spc="-20">
                <a:solidFill>
                  <a:srgbClr val="FFFFFF"/>
                </a:solidFill>
                <a:latin typeface="Helvetica Neue"/>
              </a:rPr>
              <a:t>Homepage hero optimization</a:t>
            </a:r>
          </a:p>
        </p:txBody>
      </p:sp>
      <p:sp>
        <p:nvSpPr>
          <p:cNvPr id="47" name="TextBox 46"/>
          <p:cNvSpPr txBox="1"/>
          <p:nvPr/>
        </p:nvSpPr>
        <p:spPr>
          <a:xfrm>
            <a:off x="8381847" y="3291840"/>
            <a:ext cx="3200399" cy="228600"/>
          </a:xfrm>
          <a:prstGeom prst="rect">
            <a:avLst/>
          </a:prstGeom>
          <a:noFill/>
        </p:spPr>
        <p:txBody>
          <a:bodyPr wrap="square" lIns="0" rIns="0" tIns="0" bIns="0" anchor="t">
            <a:spAutoFit/>
          </a:bodyPr>
          <a:lstStyle/>
          <a:p>
            <a:pPr algn="l"/>
            <a:r>
              <a:rPr sz="900" b="1" i="0" spc="200">
                <a:solidFill>
                  <a:srgbClr val="F7D007"/>
                </a:solidFill>
                <a:latin typeface="Menlo"/>
              </a:rPr>
              <a:t>REVENUE / VISITOR</a:t>
            </a:r>
          </a:p>
        </p:txBody>
      </p:sp>
      <p:sp>
        <p:nvSpPr>
          <p:cNvPr id="48" name="TextBox 47"/>
          <p:cNvSpPr txBox="1"/>
          <p:nvPr/>
        </p:nvSpPr>
        <p:spPr>
          <a:xfrm>
            <a:off x="8381847" y="3520440"/>
            <a:ext cx="3200399" cy="777240"/>
          </a:xfrm>
          <a:prstGeom prst="rect">
            <a:avLst/>
          </a:prstGeom>
          <a:noFill/>
        </p:spPr>
        <p:txBody>
          <a:bodyPr wrap="square" lIns="0" rIns="0" tIns="0" bIns="0" anchor="t">
            <a:spAutoFit/>
          </a:bodyPr>
          <a:lstStyle/>
          <a:p>
            <a:pPr algn="l"/>
            <a:r>
              <a:rPr sz="4200" b="1" i="0">
                <a:solidFill>
                  <a:srgbClr val="F7D007"/>
                </a:solidFill>
                <a:latin typeface="Menlo"/>
              </a:rPr>
              <a:t>+20,87%</a:t>
            </a:r>
          </a:p>
        </p:txBody>
      </p:sp>
      <p:sp>
        <p:nvSpPr>
          <p:cNvPr id="49" name="TextBox 48"/>
          <p:cNvSpPr txBox="1"/>
          <p:nvPr/>
        </p:nvSpPr>
        <p:spPr>
          <a:xfrm>
            <a:off x="8381847" y="4297680"/>
            <a:ext cx="3200399" cy="228600"/>
          </a:xfrm>
          <a:prstGeom prst="rect">
            <a:avLst/>
          </a:prstGeom>
          <a:noFill/>
        </p:spPr>
        <p:txBody>
          <a:bodyPr wrap="square" lIns="0" rIns="0" tIns="0" bIns="0" anchor="t">
            <a:spAutoFit/>
          </a:bodyPr>
          <a:lstStyle/>
          <a:p>
            <a:pPr algn="l"/>
            <a:r>
              <a:rPr sz="1000" b="0" i="0">
                <a:solidFill>
                  <a:srgbClr val="999999"/>
                </a:solidFill>
                <a:latin typeface="Menlo"/>
              </a:rPr>
              <a:t>-12 % to +67 %</a:t>
            </a:r>
          </a:p>
        </p:txBody>
      </p:sp>
      <p:sp>
        <p:nvSpPr>
          <p:cNvPr id="50" name="TextBox 49"/>
          <p:cNvSpPr txBox="1"/>
          <p:nvPr/>
        </p:nvSpPr>
        <p:spPr>
          <a:xfrm>
            <a:off x="8381847" y="4526280"/>
            <a:ext cx="3200399" cy="274320"/>
          </a:xfrm>
          <a:prstGeom prst="rect">
            <a:avLst/>
          </a:prstGeom>
          <a:noFill/>
        </p:spPr>
        <p:txBody>
          <a:bodyPr wrap="square" lIns="0" rIns="0" tIns="0" bIns="0" anchor="t">
            <a:spAutoFit/>
          </a:bodyPr>
          <a:lstStyle/>
          <a:p>
            <a:pPr algn="l"/>
            <a:r>
              <a:rPr sz="1200" b="1" i="0">
                <a:solidFill>
                  <a:srgbClr val="FFFFFF"/>
                </a:solidFill>
                <a:latin typeface="Menlo"/>
              </a:rPr>
              <a:t>+272.913 kr / mo</a:t>
            </a:r>
          </a:p>
        </p:txBody>
      </p:sp>
      <p:sp>
        <p:nvSpPr>
          <p:cNvPr id="51" name="Rectangle 50"/>
          <p:cNvSpPr/>
          <p:nvPr/>
        </p:nvSpPr>
        <p:spPr>
          <a:xfrm>
            <a:off x="8381847" y="4892040"/>
            <a:ext cx="3200399"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1847" y="4983480"/>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CR</a:t>
            </a:r>
          </a:p>
        </p:txBody>
      </p:sp>
      <p:sp>
        <p:nvSpPr>
          <p:cNvPr id="53" name="TextBox 52"/>
          <p:cNvSpPr txBox="1"/>
          <p:nvPr/>
        </p:nvSpPr>
        <p:spPr>
          <a:xfrm>
            <a:off x="9387687" y="4983480"/>
            <a:ext cx="1828800" cy="228600"/>
          </a:xfrm>
          <a:prstGeom prst="rect">
            <a:avLst/>
          </a:prstGeom>
          <a:noFill/>
        </p:spPr>
        <p:txBody>
          <a:bodyPr wrap="square" lIns="0" rIns="0" tIns="0" bIns="0" anchor="t">
            <a:spAutoFit/>
          </a:bodyPr>
          <a:lstStyle/>
          <a:p>
            <a:pPr algn="l"/>
            <a:r>
              <a:rPr sz="900" b="0" i="0">
                <a:solidFill>
                  <a:srgbClr val="CCCCCC"/>
                </a:solidFill>
                <a:latin typeface="Menlo"/>
              </a:rPr>
              <a:t>16,3% → 17,6%</a:t>
            </a:r>
          </a:p>
        </p:txBody>
      </p:sp>
      <p:sp>
        <p:nvSpPr>
          <p:cNvPr id="54" name="TextBox 53"/>
          <p:cNvSpPr txBox="1"/>
          <p:nvPr/>
        </p:nvSpPr>
        <p:spPr>
          <a:xfrm>
            <a:off x="8381847" y="4983480"/>
            <a:ext cx="3200399" cy="228600"/>
          </a:xfrm>
          <a:prstGeom prst="rect">
            <a:avLst/>
          </a:prstGeom>
          <a:noFill/>
        </p:spPr>
        <p:txBody>
          <a:bodyPr wrap="square" lIns="0" rIns="0" tIns="0" bIns="0" anchor="t">
            <a:spAutoFit/>
          </a:bodyPr>
          <a:lstStyle/>
          <a:p>
            <a:pPr algn="r"/>
            <a:r>
              <a:rPr sz="900" b="1" i="0">
                <a:solidFill>
                  <a:srgbClr val="F7D007"/>
                </a:solidFill>
                <a:latin typeface="Menlo"/>
              </a:rPr>
              <a:t>+7,72%</a:t>
            </a:r>
          </a:p>
        </p:txBody>
      </p:sp>
      <p:sp>
        <p:nvSpPr>
          <p:cNvPr id="55" name="TextBox 54"/>
          <p:cNvSpPr txBox="1"/>
          <p:nvPr/>
        </p:nvSpPr>
        <p:spPr>
          <a:xfrm>
            <a:off x="8381847" y="5276088"/>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AOV</a:t>
            </a:r>
          </a:p>
        </p:txBody>
      </p:sp>
      <p:sp>
        <p:nvSpPr>
          <p:cNvPr id="56" name="TextBox 55"/>
          <p:cNvSpPr txBox="1"/>
          <p:nvPr/>
        </p:nvSpPr>
        <p:spPr>
          <a:xfrm>
            <a:off x="9387687" y="5276088"/>
            <a:ext cx="1828800" cy="228600"/>
          </a:xfrm>
          <a:prstGeom prst="rect">
            <a:avLst/>
          </a:prstGeom>
          <a:noFill/>
        </p:spPr>
        <p:txBody>
          <a:bodyPr wrap="square" lIns="0" rIns="0" tIns="0" bIns="0" anchor="t">
            <a:spAutoFit/>
          </a:bodyPr>
          <a:lstStyle/>
          <a:p>
            <a:pPr algn="l"/>
            <a:r>
              <a:rPr sz="900" b="0" i="0">
                <a:solidFill>
                  <a:srgbClr val="CCCCCC"/>
                </a:solidFill>
                <a:latin typeface="Menlo"/>
              </a:rPr>
              <a:t>401,87 → 450,94 kr</a:t>
            </a:r>
          </a:p>
        </p:txBody>
      </p:sp>
      <p:sp>
        <p:nvSpPr>
          <p:cNvPr id="57" name="TextBox 56"/>
          <p:cNvSpPr txBox="1"/>
          <p:nvPr/>
        </p:nvSpPr>
        <p:spPr>
          <a:xfrm>
            <a:off x="8381847" y="5276088"/>
            <a:ext cx="3200399" cy="228600"/>
          </a:xfrm>
          <a:prstGeom prst="rect">
            <a:avLst/>
          </a:prstGeom>
          <a:noFill/>
        </p:spPr>
        <p:txBody>
          <a:bodyPr wrap="square" lIns="0" rIns="0" tIns="0" bIns="0" anchor="t">
            <a:spAutoFit/>
          </a:bodyPr>
          <a:lstStyle/>
          <a:p>
            <a:pPr algn="r"/>
            <a:r>
              <a:rPr sz="900" b="1" i="0">
                <a:solidFill>
                  <a:srgbClr val="F7D007"/>
                </a:solidFill>
                <a:latin typeface="Menlo"/>
              </a:rPr>
              <a:t>+12,21%</a:t>
            </a:r>
          </a:p>
        </p:txBody>
      </p:sp>
      <p:sp>
        <p:nvSpPr>
          <p:cNvPr id="58" name="TextBox 57"/>
          <p:cNvSpPr txBox="1"/>
          <p:nvPr/>
        </p:nvSpPr>
        <p:spPr>
          <a:xfrm>
            <a:off x="8381847" y="5568696"/>
            <a:ext cx="1097280" cy="228600"/>
          </a:xfrm>
          <a:prstGeom prst="rect">
            <a:avLst/>
          </a:prstGeom>
          <a:noFill/>
        </p:spPr>
        <p:txBody>
          <a:bodyPr wrap="square" lIns="0" rIns="0" tIns="0" bIns="0" anchor="t">
            <a:spAutoFit/>
          </a:bodyPr>
          <a:lstStyle/>
          <a:p>
            <a:pPr algn="l"/>
            <a:r>
              <a:rPr sz="900" b="1" i="0" spc="100">
                <a:solidFill>
                  <a:srgbClr val="999999"/>
                </a:solidFill>
                <a:latin typeface="Helvetica Neue"/>
              </a:rPr>
              <a:t>PDP view rate</a:t>
            </a:r>
          </a:p>
        </p:txBody>
      </p:sp>
      <p:sp>
        <p:nvSpPr>
          <p:cNvPr id="59" name="TextBox 58"/>
          <p:cNvSpPr txBox="1"/>
          <p:nvPr/>
        </p:nvSpPr>
        <p:spPr>
          <a:xfrm>
            <a:off x="9387687" y="5568696"/>
            <a:ext cx="1828800" cy="228600"/>
          </a:xfrm>
          <a:prstGeom prst="rect">
            <a:avLst/>
          </a:prstGeom>
          <a:noFill/>
        </p:spPr>
        <p:txBody>
          <a:bodyPr wrap="square" lIns="0" rIns="0" tIns="0" bIns="0" anchor="t">
            <a:spAutoFit/>
          </a:bodyPr>
          <a:lstStyle/>
          <a:p>
            <a:pPr algn="l"/>
            <a:r>
              <a:rPr sz="900" b="0" i="0">
                <a:solidFill>
                  <a:srgbClr val="CCCCCC"/>
                </a:solidFill>
                <a:latin typeface="Menlo"/>
              </a:rPr>
              <a:t>56,6% → 61,8%</a:t>
            </a:r>
          </a:p>
        </p:txBody>
      </p:sp>
      <p:sp>
        <p:nvSpPr>
          <p:cNvPr id="60" name="TextBox 59"/>
          <p:cNvSpPr txBox="1"/>
          <p:nvPr/>
        </p:nvSpPr>
        <p:spPr>
          <a:xfrm>
            <a:off x="8381847" y="5568696"/>
            <a:ext cx="3200399" cy="228600"/>
          </a:xfrm>
          <a:prstGeom prst="rect">
            <a:avLst/>
          </a:prstGeom>
          <a:noFill/>
        </p:spPr>
        <p:txBody>
          <a:bodyPr wrap="square" lIns="0" rIns="0" tIns="0" bIns="0" anchor="t">
            <a:spAutoFit/>
          </a:bodyPr>
          <a:lstStyle/>
          <a:p>
            <a:pPr algn="r"/>
            <a:r>
              <a:rPr sz="900" b="1" i="0">
                <a:solidFill>
                  <a:srgbClr val="F7D007"/>
                </a:solidFill>
                <a:latin typeface="Menlo"/>
              </a:rPr>
              <a:t>+9,21%</a:t>
            </a:r>
          </a:p>
        </p:txBody>
      </p:sp>
      <p:sp>
        <p:nvSpPr>
          <p:cNvPr id="61" name="TextBox 60"/>
          <p:cNvSpPr txBox="1"/>
          <p:nvPr/>
        </p:nvSpPr>
        <p:spPr>
          <a:xfrm>
            <a:off x="8381847" y="5897880"/>
            <a:ext cx="3200399" cy="411480"/>
          </a:xfrm>
          <a:prstGeom prst="rect">
            <a:avLst/>
          </a:prstGeom>
          <a:noFill/>
        </p:spPr>
        <p:txBody>
          <a:bodyPr wrap="square" lIns="0" rIns="0" tIns="0" bIns="0" anchor="t">
            <a:spAutoFit/>
          </a:bodyPr>
          <a:lstStyle/>
          <a:p>
            <a:pPr algn="l"/>
            <a:r>
              <a:rPr sz="850" b="0" i="1">
                <a:solidFill>
                  <a:srgbClr val="999999"/>
                </a:solidFill>
                <a:latin typeface="Helvetica Neue"/>
              </a:rPr>
              <a:t>Reworked homepage hero with lighter background. Lifted the full funnel: more PDP views, higher AOV, more revenue.</a:t>
            </a:r>
          </a:p>
        </p:txBody>
      </p:sp>
      <p:sp>
        <p:nvSpPr>
          <p:cNvPr id="62" name="TextBox 61"/>
          <p:cNvSpPr txBox="1"/>
          <p:nvPr/>
        </p:nvSpPr>
        <p:spPr>
          <a:xfrm>
            <a:off x="0" y="6446520"/>
            <a:ext cx="12191695" cy="164592"/>
          </a:xfrm>
          <a:prstGeom prst="rect">
            <a:avLst/>
          </a:prstGeom>
          <a:noFill/>
        </p:spPr>
        <p:txBody>
          <a:bodyPr wrap="square" lIns="0" rIns="0" tIns="0" bIns="0" anchor="t">
            <a:spAutoFit/>
          </a:bodyPr>
          <a:lstStyle/>
          <a:p>
            <a:pPr algn="ctr"/>
            <a:r>
              <a:rPr sz="800" b="0" i="1">
                <a:solidFill>
                  <a:srgbClr val="6B7C75"/>
                </a:solidFill>
                <a:latin typeface="Helvetica Neue"/>
              </a:rPr>
              <a:t>Source: IntelliGEMS test reports. Confidence intervals shown reflect range of likely true effect. References available on request.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57</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01</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Comforth · Product tags on collection cards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Added benefit and trust tags directly to product cards on collection pages. Variant lifted all three commercial metrics with no degradation in any guardrail.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forth | Product Tags Control.png"/>
          <p:cNvPicPr>
            <a:picLocks noChangeAspect="1"/>
          </p:cNvPicPr>
          <p:nvPr/>
        </p:nvPicPr>
        <p:blipFill>
          <a:blip r:embed="rId3"/>
          <a:stretch>
            <a:fillRect/>
          </a:stretch>
        </p:blipFill>
        <p:spPr>
          <a:xfrm>
            <a:off x="882127" y="2377440"/>
            <a:ext cx="1527586"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mforth | Product Tags Variant.png"/>
          <p:cNvPicPr>
            <a:picLocks noChangeAspect="1"/>
          </p:cNvPicPr>
          <p:nvPr/>
        </p:nvPicPr>
        <p:blipFill>
          <a:blip r:embed="rId4"/>
          <a:stretch>
            <a:fillRect/>
          </a:stretch>
        </p:blipFill>
        <p:spPr>
          <a:xfrm>
            <a:off x="2990541" y="2377440"/>
            <a:ext cx="151699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PROFIT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+11,42%</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-11 % to +39 %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+106.550 kr / month projected</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2,09 %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2,37 %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+13,07%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26,88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29,87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+11,13%</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15,07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16,80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+11,42%</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Est. orders / mo</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+169</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58</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02</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PDP volume discount tiers</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Surfaced volume discount tiers directly on the PDP. The variant lifted purchase rate, AOV, and downstream profit simultaneously.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PDP Volume discount  control.jpg"/>
          <p:cNvPicPr>
            <a:picLocks noChangeAspect="1"/>
          </p:cNvPicPr>
          <p:nvPr/>
        </p:nvPicPr>
        <p:blipFill>
          <a:blip r:embed="rId3"/>
          <a:stretch>
            <a:fillRect/>
          </a:stretch>
        </p:blipFill>
        <p:spPr>
          <a:xfrm>
            <a:off x="1185109" y="2377440"/>
            <a:ext cx="921621"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PDP Volume discount  variant.jpg"/>
          <p:cNvPicPr>
            <a:picLocks noChangeAspect="1"/>
          </p:cNvPicPr>
          <p:nvPr/>
        </p:nvPicPr>
        <p:blipFill>
          <a:blip r:embed="rId4"/>
          <a:stretch>
            <a:fillRect/>
          </a:stretch>
        </p:blipFill>
        <p:spPr>
          <a:xfrm>
            <a:off x="3329492" y="2377440"/>
            <a:ext cx="839096"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CONVERSION RATE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+11,08%</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-3 % to +27 %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+298 orders / month · +134.917 kr / mo (RPV)</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Conversion rate</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6,94 %</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7,71 %</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+11,08%</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20,36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23,84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+17,10%</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10,49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12,25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+16,68%</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293,47 kr</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309,37 kr</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+5,42%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59</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CASE STUDY · 03</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600" b="1" i="0" spc="-50">
                <a:solidFill>
                  <a:srgbClr val="FFFFFF"/>
                </a:solidFill>
                <a:latin typeface="Helvetica Neue"/>
              </a:rPr>
              <a:t>PH Import · Homepage hero optimization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Reworked homepage hero with a lighter background and a sharper category-led layout. Lift compounded through PDP views, AOV, and revenue. IntelliGEMS, 100 % rollout.</a:t>
            </a:r>
          </a:p>
        </p:txBody>
      </p:sp>
      <p:sp>
        <p:nvSpPr>
          <p:cNvPr id="10" name="Rounded Rectangle 9"/>
          <p:cNvSpPr/>
          <p:nvPr/>
        </p:nvSpPr>
        <p:spPr>
          <a:xfrm>
            <a:off x="73152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H Import _ Homepage hero optimization control.jpg"/>
          <p:cNvPicPr>
            <a:picLocks noChangeAspect="1"/>
          </p:cNvPicPr>
          <p:nvPr/>
        </p:nvPicPr>
        <p:blipFill>
          <a:blip r:embed="rId3"/>
          <a:stretch>
            <a:fillRect/>
          </a:stretch>
        </p:blipFill>
        <p:spPr>
          <a:xfrm>
            <a:off x="932688" y="2377440"/>
            <a:ext cx="1426464" cy="3291840"/>
          </a:xfrm>
          <a:prstGeom prst="rect">
            <a:avLst/>
          </a:prstGeom>
        </p:spPr>
      </p:pic>
      <p:sp>
        <p:nvSpPr>
          <p:cNvPr id="12" name="TextBox 11"/>
          <p:cNvSpPr txBox="1"/>
          <p:nvPr/>
        </p:nvSpPr>
        <p:spPr>
          <a:xfrm>
            <a:off x="731520" y="5742432"/>
            <a:ext cx="1828800" cy="274320"/>
          </a:xfrm>
          <a:prstGeom prst="rect">
            <a:avLst/>
          </a:prstGeom>
          <a:noFill/>
        </p:spPr>
        <p:txBody>
          <a:bodyPr wrap="square" lIns="0" rIns="0" tIns="0" bIns="0" anchor="t">
            <a:spAutoFit/>
          </a:bodyPr>
          <a:lstStyle/>
          <a:p>
            <a:pPr algn="ctr"/>
            <a:r>
              <a:rPr sz="1000" b="1" i="0" spc="200">
                <a:solidFill>
                  <a:srgbClr val="FFFFFF"/>
                </a:solidFill>
                <a:latin typeface="Helvetica Neue"/>
              </a:rPr>
              <a:t>CONTROL</a:t>
            </a:r>
          </a:p>
        </p:txBody>
      </p:sp>
      <p:sp>
        <p:nvSpPr>
          <p:cNvPr id="13" name="Rounded Rectangle 12"/>
          <p:cNvSpPr/>
          <p:nvPr/>
        </p:nvSpPr>
        <p:spPr>
          <a:xfrm>
            <a:off x="2834640" y="2377440"/>
            <a:ext cx="1828800" cy="3291840"/>
          </a:xfrm>
          <a:prstGeom prst="roundRect">
            <a:avLst>
              <a:gd name="adj" fmla="val 4000"/>
            </a:avLst>
          </a:prstGeom>
          <a:solidFill>
            <a:srgbClr val="FFFFFF"/>
          </a:solidFill>
          <a:ln w="9525">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H Import _ Homepage hero optimization variant.jpg"/>
          <p:cNvPicPr>
            <a:picLocks noChangeAspect="1"/>
          </p:cNvPicPr>
          <p:nvPr/>
        </p:nvPicPr>
        <p:blipFill>
          <a:blip r:embed="rId4"/>
          <a:stretch>
            <a:fillRect/>
          </a:stretch>
        </p:blipFill>
        <p:spPr>
          <a:xfrm>
            <a:off x="3238596" y="2377440"/>
            <a:ext cx="1020887" cy="3291840"/>
          </a:xfrm>
          <a:prstGeom prst="rect">
            <a:avLst/>
          </a:prstGeom>
        </p:spPr>
      </p:pic>
      <p:sp>
        <p:nvSpPr>
          <p:cNvPr id="15" name="TextBox 14"/>
          <p:cNvSpPr txBox="1"/>
          <p:nvPr/>
        </p:nvSpPr>
        <p:spPr>
          <a:xfrm>
            <a:off x="2834640" y="5742432"/>
            <a:ext cx="1828800" cy="274320"/>
          </a:xfrm>
          <a:prstGeom prst="rect">
            <a:avLst/>
          </a:prstGeom>
          <a:noFill/>
        </p:spPr>
        <p:txBody>
          <a:bodyPr wrap="square" lIns="0" rIns="0" tIns="0" bIns="0" anchor="t">
            <a:spAutoFit/>
          </a:bodyPr>
          <a:lstStyle/>
          <a:p>
            <a:pPr algn="ctr"/>
            <a:r>
              <a:rPr sz="1000" b="1" i="0" spc="200">
                <a:solidFill>
                  <a:srgbClr val="F7D007"/>
                </a:solidFill>
                <a:latin typeface="Helvetica Neue"/>
              </a:rPr>
              <a:t>VARIANT</a:t>
            </a:r>
          </a:p>
        </p:txBody>
      </p:sp>
      <p:sp>
        <p:nvSpPr>
          <p:cNvPr id="16" name="Rounded Rectangle 15"/>
          <p:cNvSpPr/>
          <p:nvPr/>
        </p:nvSpPr>
        <p:spPr>
          <a:xfrm>
            <a:off x="5212080" y="2377440"/>
            <a:ext cx="633953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2651760"/>
            <a:ext cx="560801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8" name="TextBox 17"/>
          <p:cNvSpPr txBox="1"/>
          <p:nvPr/>
        </p:nvSpPr>
        <p:spPr>
          <a:xfrm>
            <a:off x="5577840" y="2880360"/>
            <a:ext cx="5608015" cy="822960"/>
          </a:xfrm>
          <a:prstGeom prst="rect">
            <a:avLst/>
          </a:prstGeom>
          <a:noFill/>
        </p:spPr>
        <p:txBody>
          <a:bodyPr wrap="square" lIns="0" rIns="0" tIns="0" bIns="0" anchor="t">
            <a:spAutoFit/>
          </a:bodyPr>
          <a:lstStyle/>
          <a:p>
            <a:pPr algn="l"/>
            <a:r>
              <a:rPr sz="5400" b="1" i="0">
                <a:solidFill>
                  <a:srgbClr val="F7D007"/>
                </a:solidFill>
                <a:latin typeface="Menlo"/>
              </a:rPr>
              <a:t>+20,87%</a:t>
            </a:r>
          </a:p>
        </p:txBody>
      </p:sp>
      <p:sp>
        <p:nvSpPr>
          <p:cNvPr id="19" name="TextBox 18"/>
          <p:cNvSpPr txBox="1"/>
          <p:nvPr/>
        </p:nvSpPr>
        <p:spPr>
          <a:xfrm>
            <a:off x="5577840" y="3749040"/>
            <a:ext cx="5608015" cy="274320"/>
          </a:xfrm>
          <a:prstGeom prst="rect">
            <a:avLst/>
          </a:prstGeom>
          <a:noFill/>
        </p:spPr>
        <p:txBody>
          <a:bodyPr wrap="square" lIns="0" rIns="0" tIns="0" bIns="0" anchor="t">
            <a:spAutoFit/>
          </a:bodyPr>
          <a:lstStyle/>
          <a:p>
            <a:pPr algn="l"/>
            <a:r>
              <a:rPr sz="1100" b="0" i="0">
                <a:solidFill>
                  <a:srgbClr val="999999"/>
                </a:solidFill>
                <a:latin typeface="Menlo"/>
              </a:rPr>
              <a:t>-12 % to +67 % CI</a:t>
            </a:r>
          </a:p>
        </p:txBody>
      </p:sp>
      <p:sp>
        <p:nvSpPr>
          <p:cNvPr id="20" name="TextBox 19"/>
          <p:cNvSpPr txBox="1"/>
          <p:nvPr/>
        </p:nvSpPr>
        <p:spPr>
          <a:xfrm>
            <a:off x="5577840" y="4023360"/>
            <a:ext cx="5608015" cy="320040"/>
          </a:xfrm>
          <a:prstGeom prst="rect">
            <a:avLst/>
          </a:prstGeom>
          <a:noFill/>
        </p:spPr>
        <p:txBody>
          <a:bodyPr wrap="square" lIns="0" rIns="0" tIns="0" bIns="0" anchor="t">
            <a:spAutoFit/>
          </a:bodyPr>
          <a:lstStyle/>
          <a:p>
            <a:pPr algn="l"/>
            <a:r>
              <a:rPr sz="1400" b="1" i="0">
                <a:solidFill>
                  <a:srgbClr val="FFFFFF"/>
                </a:solidFill>
                <a:latin typeface="Menlo"/>
              </a:rPr>
              <a:t>+251 orders / month · +272.913 kr / mo</a:t>
            </a:r>
          </a:p>
        </p:txBody>
      </p:sp>
      <p:sp>
        <p:nvSpPr>
          <p:cNvPr id="21" name="Rectangle 20"/>
          <p:cNvSpPr/>
          <p:nvPr/>
        </p:nvSpPr>
        <p:spPr>
          <a:xfrm>
            <a:off x="5577840" y="4434840"/>
            <a:ext cx="560801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4572000"/>
            <a:ext cx="1463040" cy="228600"/>
          </a:xfrm>
          <a:prstGeom prst="rect">
            <a:avLst/>
          </a:prstGeom>
          <a:noFill/>
        </p:spPr>
        <p:txBody>
          <a:bodyPr wrap="square" lIns="0" rIns="0" tIns="0" bIns="0" anchor="t">
            <a:spAutoFit/>
          </a:bodyPr>
          <a:lstStyle/>
          <a:p>
            <a:pPr algn="l"/>
            <a:r>
              <a:rPr sz="850" b="1" i="0" spc="150">
                <a:solidFill>
                  <a:srgbClr val="999999"/>
                </a:solidFill>
                <a:latin typeface="Helvetica Neue"/>
              </a:rPr>
              <a:t>METRIC</a:t>
            </a:r>
          </a:p>
        </p:txBody>
      </p:sp>
      <p:sp>
        <p:nvSpPr>
          <p:cNvPr id="23" name="TextBox 22"/>
          <p:cNvSpPr txBox="1"/>
          <p:nvPr/>
        </p:nvSpPr>
        <p:spPr>
          <a:xfrm>
            <a:off x="7040880" y="4572000"/>
            <a:ext cx="1280160" cy="228600"/>
          </a:xfrm>
          <a:prstGeom prst="rect">
            <a:avLst/>
          </a:prstGeom>
          <a:noFill/>
        </p:spPr>
        <p:txBody>
          <a:bodyPr wrap="square" lIns="0" rIns="0" tIns="0" bIns="0" anchor="t">
            <a:spAutoFit/>
          </a:bodyPr>
          <a:lstStyle/>
          <a:p>
            <a:pPr algn="r"/>
            <a:r>
              <a:rPr sz="850" b="1" i="0" spc="150">
                <a:solidFill>
                  <a:srgbClr val="999999"/>
                </a:solidFill>
                <a:latin typeface="Helvetica Neue"/>
              </a:rPr>
              <a:t>CONTROL</a:t>
            </a:r>
          </a:p>
        </p:txBody>
      </p:sp>
      <p:sp>
        <p:nvSpPr>
          <p:cNvPr id="24" name="TextBox 23"/>
          <p:cNvSpPr txBox="1"/>
          <p:nvPr/>
        </p:nvSpPr>
        <p:spPr>
          <a:xfrm>
            <a:off x="8321040" y="4572000"/>
            <a:ext cx="1280160" cy="228600"/>
          </a:xfrm>
          <a:prstGeom prst="rect">
            <a:avLst/>
          </a:prstGeom>
          <a:noFill/>
        </p:spPr>
        <p:txBody>
          <a:bodyPr wrap="square" lIns="0" rIns="0" tIns="0" bIns="0" anchor="t">
            <a:spAutoFit/>
          </a:bodyPr>
          <a:lstStyle/>
          <a:p>
            <a:pPr algn="r"/>
            <a:r>
              <a:rPr sz="850" b="1" i="0" spc="150">
                <a:solidFill>
                  <a:srgbClr val="F7D007"/>
                </a:solidFill>
                <a:latin typeface="Helvetica Neue"/>
              </a:rPr>
              <a:t>VARIANT</a:t>
            </a:r>
          </a:p>
        </p:txBody>
      </p:sp>
      <p:sp>
        <p:nvSpPr>
          <p:cNvPr id="25" name="TextBox 24"/>
          <p:cNvSpPr txBox="1"/>
          <p:nvPr/>
        </p:nvSpPr>
        <p:spPr>
          <a:xfrm>
            <a:off x="9601200" y="4572000"/>
            <a:ext cx="1005840" cy="228600"/>
          </a:xfrm>
          <a:prstGeom prst="rect">
            <a:avLst/>
          </a:prstGeom>
          <a:noFill/>
        </p:spPr>
        <p:txBody>
          <a:bodyPr wrap="square" lIns="0" rIns="0" tIns="0" bIns="0" anchor="t">
            <a:spAutoFit/>
          </a:bodyPr>
          <a:lstStyle/>
          <a:p>
            <a:pPr algn="r"/>
            <a:r>
              <a:rPr sz="850" b="1" i="0" spc="150">
                <a:solidFill>
                  <a:srgbClr val="999999"/>
                </a:solidFill>
                <a:latin typeface="Helvetica Neue"/>
              </a:rPr>
              <a:t>Δ</a:t>
            </a:r>
          </a:p>
        </p:txBody>
      </p:sp>
      <p:sp>
        <p:nvSpPr>
          <p:cNvPr id="26" name="TextBox 25"/>
          <p:cNvSpPr txBox="1"/>
          <p:nvPr/>
        </p:nvSpPr>
        <p:spPr>
          <a:xfrm>
            <a:off x="5577840" y="484632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7" name="TextBox 26"/>
          <p:cNvSpPr txBox="1"/>
          <p:nvPr/>
        </p:nvSpPr>
        <p:spPr>
          <a:xfrm>
            <a:off x="7040880" y="4846320"/>
            <a:ext cx="1280160" cy="228600"/>
          </a:xfrm>
          <a:prstGeom prst="rect">
            <a:avLst/>
          </a:prstGeom>
          <a:noFill/>
        </p:spPr>
        <p:txBody>
          <a:bodyPr wrap="square" lIns="0" rIns="0" tIns="0" bIns="0" anchor="t">
            <a:spAutoFit/>
          </a:bodyPr>
          <a:lstStyle/>
          <a:p>
            <a:pPr algn="r"/>
            <a:r>
              <a:rPr sz="1000" b="0" i="0">
                <a:solidFill>
                  <a:srgbClr val="CCCCCC"/>
                </a:solidFill>
                <a:latin typeface="Menlo"/>
              </a:rPr>
              <a:t>65,50 kr</a:t>
            </a:r>
          </a:p>
        </p:txBody>
      </p:sp>
      <p:sp>
        <p:nvSpPr>
          <p:cNvPr id="28" name="TextBox 27"/>
          <p:cNvSpPr txBox="1"/>
          <p:nvPr/>
        </p:nvSpPr>
        <p:spPr>
          <a:xfrm>
            <a:off x="8321040" y="4846320"/>
            <a:ext cx="1280160" cy="228600"/>
          </a:xfrm>
          <a:prstGeom prst="rect">
            <a:avLst/>
          </a:prstGeom>
          <a:noFill/>
        </p:spPr>
        <p:txBody>
          <a:bodyPr wrap="square" lIns="0" rIns="0" tIns="0" bIns="0" anchor="t">
            <a:spAutoFit/>
          </a:bodyPr>
          <a:lstStyle/>
          <a:p>
            <a:pPr algn="r"/>
            <a:r>
              <a:rPr sz="1000" b="1" i="0">
                <a:solidFill>
                  <a:srgbClr val="FFFFFF"/>
                </a:solidFill>
                <a:latin typeface="Menlo"/>
              </a:rPr>
              <a:t>79,17 kr</a:t>
            </a:r>
          </a:p>
        </p:txBody>
      </p:sp>
      <p:sp>
        <p:nvSpPr>
          <p:cNvPr id="29" name="TextBox 28"/>
          <p:cNvSpPr txBox="1"/>
          <p:nvPr/>
        </p:nvSpPr>
        <p:spPr>
          <a:xfrm>
            <a:off x="9601200" y="4846320"/>
            <a:ext cx="1005840" cy="228600"/>
          </a:xfrm>
          <a:prstGeom prst="rect">
            <a:avLst/>
          </a:prstGeom>
          <a:noFill/>
        </p:spPr>
        <p:txBody>
          <a:bodyPr wrap="square" lIns="0" rIns="0" tIns="0" bIns="0" anchor="t">
            <a:spAutoFit/>
          </a:bodyPr>
          <a:lstStyle/>
          <a:p>
            <a:pPr algn="r"/>
            <a:r>
              <a:rPr sz="1000" b="1" i="0">
                <a:solidFill>
                  <a:srgbClr val="F7D007"/>
                </a:solidFill>
                <a:latin typeface="Menlo"/>
              </a:rPr>
              <a:t>+20,87%</a:t>
            </a:r>
          </a:p>
        </p:txBody>
      </p:sp>
      <p:sp>
        <p:nvSpPr>
          <p:cNvPr id="30" name="TextBox 29"/>
          <p:cNvSpPr txBox="1"/>
          <p:nvPr/>
        </p:nvSpPr>
        <p:spPr>
          <a:xfrm>
            <a:off x="5577840" y="512064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Profit / visitor</a:t>
            </a:r>
          </a:p>
        </p:txBody>
      </p:sp>
      <p:sp>
        <p:nvSpPr>
          <p:cNvPr id="31" name="TextBox 30"/>
          <p:cNvSpPr txBox="1"/>
          <p:nvPr/>
        </p:nvSpPr>
        <p:spPr>
          <a:xfrm>
            <a:off x="7040880" y="5120640"/>
            <a:ext cx="1280160" cy="228600"/>
          </a:xfrm>
          <a:prstGeom prst="rect">
            <a:avLst/>
          </a:prstGeom>
          <a:noFill/>
        </p:spPr>
        <p:txBody>
          <a:bodyPr wrap="square" lIns="0" rIns="0" tIns="0" bIns="0" anchor="t">
            <a:spAutoFit/>
          </a:bodyPr>
          <a:lstStyle/>
          <a:p>
            <a:pPr algn="r"/>
            <a:r>
              <a:rPr sz="1000" b="0" i="0">
                <a:solidFill>
                  <a:srgbClr val="CCCCCC"/>
                </a:solidFill>
                <a:latin typeface="Menlo"/>
              </a:rPr>
              <a:t>34,78 kr</a:t>
            </a:r>
          </a:p>
        </p:txBody>
      </p:sp>
      <p:sp>
        <p:nvSpPr>
          <p:cNvPr id="32" name="TextBox 31"/>
          <p:cNvSpPr txBox="1"/>
          <p:nvPr/>
        </p:nvSpPr>
        <p:spPr>
          <a:xfrm>
            <a:off x="8321040" y="5120640"/>
            <a:ext cx="1280160" cy="228600"/>
          </a:xfrm>
          <a:prstGeom prst="rect">
            <a:avLst/>
          </a:prstGeom>
          <a:noFill/>
        </p:spPr>
        <p:txBody>
          <a:bodyPr wrap="square" lIns="0" rIns="0" tIns="0" bIns="0" anchor="t">
            <a:spAutoFit/>
          </a:bodyPr>
          <a:lstStyle/>
          <a:p>
            <a:pPr algn="r"/>
            <a:r>
              <a:rPr sz="1000" b="1" i="0">
                <a:solidFill>
                  <a:srgbClr val="FFFFFF"/>
                </a:solidFill>
                <a:latin typeface="Menlo"/>
              </a:rPr>
              <a:t>42,35 kr</a:t>
            </a:r>
          </a:p>
        </p:txBody>
      </p:sp>
      <p:sp>
        <p:nvSpPr>
          <p:cNvPr id="33" name="TextBox 32"/>
          <p:cNvSpPr txBox="1"/>
          <p:nvPr/>
        </p:nvSpPr>
        <p:spPr>
          <a:xfrm>
            <a:off x="9601200" y="5120640"/>
            <a:ext cx="1005840" cy="228600"/>
          </a:xfrm>
          <a:prstGeom prst="rect">
            <a:avLst/>
          </a:prstGeom>
          <a:noFill/>
        </p:spPr>
        <p:txBody>
          <a:bodyPr wrap="square" lIns="0" rIns="0" tIns="0" bIns="0" anchor="t">
            <a:spAutoFit/>
          </a:bodyPr>
          <a:lstStyle/>
          <a:p>
            <a:pPr algn="r"/>
            <a:r>
              <a:rPr sz="1000" b="1" i="0">
                <a:solidFill>
                  <a:srgbClr val="F7D007"/>
                </a:solidFill>
                <a:latin typeface="Menlo"/>
              </a:rPr>
              <a:t>+21,78%</a:t>
            </a:r>
          </a:p>
        </p:txBody>
      </p:sp>
      <p:sp>
        <p:nvSpPr>
          <p:cNvPr id="34" name="TextBox 33"/>
          <p:cNvSpPr txBox="1"/>
          <p:nvPr/>
        </p:nvSpPr>
        <p:spPr>
          <a:xfrm>
            <a:off x="5577840" y="539496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Avg order value</a:t>
            </a:r>
          </a:p>
        </p:txBody>
      </p:sp>
      <p:sp>
        <p:nvSpPr>
          <p:cNvPr id="35" name="TextBox 34"/>
          <p:cNvSpPr txBox="1"/>
          <p:nvPr/>
        </p:nvSpPr>
        <p:spPr>
          <a:xfrm>
            <a:off x="7040880" y="5394960"/>
            <a:ext cx="1280160" cy="228600"/>
          </a:xfrm>
          <a:prstGeom prst="rect">
            <a:avLst/>
          </a:prstGeom>
          <a:noFill/>
        </p:spPr>
        <p:txBody>
          <a:bodyPr wrap="square" lIns="0" rIns="0" tIns="0" bIns="0" anchor="t">
            <a:spAutoFit/>
          </a:bodyPr>
          <a:lstStyle/>
          <a:p>
            <a:pPr algn="r"/>
            <a:r>
              <a:rPr sz="1000" b="0" i="0">
                <a:solidFill>
                  <a:srgbClr val="CCCCCC"/>
                </a:solidFill>
                <a:latin typeface="Menlo"/>
              </a:rPr>
              <a:t>401,87 kr</a:t>
            </a:r>
          </a:p>
        </p:txBody>
      </p:sp>
      <p:sp>
        <p:nvSpPr>
          <p:cNvPr id="36" name="TextBox 35"/>
          <p:cNvSpPr txBox="1"/>
          <p:nvPr/>
        </p:nvSpPr>
        <p:spPr>
          <a:xfrm>
            <a:off x="8321040" y="5394960"/>
            <a:ext cx="1280160" cy="228600"/>
          </a:xfrm>
          <a:prstGeom prst="rect">
            <a:avLst/>
          </a:prstGeom>
          <a:noFill/>
        </p:spPr>
        <p:txBody>
          <a:bodyPr wrap="square" lIns="0" rIns="0" tIns="0" bIns="0" anchor="t">
            <a:spAutoFit/>
          </a:bodyPr>
          <a:lstStyle/>
          <a:p>
            <a:pPr algn="r"/>
            <a:r>
              <a:rPr sz="1000" b="1" i="0">
                <a:solidFill>
                  <a:srgbClr val="FFFFFF"/>
                </a:solidFill>
                <a:latin typeface="Menlo"/>
              </a:rPr>
              <a:t>450,94 kr</a:t>
            </a:r>
          </a:p>
        </p:txBody>
      </p:sp>
      <p:sp>
        <p:nvSpPr>
          <p:cNvPr id="37" name="TextBox 36"/>
          <p:cNvSpPr txBox="1"/>
          <p:nvPr/>
        </p:nvSpPr>
        <p:spPr>
          <a:xfrm>
            <a:off x="9601200" y="5394960"/>
            <a:ext cx="1005840" cy="228600"/>
          </a:xfrm>
          <a:prstGeom prst="rect">
            <a:avLst/>
          </a:prstGeom>
          <a:noFill/>
        </p:spPr>
        <p:txBody>
          <a:bodyPr wrap="square" lIns="0" rIns="0" tIns="0" bIns="0" anchor="t">
            <a:spAutoFit/>
          </a:bodyPr>
          <a:lstStyle/>
          <a:p>
            <a:pPr algn="r"/>
            <a:r>
              <a:rPr sz="1000" b="1" i="0">
                <a:solidFill>
                  <a:srgbClr val="F7D007"/>
                </a:solidFill>
                <a:latin typeface="Menlo"/>
              </a:rPr>
              <a:t>+12,21%</a:t>
            </a:r>
          </a:p>
        </p:txBody>
      </p:sp>
      <p:sp>
        <p:nvSpPr>
          <p:cNvPr id="38" name="TextBox 37"/>
          <p:cNvSpPr txBox="1"/>
          <p:nvPr/>
        </p:nvSpPr>
        <p:spPr>
          <a:xfrm>
            <a:off x="5577840" y="5669280"/>
            <a:ext cx="1463040" cy="228600"/>
          </a:xfrm>
          <a:prstGeom prst="rect">
            <a:avLst/>
          </a:prstGeom>
          <a:noFill/>
        </p:spPr>
        <p:txBody>
          <a:bodyPr wrap="square" lIns="0" rIns="0" tIns="0" bIns="0" anchor="t">
            <a:spAutoFit/>
          </a:bodyPr>
          <a:lstStyle/>
          <a:p>
            <a:pPr algn="l"/>
            <a:r>
              <a:rPr sz="1000" b="1" i="0">
                <a:solidFill>
                  <a:srgbClr val="FFFFFF"/>
                </a:solidFill>
                <a:latin typeface="Helvetica Neue"/>
              </a:rPr>
              <a:t>PDP view rate</a:t>
            </a:r>
          </a:p>
        </p:txBody>
      </p:sp>
      <p:sp>
        <p:nvSpPr>
          <p:cNvPr id="39" name="TextBox 38"/>
          <p:cNvSpPr txBox="1"/>
          <p:nvPr/>
        </p:nvSpPr>
        <p:spPr>
          <a:xfrm>
            <a:off x="7040880" y="5669280"/>
            <a:ext cx="1280160" cy="228600"/>
          </a:xfrm>
          <a:prstGeom prst="rect">
            <a:avLst/>
          </a:prstGeom>
          <a:noFill/>
        </p:spPr>
        <p:txBody>
          <a:bodyPr wrap="square" lIns="0" rIns="0" tIns="0" bIns="0" anchor="t">
            <a:spAutoFit/>
          </a:bodyPr>
          <a:lstStyle/>
          <a:p>
            <a:pPr algn="r"/>
            <a:r>
              <a:rPr sz="1000" b="0" i="0">
                <a:solidFill>
                  <a:srgbClr val="CCCCCC"/>
                </a:solidFill>
                <a:latin typeface="Menlo"/>
              </a:rPr>
              <a:t>56,6 %</a:t>
            </a:r>
          </a:p>
        </p:txBody>
      </p:sp>
      <p:sp>
        <p:nvSpPr>
          <p:cNvPr id="40" name="TextBox 39"/>
          <p:cNvSpPr txBox="1"/>
          <p:nvPr/>
        </p:nvSpPr>
        <p:spPr>
          <a:xfrm>
            <a:off x="8321040" y="5669280"/>
            <a:ext cx="1280160" cy="228600"/>
          </a:xfrm>
          <a:prstGeom prst="rect">
            <a:avLst/>
          </a:prstGeom>
          <a:noFill/>
        </p:spPr>
        <p:txBody>
          <a:bodyPr wrap="square" lIns="0" rIns="0" tIns="0" bIns="0" anchor="t">
            <a:spAutoFit/>
          </a:bodyPr>
          <a:lstStyle/>
          <a:p>
            <a:pPr algn="r"/>
            <a:r>
              <a:rPr sz="1000" b="1" i="0">
                <a:solidFill>
                  <a:srgbClr val="FFFFFF"/>
                </a:solidFill>
                <a:latin typeface="Menlo"/>
              </a:rPr>
              <a:t>61,8 %</a:t>
            </a:r>
          </a:p>
        </p:txBody>
      </p:sp>
      <p:sp>
        <p:nvSpPr>
          <p:cNvPr id="41" name="TextBox 40"/>
          <p:cNvSpPr txBox="1"/>
          <p:nvPr/>
        </p:nvSpPr>
        <p:spPr>
          <a:xfrm>
            <a:off x="9601200" y="5669280"/>
            <a:ext cx="1005840" cy="228600"/>
          </a:xfrm>
          <a:prstGeom prst="rect">
            <a:avLst/>
          </a:prstGeom>
          <a:noFill/>
        </p:spPr>
        <p:txBody>
          <a:bodyPr wrap="square" lIns="0" rIns="0" tIns="0" bIns="0" anchor="t">
            <a:spAutoFit/>
          </a:bodyPr>
          <a:lstStyle/>
          <a:p>
            <a:pPr algn="r"/>
            <a:r>
              <a:rPr sz="1000" b="1" i="0">
                <a:solidFill>
                  <a:srgbClr val="F7D007"/>
                </a:solidFill>
                <a:latin typeface="Menlo"/>
              </a:rPr>
              <a:t>+9,21%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60</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COMFORTH DK</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Comforth · Product tags on the PDP</a:t>
            </a:r>
          </a:p>
        </p:txBody>
      </p:sp>
      <p:pic>
        <p:nvPicPr>
          <p:cNvPr id="9" name="Picture 8" descr="case-cfs-tags-control.png"/>
          <p:cNvPicPr>
            <a:picLocks noChangeAspect="1"/>
          </p:cNvPicPr>
          <p:nvPr/>
        </p:nvPicPr>
        <p:blipFill>
          <a:blip r:embed="rId3"/>
          <a:stretch>
            <a:fillRect/>
          </a:stretch>
        </p:blipFill>
        <p:spPr>
          <a:xfrm>
            <a:off x="977071" y="2331720"/>
            <a:ext cx="1474857" cy="3200400"/>
          </a:xfrm>
          <a:prstGeom prst="rect">
            <a:avLst/>
          </a:prstGeom>
        </p:spPr>
      </p:pic>
      <p:sp>
        <p:nvSpPr>
          <p:cNvPr id="10" name="Rounded Rectangle 9"/>
          <p:cNvSpPr/>
          <p:nvPr/>
        </p:nvSpPr>
        <p:spPr>
          <a:xfrm>
            <a:off x="940495" y="2295144"/>
            <a:ext cx="1548009"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cfs-tags-variant.png"/>
          <p:cNvPicPr>
            <a:picLocks noChangeAspect="1"/>
          </p:cNvPicPr>
          <p:nvPr/>
        </p:nvPicPr>
        <p:blipFill>
          <a:blip r:embed="rId4"/>
          <a:stretch>
            <a:fillRect/>
          </a:stretch>
        </p:blipFill>
        <p:spPr>
          <a:xfrm>
            <a:off x="3655666" y="2331720"/>
            <a:ext cx="1512627" cy="3200400"/>
          </a:xfrm>
          <a:prstGeom prst="rect">
            <a:avLst/>
          </a:prstGeom>
        </p:spPr>
      </p:pic>
      <p:sp>
        <p:nvSpPr>
          <p:cNvPr id="12" name="Rounded Rectangle 11"/>
          <p:cNvSpPr/>
          <p:nvPr/>
        </p:nvSpPr>
        <p:spPr>
          <a:xfrm>
            <a:off x="3619090" y="2295144"/>
            <a:ext cx="1585779"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+10,83%</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+183.515 kr / month projected</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27,37 kr</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30,34 kr</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+10,83%</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dittvin DV-03 does the same with taste and box detail above the fold.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61</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COMFORTH DK</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Comforth · Cart drawer redesign</a:t>
            </a:r>
          </a:p>
        </p:txBody>
      </p:sp>
      <p:pic>
        <p:nvPicPr>
          <p:cNvPr id="9" name="Picture 8" descr="case-cfs-cart-control.png"/>
          <p:cNvPicPr>
            <a:picLocks noChangeAspect="1"/>
          </p:cNvPicPr>
          <p:nvPr/>
        </p:nvPicPr>
        <p:blipFill>
          <a:blip r:embed="rId3"/>
          <a:stretch>
            <a:fillRect/>
          </a:stretch>
        </p:blipFill>
        <p:spPr>
          <a:xfrm>
            <a:off x="888361" y="2331720"/>
            <a:ext cx="1652277" cy="3200399"/>
          </a:xfrm>
          <a:prstGeom prst="rect">
            <a:avLst/>
          </a:prstGeom>
        </p:spPr>
      </p:pic>
      <p:sp>
        <p:nvSpPr>
          <p:cNvPr id="10" name="Rounded Rectangle 9"/>
          <p:cNvSpPr/>
          <p:nvPr/>
        </p:nvSpPr>
        <p:spPr>
          <a:xfrm>
            <a:off x="851785" y="2295144"/>
            <a:ext cx="1725429" cy="3273551"/>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cfs-cart-variant.png"/>
          <p:cNvPicPr>
            <a:picLocks noChangeAspect="1"/>
          </p:cNvPicPr>
          <p:nvPr/>
        </p:nvPicPr>
        <p:blipFill>
          <a:blip r:embed="rId4"/>
          <a:stretch>
            <a:fillRect/>
          </a:stretch>
        </p:blipFill>
        <p:spPr>
          <a:xfrm>
            <a:off x="3629148" y="2331720"/>
            <a:ext cx="1565663" cy="3200400"/>
          </a:xfrm>
          <a:prstGeom prst="rect">
            <a:avLst/>
          </a:prstGeom>
        </p:spPr>
      </p:pic>
      <p:sp>
        <p:nvSpPr>
          <p:cNvPr id="12" name="Rounded Rectangle 11"/>
          <p:cNvSpPr/>
          <p:nvPr/>
        </p:nvSpPr>
        <p:spPr>
          <a:xfrm>
            <a:off x="3592572" y="2295144"/>
            <a:ext cx="1638815" cy="3273552"/>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REVENUE PER VISITOR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+15,52%</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+171.285 kr / month projected</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Revenue / visitor</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20,14 kr</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23,26 kr</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+15,52%</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dittvin DV-02 targets the same cart to checkout leak.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62</a:t>
            </a:r>
          </a:p>
        </p:txBody>
      </p:sp>
      <p:sp>
        <p:nvSpPr>
          <p:cNvPr id="7" name="TextBox 6"/>
          <p:cNvSpPr txBox="1"/>
          <p:nvPr/>
        </p:nvSpPr>
        <p:spPr>
          <a:xfrm>
            <a:off x="640080" y="566928"/>
            <a:ext cx="10911535" cy="228600"/>
          </a:xfrm>
          <a:prstGeom prst="rect">
            <a:avLst/>
          </a:prstGeom>
          <a:noFill/>
        </p:spPr>
        <p:txBody>
          <a:bodyPr wrap="square" lIns="0" rIns="0" tIns="0" bIns="0" anchor="t">
            <a:spAutoFit/>
          </a:bodyPr>
          <a:lstStyle/>
          <a:p>
            <a:pPr algn="ctr"/>
            <a:r>
              <a:rPr sz="1000" b="1" i="0" spc="300">
                <a:solidFill>
                  <a:srgbClr val="F7D007"/>
                </a:solidFill>
                <a:latin typeface="Helvetica Neue"/>
              </a:rPr>
              <a:t>CASE STUDY · IWAO</a:t>
            </a:r>
          </a:p>
        </p:txBody>
      </p:sp>
      <p:sp>
        <p:nvSpPr>
          <p:cNvPr id="8" name="TextBox 7"/>
          <p:cNvSpPr txBox="1"/>
          <p:nvPr/>
        </p:nvSpPr>
        <p:spPr>
          <a:xfrm>
            <a:off x="640080" y="841248"/>
            <a:ext cx="10911535" cy="640080"/>
          </a:xfrm>
          <a:prstGeom prst="rect">
            <a:avLst/>
          </a:prstGeom>
          <a:noFill/>
        </p:spPr>
        <p:txBody>
          <a:bodyPr wrap="square" lIns="0" rIns="0" tIns="0" bIns="0" anchor="t">
            <a:spAutoFit/>
          </a:bodyPr>
          <a:lstStyle/>
          <a:p>
            <a:pPr algn="ctr"/>
            <a:r>
              <a:rPr sz="3000" b="1" i="0" spc="-50">
                <a:solidFill>
                  <a:srgbClr val="FFFFFF"/>
                </a:solidFill>
                <a:latin typeface="Helvetica Neue"/>
              </a:rPr>
              <a:t>IWAO · Trust section on a high AOV PDP</a:t>
            </a:r>
          </a:p>
        </p:txBody>
      </p:sp>
      <p:pic>
        <p:nvPicPr>
          <p:cNvPr id="9" name="Picture 8" descr="case-iwao-trust-control.png"/>
          <p:cNvPicPr>
            <a:picLocks noChangeAspect="1"/>
          </p:cNvPicPr>
          <p:nvPr/>
        </p:nvPicPr>
        <p:blipFill>
          <a:blip r:embed="rId3"/>
          <a:stretch>
            <a:fillRect/>
          </a:stretch>
        </p:blipFill>
        <p:spPr>
          <a:xfrm>
            <a:off x="457200" y="3328180"/>
            <a:ext cx="2514600" cy="1207479"/>
          </a:xfrm>
          <a:prstGeom prst="rect">
            <a:avLst/>
          </a:prstGeom>
        </p:spPr>
      </p:pic>
      <p:sp>
        <p:nvSpPr>
          <p:cNvPr id="10" name="Rounded Rectangle 9"/>
          <p:cNvSpPr/>
          <p:nvPr/>
        </p:nvSpPr>
        <p:spPr>
          <a:xfrm>
            <a:off x="420624" y="3291604"/>
            <a:ext cx="2587752" cy="1280631"/>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ase-iwao-trust-variant.png"/>
          <p:cNvPicPr>
            <a:picLocks noChangeAspect="1"/>
          </p:cNvPicPr>
          <p:nvPr/>
        </p:nvPicPr>
        <p:blipFill>
          <a:blip r:embed="rId4"/>
          <a:stretch>
            <a:fillRect/>
          </a:stretch>
        </p:blipFill>
        <p:spPr>
          <a:xfrm>
            <a:off x="3154680" y="3376568"/>
            <a:ext cx="2514600" cy="1110703"/>
          </a:xfrm>
          <a:prstGeom prst="rect">
            <a:avLst/>
          </a:prstGeom>
        </p:spPr>
      </p:pic>
      <p:sp>
        <p:nvSpPr>
          <p:cNvPr id="12" name="Rounded Rectangle 11"/>
          <p:cNvSpPr/>
          <p:nvPr/>
        </p:nvSpPr>
        <p:spPr>
          <a:xfrm>
            <a:off x="3118104" y="3339992"/>
            <a:ext cx="2587752" cy="1183855"/>
          </a:xfrm>
          <a:prstGeom prst="roundRect">
            <a:avLst>
              <a:gd name="adj" fmla="val 4000"/>
            </a:avLst>
          </a:prstGeom>
          <a:noFill/>
          <a:ln w="15875">
            <a:solidFill>
              <a:srgbClr val="303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623560"/>
            <a:ext cx="2514600" cy="274320"/>
          </a:xfrm>
          <a:prstGeom prst="rect">
            <a:avLst/>
          </a:prstGeom>
          <a:noFill/>
        </p:spPr>
        <p:txBody>
          <a:bodyPr wrap="square" lIns="0" rIns="0" tIns="0" bIns="0" anchor="t">
            <a:spAutoFit/>
          </a:bodyPr>
          <a:lstStyle/>
          <a:p>
            <a:pPr algn="ctr"/>
            <a:r>
              <a:rPr sz="1000" b="1" i="0" spc="200">
                <a:solidFill>
                  <a:srgbClr val="6B7C75"/>
                </a:solidFill>
                <a:latin typeface="Helvetica Neue"/>
              </a:rPr>
              <a:t>CONTROL</a:t>
            </a:r>
          </a:p>
        </p:txBody>
      </p:sp>
      <p:sp>
        <p:nvSpPr>
          <p:cNvPr id="14" name="TextBox 13"/>
          <p:cNvSpPr txBox="1"/>
          <p:nvPr/>
        </p:nvSpPr>
        <p:spPr>
          <a:xfrm>
            <a:off x="3154680" y="5623560"/>
            <a:ext cx="2514600" cy="274320"/>
          </a:xfrm>
          <a:prstGeom prst="rect">
            <a:avLst/>
          </a:prstGeom>
          <a:noFill/>
        </p:spPr>
        <p:txBody>
          <a:bodyPr wrap="square" lIns="0" rIns="0" tIns="0" bIns="0" anchor="t">
            <a:spAutoFit/>
          </a:bodyPr>
          <a:lstStyle/>
          <a:p>
            <a:pPr algn="ctr"/>
            <a:r>
              <a:rPr sz="1000" b="1" i="0" spc="200">
                <a:solidFill>
                  <a:srgbClr val="22C55E"/>
                </a:solidFill>
                <a:latin typeface="Helvetica Neue"/>
              </a:rPr>
              <a:t>VARIANT · WINNER</a:t>
            </a:r>
          </a:p>
        </p:txBody>
      </p:sp>
      <p:sp>
        <p:nvSpPr>
          <p:cNvPr id="15" name="Rounded Rectangle 14"/>
          <p:cNvSpPr/>
          <p:nvPr/>
        </p:nvSpPr>
        <p:spPr>
          <a:xfrm>
            <a:off x="5943600" y="2331720"/>
            <a:ext cx="5790895" cy="3611880"/>
          </a:xfrm>
          <a:prstGeom prst="roundRect">
            <a:avLst>
              <a:gd name="adj" fmla="val 3000"/>
            </a:avLst>
          </a:prstGeom>
          <a:solidFill>
            <a:srgbClr val="101010"/>
          </a:solidFill>
          <a:ln w="1524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606040"/>
            <a:ext cx="5059375" cy="228600"/>
          </a:xfrm>
          <a:prstGeom prst="rect">
            <a:avLst/>
          </a:prstGeom>
          <a:noFill/>
        </p:spPr>
        <p:txBody>
          <a:bodyPr wrap="square" lIns="0" rIns="0" tIns="0" bIns="0" anchor="t">
            <a:spAutoFit/>
          </a:bodyPr>
          <a:lstStyle/>
          <a:p>
            <a:pPr algn="l"/>
            <a:r>
              <a:rPr sz="1000" b="1" i="0" spc="200">
                <a:solidFill>
                  <a:srgbClr val="F7D007"/>
                </a:solidFill>
                <a:latin typeface="Menlo"/>
              </a:rPr>
              <a:t>ADD TO CART RATE (PRIMARY)</a:t>
            </a:r>
          </a:p>
        </p:txBody>
      </p:sp>
      <p:sp>
        <p:nvSpPr>
          <p:cNvPr id="17" name="TextBox 16"/>
          <p:cNvSpPr txBox="1"/>
          <p:nvPr/>
        </p:nvSpPr>
        <p:spPr>
          <a:xfrm>
            <a:off x="6309360" y="2834640"/>
            <a:ext cx="5059375" cy="822960"/>
          </a:xfrm>
          <a:prstGeom prst="rect">
            <a:avLst/>
          </a:prstGeom>
          <a:noFill/>
        </p:spPr>
        <p:txBody>
          <a:bodyPr wrap="square" lIns="0" rIns="0" tIns="0" bIns="0" anchor="t">
            <a:spAutoFit/>
          </a:bodyPr>
          <a:lstStyle/>
          <a:p>
            <a:pPr algn="l"/>
            <a:r>
              <a:rPr sz="5000" b="1" i="0">
                <a:solidFill>
                  <a:srgbClr val="F7D007"/>
                </a:solidFill>
                <a:latin typeface="Menlo"/>
              </a:rPr>
              <a:t>+38,03%</a:t>
            </a:r>
          </a:p>
        </p:txBody>
      </p:sp>
      <p:sp>
        <p:nvSpPr>
          <p:cNvPr id="18" name="TextBox 17"/>
          <p:cNvSpPr txBox="1"/>
          <p:nvPr/>
        </p:nvSpPr>
        <p:spPr>
          <a:xfrm>
            <a:off x="6309360" y="3749040"/>
            <a:ext cx="5059375" cy="320040"/>
          </a:xfrm>
          <a:prstGeom prst="rect">
            <a:avLst/>
          </a:prstGeom>
          <a:noFill/>
        </p:spPr>
        <p:txBody>
          <a:bodyPr wrap="square" lIns="0" rIns="0" tIns="0" bIns="0" anchor="t">
            <a:spAutoFit/>
          </a:bodyPr>
          <a:lstStyle/>
          <a:p>
            <a:pPr algn="l"/>
            <a:r>
              <a:rPr sz="1400" b="1" i="0">
                <a:solidFill>
                  <a:srgbClr val="FFFFFF"/>
                </a:solidFill>
                <a:latin typeface="Menlo"/>
              </a:rPr>
              <a:t>+27.931 kr / month projected</a:t>
            </a:r>
          </a:p>
        </p:txBody>
      </p:sp>
      <p:sp>
        <p:nvSpPr>
          <p:cNvPr id="19" name="Rectangle 18"/>
          <p:cNvSpPr/>
          <p:nvPr/>
        </p:nvSpPr>
        <p:spPr>
          <a:xfrm>
            <a:off x="6309360" y="4206239"/>
            <a:ext cx="5059375" cy="10972"/>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361688"/>
            <a:ext cx="1554480" cy="228600"/>
          </a:xfrm>
          <a:prstGeom prst="rect">
            <a:avLst/>
          </a:prstGeom>
          <a:noFill/>
        </p:spPr>
        <p:txBody>
          <a:bodyPr wrap="square" lIns="0" rIns="0" tIns="0" bIns="0" anchor="t">
            <a:spAutoFit/>
          </a:bodyPr>
          <a:lstStyle/>
          <a:p>
            <a:pPr algn="l"/>
            <a:r>
              <a:rPr sz="900" b="1" i="0" spc="150">
                <a:solidFill>
                  <a:srgbClr val="999999"/>
                </a:solidFill>
                <a:latin typeface="Helvetica Neue"/>
              </a:rPr>
              <a:t>METRIC</a:t>
            </a:r>
          </a:p>
        </p:txBody>
      </p:sp>
      <p:sp>
        <p:nvSpPr>
          <p:cNvPr id="21" name="TextBox 20"/>
          <p:cNvSpPr txBox="1"/>
          <p:nvPr/>
        </p:nvSpPr>
        <p:spPr>
          <a:xfrm>
            <a:off x="7955280" y="4361688"/>
            <a:ext cx="1280160" cy="228600"/>
          </a:xfrm>
          <a:prstGeom prst="rect">
            <a:avLst/>
          </a:prstGeom>
          <a:noFill/>
        </p:spPr>
        <p:txBody>
          <a:bodyPr wrap="square" lIns="0" rIns="0" tIns="0" bIns="0" anchor="t">
            <a:spAutoFit/>
          </a:bodyPr>
          <a:lstStyle/>
          <a:p>
            <a:pPr algn="r"/>
            <a:r>
              <a:rPr sz="900" b="1" i="0" spc="150">
                <a:solidFill>
                  <a:srgbClr val="999999"/>
                </a:solidFill>
                <a:latin typeface="Helvetica Neue"/>
              </a:rPr>
              <a:t>CONTROL</a:t>
            </a:r>
          </a:p>
        </p:txBody>
      </p:sp>
      <p:sp>
        <p:nvSpPr>
          <p:cNvPr id="22" name="TextBox 21"/>
          <p:cNvSpPr txBox="1"/>
          <p:nvPr/>
        </p:nvSpPr>
        <p:spPr>
          <a:xfrm>
            <a:off x="9326880" y="4361688"/>
            <a:ext cx="1280160" cy="228600"/>
          </a:xfrm>
          <a:prstGeom prst="rect">
            <a:avLst/>
          </a:prstGeom>
          <a:noFill/>
        </p:spPr>
        <p:txBody>
          <a:bodyPr wrap="square" lIns="0" rIns="0" tIns="0" bIns="0" anchor="t">
            <a:spAutoFit/>
          </a:bodyPr>
          <a:lstStyle/>
          <a:p>
            <a:pPr algn="r"/>
            <a:r>
              <a:rPr sz="900" b="1" i="0" spc="150">
                <a:solidFill>
                  <a:srgbClr val="F7D007"/>
                </a:solidFill>
                <a:latin typeface="Helvetica Neue"/>
              </a:rPr>
              <a:t>VARIANT</a:t>
            </a:r>
          </a:p>
        </p:txBody>
      </p:sp>
      <p:sp>
        <p:nvSpPr>
          <p:cNvPr id="23" name="TextBox 22"/>
          <p:cNvSpPr txBox="1"/>
          <p:nvPr/>
        </p:nvSpPr>
        <p:spPr>
          <a:xfrm>
            <a:off x="10607040" y="4361688"/>
            <a:ext cx="1005840" cy="228600"/>
          </a:xfrm>
          <a:prstGeom prst="rect">
            <a:avLst/>
          </a:prstGeom>
          <a:noFill/>
        </p:spPr>
        <p:txBody>
          <a:bodyPr wrap="square" lIns="0" rIns="0" tIns="0" bIns="0" anchor="t">
            <a:spAutoFit/>
          </a:bodyPr>
          <a:lstStyle/>
          <a:p>
            <a:pPr algn="r"/>
            <a:r>
              <a:rPr sz="900" b="1" i="0" spc="150">
                <a:solidFill>
                  <a:srgbClr val="999999"/>
                </a:solidFill>
                <a:latin typeface="Helvetica Neue"/>
              </a:rPr>
              <a:t>Δ</a:t>
            </a:r>
          </a:p>
        </p:txBody>
      </p:sp>
      <p:sp>
        <p:nvSpPr>
          <p:cNvPr id="24" name="TextBox 23"/>
          <p:cNvSpPr txBox="1"/>
          <p:nvPr/>
        </p:nvSpPr>
        <p:spPr>
          <a:xfrm>
            <a:off x="6309360" y="469087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Add to cart rate</a:t>
            </a:r>
          </a:p>
        </p:txBody>
      </p:sp>
      <p:sp>
        <p:nvSpPr>
          <p:cNvPr id="25" name="TextBox 24"/>
          <p:cNvSpPr txBox="1"/>
          <p:nvPr/>
        </p:nvSpPr>
        <p:spPr>
          <a:xfrm>
            <a:off x="7955280" y="4690872"/>
            <a:ext cx="1280160" cy="228600"/>
          </a:xfrm>
          <a:prstGeom prst="rect">
            <a:avLst/>
          </a:prstGeom>
          <a:noFill/>
        </p:spPr>
        <p:txBody>
          <a:bodyPr wrap="square" lIns="0" rIns="0" tIns="0" bIns="0" anchor="t">
            <a:spAutoFit/>
          </a:bodyPr>
          <a:lstStyle/>
          <a:p>
            <a:pPr algn="r"/>
            <a:r>
              <a:rPr sz="1000" b="0" i="0">
                <a:solidFill>
                  <a:srgbClr val="CCCCCC"/>
                </a:solidFill>
                <a:latin typeface="Menlo"/>
              </a:rPr>
              <a:t>11,36 %</a:t>
            </a:r>
          </a:p>
        </p:txBody>
      </p:sp>
      <p:sp>
        <p:nvSpPr>
          <p:cNvPr id="26" name="TextBox 25"/>
          <p:cNvSpPr txBox="1"/>
          <p:nvPr/>
        </p:nvSpPr>
        <p:spPr>
          <a:xfrm>
            <a:off x="9326880" y="4690872"/>
            <a:ext cx="1280160" cy="228600"/>
          </a:xfrm>
          <a:prstGeom prst="rect">
            <a:avLst/>
          </a:prstGeom>
          <a:noFill/>
        </p:spPr>
        <p:txBody>
          <a:bodyPr wrap="square" lIns="0" rIns="0" tIns="0" bIns="0" anchor="t">
            <a:spAutoFit/>
          </a:bodyPr>
          <a:lstStyle/>
          <a:p>
            <a:pPr algn="r"/>
            <a:r>
              <a:rPr sz="1000" b="1" i="0">
                <a:solidFill>
                  <a:srgbClr val="FFFFFF"/>
                </a:solidFill>
                <a:latin typeface="Menlo"/>
              </a:rPr>
              <a:t>15,68 %</a:t>
            </a:r>
          </a:p>
        </p:txBody>
      </p:sp>
      <p:sp>
        <p:nvSpPr>
          <p:cNvPr id="27" name="TextBox 26"/>
          <p:cNvSpPr txBox="1"/>
          <p:nvPr/>
        </p:nvSpPr>
        <p:spPr>
          <a:xfrm>
            <a:off x="10607040" y="4690872"/>
            <a:ext cx="1005840" cy="228600"/>
          </a:xfrm>
          <a:prstGeom prst="rect">
            <a:avLst/>
          </a:prstGeom>
          <a:noFill/>
        </p:spPr>
        <p:txBody>
          <a:bodyPr wrap="square" lIns="0" rIns="0" tIns="0" bIns="0" anchor="t">
            <a:spAutoFit/>
          </a:bodyPr>
          <a:lstStyle/>
          <a:p>
            <a:pPr algn="r"/>
            <a:r>
              <a:rPr sz="1000" b="1" i="0">
                <a:solidFill>
                  <a:srgbClr val="F7D007"/>
                </a:solidFill>
                <a:latin typeface="Menlo"/>
              </a:rPr>
              <a:t>+38,03%</a:t>
            </a:r>
          </a:p>
        </p:txBody>
      </p:sp>
      <p:sp>
        <p:nvSpPr>
          <p:cNvPr id="28" name="TextBox 27"/>
          <p:cNvSpPr txBox="1"/>
          <p:nvPr/>
        </p:nvSpPr>
        <p:spPr>
          <a:xfrm>
            <a:off x="6309360" y="5056632"/>
            <a:ext cx="1645920" cy="228600"/>
          </a:xfrm>
          <a:prstGeom prst="rect">
            <a:avLst/>
          </a:prstGeom>
          <a:noFill/>
        </p:spPr>
        <p:txBody>
          <a:bodyPr wrap="square" lIns="0" rIns="0" tIns="0" bIns="0" anchor="t">
            <a:spAutoFit/>
          </a:bodyPr>
          <a:lstStyle/>
          <a:p>
            <a:pPr algn="l"/>
            <a:r>
              <a:rPr sz="1000" b="1" i="0">
                <a:solidFill>
                  <a:srgbClr val="FFFFFF"/>
                </a:solidFill>
                <a:latin typeface="Helvetica Neue"/>
              </a:rPr>
              <a:t>Verdict</a:t>
            </a:r>
          </a:p>
        </p:txBody>
      </p:sp>
      <p:sp>
        <p:nvSpPr>
          <p:cNvPr id="29" name="TextBox 28"/>
          <p:cNvSpPr txBox="1"/>
          <p:nvPr/>
        </p:nvSpPr>
        <p:spPr>
          <a:xfrm>
            <a:off x="9326880" y="5056632"/>
            <a:ext cx="1280160" cy="228600"/>
          </a:xfrm>
          <a:prstGeom prst="rect">
            <a:avLst/>
          </a:prstGeom>
          <a:noFill/>
        </p:spPr>
        <p:txBody>
          <a:bodyPr wrap="square" lIns="0" rIns="0" tIns="0" bIns="0" anchor="t">
            <a:spAutoFit/>
          </a:bodyPr>
          <a:lstStyle/>
          <a:p>
            <a:pPr algn="r"/>
            <a:r>
              <a:rPr sz="1000" b="1" i="0">
                <a:solidFill>
                  <a:srgbClr val="22C55E"/>
                </a:solidFill>
                <a:latin typeface="Menlo"/>
              </a:rPr>
              <a:t>Winner</a:t>
            </a:r>
          </a:p>
        </p:txBody>
      </p:sp>
      <p:sp>
        <p:nvSpPr>
          <p:cNvPr id="30" name="TextBox 29"/>
          <p:cNvSpPr txBox="1"/>
          <p:nvPr/>
        </p:nvSpPr>
        <p:spPr>
          <a:xfrm>
            <a:off x="457200" y="6382512"/>
            <a:ext cx="11277295" cy="365760"/>
          </a:xfrm>
          <a:prstGeom prst="rect">
            <a:avLst/>
          </a:prstGeom>
          <a:noFill/>
        </p:spPr>
        <p:txBody>
          <a:bodyPr wrap="square" lIns="0" rIns="0" tIns="0" bIns="0" anchor="t">
            <a:spAutoFit/>
          </a:bodyPr>
          <a:lstStyle/>
          <a:p>
            <a:pPr algn="ctr"/>
            <a:r>
              <a:rPr sz="1200" b="0" i="0">
                <a:solidFill>
                  <a:srgbClr val="CCCCCC"/>
                </a:solidFill>
                <a:latin typeface="Helvetica Neue"/>
              </a:rPr>
              <a:t>IWAO sells DKK 8K to 125K. dittvin DV-01 legality and trust block is the same move for the monopoly market.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63</a:t>
            </a:r>
          </a:p>
        </p:txBody>
      </p:sp>
      <p:sp>
        <p:nvSpPr>
          <p:cNvPr id="7" name="TextBox 6"/>
          <p:cNvSpPr txBox="1"/>
          <p:nvPr/>
        </p:nvSpPr>
        <p:spPr>
          <a:xfrm>
            <a:off x="640080" y="594360"/>
            <a:ext cx="10908792" cy="228600"/>
          </a:xfrm>
          <a:prstGeom prst="rect">
            <a:avLst/>
          </a:prstGeom>
          <a:noFill/>
        </p:spPr>
        <p:txBody>
          <a:bodyPr wrap="square" lIns="0" rIns="0" tIns="0" bIns="0" anchor="t">
            <a:spAutoFit/>
          </a:bodyPr>
          <a:lstStyle/>
          <a:p>
            <a:pPr algn="ctr"/>
            <a:r>
              <a:rPr sz="900" b="1" i="0" spc="300">
                <a:solidFill>
                  <a:srgbClr val="F7D007"/>
                </a:solidFill>
                <a:latin typeface="Helvetica Neue"/>
              </a:rPr>
              <a:t>COMPENSATION</a:t>
            </a:r>
          </a:p>
        </p:txBody>
      </p:sp>
      <p:sp>
        <p:nvSpPr>
          <p:cNvPr id="8" name="TextBox 7"/>
          <p:cNvSpPr txBox="1"/>
          <p:nvPr/>
        </p:nvSpPr>
        <p:spPr>
          <a:xfrm>
            <a:off x="640080" y="868680"/>
            <a:ext cx="10908792" cy="548640"/>
          </a:xfrm>
          <a:prstGeom prst="rect">
            <a:avLst/>
          </a:prstGeom>
          <a:noFill/>
        </p:spPr>
        <p:txBody>
          <a:bodyPr wrap="square" lIns="0" rIns="0" tIns="0" bIns="0" anchor="t">
            <a:spAutoFit/>
          </a:bodyPr>
          <a:lstStyle/>
          <a:p>
            <a:pPr algn="ctr"/>
            <a:r>
              <a:rPr sz="2800" b="1" i="0" spc="-50">
                <a:solidFill>
                  <a:srgbClr val="FFFFFF"/>
                </a:solidFill>
                <a:latin typeface="Helvetica Neue"/>
              </a:rPr>
              <a:t>We win when you win</a:t>
            </a:r>
          </a:p>
        </p:txBody>
      </p:sp>
      <p:sp>
        <p:nvSpPr>
          <p:cNvPr id="9" name="TextBox 8"/>
          <p:cNvSpPr txBox="1"/>
          <p:nvPr/>
        </p:nvSpPr>
        <p:spPr>
          <a:xfrm>
            <a:off x="2011680" y="1371600"/>
            <a:ext cx="8165592" cy="457200"/>
          </a:xfrm>
          <a:prstGeom prst="rect">
            <a:avLst/>
          </a:prstGeom>
          <a:noFill/>
        </p:spPr>
        <p:txBody>
          <a:bodyPr wrap="square" lIns="0" rIns="0" tIns="0" bIns="0" anchor="t">
            <a:spAutoFit/>
          </a:bodyPr>
          <a:lstStyle/>
          <a:p>
            <a:pPr algn="ctr"/>
            <a:r>
              <a:rPr sz="1100" b="0" i="0">
                <a:solidFill>
                  <a:srgbClr val="999999"/>
                </a:solidFill>
                <a:latin typeface="Helvetica Neue"/>
              </a:rPr>
              <a:t>Performance-based fee on every winning test rolled out to 100 % of traffic. One-time charge per test. No attribution window. No recurring tail.</a:t>
            </a:r>
          </a:p>
        </p:txBody>
      </p:sp>
      <p:sp>
        <p:nvSpPr>
          <p:cNvPr id="10" name="Rounded Rectangle 9"/>
          <p:cNvSpPr/>
          <p:nvPr/>
        </p:nvSpPr>
        <p:spPr>
          <a:xfrm>
            <a:off x="929487" y="2331720"/>
            <a:ext cx="5029200" cy="3200400"/>
          </a:xfrm>
          <a:prstGeom prst="roundRect">
            <a:avLst>
              <a:gd name="adj" fmla="val 4000"/>
            </a:avLst>
          </a:prstGeom>
          <a:solidFill>
            <a:srgbClr val="141002"/>
          </a:solidFill>
          <a:ln w="19050">
            <a:solidFill>
              <a:srgbClr val="F7D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4952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PERFORMANCE FEE</a:t>
            </a:r>
          </a:p>
        </p:txBody>
      </p:sp>
      <p:sp>
        <p:nvSpPr>
          <p:cNvPr id="12" name="TextBox 11"/>
          <p:cNvSpPr txBox="1"/>
          <p:nvPr/>
        </p:nvSpPr>
        <p:spPr>
          <a:xfrm>
            <a:off x="124952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 of estimated monthly revenue uplift</a:t>
            </a:r>
          </a:p>
        </p:txBody>
      </p:sp>
      <p:sp>
        <p:nvSpPr>
          <p:cNvPr id="13" name="TextBox 12"/>
          <p:cNvSpPr txBox="1"/>
          <p:nvPr/>
        </p:nvSpPr>
        <p:spPr>
          <a:xfrm>
            <a:off x="124952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Y %</a:t>
            </a:r>
          </a:p>
        </p:txBody>
      </p:sp>
      <p:sp>
        <p:nvSpPr>
          <p:cNvPr id="14" name="TextBox 13"/>
          <p:cNvSpPr txBox="1"/>
          <p:nvPr/>
        </p:nvSpPr>
        <p:spPr>
          <a:xfrm>
            <a:off x="124952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Charged once per winning test on rollout. Calculated from the test's measured uplift and the client's own data, with the agreed stage multiplier applied.</a:t>
            </a:r>
          </a:p>
        </p:txBody>
      </p:sp>
      <p:sp>
        <p:nvSpPr>
          <p:cNvPr id="15" name="TextBox 14"/>
          <p:cNvSpPr txBox="1"/>
          <p:nvPr/>
        </p:nvSpPr>
        <p:spPr>
          <a:xfrm>
            <a:off x="124952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6" name="TextBox 15"/>
          <p:cNvSpPr txBox="1"/>
          <p:nvPr/>
        </p:nvSpPr>
        <p:spPr>
          <a:xfrm>
            <a:off x="143240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One time fee per winning test</a:t>
            </a:r>
          </a:p>
        </p:txBody>
      </p:sp>
      <p:sp>
        <p:nvSpPr>
          <p:cNvPr id="17" name="TextBox 16"/>
          <p:cNvSpPr txBox="1"/>
          <p:nvPr/>
        </p:nvSpPr>
        <p:spPr>
          <a:xfrm>
            <a:off x="124952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18" name="TextBox 17"/>
          <p:cNvSpPr txBox="1"/>
          <p:nvPr/>
        </p:nvSpPr>
        <p:spPr>
          <a:xfrm>
            <a:off x="143240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No recurring tail, no attribution window</a:t>
            </a:r>
          </a:p>
        </p:txBody>
      </p:sp>
      <p:sp>
        <p:nvSpPr>
          <p:cNvPr id="19" name="TextBox 18"/>
          <p:cNvSpPr txBox="1"/>
          <p:nvPr/>
        </p:nvSpPr>
        <p:spPr>
          <a:xfrm>
            <a:off x="124952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0" name="TextBox 19"/>
          <p:cNvSpPr txBox="1"/>
          <p:nvPr/>
        </p:nvSpPr>
        <p:spPr>
          <a:xfrm>
            <a:off x="143240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Loser and inconclusive tests are free</a:t>
            </a:r>
          </a:p>
        </p:txBody>
      </p:sp>
      <p:sp>
        <p:nvSpPr>
          <p:cNvPr id="21" name="Rounded Rectangle 20"/>
          <p:cNvSpPr/>
          <p:nvPr/>
        </p:nvSpPr>
        <p:spPr>
          <a:xfrm>
            <a:off x="6233007" y="2331720"/>
            <a:ext cx="5029200" cy="3200400"/>
          </a:xfrm>
          <a:prstGeom prst="roundRect">
            <a:avLst>
              <a:gd name="adj" fmla="val 4000"/>
            </a:avLst>
          </a:prstGeom>
          <a:solidFill>
            <a:srgbClr val="101010"/>
          </a:solidFill>
          <a:ln w="9525">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2606040"/>
            <a:ext cx="4389120" cy="274320"/>
          </a:xfrm>
          <a:prstGeom prst="rect">
            <a:avLst/>
          </a:prstGeom>
          <a:noFill/>
        </p:spPr>
        <p:txBody>
          <a:bodyPr wrap="square" lIns="0" rIns="0" tIns="0" bIns="0" anchor="t">
            <a:spAutoFit/>
          </a:bodyPr>
          <a:lstStyle/>
          <a:p>
            <a:pPr algn="l"/>
            <a:r>
              <a:rPr sz="1000" b="1" i="0" spc="200">
                <a:solidFill>
                  <a:srgbClr val="F7D007"/>
                </a:solidFill>
                <a:latin typeface="Menlo"/>
              </a:rPr>
              <a:t>// OPTIONAL RETAINER</a:t>
            </a:r>
          </a:p>
        </p:txBody>
      </p:sp>
      <p:sp>
        <p:nvSpPr>
          <p:cNvPr id="23" name="TextBox 22"/>
          <p:cNvSpPr txBox="1"/>
          <p:nvPr/>
        </p:nvSpPr>
        <p:spPr>
          <a:xfrm>
            <a:off x="6553047" y="2880360"/>
            <a:ext cx="4389120" cy="457200"/>
          </a:xfrm>
          <a:prstGeom prst="rect">
            <a:avLst/>
          </a:prstGeom>
          <a:noFill/>
        </p:spPr>
        <p:txBody>
          <a:bodyPr wrap="square" lIns="0" rIns="0" tIns="0" bIns="0" anchor="t">
            <a:spAutoFit/>
          </a:bodyPr>
          <a:lstStyle/>
          <a:p>
            <a:pPr algn="l"/>
            <a:r>
              <a:rPr sz="1800" b="1" i="0" spc="-30">
                <a:solidFill>
                  <a:srgbClr val="FFFFFF"/>
                </a:solidFill>
                <a:latin typeface="Helvetica Neue"/>
              </a:rPr>
              <a:t>Fixed monthly fee</a:t>
            </a:r>
          </a:p>
        </p:txBody>
      </p:sp>
      <p:sp>
        <p:nvSpPr>
          <p:cNvPr id="24" name="TextBox 23"/>
          <p:cNvSpPr txBox="1"/>
          <p:nvPr/>
        </p:nvSpPr>
        <p:spPr>
          <a:xfrm>
            <a:off x="6553047" y="3383280"/>
            <a:ext cx="4389120" cy="640080"/>
          </a:xfrm>
          <a:prstGeom prst="rect">
            <a:avLst/>
          </a:prstGeom>
          <a:noFill/>
        </p:spPr>
        <p:txBody>
          <a:bodyPr wrap="square" lIns="0" rIns="0" tIns="0" bIns="0" anchor="t">
            <a:spAutoFit/>
          </a:bodyPr>
          <a:lstStyle/>
          <a:p>
            <a:pPr algn="l"/>
            <a:r>
              <a:rPr sz="4400" b="1" i="0">
                <a:solidFill>
                  <a:srgbClr val="F7D007"/>
                </a:solidFill>
                <a:latin typeface="Menlo"/>
              </a:rPr>
              <a:t>X kr / month</a:t>
            </a:r>
          </a:p>
        </p:txBody>
      </p:sp>
      <p:sp>
        <p:nvSpPr>
          <p:cNvPr id="25" name="TextBox 24"/>
          <p:cNvSpPr txBox="1"/>
          <p:nvPr/>
        </p:nvSpPr>
        <p:spPr>
          <a:xfrm>
            <a:off x="6553047" y="4160520"/>
            <a:ext cx="4389120" cy="731520"/>
          </a:xfrm>
          <a:prstGeom prst="rect">
            <a:avLst/>
          </a:prstGeom>
          <a:noFill/>
        </p:spPr>
        <p:txBody>
          <a:bodyPr wrap="square" lIns="0" rIns="0" tIns="0" bIns="0" anchor="t">
            <a:spAutoFit/>
          </a:bodyPr>
          <a:lstStyle/>
          <a:p>
            <a:pPr algn="l"/>
            <a:r>
              <a:rPr sz="1100" b="0" i="0">
                <a:solidFill>
                  <a:srgbClr val="CCCCCC"/>
                </a:solidFill>
                <a:latin typeface="Helvetica Neue"/>
              </a:rPr>
              <a:t>Optional. Predictable monthly cost on top of (or instead of) the performance fee. Some clients prefer this for budgeting.</a:t>
            </a:r>
          </a:p>
        </p:txBody>
      </p:sp>
      <p:sp>
        <p:nvSpPr>
          <p:cNvPr id="26" name="TextBox 25"/>
          <p:cNvSpPr txBox="1"/>
          <p:nvPr/>
        </p:nvSpPr>
        <p:spPr>
          <a:xfrm>
            <a:off x="6553047" y="48006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7" name="TextBox 26"/>
          <p:cNvSpPr txBox="1"/>
          <p:nvPr/>
        </p:nvSpPr>
        <p:spPr>
          <a:xfrm>
            <a:off x="6735927" y="48006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Billed on the 1st, in advance</a:t>
            </a:r>
          </a:p>
        </p:txBody>
      </p:sp>
      <p:sp>
        <p:nvSpPr>
          <p:cNvPr id="28" name="TextBox 27"/>
          <p:cNvSpPr txBox="1"/>
          <p:nvPr/>
        </p:nvSpPr>
        <p:spPr>
          <a:xfrm>
            <a:off x="6553047" y="50292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29" name="TextBox 28"/>
          <p:cNvSpPr txBox="1"/>
          <p:nvPr/>
        </p:nvSpPr>
        <p:spPr>
          <a:xfrm>
            <a:off x="6735927" y="50292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Void if not agreed</a:t>
            </a:r>
          </a:p>
        </p:txBody>
      </p:sp>
      <p:sp>
        <p:nvSpPr>
          <p:cNvPr id="30" name="TextBox 29"/>
          <p:cNvSpPr txBox="1"/>
          <p:nvPr/>
        </p:nvSpPr>
        <p:spPr>
          <a:xfrm>
            <a:off x="6553047" y="5257800"/>
            <a:ext cx="164592" cy="228600"/>
          </a:xfrm>
          <a:prstGeom prst="rect">
            <a:avLst/>
          </a:prstGeom>
          <a:noFill/>
        </p:spPr>
        <p:txBody>
          <a:bodyPr wrap="square" lIns="0" rIns="0" tIns="0" bIns="0" anchor="t">
            <a:spAutoFit/>
          </a:bodyPr>
          <a:lstStyle/>
          <a:p>
            <a:pPr algn="l"/>
            <a:r>
              <a:rPr sz="1000" b="1" i="0">
                <a:solidFill>
                  <a:srgbClr val="F7D007"/>
                </a:solidFill>
                <a:latin typeface="Helvetica Neue"/>
              </a:rPr>
              <a:t>→</a:t>
            </a:r>
          </a:p>
        </p:txBody>
      </p:sp>
      <p:sp>
        <p:nvSpPr>
          <p:cNvPr id="31" name="TextBox 30"/>
          <p:cNvSpPr txBox="1"/>
          <p:nvPr/>
        </p:nvSpPr>
        <p:spPr>
          <a:xfrm>
            <a:off x="6735927" y="5257800"/>
            <a:ext cx="4206240" cy="228600"/>
          </a:xfrm>
          <a:prstGeom prst="rect">
            <a:avLst/>
          </a:prstGeom>
          <a:noFill/>
        </p:spPr>
        <p:txBody>
          <a:bodyPr wrap="square" lIns="0" rIns="0" tIns="0" bIns="0" anchor="t">
            <a:spAutoFit/>
          </a:bodyPr>
          <a:lstStyle/>
          <a:p>
            <a:pPr algn="l"/>
            <a:r>
              <a:rPr sz="1000" b="0" i="0">
                <a:solidFill>
                  <a:srgbClr val="CCCCCC"/>
                </a:solidFill>
                <a:latin typeface="Helvetica Neue"/>
              </a:rPr>
              <a:t>Stackable with the performance fee</a:t>
            </a:r>
          </a:p>
        </p:txBody>
      </p:sp>
      <p:sp>
        <p:nvSpPr>
          <p:cNvPr id="32" name="Rounded Rectangle 31"/>
          <p:cNvSpPr/>
          <p:nvPr/>
        </p:nvSpPr>
        <p:spPr>
          <a:xfrm>
            <a:off x="822960" y="5760720"/>
            <a:ext cx="10543032" cy="594360"/>
          </a:xfrm>
          <a:prstGeom prst="roundRect">
            <a:avLst>
              <a:gd name="adj" fmla="val 8000"/>
            </a:avLst>
          </a:prstGeom>
          <a:solidFill>
            <a:srgbClr val="1A1602"/>
          </a:solidFill>
          <a:ln w="9525">
            <a:solidFill>
              <a:srgbClr val="5749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897880"/>
            <a:ext cx="10085832" cy="320040"/>
          </a:xfrm>
          <a:prstGeom prst="rect">
            <a:avLst/>
          </a:prstGeom>
          <a:noFill/>
        </p:spPr>
        <p:txBody>
          <a:bodyPr wrap="square" lIns="0" rIns="0" tIns="0" bIns="0" anchor="ctr">
            <a:spAutoFit/>
          </a:bodyPr>
          <a:lstStyle/>
          <a:p>
            <a:pPr algn="l">
              <a:lnSpc>
                <a:spcPct val="140000"/>
              </a:lnSpc>
            </a:pPr>
            <a:r>
              <a:rPr sz="1100" b="1" i="0">
                <a:solidFill>
                  <a:srgbClr val="F7D007"/>
                </a:solidFill>
                <a:latin typeface="Helvetica Neue"/>
              </a:rPr>
              <a:t>Billing: </a:t>
            </a:r>
            <a:r>
              <a:rPr sz="1100" b="0" i="0">
                <a:solidFill>
                  <a:srgbClr val="CCCCCC"/>
                </a:solidFill>
                <a:latin typeface="Helvetica Neue"/>
              </a:rPr>
              <a:t>one invoice on the 1st covering the retainer (if any) plus the performance fee for every winning test rolled out last month. 8 day payment terms. Third-party costs (test tools, apps) paid by the client.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comhouse-wordmark.png"/>
          <p:cNvPicPr>
            <a:picLocks noChangeAspect="1"/>
          </p:cNvPicPr>
          <p:nvPr/>
        </p:nvPicPr>
        <p:blipFill>
          <a:blip r:embed="rId2"/>
          <a:stretch>
            <a:fillRect/>
          </a:stretch>
        </p:blipFill>
        <p:spPr>
          <a:xfrm>
            <a:off x="292608" y="201168"/>
            <a:ext cx="1873736" cy="201168"/>
          </a:xfrm>
          <a:prstGeom prst="rect">
            <a:avLst/>
          </a:prstGeom>
        </p:spPr>
      </p:pic>
      <p:sp>
        <p:nvSpPr>
          <p:cNvPr id="4" name="TextBox 3"/>
          <p:cNvSpPr txBox="1"/>
          <p:nvPr/>
        </p:nvSpPr>
        <p:spPr>
          <a:xfrm>
            <a:off x="11475720" y="201168"/>
            <a:ext cx="548640" cy="274320"/>
          </a:xfrm>
          <a:prstGeom prst="rect">
            <a:avLst/>
          </a:prstGeom>
          <a:noFill/>
        </p:spPr>
        <p:txBody>
          <a:bodyPr wrap="square" lIns="0" rIns="0" tIns="0" bIns="0" anchor="t">
            <a:spAutoFit/>
          </a:bodyPr>
          <a:lstStyle/>
          <a:p>
            <a:pPr algn="r"/>
            <a:r>
              <a:rPr sz="1000" b="0" i="0">
                <a:solidFill>
                  <a:srgbClr val="EFEEEE"/>
                </a:solidFill>
                <a:latin typeface="Helvetica Neue"/>
              </a:rPr>
              <a:t>2026</a:t>
            </a:r>
          </a:p>
        </p:txBody>
      </p:sp>
      <p:sp>
        <p:nvSpPr>
          <p:cNvPr id="5" name="TextBox 4"/>
          <p:cNvSpPr txBox="1"/>
          <p:nvPr/>
        </p:nvSpPr>
        <p:spPr>
          <a:xfrm>
            <a:off x="292608" y="6565392"/>
            <a:ext cx="4114800" cy="228600"/>
          </a:xfrm>
          <a:prstGeom prst="rect">
            <a:avLst/>
          </a:prstGeom>
          <a:noFill/>
        </p:spPr>
        <p:txBody>
          <a:bodyPr wrap="square" lIns="0" rIns="0" tIns="0" bIns="0" anchor="t">
            <a:spAutoFit/>
          </a:bodyPr>
          <a:lstStyle/>
          <a:p>
            <a:pPr algn="l"/>
            <a:r>
              <a:rPr sz="800" b="0" i="0" spc="150">
                <a:solidFill>
                  <a:srgbClr val="EFEEEE"/>
                </a:solidFill>
                <a:latin typeface="Helvetica Neue"/>
              </a:rPr>
              <a:t>ECOMHOUSE ©ALL RIGHTS RESERVED</a:t>
            </a:r>
          </a:p>
        </p:txBody>
      </p:sp>
      <p:sp>
        <p:nvSpPr>
          <p:cNvPr id="6" name="TextBox 5"/>
          <p:cNvSpPr txBox="1"/>
          <p:nvPr/>
        </p:nvSpPr>
        <p:spPr>
          <a:xfrm>
            <a:off x="11475720" y="6565392"/>
            <a:ext cx="548640" cy="228600"/>
          </a:xfrm>
          <a:prstGeom prst="rect">
            <a:avLst/>
          </a:prstGeom>
          <a:noFill/>
        </p:spPr>
        <p:txBody>
          <a:bodyPr wrap="square" lIns="0" rIns="0" tIns="0" bIns="0" anchor="t">
            <a:spAutoFit/>
          </a:bodyPr>
          <a:lstStyle/>
          <a:p>
            <a:pPr algn="r"/>
            <a:r>
              <a:rPr sz="800" b="0" i="0">
                <a:solidFill>
                  <a:srgbClr val="EFEEEE"/>
                </a:solidFill>
                <a:latin typeface="Menlo"/>
              </a:rPr>
              <a:t>64</a:t>
            </a:r>
          </a:p>
        </p:txBody>
      </p:sp>
      <p:sp>
        <p:nvSpPr>
          <p:cNvPr id="7" name="Oval 6"/>
          <p:cNvSpPr/>
          <p:nvPr/>
        </p:nvSpPr>
        <p:spPr>
          <a:xfrm>
            <a:off x="6583680" y="-2011680"/>
            <a:ext cx="7315200" cy="5943600"/>
          </a:xfrm>
          <a:prstGeom prst="ellipse">
            <a:avLst/>
          </a:prstGeom>
          <a:solidFill>
            <a:srgbClr val="2C25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554480"/>
            <a:ext cx="1965960" cy="640080"/>
          </a:xfrm>
          <a:prstGeom prst="rect">
            <a:avLst/>
          </a:prstGeom>
          <a:solidFill>
            <a:srgbClr val="0000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1965960" cy="640080"/>
          </a:xfrm>
          <a:prstGeom prst="rect">
            <a:avLst/>
          </a:prstGeom>
          <a:noFill/>
        </p:spPr>
        <p:txBody>
          <a:bodyPr wrap="square" lIns="0" rIns="0" tIns="0" bIns="0" anchor="ctr">
            <a:spAutoFit/>
          </a:bodyPr>
          <a:lstStyle/>
          <a:p>
            <a:pPr algn="ctr"/>
            <a:r>
              <a:rPr sz="2000" b="1" i="0" spc="400">
                <a:solidFill>
                  <a:srgbClr val="FFFFFF"/>
                </a:solidFill>
                <a:latin typeface="Helvetica Neue"/>
              </a:rPr>
              <a:t>DITT VIN</a:t>
            </a:r>
          </a:p>
        </p:txBody>
      </p:sp>
      <p:sp>
        <p:nvSpPr>
          <p:cNvPr id="10" name="TextBox 9"/>
          <p:cNvSpPr txBox="1"/>
          <p:nvPr/>
        </p:nvSpPr>
        <p:spPr>
          <a:xfrm>
            <a:off x="777240" y="2468880"/>
            <a:ext cx="10515600" cy="822960"/>
          </a:xfrm>
          <a:prstGeom prst="rect">
            <a:avLst/>
          </a:prstGeom>
          <a:noFill/>
        </p:spPr>
        <p:txBody>
          <a:bodyPr wrap="square" lIns="0" rIns="0" tIns="0" bIns="0" anchor="t">
            <a:spAutoFit/>
          </a:bodyPr>
          <a:lstStyle/>
          <a:p>
            <a:pPr algn="l"/>
            <a:r>
              <a:rPr sz="4600" b="1" i="0" spc="-100">
                <a:solidFill>
                  <a:srgbClr val="F7D007"/>
                </a:solidFill>
                <a:latin typeface="Helvetica Neue"/>
              </a:rPr>
              <a:t>Thank You</a:t>
            </a:r>
          </a:p>
        </p:txBody>
      </p:sp>
      <p:sp>
        <p:nvSpPr>
          <p:cNvPr id="11" name="TextBox 10"/>
          <p:cNvSpPr txBox="1"/>
          <p:nvPr/>
        </p:nvSpPr>
        <p:spPr>
          <a:xfrm>
            <a:off x="777240" y="3383280"/>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Questions, and where we start</a:t>
            </a:r>
          </a:p>
        </p:txBody>
      </p:sp>
      <p:sp>
        <p:nvSpPr>
          <p:cNvPr id="12" name="TextBox 11"/>
          <p:cNvSpPr txBox="1"/>
          <p:nvPr/>
        </p:nvSpPr>
        <p:spPr>
          <a:xfrm>
            <a:off x="777240" y="3712464"/>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Recommended first sprint: legality trust block, delivery promise, cart shipping clarity</a:t>
            </a:r>
          </a:p>
        </p:txBody>
      </p:sp>
      <p:sp>
        <p:nvSpPr>
          <p:cNvPr id="13" name="TextBox 12"/>
          <p:cNvSpPr txBox="1"/>
          <p:nvPr/>
        </p:nvSpPr>
        <p:spPr>
          <a:xfrm>
            <a:off x="777240" y="4041648"/>
            <a:ext cx="10515600" cy="320040"/>
          </a:xfrm>
          <a:prstGeom prst="rect">
            <a:avLst/>
          </a:prstGeom>
          <a:noFill/>
        </p:spPr>
        <p:txBody>
          <a:bodyPr wrap="square" lIns="0" rIns="0" tIns="0" bIns="0" anchor="t">
            <a:spAutoFit/>
          </a:bodyPr>
          <a:lstStyle/>
          <a:p>
            <a:pPr algn="l"/>
            <a:r>
              <a:rPr sz="1300" b="0" i="0">
                <a:solidFill>
                  <a:srgbClr val="999999"/>
                </a:solidFill>
                <a:latin typeface="Helvetica Neue"/>
              </a:rPr>
              <a:t>Prepared by Bhaskar Roy · CRO Audit for dittvin.se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