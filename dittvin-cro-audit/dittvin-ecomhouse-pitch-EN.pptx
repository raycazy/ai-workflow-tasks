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Recommended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Working With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clients.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Comforth · Product tags on the PDP</a:t>
            </a:r>
          </a:p>
        </p:txBody>
      </p:sp>
      <p:pic>
        <p:nvPicPr>
          <p:cNvPr id="9" name="Picture 8" descr="case-cfs-tags-control.png"/>
          <p:cNvPicPr>
            <a:picLocks noChangeAspect="1"/>
          </p:cNvPicPr>
          <p:nvPr/>
        </p:nvPicPr>
        <p:blipFill>
          <a:blip r:embed="rId3"/>
          <a:stretch>
            <a:fillRect/>
          </a:stretch>
        </p:blipFill>
        <p:spPr>
          <a:xfrm>
            <a:off x="977071" y="2331720"/>
            <a:ext cx="1474857" cy="3200400"/>
          </a:xfrm>
          <a:prstGeom prst="rect">
            <a:avLst/>
          </a:prstGeom>
        </p:spPr>
      </p:pic>
      <p:sp>
        <p:nvSpPr>
          <p:cNvPr id="10" name="Rounded Rectangle 9"/>
          <p:cNvSpPr/>
          <p:nvPr/>
        </p:nvSpPr>
        <p:spPr>
          <a:xfrm>
            <a:off x="940495" y="2295144"/>
            <a:ext cx="1548009"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cfs-tags-variant.png"/>
          <p:cNvPicPr>
            <a:picLocks noChangeAspect="1"/>
          </p:cNvPicPr>
          <p:nvPr/>
        </p:nvPicPr>
        <p:blipFill>
          <a:blip r:embed="rId4"/>
          <a:stretch>
            <a:fillRect/>
          </a:stretch>
        </p:blipFill>
        <p:spPr>
          <a:xfrm>
            <a:off x="3655666" y="2331720"/>
            <a:ext cx="1512627" cy="3200400"/>
          </a:xfrm>
          <a:prstGeom prst="rect">
            <a:avLst/>
          </a:prstGeom>
        </p:spPr>
      </p:pic>
      <p:sp>
        <p:nvSpPr>
          <p:cNvPr id="12" name="Rounded Rectangle 11"/>
          <p:cNvSpPr/>
          <p:nvPr/>
        </p:nvSpPr>
        <p:spPr>
          <a:xfrm>
            <a:off x="3619090" y="2295144"/>
            <a:ext cx="1585779"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+10,83%</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+183.515 kr / month projected</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27,37 kr</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30,34 kr</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+10,83%</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dittvin DV-03 does the same with taste and box detail above the fold.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Comforth · Cart drawer redesign</a:t>
            </a:r>
          </a:p>
        </p:txBody>
      </p:sp>
      <p:pic>
        <p:nvPicPr>
          <p:cNvPr id="9" name="Picture 8" descr="case-cfs-cart-control.png"/>
          <p:cNvPicPr>
            <a:picLocks noChangeAspect="1"/>
          </p:cNvPicPr>
          <p:nvPr/>
        </p:nvPicPr>
        <p:blipFill>
          <a:blip r:embed="rId3"/>
          <a:stretch>
            <a:fillRect/>
          </a:stretch>
        </p:blipFill>
        <p:spPr>
          <a:xfrm>
            <a:off x="888361" y="2331720"/>
            <a:ext cx="1652277" cy="3200399"/>
          </a:xfrm>
          <a:prstGeom prst="rect">
            <a:avLst/>
          </a:prstGeom>
        </p:spPr>
      </p:pic>
      <p:sp>
        <p:nvSpPr>
          <p:cNvPr id="10" name="Rounded Rectangle 9"/>
          <p:cNvSpPr/>
          <p:nvPr/>
        </p:nvSpPr>
        <p:spPr>
          <a:xfrm>
            <a:off x="851785" y="2295144"/>
            <a:ext cx="1725429" cy="3273551"/>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cfs-cart-variant.png"/>
          <p:cNvPicPr>
            <a:picLocks noChangeAspect="1"/>
          </p:cNvPicPr>
          <p:nvPr/>
        </p:nvPicPr>
        <p:blipFill>
          <a:blip r:embed="rId4"/>
          <a:stretch>
            <a:fillRect/>
          </a:stretch>
        </p:blipFill>
        <p:spPr>
          <a:xfrm>
            <a:off x="3629148" y="2331720"/>
            <a:ext cx="1565663" cy="3200400"/>
          </a:xfrm>
          <a:prstGeom prst="rect">
            <a:avLst/>
          </a:prstGeom>
        </p:spPr>
      </p:pic>
      <p:sp>
        <p:nvSpPr>
          <p:cNvPr id="12" name="Rounded Rectangle 11"/>
          <p:cNvSpPr/>
          <p:nvPr/>
        </p:nvSpPr>
        <p:spPr>
          <a:xfrm>
            <a:off x="3592572" y="2295144"/>
            <a:ext cx="1638815" cy="327355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+15,52%</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+171.285 kr / month projected</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20,14 kr</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23,26 kr</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+15,52%</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dittvin DV-02 targets the same cart to checkout leak.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IWAO</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IWAO · Trust section on a high AOV PDP</a:t>
            </a:r>
          </a:p>
        </p:txBody>
      </p:sp>
      <p:pic>
        <p:nvPicPr>
          <p:cNvPr id="9" name="Picture 8" descr="case-iwao-trust-control.png"/>
          <p:cNvPicPr>
            <a:picLocks noChangeAspect="1"/>
          </p:cNvPicPr>
          <p:nvPr/>
        </p:nvPicPr>
        <p:blipFill>
          <a:blip r:embed="rId3"/>
          <a:stretch>
            <a:fillRect/>
          </a:stretch>
        </p:blipFill>
        <p:spPr>
          <a:xfrm>
            <a:off x="457200" y="3328180"/>
            <a:ext cx="2514600" cy="1207479"/>
          </a:xfrm>
          <a:prstGeom prst="rect">
            <a:avLst/>
          </a:prstGeom>
        </p:spPr>
      </p:pic>
      <p:sp>
        <p:nvSpPr>
          <p:cNvPr id="10" name="Rounded Rectangle 9"/>
          <p:cNvSpPr/>
          <p:nvPr/>
        </p:nvSpPr>
        <p:spPr>
          <a:xfrm>
            <a:off x="420624" y="3291604"/>
            <a:ext cx="2587752" cy="1280631"/>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se-iwao-trust-variant.png"/>
          <p:cNvPicPr>
            <a:picLocks noChangeAspect="1"/>
          </p:cNvPicPr>
          <p:nvPr/>
        </p:nvPicPr>
        <p:blipFill>
          <a:blip r:embed="rId4"/>
          <a:stretch>
            <a:fillRect/>
          </a:stretch>
        </p:blipFill>
        <p:spPr>
          <a:xfrm>
            <a:off x="3154680" y="3376568"/>
            <a:ext cx="2514600" cy="1110703"/>
          </a:xfrm>
          <a:prstGeom prst="rect">
            <a:avLst/>
          </a:prstGeom>
        </p:spPr>
      </p:pic>
      <p:sp>
        <p:nvSpPr>
          <p:cNvPr id="12" name="Rounded Rectangle 11"/>
          <p:cNvSpPr/>
          <p:nvPr/>
        </p:nvSpPr>
        <p:spPr>
          <a:xfrm>
            <a:off x="3118104" y="3339992"/>
            <a:ext cx="2587752" cy="1183855"/>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5623560"/>
            <a:ext cx="251460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14" name="TextBox 13"/>
          <p:cNvSpPr txBox="1"/>
          <p:nvPr/>
        </p:nvSpPr>
        <p:spPr>
          <a:xfrm>
            <a:off x="3154680" y="5623560"/>
            <a:ext cx="251460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15" name="Rounded Rectangle 14"/>
          <p:cNvSpPr/>
          <p:nvPr/>
        </p:nvSpPr>
        <p:spPr>
          <a:xfrm>
            <a:off x="5943600" y="2331720"/>
            <a:ext cx="579089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606040"/>
            <a:ext cx="5059375" cy="228600"/>
          </a:xfrm>
          <a:prstGeom prst="rect">
            <a:avLst/>
          </a:prstGeom>
          <a:noFill/>
        </p:spPr>
        <p:txBody>
          <a:bodyPr wrap="square" lIns="0" rIns="0" tIns="0" bIns="0" anchor="t">
            <a:spAutoFit/>
          </a:bodyPr>
          <a:lstStyle/>
          <a:p>
            <a:pPr algn="l"/>
            <a:r>
              <a:rPr sz="1000" b="1" i="0" spc="200">
                <a:solidFill>
                  <a:srgbClr val="F7D007"/>
                </a:solidFill>
                <a:latin typeface="Menlo"/>
              </a:rPr>
              <a:t>ADD TO CART RATE (PRIMARY)</a:t>
            </a:r>
          </a:p>
        </p:txBody>
      </p:sp>
      <p:sp>
        <p:nvSpPr>
          <p:cNvPr id="17" name="TextBox 16"/>
          <p:cNvSpPr txBox="1"/>
          <p:nvPr/>
        </p:nvSpPr>
        <p:spPr>
          <a:xfrm>
            <a:off x="6309360" y="2834640"/>
            <a:ext cx="5059375" cy="822960"/>
          </a:xfrm>
          <a:prstGeom prst="rect">
            <a:avLst/>
          </a:prstGeom>
          <a:noFill/>
        </p:spPr>
        <p:txBody>
          <a:bodyPr wrap="square" lIns="0" rIns="0" tIns="0" bIns="0" anchor="t">
            <a:spAutoFit/>
          </a:bodyPr>
          <a:lstStyle/>
          <a:p>
            <a:pPr algn="l"/>
            <a:r>
              <a:rPr sz="5000" b="1" i="0">
                <a:solidFill>
                  <a:srgbClr val="F7D007"/>
                </a:solidFill>
                <a:latin typeface="Menlo"/>
              </a:rPr>
              <a:t>+38,03%</a:t>
            </a:r>
          </a:p>
        </p:txBody>
      </p:sp>
      <p:sp>
        <p:nvSpPr>
          <p:cNvPr id="18" name="TextBox 17"/>
          <p:cNvSpPr txBox="1"/>
          <p:nvPr/>
        </p:nvSpPr>
        <p:spPr>
          <a:xfrm>
            <a:off x="6309360" y="3749040"/>
            <a:ext cx="5059375" cy="320040"/>
          </a:xfrm>
          <a:prstGeom prst="rect">
            <a:avLst/>
          </a:prstGeom>
          <a:noFill/>
        </p:spPr>
        <p:txBody>
          <a:bodyPr wrap="square" lIns="0" rIns="0" tIns="0" bIns="0" anchor="t">
            <a:spAutoFit/>
          </a:bodyPr>
          <a:lstStyle/>
          <a:p>
            <a:pPr algn="l"/>
            <a:r>
              <a:rPr sz="1400" b="1" i="0">
                <a:solidFill>
                  <a:srgbClr val="FFFFFF"/>
                </a:solidFill>
                <a:latin typeface="Menlo"/>
              </a:rPr>
              <a:t>+27.931 kr / month projected</a:t>
            </a:r>
          </a:p>
        </p:txBody>
      </p:sp>
      <p:sp>
        <p:nvSpPr>
          <p:cNvPr id="19" name="Rectangle 18"/>
          <p:cNvSpPr/>
          <p:nvPr/>
        </p:nvSpPr>
        <p:spPr>
          <a:xfrm>
            <a:off x="6309360" y="4206239"/>
            <a:ext cx="505937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361688"/>
            <a:ext cx="1554480" cy="228600"/>
          </a:xfrm>
          <a:prstGeom prst="rect">
            <a:avLst/>
          </a:prstGeom>
          <a:noFill/>
        </p:spPr>
        <p:txBody>
          <a:bodyPr wrap="square" lIns="0" rIns="0" tIns="0" bIns="0" anchor="t">
            <a:spAutoFit/>
          </a:bodyPr>
          <a:lstStyle/>
          <a:p>
            <a:pPr algn="l"/>
            <a:r>
              <a:rPr sz="900" b="1" i="0" spc="150">
                <a:solidFill>
                  <a:srgbClr val="999999"/>
                </a:solidFill>
                <a:latin typeface="Helvetica Neue"/>
              </a:rPr>
              <a:t>METRIC</a:t>
            </a:r>
          </a:p>
        </p:txBody>
      </p:sp>
      <p:sp>
        <p:nvSpPr>
          <p:cNvPr id="21" name="TextBox 20"/>
          <p:cNvSpPr txBox="1"/>
          <p:nvPr/>
        </p:nvSpPr>
        <p:spPr>
          <a:xfrm>
            <a:off x="7955280" y="4361688"/>
            <a:ext cx="1280160" cy="228600"/>
          </a:xfrm>
          <a:prstGeom prst="rect">
            <a:avLst/>
          </a:prstGeom>
          <a:noFill/>
        </p:spPr>
        <p:txBody>
          <a:bodyPr wrap="square" lIns="0" rIns="0" tIns="0" bIns="0" anchor="t">
            <a:spAutoFit/>
          </a:bodyPr>
          <a:lstStyle/>
          <a:p>
            <a:pPr algn="r"/>
            <a:r>
              <a:rPr sz="900" b="1" i="0" spc="150">
                <a:solidFill>
                  <a:srgbClr val="999999"/>
                </a:solidFill>
                <a:latin typeface="Helvetica Neue"/>
              </a:rPr>
              <a:t>CONTROL</a:t>
            </a:r>
          </a:p>
        </p:txBody>
      </p:sp>
      <p:sp>
        <p:nvSpPr>
          <p:cNvPr id="22" name="TextBox 21"/>
          <p:cNvSpPr txBox="1"/>
          <p:nvPr/>
        </p:nvSpPr>
        <p:spPr>
          <a:xfrm>
            <a:off x="9326880" y="4361688"/>
            <a:ext cx="1280160" cy="228600"/>
          </a:xfrm>
          <a:prstGeom prst="rect">
            <a:avLst/>
          </a:prstGeom>
          <a:noFill/>
        </p:spPr>
        <p:txBody>
          <a:bodyPr wrap="square" lIns="0" rIns="0" tIns="0" bIns="0" anchor="t">
            <a:spAutoFit/>
          </a:bodyPr>
          <a:lstStyle/>
          <a:p>
            <a:pPr algn="r"/>
            <a:r>
              <a:rPr sz="900" b="1" i="0" spc="150">
                <a:solidFill>
                  <a:srgbClr val="F7D007"/>
                </a:solidFill>
                <a:latin typeface="Helvetica Neue"/>
              </a:rPr>
              <a:t>VARIANT</a:t>
            </a:r>
          </a:p>
        </p:txBody>
      </p:sp>
      <p:sp>
        <p:nvSpPr>
          <p:cNvPr id="23" name="TextBox 22"/>
          <p:cNvSpPr txBox="1"/>
          <p:nvPr/>
        </p:nvSpPr>
        <p:spPr>
          <a:xfrm>
            <a:off x="10607040" y="4361688"/>
            <a:ext cx="1005840" cy="228600"/>
          </a:xfrm>
          <a:prstGeom prst="rect">
            <a:avLst/>
          </a:prstGeom>
          <a:noFill/>
        </p:spPr>
        <p:txBody>
          <a:bodyPr wrap="square" lIns="0" rIns="0" tIns="0" bIns="0" anchor="t">
            <a:spAutoFit/>
          </a:bodyPr>
          <a:lstStyle/>
          <a:p>
            <a:pPr algn="r"/>
            <a:r>
              <a:rPr sz="900" b="1" i="0" spc="150">
                <a:solidFill>
                  <a:srgbClr val="999999"/>
                </a:solidFill>
                <a:latin typeface="Helvetica Neue"/>
              </a:rPr>
              <a:t>Δ</a:t>
            </a:r>
          </a:p>
        </p:txBody>
      </p:sp>
      <p:sp>
        <p:nvSpPr>
          <p:cNvPr id="24" name="TextBox 23"/>
          <p:cNvSpPr txBox="1"/>
          <p:nvPr/>
        </p:nvSpPr>
        <p:spPr>
          <a:xfrm>
            <a:off x="6309360" y="469087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Add to cart rate</a:t>
            </a:r>
          </a:p>
        </p:txBody>
      </p:sp>
      <p:sp>
        <p:nvSpPr>
          <p:cNvPr id="25" name="TextBox 24"/>
          <p:cNvSpPr txBox="1"/>
          <p:nvPr/>
        </p:nvSpPr>
        <p:spPr>
          <a:xfrm>
            <a:off x="7955280" y="4690872"/>
            <a:ext cx="1280160" cy="228600"/>
          </a:xfrm>
          <a:prstGeom prst="rect">
            <a:avLst/>
          </a:prstGeom>
          <a:noFill/>
        </p:spPr>
        <p:txBody>
          <a:bodyPr wrap="square" lIns="0" rIns="0" tIns="0" bIns="0" anchor="t">
            <a:spAutoFit/>
          </a:bodyPr>
          <a:lstStyle/>
          <a:p>
            <a:pPr algn="r"/>
            <a:r>
              <a:rPr sz="1000" b="0" i="0">
                <a:solidFill>
                  <a:srgbClr val="CCCCCC"/>
                </a:solidFill>
                <a:latin typeface="Menlo"/>
              </a:rPr>
              <a:t>11,36 %</a:t>
            </a:r>
          </a:p>
        </p:txBody>
      </p:sp>
      <p:sp>
        <p:nvSpPr>
          <p:cNvPr id="26" name="TextBox 25"/>
          <p:cNvSpPr txBox="1"/>
          <p:nvPr/>
        </p:nvSpPr>
        <p:spPr>
          <a:xfrm>
            <a:off x="9326880" y="4690872"/>
            <a:ext cx="1280160" cy="228600"/>
          </a:xfrm>
          <a:prstGeom prst="rect">
            <a:avLst/>
          </a:prstGeom>
          <a:noFill/>
        </p:spPr>
        <p:txBody>
          <a:bodyPr wrap="square" lIns="0" rIns="0" tIns="0" bIns="0" anchor="t">
            <a:spAutoFit/>
          </a:bodyPr>
          <a:lstStyle/>
          <a:p>
            <a:pPr algn="r"/>
            <a:r>
              <a:rPr sz="1000" b="1" i="0">
                <a:solidFill>
                  <a:srgbClr val="FFFFFF"/>
                </a:solidFill>
                <a:latin typeface="Menlo"/>
              </a:rPr>
              <a:t>15,68 %</a:t>
            </a:r>
          </a:p>
        </p:txBody>
      </p:sp>
      <p:sp>
        <p:nvSpPr>
          <p:cNvPr id="27" name="TextBox 26"/>
          <p:cNvSpPr txBox="1"/>
          <p:nvPr/>
        </p:nvSpPr>
        <p:spPr>
          <a:xfrm>
            <a:off x="10607040" y="4690872"/>
            <a:ext cx="1005840" cy="228600"/>
          </a:xfrm>
          <a:prstGeom prst="rect">
            <a:avLst/>
          </a:prstGeom>
          <a:noFill/>
        </p:spPr>
        <p:txBody>
          <a:bodyPr wrap="square" lIns="0" rIns="0" tIns="0" bIns="0" anchor="t">
            <a:spAutoFit/>
          </a:bodyPr>
          <a:lstStyle/>
          <a:p>
            <a:pPr algn="r"/>
            <a:r>
              <a:rPr sz="1000" b="1" i="0">
                <a:solidFill>
                  <a:srgbClr val="F7D007"/>
                </a:solidFill>
                <a:latin typeface="Menlo"/>
              </a:rPr>
              <a:t>+38,03%</a:t>
            </a:r>
          </a:p>
        </p:txBody>
      </p:sp>
      <p:sp>
        <p:nvSpPr>
          <p:cNvPr id="28" name="TextBox 27"/>
          <p:cNvSpPr txBox="1"/>
          <p:nvPr/>
        </p:nvSpPr>
        <p:spPr>
          <a:xfrm>
            <a:off x="6309360" y="5056632"/>
            <a:ext cx="1645920" cy="228600"/>
          </a:xfrm>
          <a:prstGeom prst="rect">
            <a:avLst/>
          </a:prstGeom>
          <a:noFill/>
        </p:spPr>
        <p:txBody>
          <a:bodyPr wrap="square" lIns="0" rIns="0" tIns="0" bIns="0" anchor="t">
            <a:spAutoFit/>
          </a:bodyPr>
          <a:lstStyle/>
          <a:p>
            <a:pPr algn="l"/>
            <a:r>
              <a:rPr sz="1000" b="1" i="0">
                <a:solidFill>
                  <a:srgbClr val="FFFFFF"/>
                </a:solidFill>
                <a:latin typeface="Helvetica Neue"/>
              </a:rPr>
              <a:t>Verdict</a:t>
            </a:r>
          </a:p>
        </p:txBody>
      </p:sp>
      <p:sp>
        <p:nvSpPr>
          <p:cNvPr id="29" name="TextBox 28"/>
          <p:cNvSpPr txBox="1"/>
          <p:nvPr/>
        </p:nvSpPr>
        <p:spPr>
          <a:xfrm>
            <a:off x="9326880" y="5056632"/>
            <a:ext cx="1280160" cy="228600"/>
          </a:xfrm>
          <a:prstGeom prst="rect">
            <a:avLst/>
          </a:prstGeom>
          <a:noFill/>
        </p:spPr>
        <p:txBody>
          <a:bodyPr wrap="square" lIns="0" rIns="0" tIns="0" bIns="0" anchor="t">
            <a:spAutoFit/>
          </a:bodyPr>
          <a:lstStyle/>
          <a:p>
            <a:pPr algn="r"/>
            <a:r>
              <a:rPr sz="1000" b="1" i="0">
                <a:solidFill>
                  <a:srgbClr val="22C55E"/>
                </a:solidFill>
                <a:latin typeface="Menlo"/>
              </a:rPr>
              <a:t>Winner</a:t>
            </a:r>
          </a:p>
        </p:txBody>
      </p:sp>
      <p:sp>
        <p:nvSpPr>
          <p:cNvPr id="30" name="TextBox 29"/>
          <p:cNvSpPr txBox="1"/>
          <p:nvPr/>
        </p:nvSpPr>
        <p:spPr>
          <a:xfrm>
            <a:off x="457200" y="6382512"/>
            <a:ext cx="11277295" cy="365760"/>
          </a:xfrm>
          <a:prstGeom prst="rect">
            <a:avLst/>
          </a:prstGeom>
          <a:noFill/>
        </p:spPr>
        <p:txBody>
          <a:bodyPr wrap="square" lIns="0" rIns="0" tIns="0" bIns="0" anchor="t">
            <a:spAutoFit/>
          </a:bodyPr>
          <a:lstStyle/>
          <a:p>
            <a:pPr algn="ctr"/>
            <a:r>
              <a:rPr sz="1200" b="0" i="0">
                <a:solidFill>
                  <a:srgbClr val="CCCCCC"/>
                </a:solidFill>
                <a:latin typeface="Helvetica Neue"/>
              </a:rPr>
              <a:t>IWAO sells DKK 8K to 125K. dittvin DV-01 legality and trust block is the same move for the monopoly market.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63</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64</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