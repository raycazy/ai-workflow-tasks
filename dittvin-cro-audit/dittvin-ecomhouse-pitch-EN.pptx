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 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778508"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778508"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6" name="Rounded Rectangle 15"/>
          <p:cNvSpPr/>
          <p:nvPr/>
        </p:nvSpPr>
        <p:spPr>
          <a:xfrm>
            <a:off x="2299716" y="4160520"/>
            <a:ext cx="1778508"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428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9" name="Rounded Rectangle 18"/>
          <p:cNvSpPr/>
          <p:nvPr/>
        </p:nvSpPr>
        <p:spPr>
          <a:xfrm>
            <a:off x="42428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75604"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5604"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22" name="Rounded Rectangle 21"/>
          <p:cNvSpPr/>
          <p:nvPr/>
        </p:nvSpPr>
        <p:spPr>
          <a:xfrm>
            <a:off x="5975604"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Based on Shopify (source of truth). 90 days, 25 April to 23 July 2026: 38.306 orders, 33,3M SEK gross, 868 SEK AOV. GA4 recorded only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in this deck is traced to a source. Where a metric is estimated it is marked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 Analytics</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days, property 461839723. 452,552 sessions, sequential funnel, channels, devices, landing pages.</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Voice of Customer</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 reviews (4.7/5). 300 verbatim reviews mined via the widget data 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Competitor Set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verified rivals: Winefinder, Winefamly, KRAN, Supervin, plus Systembolaget as the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Expert Review Review</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page types on desktop and mobile: entry, home, collection, product page. Screenshot verified.</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and Tech 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network capture of every tracking tag, consent, and console error. Not an HTML guess.</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 Sales 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days of order, product and AOV exports. The source of truth for RPV, reconciled against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Industry 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Named sources: Littledata, Baymard, Sovos, SVB, Omnisend. General ecom + wine DtC, RPV northstar.</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Not in scope</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is installed and collecting, but we had no dashboard access. Grant it for session replay depth.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Seven Findings That Move Revenue</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Delivery is the number one trust wound. </a:t>
            </a:r>
            <a:r>
              <a:rPr sz="1050" b="0" i="0">
                <a:solidFill>
                  <a:srgbClr val="CCCCCC"/>
                </a:solidFill>
                <a:latin typeface="Helvetica Neue"/>
              </a:rPr>
              <a:t>The site promises "1-3 dagar" but 31% of low star reviews report 7 to 16 days. 86% of complaints are about delivery, and loyal repeat buyers are churning on it.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the promise, not the wine. This is a retention leak, not just acquisition.</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The legality question is unanswered. </a:t>
            </a:r>
            <a:r>
              <a:rPr sz="1050" b="0" i="0">
                <a:solidFill>
                  <a:srgbClr val="CCCCCC"/>
                </a:solidFill>
                <a:latin typeface="Helvetica Neue"/>
              </a:rPr>
              <a:t>In a monopoly market, a first time Swedish buyer needs to know this is legal. dittvin explains nothing, while KRAN and Winefamly reassure directly. Fear tips to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Most buyers are first time visitors, and they need this reassurance.</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Taste is invisible online. </a:t>
            </a:r>
            <a:r>
              <a:rPr sz="1050" b="0" i="0">
                <a:solidFill>
                  <a:srgbClr val="CCCCCC"/>
                </a:solidFill>
                <a:latin typeface="Helvetica Neue"/>
              </a:rPr>
              <a:t>The biggest barrier in online wine is not knowing how it tastes. dittvin's boxes list region and grape but rarely translate them into sweetness, body, and food pairing the way a shop assistant would, so buyers hesitate.</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Make taste legible on every box: flavor profiles, pairings, and Vivino scores.</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Checkout abandonment is the biggest leak. </a:t>
            </a:r>
            <a:r>
              <a:rPr sz="1050" b="0" i="0">
                <a:solidFill>
                  <a:srgbClr val="CCCCCC"/>
                </a:solidFill>
                <a:latin typeface="Helvetica Neue"/>
              </a:rPr>
              <a:t>58.9% of sessions that reach checkout do not complete (17,785 of 30,200). Delivery doubt, the "1-3 dagar" promise, and 90+ website errors are prime suspects.</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Highest intent, cheapest to recover. Est. 3 to 5M SEK/quarter.</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New customers convert far below returning. </a:t>
            </a:r>
            <a:r>
              <a:rPr sz="1050" b="0" i="0">
                <a:solidFill>
                  <a:srgbClr val="CCCCCC"/>
                </a:solidFill>
                <a:latin typeface="Helvetica Neue"/>
              </a:rPr>
              <a:t>GA4 shows new visitors convert at 2.62% versus 3.42% for returning, and they are most of the traffic but only a quarter of revenue. Closing that gap is the biggest growth lever.</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Taste clarity and trust lift new customer conversion. Est. +3.3M SEK per quarter.</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Retention is strong, but the subscription is untapped. </a:t>
            </a:r>
            <a:r>
              <a:rPr sz="1050" b="0" i="0">
                <a:solidFill>
                  <a:srgbClr val="CCCCCC"/>
                </a:solidFill>
                <a:latin typeface="Helvetica Neue"/>
              </a:rPr>
              <a:t>66% of buyers return, yet the subscription (Wine, Gin, Champagne, 749 to 849 SEK) is only 0.2% of sales. The engine exists but is barely switched on.</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Grow it toward 3 to 5% for ~1 to 1.8M SEK recurring, and make it prominent on more product pages.</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is not tracking properly. </a:t>
            </a:r>
            <a:r>
              <a:rPr sz="1050" b="0" i="0">
                <a:solidFill>
                  <a:srgbClr val="CCCCCC"/>
                </a:solidFill>
                <a:latin typeface="Helvetica Neue"/>
              </a:rPr>
              <a:t>It records only 31% of orders (11,689 vs 38,306) and inflates sessions with junk. A Google Ads conversion also fires on the homepage. Decisions must run on Shopify until it is rebuilt.</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measurement with server side tracking (Meta) so the ad platforms bid on full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25 April to 23 July 2026. The real numbers: 336,855 sessions, 38,306 orders, 33.3M SEK. Where traffic comes from, where it converts, and where it leaks. GA4 is on one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Sweden</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customers</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Sales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incl VAT</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true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strong repeat base</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Average Order Value</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stable across 90 days</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Total sales + Conversion rate reports, 90 days (25 April to 23 July 2026). Gross sales exclude VAT, discounts and refunds; total sales 41.5M includes VAT (8.34M) and shipping. AOV is gross divided by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Sessions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Conversion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own session funnel. Two leaks stand out: only 12.6% of sessions add to cart, and 58.9% of those who reach checkout never complete.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 report. Session attributed completions (12,415) are a subset of the 38,306 real orders, because ~2/3 of orders have no trackable session (consent, in app browsers). The rates are what matter: the store loses most at add to cart and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on conversion, order value and repeat rate; the upside is subscription sign ups and email. These are general ecom benchmarks, the fair comparator for a Nordic reseller, because no Denmark or European wine specific benchmark is published.</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 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Conversion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avg,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avg,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On par</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true</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of 50 studies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Ahead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Returning customer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to 30% typical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to 30% of DTC rev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Behind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Subscription sign ups</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orders, 0.2% of sales</a:t>
                      </a:r>
                    </a:p>
                  </a:txBody>
                  <a:tcPr marL="73152" marR="73152" marT="18288" marB="18288" anchor="ctr">
                    <a:solidFill>
                      <a:srgbClr val="000000"/>
                    </a:solidFill>
                  </a:tcPr>
                </a:tc>
                <a:tc>
                  <a:txBody>
                    <a:bodyPr wrap="square"/>
                    <a:lstStyle/>
                    <a:p>
                      <a:pPr algn="l"/>
                      <a:r>
                        <a:rPr sz="1100" b="0">
                          <a:solidFill>
                            <a:srgbClr val="EFEEEE"/>
                          </a:solidFill>
                          <a:latin typeface="Helvetica Neue"/>
                        </a:rPr>
                        <a:t>No standard ecom 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Upside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Mobile ~37% below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Upside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Sources: Littledata (2,800 Shopify sites, 2023), Baymard Institute (2025), OpenSend and MetricUno (2024), Omnisend (2024), Klaviyo (2025). These are general ecom benchmarks; no Denmark or European wine specific benchmark is published, so they are the closest fair comparators for a Nordic reseller. RPV is derived (AOV x CVR); no publisher reports a wine 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not fixing a broken store, it is monetizing retention in the category built for it.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Already ahead</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Conversion 3.69%, ~2.7x the Shopify average </a:t>
            </a:r>
            <a:r>
              <a:rPr sz="1100" b="0" i="0">
                <a:solidFill>
                  <a:srgbClr val="CCCCCC"/>
                </a:solidFill>
                <a:latin typeface="Helvetica Neue"/>
              </a:rPr>
              <a:t>, and that is on ~86% mobile, the lowest converting device.</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above the Shopify line </a:t>
            </a:r>
            <a:r>
              <a:rPr sz="1100" b="0" i="0">
                <a:solidFill>
                  <a:srgbClr val="CCCCCC"/>
                </a:solidFill>
                <a:latin typeface="Helvetica Neue"/>
              </a:rPr>
              <a:t>at ~2 bottles per order, driven by the box format.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returning customers </a:t>
            </a:r>
            <a:r>
              <a:rPr sz="1100" b="0" i="0">
                <a:solidFill>
                  <a:srgbClr val="CCCCCC"/>
                </a:solidFill>
                <a:latin typeface="Helvetica Neue"/>
              </a:rPr>
              <a:t>, well above the typical ecom repeat band. Retention is a genuine strength.</a:t>
            </a:r>
          </a:p>
        </p:txBody>
      </p:sp>
      <p:sp>
        <p:nvSpPr>
          <p:cNvPr id="18" name="Oval 17"/>
          <p:cNvSpPr/>
          <p:nvPr/>
        </p:nvSpPr>
        <p:spPr>
          <a:xfrm>
            <a:off x="1203807" y="438454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Cart abandonment 10 points better </a:t>
            </a:r>
            <a:r>
              <a:rPr sz="1100" b="0" i="0">
                <a:solidFill>
                  <a:srgbClr val="CCCCCC"/>
                </a:solidFill>
                <a:latin typeface="Helvetica Neue"/>
              </a:rPr>
              <a:t>than Baymard, despite the age gate and alcohol friction.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The growth gaps</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Checkout abandonment 58.9% </a:t>
            </a:r>
            <a:r>
              <a:rPr sz="1100" b="0" i="0">
                <a:solidFill>
                  <a:srgbClr val="CCCCCC"/>
                </a:solidFill>
                <a:latin typeface="Helvetica Neue"/>
              </a:rPr>
              <a:t>is the biggest recoverable leak, and the cheapest to win back.</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of orders </a:t>
            </a:r>
            <a:r>
              <a:rPr sz="1100" b="0" i="0">
                <a:solidFill>
                  <a:srgbClr val="CCCCCC"/>
                </a:solidFill>
                <a:latin typeface="Helvetica Neue"/>
              </a:rPr>
              <a:t>vs a ~20 to 30% owned norm. Automations are the highest ROI slice untouched.</a:t>
            </a:r>
          </a:p>
        </p:txBody>
      </p:sp>
      <p:sp>
        <p:nvSpPr>
          <p:cNvPr id="26" name="Oval 25"/>
          <p:cNvSpPr/>
          <p:nvPr/>
        </p:nvSpPr>
        <p:spPr>
          <a:xfrm>
            <a:off x="6553047" y="3730752"/>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685032"/>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Subscription sign ups are low. </a:t>
            </a:r>
            <a:r>
              <a:rPr sz="1100" b="0" i="0">
                <a:solidFill>
                  <a:srgbClr val="CCCCCC"/>
                </a:solidFill>
                <a:latin typeface="Helvetica Neue"/>
              </a:rPr>
              <a:t>The 3 tier club exists but is barely showcased. Wine clubs are 39% of winery DtC.</a:t>
            </a:r>
          </a:p>
        </p:txBody>
      </p:sp>
      <p:sp>
        <p:nvSpPr>
          <p:cNvPr id="28" name="Oval 27"/>
          <p:cNvSpPr/>
          <p:nvPr/>
        </p:nvSpPr>
        <p:spPr>
          <a:xfrm>
            <a:off x="6553047" y="43845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Mobile is 86% of traffic </a:t>
            </a:r>
            <a:r>
              <a:rPr sz="1100" b="0" i="0">
                <a:solidFill>
                  <a:srgbClr val="CCCCCC"/>
                </a:solidFill>
                <a:latin typeface="Helvetica Neue"/>
              </a:rPr>
              <a:t>on the lowest converting device. Closing the gap moves the most sessions.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 not just by size.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of 30,200 sessions that reach checkout never complete. The highest intent, lowest cost audience to recover. Delivery doubt, the "1-3 dagar" promise and 90+ website errors are prime suspects.</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Highest intent. Cheapest win. Est. 3 to 5M SEK/qtr</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to Add to Cart</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Only 12.6% of sessions add to cart. Box product pages already run 18 to 20%, but the homepage (12%) and collection (10%) drag it down. product page trust gaps and weak product presentation suppress the add.</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Legality proof, per wine detail, box first collection</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Cart to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of carts never reach checkout. Shipping surprise (695 SEK threshold, Airmee only) and no clear push to continue. Smaller than the other two, but a quick cart drawer win.</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Cart shipping clarity + continue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Device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Almost 9 in 10 Shopify sessions are mobile (88%), yet mobile converts below tablet (3.71% vs 4.66%). Every fix in this deck is a mobile fix first.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device report. Shares and rates are Shopify actuals; session counts are indexed to the 90-day window (25 April to 23 July 2026). Mobile owns the volume but is the weakest converter, so checkout and product page fixes must be validated on mobile Safari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Referrers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Direct and Meta Carry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Direct (49%) and Meta (Facebook and Instagram, 33%) drive four in five sessions. Google adds 16%. Tagged email is just 1%, the clearest gap for a store with 66% returning customers.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CHANNEL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Direct</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referrer report (top 5 channels = 99% of sessions). Shares and CVR are Shopify actuals; session counts are indexed to the 90-day window. "Direct" bundles returning visitors and untagged email or SMS, so paid social is the largest trackable acquisition source. Social converts best (4.1 to 4.3%). Klaviyo attributes ~16% of orders even though tagged email sessions are ~1%, so owned email is barely instrumented, not unimportant.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a Strength to Scale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thirds of buyers are returning customers, and dittvin already runs a real subscription. The job is to grow it, not to build it.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Customers</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of 31,860 buyers</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Customers</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of buyers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6-Month Retention</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steady cohort tail</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 report. The subscription runs 749 to 849 SEK per box (monthly, with an intro box first). The opportunity is to make it more prominent and put it on more product pages, so more buyers see and choose it. This flips the earlier GA4 read that retention was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Retention · Subscription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Subscription Is the Efficient LTV Lever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of buyers already return, but that repeat is earned with email, retargeting and promos every cycle. Subscription makes it automatic: higher lifetime value, lower marketing cost, predictable revenue. Today it is 0.2% of sales, the clearest untapped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Share of Sales</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orders, 66k SEK in 90 days</a:t>
            </a:r>
          </a:p>
        </p:txBody>
      </p:sp>
      <p:sp>
        <p:nvSpPr>
          <p:cNvPr id="15" name="Rounded Rectangle 14"/>
          <p:cNvSpPr/>
          <p:nvPr/>
        </p:nvSpPr>
        <p:spPr>
          <a:xfrm>
            <a:off x="351266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Products</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 boxes</a:t>
            </a:r>
          </a:p>
        </p:txBody>
      </p:sp>
      <p:sp>
        <p:nvSpPr>
          <p:cNvPr id="19" name="Rounded Rectangle 18"/>
          <p:cNvSpPr/>
          <p:nvPr/>
        </p:nvSpPr>
        <p:spPr>
          <a:xfrm>
            <a:off x="623300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 Boxes With a Subscribe Option</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only 3 niche products carry it</a:t>
            </a:r>
          </a:p>
        </p:txBody>
      </p:sp>
      <p:sp>
        <p:nvSpPr>
          <p:cNvPr id="23" name="Rounded Rectangle 22"/>
          <p:cNvSpPr/>
          <p:nvPr/>
        </p:nvSpPr>
        <p:spPr>
          <a:xfrm>
            <a:off x="895334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Recurring at 3 to 5% (Est.)</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66k SEK today</a:t>
            </a:r>
          </a:p>
        </p:txBody>
      </p:sp>
      <p:graphicFrame>
        <p:nvGraphicFramePr>
          <p:cNvPr id="27" name="Table 26"/>
          <p:cNvGraphicFramePr>
            <a:graphicFrameLocks noGrp="1"/>
          </p:cNvGraphicFramePr>
          <p:nvPr/>
        </p:nvGraphicFramePr>
        <p:xfrm>
          <a:off x="883767" y="4014216"/>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ASPECT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REPEAT TODAY (MARKETING DRIVEN)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ON SUBSCRIPTION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Reorder trigger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promo each time</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Automatic, recurring</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Frequency</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Sporadic, promo led</a:t>
                      </a:r>
                    </a:p>
                  </a:txBody>
                  <a:tcPr marL="73152" marR="73152" marT="18288" marB="18288" anchor="ctr">
                    <a:solidFill>
                      <a:srgbClr val="0B0B0B"/>
                    </a:solidFill>
                  </a:tcPr>
                </a:tc>
                <a:tc>
                  <a:txBody>
                    <a:bodyPr wrap="square"/>
                    <a:lstStyle/>
                    <a:p>
                      <a:pPr algn="l"/>
                      <a:r>
                        <a:rPr sz="1000" b="0">
                          <a:solidFill>
                            <a:srgbClr val="22C55E"/>
                          </a:solidFill>
                          <a:latin typeface="Helvetica Neue"/>
                        </a:rPr>
                        <a:t>Set cadence, monthly or more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 cost per reorder</a:t>
                      </a:r>
                    </a:p>
                  </a:txBody>
                  <a:tcPr marL="73152" marR="73152" marT="18288" marB="18288" anchor="ctr">
                    <a:solidFill>
                      <a:srgbClr val="000000"/>
                    </a:solidFill>
                  </a:tcPr>
                </a:tc>
                <a:tc>
                  <a:txBody>
                    <a:bodyPr wrap="square"/>
                    <a:lstStyle/>
                    <a:p>
                      <a:pPr algn="l"/>
                      <a:r>
                        <a:rPr sz="1000" b="0">
                          <a:solidFill>
                            <a:srgbClr val="F59E0B"/>
                          </a:solidFill>
                          <a:latin typeface="Helvetica Neue"/>
                        </a:rPr>
                        <a:t>High</a:t>
                      </a:r>
                    </a:p>
                  </a:txBody>
                  <a:tcPr marL="73152" marR="73152" marT="18288" marB="18288" anchor="ctr">
                    <a:solidFill>
                      <a:srgbClr val="000000"/>
                    </a:solidFill>
                  </a:tcPr>
                </a:tc>
                <a:tc>
                  <a:txBody>
                    <a:bodyPr wrap="square"/>
                    <a:lstStyle/>
                    <a:p>
                      <a:pPr algn="l"/>
                      <a:r>
                        <a:rPr sz="1000" b="0">
                          <a:solidFill>
                            <a:srgbClr val="22C55E"/>
                          </a:solidFill>
                          <a:latin typeface="Helvetica Neue"/>
                        </a:rPr>
                        <a:t>Near zero</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Revenue predictability</a:t>
                      </a:r>
                    </a:p>
                  </a:txBody>
                  <a:tcPr marL="73152" marR="73152" marT="18288" marB="18288" anchor="ctr">
                    <a:solidFill>
                      <a:srgbClr val="0B0B0B"/>
                    </a:solidFill>
                  </a:tcPr>
                </a:tc>
                <a:tc>
                  <a:txBody>
                    <a:bodyPr wrap="square"/>
                    <a:lstStyle/>
                    <a:p>
                      <a:pPr algn="l"/>
                      <a:r>
                        <a:rPr sz="1000" b="0">
                          <a:solidFill>
                            <a:srgbClr val="F59E0B"/>
                          </a:solidFill>
                          <a:latin typeface="Helvetica Neue"/>
                        </a:rPr>
                        <a:t>Low</a:t>
                      </a:r>
                    </a:p>
                  </a:txBody>
                  <a:tcPr marL="73152" marR="73152" marT="18288" marB="18288" anchor="ctr">
                    <a:solidFill>
                      <a:srgbClr val="0B0B0B"/>
                    </a:solidFill>
                  </a:tcPr>
                </a:tc>
                <a:tc>
                  <a:txBody>
                    <a:bodyPr wrap="square"/>
                    <a:lstStyle/>
                    <a:p>
                      <a:pPr algn="l"/>
                      <a:r>
                        <a:rPr sz="1000" b="0">
                          <a:solidFill>
                            <a:srgbClr val="22C55E"/>
                          </a:solidFill>
                          <a:latin typeface="Helvetica Neue"/>
                        </a:rPr>
                        <a:t>High</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How we measured: from Shopify's Subscription vs one-time sales report, 101 subscription orders worth 66,033 SEK in 90 days (0.2% of sales). We do not have Recharge access, so active subscriber counts, churn and MRR are not visible. Opportunity: at a modest 3 to 5% of sales the subscription would be ~1.0 to 1.8M SEK of recurring revenue per quarter. The lever: add a subscribe option to the best selling boxes and make it prominent on more product pages.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Product Pages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 Pages Beat Single Wine Pages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Compared page to page, box product pages add to cart at 16.4% and return an estimated ~80 SEK per visit, well above single wine pages (13.3%, ~62 SEK). A fairer test than homepage or collection, and it still favours the box as the better first purchase.</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REACHED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RPV / VISIT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Box pages (336, average)</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Single wine pages (1,894, average)</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Est. RPV per visit = the page's reached checkout rate x the store's true order rate (38,306 orders / 30,200 checkout sessions) x 868 AOV; blended store RPV is 99 SEK, and box pages likely run higher on real order value, so this is conservative. Note premium single bottles convert well too (the Carapaia magnum reaches 10.9%), a secondary lever alongside the boxes.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One GA4 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This Audit Uses Shopify, Not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Over the same window GA4 records only about a third of the business. It also inflates sessions with junk. So every number in this deck comes from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SAME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SEES</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Sessions</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overstates</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under-records orders (Cookiebot consent denial, Facebook in app browser attribution loss, 4 parallel GA4 properties) while over-counting sessions with bot and prefetch noise, so it both hides revenue and dilutes the conversion rate. Fix: server side GTM + Meta server side tracking + one GA4. Until then, Shopify is the source of truth and the ad platforms are bidding on a third of the signal.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When Sweden Buys Wine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Tuesday and Wednesday lead on orders; Saturday is the weakest. A small budget shift toward midweek is worth testing.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Tuesday</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Wednesday</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Sunday</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Monday</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Thursday</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Friday</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Saturday</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small negative tail is highly concentrated on one issue, which makes it very actionable.</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Rating Distribution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Fast delivery when it works</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Easy to order, smooth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Price and value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Discovery boxes love</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Wine quality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Theme percentages are within the sampled reviews, not store wide rates. Official aggregates (4.7, 5,985, distribution) are Trustpilot's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 because it is the customer framing the value against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Smooth, easy, good value, good wines. And no restricted opening hours to deal with.</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Ready made mixed boxes give a real chance to find new favourites you would otherwise miss.</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Nice to try wines from lesser known vineyards, at affordable prices.</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Very good alcohol free options, both white and sparkling. A niche but loyal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in 8 places. Customers repeatedly report 7 to 16 days. This single gap drives the entire negative tail.</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 says 1-3 days. Waited 11 days with no ETA. Was skeptical but tried. First and last time.</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Misleading marketing. Delivery is never the 1-3 days the site claims. Second time late before a big party.</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Good prices and ok wines but a big delivery time problem. Promises 1-3 days but it is more like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Meant to arrive 17-22, delayed to 23, then cancelled 5 minutes before delivery. Alcohol needs someone home.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of sampled complaints mention delivery. 31% cite the broken "1-3 dagar" promise. 23% describe the be home / cancelled window problem. Several are repeat buyers churning purely on delivery.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smaller but reputationally sharp themes that a stronger product page and a faster human reply would neutralize.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Bought 12 so called quality wines. Several barely drinkable and worse than Systembolaget budget. Claimed 57% off.</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The wines taste like juice. Undercuts the "kvalitetsviner" positioning. 14% of complaints mention taste.</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Customer service is an automatic AI reply that apologizes and notes the feedback. 38% of complaints cite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One bottle was damaged, solved quickly. Great email follow up. When service is fast, it becomes a 5 star reason.</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57% discount claim on wines rated below Systembolaget budget is also a Swedish price marketing risk. Verify compare at prices are genuine reference prices.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Number One Buying Hesitation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Taste is the biggest hesitation in online wine. Everyone likes something different (dry or sweet, light or full, fruity or bitter) and nobody can try before they buy. When the flavor is a gamble, people hesitate, fall back on price, and often pick a wine they do not enjoy, then blame the shop. Show the taste up front and each buyer chooses a wine they will actually love.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Buying blind leads to the wrong bottle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of complaints are about taste. A box of 12 unknown wines is a leap of faith, so price and discount become the only things to go on. When the wine does not match what someone expected, they feel let down even when it is a good wine. This buyer wanted something drier. With a simple taste profile they would have picked a different wine and stayed happy.</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 and box</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highest leverage content fix for a wine product page. A taste profile (dry to sweet, light to full, plain tasting notes, the Vivino score you already hold, and food pairing), plus a short "hitta din smak" taste match quiz, turns a blind box into an informed pick. Each buyer self selects the style they like, which lifts add to cart, powers the box ladder, and cuts both the "smakar som saft" complaints and the returns they cause.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 Swedish online alcohol, two levers decide the first purchase: is it legal, and will it arrive. dittvin is silent on the first and unreliable on the second.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Sweden runs the Systembolaget monopoly. dittvin lawfully ships as a Danish cross border private importer (Vinhuset ApS). It never explains this, so doubt fills the gap.</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 The genuine assets (a 4.7 Trustpilot, award medals, Løvens Hule TV backing) sit far from the point of doubt.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reassures with "Alla priser inkl. svensk alkoholskatt &amp; moms." Winefinder, Winefamly and Supervin also show the Trygg E-handel trust mark. dittvin shows none of it.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first time Swedish buyer carries these. Each has a specific, evidenced counter already available to dittvin.</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in Sweden might be illegal or shady."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lawful Danish private import, age verified, Vinhuset ApS named, tax and VAT included, and the 4.7 on 5,985 Trustpilot proof placed at the point of hesitation.</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This is the true belief driving the negative tail. Destroy it by fixing the promise, not the wine. Replace "1-3 dagar" with an honest order specific ETA and proactive status updates, and let customers pick a delivery window.</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just cheap sweet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on box product pages: grape, region, a dry to sweet scale, and the Vivino score you already hold. A box should not be a blind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Expert Review</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collection and product page, reviewed on the mobile experience that carries 86% of the store. Every claim is screenshot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Cold Facebook visitors (41% of traffic) land and hit a legally required age check stacked on top of a spin the wheel email popup, before they see any wine.</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Two popups in a row. </a:t>
            </a:r>
            <a:r>
              <a:rPr sz="1100" b="0" i="0">
                <a:solidFill>
                  <a:srgbClr val="CCCCCC"/>
                </a:solidFill>
                <a:latin typeface="Helvetica Neue"/>
              </a:rPr>
              <a:t>The age check ("bekräfta att du är 20 år eller äldre") is legally needed, but a "Snurra på hjulet" spin the wheel popup stacks on top of it. People have to close two popups before they see a single wine.</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Combine them into one step, and remember the choice with a cookie so repeat visitors are not asked again.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Turn the age gate into a trust moment. </a:t>
            </a:r>
            <a:r>
              <a:rPr sz="1100" b="0" i="0">
                <a:solidFill>
                  <a:srgbClr val="CCCCCC"/>
                </a:solidFill>
                <a:latin typeface="Helvetica Neue"/>
              </a:rPr>
              <a:t>Right now it only blocks. Add one line: lawful Danish import, tax included. It is the perfect place to answer the legality question.</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 heavy promo bar. </a:t>
            </a:r>
            <a:r>
              <a:rPr sz="1100" b="0" i="0">
                <a:solidFill>
                  <a:srgbClr val="CCCCCC"/>
                </a:solidFill>
                <a:latin typeface="Helvetica Neue"/>
              </a:rPr>
              <a:t>The top bar (party and clock emoji) clashes with a "kvalitetsviner" premium promise on a wine 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and Klaviyo present. </a:t>
            </a:r>
            <a:r>
              <a:rPr sz="1100" b="0" i="0">
                <a:solidFill>
                  <a:srgbClr val="CCCCCC"/>
                </a:solidFill>
                <a:latin typeface="Helvetica Neue"/>
              </a:rPr>
              <a:t>Support and capture tools are live. The issue is stacking and sequence, not absence.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Clear category nav and box carousels drive a 24.9% bounce. But blanket discounting and broken sections undercut the premium story.</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Clear category circles. </a:t>
            </a:r>
            <a:r>
              <a:rPr sz="1100" b="0" i="0">
                <a:solidFill>
                  <a:srgbClr val="CCCCCC"/>
                </a:solidFill>
                <a:latin typeface="Helvetica Neue"/>
              </a:rPr>
              <a:t>Rött, Vitt, Mousserande, Rosé, Gin, Vinlådor, Erbjudanden, Abonnemang, Alkoholfri 0%. Easy orientation, with Vivino badges on products.</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Everything is on sale. </a:t>
            </a:r>
            <a:r>
              <a:rPr sz="1100" b="0" i="0">
                <a:solidFill>
                  <a:srgbClr val="CCCCCC"/>
                </a:solidFill>
                <a:latin typeface="Helvetica Neue"/>
              </a:rPr>
              <a:t>Every product wears a red discount flag (-45%, -51%) plus "Spara X kr". Permanent discounting erodes urgency and reads as generic, not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Reserve discounting for real offers. Merchandise awards and Vivino scores as the proof instead.</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Sections render inconsistently. </a:t>
            </a:r>
            <a:r>
              <a:rPr sz="1100" b="0" i="0">
                <a:solidFill>
                  <a:srgbClr val="CCCCCC"/>
                </a:solidFill>
                <a:latin typeface="Helvetica Neue"/>
              </a:rPr>
              <a:t>"Upplev både nya..." and "Kunskap och inspiration" loaded as empty bands on one capture and filled on the next, consistent with the 90+ website errors.</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Flaky product presentation blocks. Fix the errors and confirm sections render reliably on mobile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 assets buried. </a:t>
            </a:r>
            <a:r>
              <a:rPr sz="1100" b="0" i="0">
                <a:solidFill>
                  <a:srgbClr val="CCCCCC"/>
                </a:solidFill>
                <a:latin typeface="Helvetica Neue"/>
              </a:rPr>
              <a:t>The Danish operator line and Løvens Hule backing sit only in the footer, far from where doubt occurs.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Collection and Product 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Product Page, Missing Reassurance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product page has a sticky add to cart, social proof and a free shipping bar, but it never tells buyers the order is legal, says almost nothing about how each wine tastes, and leaks Danish text.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 fundamentals. </a:t>
            </a:r>
            <a:r>
              <a:rPr sz="1100" b="0" i="0">
                <a:solidFill>
                  <a:srgbClr val="CCCCCC"/>
                </a:solidFill>
                <a:latin typeface="Helvetica Neue"/>
              </a:rPr>
              <a:t>Sticky add to cart, strikethrough price, "+75.000 vinälskare" social proof, Trustpilot and award badges, and a free shipping progress bar.</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No legality block at the decision point. </a:t>
            </a:r>
            <a:r>
              <a:rPr sz="1100" b="0" i="0">
                <a:solidFill>
                  <a:srgbClr val="CCCCCC"/>
                </a:solidFill>
                <a:latin typeface="Helvetica Neue"/>
              </a:rPr>
              <a:t>The exact place KRAN and Winefamly reassure, dittvin stays silent. This suppresses the 64% who view but never add.</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You cannot tell how the wine tastes. </a:t>
            </a:r>
            <a:r>
              <a:rPr sz="1100" b="0" i="0">
                <a:solidFill>
                  <a:srgbClr val="CCCCCC"/>
                </a:solidFill>
                <a:latin typeface="Helvetica Neue"/>
              </a:rPr>
              <a:t>A 12 bottle box shows only 3 photos and no taste notes for the wines inside: no grape, no sweetness or body, no food pairing, and no Vivino rating. People are asked to buy without knowing what they will actually drink.</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Customers explicitly ask: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Danish leaks and shipping caveats. </a:t>
            </a:r>
            <a:r>
              <a:rPr sz="1100" b="0" i="0">
                <a:solidFill>
                  <a:srgbClr val="CCCCCC"/>
                </a:solidFill>
                <a:latin typeface="Helvetica Neue"/>
              </a:rPr>
              <a:t>Page title reads "Kjøb hos Dittvin.se" (Danish), and free shipping is quietly limited to the Airmee carrier, which confuses buyers who then see a Bring fee.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is a strong store. These assets should be preserved and amplified, not touched during optimization.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The wine box format is both the best converter (5.54%) and a genuine customer love ("hitta nya favoriter"). A rare product and data agreement.</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Underused on site, but a powerful proof asset for the legality and quality objections.</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bounce on the homepage landing is excellent. The top of the experience works; the leaks are deeper in the funnel.</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and free ship bar</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 toward free shipping.</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a televised Løvens Hule backing that rivals lack.</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 email already drives 16% of orders at a 2.55% CVR. A ready lever to reduce paid dependency.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 competitor page was fetched before any claim. The pattern is clear: everyone reassures on legality except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the table if needed. "Not shown" means the signal was absent from the fetched page, which is itself a finding.</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Legality / tax messaging</a:t>
                      </a:r>
                    </a:p>
                  </a:txBody>
                  <a:tcPr marL="73152" marR="73152" marT="18288" marB="18288" anchor="ctr">
                    <a:solidFill>
                      <a:srgbClr val="000000"/>
                    </a:solidFill>
                  </a:tcPr>
                </a:tc>
                <a:tc>
                  <a:txBody>
                    <a:bodyPr wrap="square"/>
                    <a:lstStyle/>
                    <a:p>
                      <a:pPr algn="l"/>
                      <a:r>
                        <a:rPr sz="900" b="0">
                          <a:solidFill>
                            <a:srgbClr val="EF4444"/>
                          </a:solidFill>
                          <a:latin typeface="Helvetica Neue"/>
                        </a:rPr>
                        <a:t>None</a:t>
                      </a:r>
                    </a:p>
                  </a:txBody>
                  <a:tcPr marL="73152" marR="73152" marT="18288" marB="18288" anchor="ctr">
                    <a:solidFill>
                      <a:srgbClr val="000000"/>
                    </a:solidFill>
                  </a:tcPr>
                </a:tc>
                <a:tc>
                  <a:txBody>
                    <a:bodyPr wrap="square"/>
                    <a:lstStyle/>
                    <a:p>
                      <a:pPr algn="l"/>
                      <a:r>
                        <a:rPr sz="900" b="0">
                          <a:solidFill>
                            <a:srgbClr val="F59E0B"/>
                          </a:solidFill>
                          <a:latin typeface="Helvetica Neue"/>
                        </a:rPr>
                        <a:t>Trygg mark</a:t>
                      </a:r>
                    </a:p>
                  </a:txBody>
                  <a:tcPr marL="73152" marR="73152" marT="18288" marB="18288" anchor="ctr">
                    <a:solidFill>
                      <a:srgbClr val="000000"/>
                    </a:solidFill>
                  </a:tcPr>
                </a:tc>
                <a:tc>
                  <a:txBody>
                    <a:bodyPr wrap="square"/>
                    <a:lstStyle/>
                    <a:p>
                      <a:pPr algn="l"/>
                      <a:r>
                        <a:rPr sz="90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stated</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Is the channel</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 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Delivery cost / speed shown</a:t>
                      </a:r>
                    </a:p>
                  </a:txBody>
                  <a:tcPr marL="73152" marR="73152" marT="18288" marB="18288" anchor="ctr">
                    <a:solidFill>
                      <a:srgbClr val="000000"/>
                    </a:solidFill>
                  </a:tcPr>
                </a:tc>
                <a:tc>
                  <a:txBody>
                    <a:bodyPr wrap="square"/>
                    <a:lstStyle/>
                    <a:p>
                      <a:pPr algn="l"/>
                      <a:r>
                        <a:rPr sz="900" b="0">
                          <a:solidFill>
                            <a:srgbClr val="F59E0B"/>
                          </a:solidFill>
                          <a:latin typeface="Helvetica Neue"/>
                        </a:rPr>
                        <a:t>Vague, Airmee only</a:t>
                      </a:r>
                    </a:p>
                  </a:txBody>
                  <a:tcPr marL="73152" marR="73152" marT="18288" marB="18288" anchor="ctr">
                    <a:solidFill>
                      <a:srgbClr val="000000"/>
                    </a:solidFill>
                  </a:tcPr>
                </a:tc>
                <a:tc>
                  <a:txBody>
                    <a:bodyPr wrap="square"/>
                    <a:lstStyle/>
                    <a:p>
                      <a:pPr algn="l"/>
                      <a:r>
                        <a:rPr sz="900" b="0">
                          <a:solidFill>
                            <a:srgbClr val="F59E0B"/>
                          </a:solidFill>
                          <a:latin typeface="Helvetica Neue"/>
                        </a:rPr>
                        <a:t>Carriers named</a:t>
                      </a:r>
                    </a:p>
                  </a:txBody>
                  <a:tcPr marL="73152" marR="73152" marT="18288" marB="18288" anchor="ctr">
                    <a:solidFill>
                      <a:srgbClr val="000000"/>
                    </a:solidFill>
                  </a:tcPr>
                </a:tc>
                <a:tc>
                  <a:txBody>
                    <a:bodyPr wrap="square"/>
                    <a:lstStyle/>
                    <a:p>
                      <a:pPr algn="l"/>
                      <a:r>
                        <a:rPr sz="900" b="0">
                          <a:solidFill>
                            <a:srgbClr val="F59E0B"/>
                          </a:solidFill>
                          <a:latin typeface="Helvetica Neue"/>
                        </a:rPr>
                        <a:t>Home delivery</a:t>
                      </a:r>
                    </a:p>
                  </a:txBody>
                  <a:tcPr marL="73152" marR="73152" marT="18288" marB="18288" anchor="ctr">
                    <a:solidFill>
                      <a:srgbClr val="000000"/>
                    </a:solidFill>
                  </a:tcPr>
                </a:tc>
                <a:tc>
                  <a:txBody>
                    <a:bodyPr wrap="square"/>
                    <a:lstStyle/>
                    <a:p>
                      <a:pPr algn="l"/>
                      <a:r>
                        <a:rPr sz="90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From 29 kr, 2-5 days</a:t>
                      </a:r>
                    </a:p>
                  </a:txBody>
                  <a:tcPr marL="73152" marR="73152" marT="18288" marB="18288" anchor="ctr">
                    <a:solidFill>
                      <a:srgbClr val="000000"/>
                    </a:solidFill>
                  </a:tcPr>
                </a:tc>
                <a:tc>
                  <a:txBody>
                    <a:bodyPr wrap="square"/>
                    <a:lstStyle/>
                    <a:p>
                      <a:pPr algn="l"/>
                      <a:r>
                        <a:rPr sz="900" b="0">
                          <a:solidFill>
                            <a:srgbClr val="F59E0B"/>
                          </a:solidFill>
                          <a:latin typeface="Helvetica Neue"/>
                        </a:rPr>
                        <a:t>Multiple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Boxes</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 club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Wine boxes / cases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Reviews showcased</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medals</a:t>
                      </a:r>
                    </a:p>
                  </a:txBody>
                  <a:tcPr marL="73152" marR="73152" marT="18288" marB="18288" anchor="ctr">
                    <a:solidFill>
                      <a:srgbClr val="0B0B0B"/>
                    </a:solidFill>
                  </a:tcPr>
                </a:tc>
                <a:tc>
                  <a:txBody>
                    <a:bodyPr wrap="square"/>
                    <a:lstStyle/>
                    <a:p>
                      <a:pPr algn="l"/>
                      <a:r>
                        <a:rPr sz="900" b="0">
                          <a:solidFill>
                            <a:srgbClr val="22C55E"/>
                          </a:solidFill>
                          <a:latin typeface="Helvetica Neue"/>
                        </a:rPr>
                        <a:t>Critic + stars</a:t>
                      </a:r>
                    </a:p>
                  </a:txBody>
                  <a:tcPr marL="73152" marR="73152" marT="18288" marB="18288" anchor="ctr">
                    <a:solidFill>
                      <a:srgbClr val="0B0B0B"/>
                    </a:solidFill>
                  </a:tcPr>
                </a:tc>
                <a:tc>
                  <a:txBody>
                    <a:bodyPr wrap="square"/>
                    <a:lstStyle/>
                    <a:p>
                      <a:pPr algn="l"/>
                      <a:r>
                        <a:rPr sz="90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00" b="0">
                          <a:solidFill>
                            <a:srgbClr val="F59E0B"/>
                          </a:solidFill>
                          <a:latin typeface="Helvetica Neue"/>
                        </a:rPr>
                        <a:t>Press quotes</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 embed</a:t>
                      </a:r>
                    </a:p>
                  </a:txBody>
                  <a:tcPr marL="73152" marR="73152" marT="18288" marB="18288" anchor="ctr">
                    <a:solidFill>
                      <a:srgbClr val="0B0B0B"/>
                    </a:solidFill>
                  </a:tcPr>
                </a:tc>
                <a:tc>
                  <a:txBody>
                    <a:bodyPr wrap="square"/>
                    <a:lstStyle/>
                    <a:p>
                      <a:pPr algn="l"/>
                      <a:r>
                        <a:rPr sz="900" b="0">
                          <a:solidFill>
                            <a:srgbClr val="EF4444"/>
                          </a:solidFill>
                          <a:latin typeface="Helvetica Neue"/>
                        </a:rPr>
                        <a:t>None</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Alcohol free range</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Filtering / search</a:t>
                      </a:r>
                    </a:p>
                  </a:txBody>
                  <a:tcPr marL="73152" marR="73152" marT="18288" marB="18288" anchor="ctr">
                    <a:solidFill>
                      <a:srgbClr val="0B0B0B"/>
                    </a:solidFill>
                  </a:tcPr>
                </a:tc>
                <a:tc>
                  <a:txBody>
                    <a:bodyPr wrap="square"/>
                    <a:lstStyle/>
                    <a:p>
                      <a:pPr algn="l"/>
                      <a:r>
                        <a:rPr sz="900" b="0">
                          <a:solidFill>
                            <a:srgbClr val="F59E0B"/>
                          </a:solidFill>
                          <a:latin typeface="Helvetica Neue"/>
                        </a:rPr>
                        <a:t>Basic</a:t>
                      </a:r>
                    </a:p>
                  </a:txBody>
                  <a:tcPr marL="73152" marR="73152" marT="18288" marB="18288" anchor="ctr">
                    <a:solidFill>
                      <a:srgbClr val="0B0B0B"/>
                    </a:solidFill>
                  </a:tcPr>
                </a:tc>
                <a:tc>
                  <a:txBody>
                    <a:bodyPr wrap="square"/>
                    <a:lstStyle/>
                    <a:p>
                      <a:pPr algn="l"/>
                      <a:r>
                        <a:rPr sz="900" b="0">
                          <a:solidFill>
                            <a:srgbClr val="22C55E"/>
                          </a:solidFill>
                          <a:latin typeface="Helvetica Neue"/>
                        </a:rPr>
                        <a:t>Faceted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22C55E"/>
                          </a:solidFill>
                          <a:latin typeface="Helvetica Neue"/>
                        </a:rPr>
                        <a:t>Food pairing</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Close the gaps, then turn the biggest one into a differentiator no rival owns well.</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category's top objection, and only KRAN answers it (buried in text). A friendly, visible "why this is legal" section would out reassure everyone.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 that carries less "safe Swedish shop" 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695 kr Airmee threshold. Concrete beats vague.</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page titles leak through ("Kjøb", "Smagekasser"). It reads un Swedish and hurts both trust and discovery.</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just discounts</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award medals, Vivino scores and 4.7 Trustpilot but relies on a blanket 10% off. Own "curated wines at honest prices, with the proof".</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Winefinder and Supervin have no subscription at all. Own "the recurring discovery box for everyday Swedes".</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 and partly wrong.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(AW-16748333837) fires "en=conversion, value 1.43 SEK" on homepage load. Every visit logs a conversion, polluting Ads data and misleading bidding.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High impact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High impact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(UA-234356383-1) still sits in GTM (dead since 2023), and two Google Ads accounts fire. Prune to prevent double counting.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Med impact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This is the likely cause of the blank homepage sections and a suspect in checkout drop off.</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Med impact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(project v7fb9kby3w) is live and collecting session replays. You are sitting on behavioral data you are not using. Grant dashboard access.</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No effort · Insight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server side tracking and consent mode modeling would recover the 29% of sessions currently lost, and feed better data to the ad channel you depend on.</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effort · High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Speed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Too Many Tags Slow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store loads a lot of third party tags and scripts on every page. On mobile, where 86% of buyers are, all that extra weight makes the page slower. The fix is smart tag management: remove what is not needed and combine the rest.</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Things Load on the Homepage</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A heavy pile of third party 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Errors on Every Page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Code errors to clear</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and Ads 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Speed 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speed test hit a daily limit; measure real speed in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speed test was blocked by a daily limit, so there is no 0 to 100 score here. Shopify speed scores also read lower than real life, so treat speed as basic hygiene: cut the tag weight, clear the errors, then track real visitor speed in Clarity and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 On Shopify numbers, here is where it stands and how to grow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Real Numbers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Revenue Base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revenue per visitor. Here is the true 90 day base it multiplies from, straight from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METRIC (SHOPIFY,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VALUE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customers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sales</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ex VAT, discounts, refunds</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Total sales incl VAT + shipping</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money collected</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 sales</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recognised revenue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gross / orders</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about 135M SEK/year gross, 165M incl VAT. GA4 would imply roughly a third of that, which is why measurement is lever one. RPV grows by lifting conversion (checkout), order value (box ladder) and repeat (subscription).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traffic quality, conversion, order value, and repeat. The real numbers, corrected against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on</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gross 33.3M / Shopify sessions 336,855 = ~99 SEK per session, roughly 2.7x the Shopify benchmark. The levers with the most room are checkout conversion and subscription sign ups; measurement is what lets us steer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Rates + Shopify Revenue · Directional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New Customer Conversion Gap</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New visitors are about twice the volume of returning ones, but they convert lower and bring only a quarter of revenue. Lifting new customer conversion toward the returning rate is the biggest immediate and lasting lift, and taste clarity is the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sp>
        <p:nvSpPr>
          <p:cNvPr id="11" name="Rounded Rectangle 10"/>
          <p:cNvSpPr/>
          <p:nvPr/>
        </p:nvSpPr>
        <p:spPr>
          <a:xfrm>
            <a:off x="79232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Visitor CVR</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directional</a:t>
            </a:r>
          </a:p>
        </p:txBody>
      </p:sp>
      <p:sp>
        <p:nvSpPr>
          <p:cNvPr id="15" name="Rounded Rectangle 14"/>
          <p:cNvSpPr/>
          <p:nvPr/>
        </p:nvSpPr>
        <p:spPr>
          <a:xfrm>
            <a:off x="351266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Visitor CVR</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new (GA4)</a:t>
            </a:r>
          </a:p>
        </p:txBody>
      </p:sp>
      <p:sp>
        <p:nvSpPr>
          <p:cNvPr id="19" name="Rounded Rectangle 18"/>
          <p:cNvSpPr/>
          <p:nvPr/>
        </p:nvSpPr>
        <p:spPr>
          <a:xfrm>
            <a:off x="623300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 Revenue</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of 43.7M</a:t>
            </a:r>
          </a:p>
        </p:txBody>
      </p:sp>
      <p:sp>
        <p:nvSpPr>
          <p:cNvPr id="23" name="Rounded Rectangle 22"/>
          <p:cNvSpPr/>
          <p:nvPr/>
        </p:nvSpPr>
        <p:spPr>
          <a:xfrm>
            <a:off x="895334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Orders If Gap Closes</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orders,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tracks fewer purchases than Shopify (about 31% of orders), so read the counts as directional; we use the rates, not the absolutes, and the gap holds regardless of the undercount. Revenue split is Shopify (source of truth): new customers are 26% of orders and 25% of revenue. The lever to close the gap is removing the biggest new buyer hesitations: taste clarity first, then legality reassurance and a believable delivery promise. Every new customer converted compounds, because they become the returning base that already drives 75% of revenue.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The realized blended discount is only 3.4%, so the on-site "-45%" flags are theatre, not margin loss.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 boxes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to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Subscription (3 tiers)</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orders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SKUs (THE FANTINI BOX, XL Introlåda) = 26.5% of net sales. Top 30 SKUs (6% of the catalog) = 80%. The AOV lever is a box ladder (move the 567 SEK buyer up to the 700 SEK+ premium tiers) plus growing the existing subscription sign ups, not more discounting.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Proven Winners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Wins We Have Shipped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same levers in this roadmap, run as A/B tests for other EU ecom brands. Client names under NDA, every one lifted revenue per visitor.</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(ON THE 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Trust section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add to cart</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Volume discount display</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Product trust tags</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Quantity selector 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Above the fold redesign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Six A/B tests EcomHouse ran for other EU ecommerce brands (client names under NDA), all on product pages and all run to statistical significance (86 to 96%). They map directly to this roadmap: trust, sticky add to cart, and volume or quantity offers. Every one lifted revenue per visitor, the same northstar we are optimising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impact and evidence. Fix trust and the cart leak first, then the product page and delivery experience, then the polish and the plumbing.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Sequenced by leverage on revenue per visitor. Measurement first because it multiplies every other lever and every paid krona.</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EFFORT</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 GTM + Consent Mode modeling + Meta server side tracking; consolidate to one GA4</a:t>
                      </a:r>
                    </a:p>
                  </a:txBody>
                  <a:tcPr marL="73152" marR="73152" marT="18288" marB="18288" anchor="ctr">
                    <a:solidFill>
                      <a:srgbClr val="000000"/>
                    </a:solidFill>
                  </a:tcPr>
                </a:tc>
                <a:tc>
                  <a:txBody>
                    <a:bodyPr wrap="square"/>
                    <a:lstStyle/>
                    <a:p>
                      <a:pPr algn="l"/>
                      <a:r>
                        <a:rPr sz="900" b="0">
                          <a:solidFill>
                            <a:srgbClr val="EFEEEE"/>
                          </a:solidFill>
                          <a:latin typeface="Helvetica Neue"/>
                        </a:rPr>
                        <a:t>Unlocks true RPV and feeds the ad algorithms 3x the conversion signal, lifting ROAS on the same spend</a:t>
                      </a:r>
                    </a:p>
                  </a:txBody>
                  <a:tcPr marL="73152" marR="73152" marT="18288" marB="18288" anchor="ctr">
                    <a:solidFill>
                      <a:srgbClr val="000000"/>
                    </a:solidFill>
                  </a:tcPr>
                </a:tc>
                <a:tc>
                  <a:txBody>
                    <a:bodyPr wrap="square"/>
                    <a:lstStyle/>
                    <a:p>
                      <a:pPr algn="r"/>
                      <a:r>
                        <a:rPr sz="900" b="0">
                          <a:solidFill>
                            <a:srgbClr val="EFEEEE"/>
                          </a:solidFill>
                          <a:latin typeface="Menlo"/>
                        </a:rPr>
                        <a:t>High</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EFEEEE"/>
                          </a:solidFill>
                          <a:latin typeface="Helvetica Neue"/>
                        </a:rPr>
                        <a:t>Grow the existing subscription (Wine, Gin, Champagne 749-849 SEK): showcase it, add sign up prompts at product page and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Repeat is already strong (66%); a bigger subscription base turns it into predictable recurring RPV</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900" b="0">
                          <a:solidFill>
                            <a:srgbClr val="EFEEEE"/>
                          </a:solidFill>
                          <a:latin typeface="Helvetica Neue"/>
                        </a:rPr>
                        <a:t>Anchor and upsell 567 SEK buyers to 700 SEK+ boxes; Rebuy cart add ons; tune free ship threshold</a:t>
                      </a:r>
                    </a:p>
                  </a:txBody>
                  <a:tcPr marL="73152" marR="73152" marT="18288" marB="18288" anchor="ctr">
                    <a:solidFill>
                      <a:srgbClr val="000000"/>
                    </a:solidFill>
                  </a:tcPr>
                </a:tc>
                <a:tc>
                  <a:txBody>
                    <a:bodyPr wrap="square"/>
                    <a:lstStyle/>
                    <a:p>
                      <a:pPr algn="l"/>
                      <a:r>
                        <a:rPr sz="900" b="0">
                          <a:solidFill>
                            <a:srgbClr val="EFEEEE"/>
                          </a:solidFill>
                          <a:latin typeface="Helvetica Neue"/>
                        </a:rPr>
                        <a:t>Boxes are 76% of revenue; moving box tier and sign ups rate lifts the AOV half of RPV without new traffic</a:t>
                      </a:r>
                    </a:p>
                  </a:txBody>
                  <a:tcPr marL="73152" marR="73152" marT="18288" marB="18288" anchor="ctr">
                    <a:solidFill>
                      <a:srgbClr val="000000"/>
                    </a:solidFill>
                  </a:tcPr>
                </a:tc>
                <a:tc>
                  <a:txBody>
                    <a:bodyPr wrap="square"/>
                    <a:lstStyle/>
                    <a:p>
                      <a:pPr algn="r"/>
                      <a:r>
                        <a:rPr sz="900" b="0">
                          <a:solidFill>
                            <a:srgbClr val="EFEEEE"/>
                          </a:solidFill>
                          <a:latin typeface="Menlo"/>
                        </a:rPr>
                        <a:t>Med</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900" b="0">
                          <a:solidFill>
                            <a:srgbClr val="EFEEEE"/>
                          </a:solidFill>
                          <a:latin typeface="Helvetica Neue"/>
                        </a:rPr>
                        <a:t>Taste profiles on every box + legality trust block + honest delivery promise + cart shipping clarity</a:t>
                      </a:r>
                    </a:p>
                  </a:txBody>
                  <a:tcPr marL="73152" marR="73152" marT="18288" marB="18288" anchor="ctr">
                    <a:solidFill>
                      <a:srgbClr val="0B0B0B"/>
                    </a:solidFill>
                  </a:tcPr>
                </a:tc>
                <a:tc>
                  <a:txBody>
                    <a:bodyPr wrap="square"/>
                    <a:lstStyle/>
                    <a:p>
                      <a:pPr algn="l"/>
                      <a:r>
                        <a:rPr sz="900" b="0">
                          <a:solidFill>
                            <a:srgbClr val="EFEEEE"/>
                          </a:solidFill>
                          <a:latin typeface="Helvetica Neue"/>
                        </a:rPr>
                        <a:t>Lifts the conversion half of RPV by closing the new customer gap (2.62% vs 3.42% returning), and new visitors are most of the traffic</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900" b="0">
                          <a:solidFill>
                            <a:srgbClr val="EFEEEE"/>
                          </a:solidFill>
                          <a:latin typeface="Helvetica Neue"/>
                        </a:rPr>
                        <a:t>Grow organic search and balance the paid social mix (49% direct, 33% Meta today)</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cheaper traffic de risks the ~33% paid social dependence and steadies blended RPV</a:t>
                      </a:r>
                    </a:p>
                  </a:txBody>
                  <a:tcPr marL="73152" marR="73152" marT="18288" marB="18288" anchor="ctr">
                    <a:solidFill>
                      <a:srgbClr val="000000"/>
                    </a:solidFill>
                  </a:tcPr>
                </a:tc>
                <a:tc>
                  <a:txBody>
                    <a:bodyPr wrap="square"/>
                    <a:lstStyle/>
                    <a:p>
                      <a:pPr algn="r"/>
                      <a:r>
                        <a:rPr sz="900" b="0">
                          <a:solidFill>
                            <a:srgbClr val="EFEEEE"/>
                          </a:solidFill>
                          <a:latin typeface="Menlo"/>
                        </a:rPr>
                        <a:t>Strategic</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Levers 1 and 2 are the RPV multipliers. Levers 3 and 4 are the CRO roadmap that follows. Lever 5 protects the whole system.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Expected Uplift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90 Days of CRO Is Worth</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program lifts revenue per visitor by removing buyer hesitation (taste, legality, delivery) so more of today's visitors buy, and by nudging order value up. A 5 to 10% RPV lift in 90 days also builds the conversion foundation to capture the holiday traffic peak, when the same fixes pay back on far more traffic.</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Uplift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 day target</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Target 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from 99 SEK today</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 90 days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 the current base</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Annualized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before holiday upside</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TODAY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TARGET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HOW</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Checkout completion</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Delivery clarity, legality reassurance, fewer website errors</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Add to cart</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Clearer taste and trust on product pages</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Average order value</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to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Box ladder, add-ons, subscription sign ups</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Modeled on the Shopify 90 day base, a conservative 5 to 10% RPV lift. The levers are the cheapest and highest intent ones: recover checkout, lift add to cart with clearer taste and trust, and nudge order value. The bigger prize is timing: a stronger conversion base before the holiday season means the store converts more of the seasonal spike, not just today's traffic.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Do First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Two Trust Levers</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product page / Cart</a:t>
                      </a:r>
                    </a:p>
                  </a:txBody>
                  <a:tcPr marL="73152" marR="73152" marT="18288" marB="18288" anchor="ctr">
                    <a:solidFill>
                      <a:srgbClr val="000000"/>
                    </a:solidFill>
                  </a:tcPr>
                </a:tc>
                <a:tc>
                  <a:txBody>
                    <a:bodyPr wrap="square"/>
                    <a:lstStyle/>
                    <a:p>
                      <a:pPr algn="l"/>
                      <a:r>
                        <a:rPr sz="900" b="0">
                          <a:solidFill>
                            <a:srgbClr val="EFEEEE"/>
                          </a:solidFill>
                          <a:latin typeface="Helvetica Neue"/>
                        </a:rPr>
                        <a:t>Add a plain language legality trust block (lawful Danish import, tax included, age verified,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Neutralizing the monopoly doubt lifts first time buyer add to cart and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Zero on-site legality copy; fraud language in reviews; KRAN and Winefamly reassure</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Delivery promise</a:t>
                      </a:r>
                    </a:p>
                  </a:txBody>
                  <a:tcPr marL="73152" marR="73152" marT="18288" marB="18288" anchor="ctr">
                    <a:solidFill>
                      <a:srgbClr val="0B0B0B"/>
                    </a:solidFill>
                  </a:tcPr>
                </a:tc>
                <a:tc>
                  <a:txBody>
                    <a:bodyPr wrap="square"/>
                    <a:lstStyle/>
                    <a:p>
                      <a:pPr algn="l"/>
                      <a:r>
                        <a:rPr sz="900" b="0">
                          <a:solidFill>
                            <a:srgbClr val="EFEEEE"/>
                          </a:solidFill>
                          <a:latin typeface="Helvetica Neue"/>
                        </a:rPr>
                        <a:t>Replace "1-3 dagar" with an honest order specific ETA and proactive status updates</a:t>
                      </a:r>
                    </a:p>
                  </a:txBody>
                  <a:tcPr marL="73152" marR="73152" marT="18288" marB="18288" anchor="ctr">
                    <a:solidFill>
                      <a:srgbClr val="0B0B0B"/>
                    </a:solidFill>
                  </a:tcPr>
                </a:tc>
                <a:tc>
                  <a:txBody>
                    <a:bodyPr wrap="square"/>
                    <a:lstStyle/>
                    <a:p>
                      <a:pPr algn="l"/>
                      <a:r>
                        <a:rPr sz="900" b="0">
                          <a:solidFill>
                            <a:srgbClr val="EFEEEE"/>
                          </a:solidFill>
                          <a:latin typeface="Helvetica Neue"/>
                        </a:rPr>
                        <a:t>An accurate promise cuts the negative tail and protects repeat revenue</a:t>
                      </a:r>
                    </a:p>
                  </a:txBody>
                  <a:tcPr marL="73152" marR="73152" marT="18288" marB="18288" anchor="ctr">
                    <a:solidFill>
                      <a:srgbClr val="0B0B0B"/>
                    </a:solidFill>
                  </a:tcPr>
                </a:tc>
                <a:tc>
                  <a:txBody>
                    <a:bodyPr wrap="square"/>
                    <a:lstStyle/>
                    <a:p>
                      <a:pPr algn="l"/>
                      <a:r>
                        <a:rPr sz="900" b="0">
                          <a:solidFill>
                            <a:srgbClr val="EFEEEE"/>
                          </a:solidFill>
                          <a:latin typeface="Helvetica Neue"/>
                        </a:rPr>
                        <a:t>86% of complaints, 31% cite the broken promise, repeat buyers churning</a:t>
                      </a:r>
                    </a:p>
                  </a:txBody>
                  <a:tcPr marL="73152" marR="73152" marT="18288" marB="18288" anchor="ctr">
                    <a:solidFill>
                      <a:srgbClr val="0B0B0B"/>
                    </a:solidFill>
                  </a:tcPr>
                </a:tc>
                <a:tc>
                  <a:txBody>
                    <a:bodyPr wrap="square"/>
                    <a:lstStyle/>
                    <a:p>
                      <a:pPr algn="r"/>
                      <a:r>
                        <a:rPr sz="900" b="0">
                          <a:solidFill>
                            <a:srgbClr val="F7D007"/>
                          </a:solidFill>
                          <a:latin typeface="Menlo"/>
                        </a:rPr>
                        <a:t>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Cart to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Surface shipping rule and free ship threshold in cart, add a clear continue step</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the shipping surprise recovers the largest abandonment pool</a:t>
                      </a:r>
                    </a:p>
                  </a:txBody>
                  <a:tcPr marL="73152" marR="73152" marT="18288" marB="18288" anchor="ctr">
                    <a:solidFill>
                      <a:srgbClr val="000000"/>
                    </a:solidFill>
                  </a:tcPr>
                </a:tc>
                <a:tc>
                  <a:txBody>
                    <a:bodyPr wrap="square"/>
                    <a:lstStyle/>
                    <a:p>
                      <a:pPr algn="l"/>
                      <a:r>
                        <a:rPr sz="900" b="0">
                          <a:solidFill>
                            <a:srgbClr val="EFEEEE"/>
                          </a:solidFill>
                          <a:latin typeface="Helvetica Neue"/>
                        </a:rPr>
                        <a:t>60.2% cart abandonment, 32,859 users/90 days; free ship confusion in reviews</a:t>
                      </a:r>
                    </a:p>
                  </a:txBody>
                  <a:tcPr marL="73152" marR="73152" marT="18288" marB="18288" anchor="ctr">
                    <a:solidFill>
                      <a:srgbClr val="000000"/>
                    </a:solidFill>
                  </a:tcPr>
                </a:tc>
                <a:tc>
                  <a:txBody>
                    <a:bodyPr wrap="square"/>
                    <a:lstStyle/>
                    <a:p>
                      <a:pPr algn="r"/>
                      <a:r>
                        <a:rPr sz="900" b="0">
                          <a:solidFill>
                            <a:srgbClr val="F7D007"/>
                          </a:solidFill>
                          <a:latin typeface="Menlo"/>
                        </a:rPr>
                        <a:t>1.5 to 1.8M SEK/qtr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Do Next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Conversion and Product Depth</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Diagnose and clear the website errors, verify payment path on mobile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checkout errors recovers the highest intent, cheapest audience</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 abandonment; 90+ JS errors per load</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 product page</a:t>
                      </a:r>
                    </a:p>
                  </a:txBody>
                  <a:tcPr marL="73152" marR="73152" marT="18288" marB="18288" anchor="ctr">
                    <a:solidFill>
                      <a:srgbClr val="0B0B0B"/>
                    </a:solidFill>
                  </a:tcPr>
                </a:tc>
                <a:tc>
                  <a:txBody>
                    <a:bodyPr wrap="square"/>
                    <a:lstStyle/>
                    <a:p>
                      <a:pPr algn="l"/>
                      <a:r>
                        <a:rPr sz="900" b="0">
                          <a:solidFill>
                            <a:srgbClr val="EFEEEE"/>
                          </a:solidFill>
                          <a:latin typeface="Helvetica Neue"/>
                        </a:rPr>
                        <a:t>Add per wine detail: grape, region, dry to sweet scale, Vivino score, more images</a:t>
                      </a:r>
                    </a:p>
                  </a:txBody>
                  <a:tcPr marL="73152" marR="73152" marT="18288" marB="18288" anchor="ctr">
                    <a:solidFill>
                      <a:srgbClr val="0B0B0B"/>
                    </a:solidFill>
                  </a:tcPr>
                </a:tc>
                <a:tc>
                  <a:txBody>
                    <a:bodyPr wrap="square"/>
                    <a:lstStyle/>
                    <a:p>
                      <a:pPr algn="l"/>
                      <a:r>
                        <a:rPr sz="900" b="0">
                          <a:solidFill>
                            <a:srgbClr val="EFEEEE"/>
                          </a:solidFill>
                          <a:latin typeface="Helvetica Neue"/>
                        </a:rPr>
                        <a:t>Turning a blind box into an informed pick lifts add to cart and cuts taste complaints</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taste complaints; 3 images only</a:t>
                      </a:r>
                    </a:p>
                  </a:txBody>
                  <a:tcPr marL="73152" marR="73152" marT="18288" marB="18288" anchor="ctr">
                    <a:solidFill>
                      <a:srgbClr val="0B0B0B"/>
                    </a:solidFill>
                  </a:tcPr>
                </a:tc>
                <a:tc>
                  <a:txBody>
                    <a:bodyPr wrap="square"/>
                    <a:lstStyle/>
                    <a:p>
                      <a:pPr algn="r"/>
                      <a:r>
                        <a:rPr sz="900" b="0">
                          <a:solidFill>
                            <a:srgbClr val="F7D007"/>
                          </a:solidFill>
                          <a:latin typeface="Menlo"/>
                        </a:rPr>
                        <a:t>Med to 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Delivery UX</a:t>
                      </a:r>
                    </a:p>
                  </a:txBody>
                  <a:tcPr marL="73152" marR="73152" marT="18288" marB="18288" anchor="ctr">
                    <a:solidFill>
                      <a:srgbClr val="000000"/>
                    </a:solidFill>
                  </a:tcPr>
                </a:tc>
                <a:tc>
                  <a:txBody>
                    <a:bodyPr wrap="square"/>
                    <a:lstStyle/>
                    <a:p>
                      <a:pPr algn="l"/>
                      <a:r>
                        <a:rPr sz="900" b="0">
                          <a:solidFill>
                            <a:srgbClr val="EFEEEE"/>
                          </a:solidFill>
                          <a:latin typeface="Helvetica Neue"/>
                        </a:rPr>
                        <a:t>Let customers choose a delivery day/window, align carrier expectations</a:t>
                      </a:r>
                    </a:p>
                  </a:txBody>
                  <a:tcPr marL="73152" marR="73152" marT="18288" marB="18288" anchor="ctr">
                    <a:solidFill>
                      <a:srgbClr val="000000"/>
                    </a:solidFill>
                  </a:tcPr>
                </a:tc>
                <a:tc>
                  <a:txBody>
                    <a:bodyPr wrap="square"/>
                    <a:lstStyle/>
                    <a:p>
                      <a:pPr algn="l"/>
                      <a:r>
                        <a:rPr sz="900" b="0">
                          <a:solidFill>
                            <a:srgbClr val="EFEEEE"/>
                          </a:solidFill>
                          <a:latin typeface="Helvetica Neue"/>
                        </a:rPr>
                        <a:t>Solving the be home problem reduces cancellations and 1 to 3 star reviews</a:t>
                      </a:r>
                    </a:p>
                  </a:txBody>
                  <a:tcPr marL="73152" marR="73152" marT="18288" marB="18288" anchor="ctr">
                    <a:solidFill>
                      <a:srgbClr val="000000"/>
                    </a:solidFill>
                  </a:tcPr>
                </a:tc>
                <a:tc>
                  <a:txBody>
                    <a:bodyPr wrap="square"/>
                    <a:lstStyle/>
                    <a:p>
                      <a:pPr algn="l"/>
                      <a:r>
                        <a:rPr sz="900" b="0">
                          <a:solidFill>
                            <a:srgbClr val="EFEEEE"/>
                          </a:solidFill>
                          <a:latin typeface="Helvetica Neue"/>
                        </a:rPr>
                        <a:t>23% cite the cancelled window / be home problem</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Collection</a:t>
                      </a:r>
                    </a:p>
                  </a:txBody>
                  <a:tcPr marL="73152" marR="73152" marT="18288" marB="18288" anchor="ctr">
                    <a:solidFill>
                      <a:srgbClr val="0B0B0B"/>
                    </a:solidFill>
                  </a:tcPr>
                </a:tc>
                <a:tc>
                  <a:txBody>
                    <a:bodyPr wrap="square"/>
                    <a:lstStyle/>
                    <a:p>
                      <a:pPr algn="l"/>
                      <a:r>
                        <a:rPr sz="900" b="0">
                          <a:solidFill>
                            <a:srgbClr val="EFEEEE"/>
                          </a:solidFill>
                          <a:latin typeface="Helvetica Neue"/>
                        </a:rPr>
                        <a:t>Box first layout, stronger faceted filtering (grape, sweetness, occasion)</a:t>
                      </a:r>
                    </a:p>
                  </a:txBody>
                  <a:tcPr marL="73152" marR="73152" marT="18288" marB="18288" anchor="ctr">
                    <a:solidFill>
                      <a:srgbClr val="0B0B0B"/>
                    </a:solidFill>
                  </a:tcPr>
                </a:tc>
                <a:tc>
                  <a:txBody>
                    <a:bodyPr wrap="square"/>
                    <a:lstStyle/>
                    <a:p>
                      <a:pPr algn="l"/>
                      <a:r>
                        <a:rPr sz="900" b="0">
                          <a:solidFill>
                            <a:srgbClr val="EFEEEE"/>
                          </a:solidFill>
                          <a:latin typeface="Helvetica Neue"/>
                        </a:rPr>
                        <a:t>Better discovery lifts the collection page from 2.6% toward box level CVR</a:t>
                      </a:r>
                    </a:p>
                  </a:txBody>
                  <a:tcPr marL="73152" marR="73152" marT="18288" marB="18288" anchor="ctr">
                    <a:solidFill>
                      <a:srgbClr val="0B0B0B"/>
                    </a:solidFill>
                  </a:tcPr>
                </a:tc>
                <a:tc>
                  <a:txBody>
                    <a:bodyPr wrap="square"/>
                    <a:lstStyle/>
                    <a:p>
                      <a:pPr algn="l"/>
                      <a:r>
                        <a:rPr sz="900" b="0">
                          <a:solidFill>
                            <a:srgbClr val="EFEEEE"/>
                          </a:solidFill>
                          <a:latin typeface="Helvetica Neue"/>
                        </a:rPr>
                        <a:t>Collection 2.6% vs boxes 4 to 5.5%; requests for a sortable list</a:t>
                      </a:r>
                    </a:p>
                  </a:txBody>
                  <a:tcPr marL="73152" marR="73152" marT="18288" marB="18288" anchor="ctr">
                    <a:solidFill>
                      <a:srgbClr val="0B0B0B"/>
                    </a:solidFill>
                  </a:tcPr>
                </a:tc>
                <a:tc>
                  <a:txBody>
                    <a:bodyPr wrap="square"/>
                    <a:lstStyle/>
                    <a:p>
                      <a:pPr algn="r"/>
                      <a:r>
                        <a:rPr sz="900" b="0">
                          <a:solidFill>
                            <a:srgbClr val="F7D007"/>
                          </a:solidFill>
                          <a:latin typeface="Menlo"/>
                        </a:rPr>
                        <a:t>Med</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Polish and Plumbing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Up and De Risk</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Entry</a:t>
                      </a:r>
                    </a:p>
                  </a:txBody>
                  <a:tcPr marL="73152" marR="73152" marT="18288" marB="18288" anchor="ctr">
                    <a:solidFill>
                      <a:srgbClr val="000000"/>
                    </a:solidFill>
                  </a:tcPr>
                </a:tc>
                <a:tc>
                  <a:txBody>
                    <a:bodyPr wrap="square"/>
                    <a:lstStyle/>
                    <a:p>
                      <a:pPr algn="l"/>
                      <a:r>
                        <a:rPr sz="900" b="0">
                          <a:solidFill>
                            <a:srgbClr val="EFEEEE"/>
                          </a:solidFill>
                          <a:latin typeface="Helvetica Neue"/>
                        </a:rPr>
                        <a:t>Merge age gate and spin wheel into one step, remember the choice</a:t>
                      </a:r>
                    </a:p>
                  </a:txBody>
                  <a:tcPr marL="73152" marR="73152" marT="18288" marB="18288" anchor="ctr">
                    <a:solidFill>
                      <a:srgbClr val="000000"/>
                    </a:solidFill>
                  </a:tcPr>
                </a:tc>
                <a:tc>
                  <a:txBody>
                    <a:bodyPr wrap="square"/>
                    <a:lstStyle/>
                    <a:p>
                      <a:pPr algn="l"/>
                      <a:r>
                        <a:rPr sz="900" b="0">
                          <a:solidFill>
                            <a:srgbClr val="EFEEEE"/>
                          </a:solidFill>
                          <a:latin typeface="Helvetica Neue"/>
                        </a:rPr>
                        <a:t>One clean gate reduces entry friction on cold paid traffic</a:t>
                      </a:r>
                    </a:p>
                  </a:txBody>
                  <a:tcPr marL="73152" marR="73152" marT="18288" marB="18288" anchor="ctr">
                    <a:solidFill>
                      <a:srgbClr val="000000"/>
                    </a:solidFill>
                  </a:tcPr>
                </a:tc>
                <a:tc>
                  <a:txBody>
                    <a:bodyPr wrap="square"/>
                    <a:lstStyle/>
                    <a:p>
                      <a:pPr algn="l"/>
                      <a:r>
                        <a:rPr sz="900" b="0">
                          <a:solidFill>
                            <a:srgbClr val="EFEEEE"/>
                          </a:solidFill>
                          <a:latin typeface="Helvetica Neue"/>
                        </a:rPr>
                        <a:t>Double popup verified on mobile; 41% cold Facebook traffic</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Fix homepage conversion tag, consolidate to one GA4, remove dead UA</a:t>
                      </a:r>
                    </a:p>
                  </a:txBody>
                  <a:tcPr marL="73152" marR="73152" marT="18288" marB="18288" anchor="ctr">
                    <a:solidFill>
                      <a:srgbClr val="0B0B0B"/>
                    </a:solidFill>
                  </a:tcPr>
                </a:tc>
                <a:tc>
                  <a:txBody>
                    <a:bodyPr wrap="square"/>
                    <a:lstStyle/>
                    <a:p>
                      <a:pPr algn="l"/>
                      <a:r>
                        <a:rPr sz="900" b="0">
                          <a:solidFill>
                            <a:srgbClr val="EFEEEE"/>
                          </a:solidFill>
                          <a:latin typeface="Helvetica Neue"/>
                        </a:rPr>
                        <a:t>Clean data improves ad optimization and decision quality</a:t>
                      </a:r>
                    </a:p>
                  </a:txBody>
                  <a:tcPr marL="73152" marR="73152" marT="18288" marB="18288" anchor="ctr">
                    <a:solidFill>
                      <a:srgbClr val="0B0B0B"/>
                    </a:solidFill>
                  </a:tcPr>
                </a:tc>
                <a:tc>
                  <a:txBody>
                    <a:bodyPr wrap="square"/>
                    <a:lstStyle/>
                    <a:p>
                      <a:pPr algn="l"/>
                      <a:r>
                        <a:rPr sz="900" b="0">
                          <a:solidFill>
                            <a:srgbClr val="EFEEEE"/>
                          </a:solidFill>
                          <a:latin typeface="Helvetica Neue"/>
                        </a:rPr>
                        <a:t>Conversion on pageview; 4 GA4 + dead UA verified</a:t>
                      </a:r>
                    </a:p>
                  </a:txBody>
                  <a:tcPr marL="73152" marR="73152" marT="18288" marB="18288" anchor="ctr">
                    <a:solidFill>
                      <a:srgbClr val="0B0B0B"/>
                    </a:solidFill>
                  </a:tcPr>
                </a:tc>
                <a:tc>
                  <a:txBody>
                    <a:bodyPr wrap="square"/>
                    <a:lstStyle/>
                    <a:p>
                      <a:pPr algn="r"/>
                      <a:r>
                        <a:rPr sz="900" b="0">
                          <a:solidFill>
                            <a:srgbClr val="F7D007"/>
                          </a:solidFill>
                          <a:latin typeface="Menlo"/>
                        </a:rPr>
                        <a:t>High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Trust marks</a:t>
                      </a:r>
                    </a:p>
                  </a:txBody>
                  <a:tcPr marL="73152" marR="73152" marT="18288" marB="18288" anchor="ctr">
                    <a:solidFill>
                      <a:srgbClr val="000000"/>
                    </a:solidFill>
                  </a:tcPr>
                </a:tc>
                <a:tc>
                  <a:txBody>
                    <a:bodyPr wrap="square"/>
                    <a:lstStyle/>
                    <a:p>
                      <a:pPr algn="l"/>
                      <a:r>
                        <a:rPr sz="900" b="0">
                          <a:solidFill>
                            <a:srgbClr val="EFEEEE"/>
                          </a:solidFill>
                          <a:latin typeface="Helvetica Neue"/>
                        </a:rPr>
                        <a:t>Add Trygg E-handel, surface Danish operator and Løvens Hule higher up</a:t>
                      </a:r>
                    </a:p>
                  </a:txBody>
                  <a:tcPr marL="73152" marR="73152" marT="18288" marB="18288" anchor="ctr">
                    <a:solidFill>
                      <a:srgbClr val="000000"/>
                    </a:solidFill>
                  </a:tcPr>
                </a:tc>
                <a:tc>
                  <a:txBody>
                    <a:bodyPr wrap="square"/>
                    <a:lstStyle/>
                    <a:p>
                      <a:pPr algn="l"/>
                      <a:r>
                        <a:rPr sz="900" b="0">
                          <a:solidFill>
                            <a:srgbClr val="EFEEEE"/>
                          </a:solidFill>
                          <a:latin typeface="Helvetica Neue"/>
                        </a:rPr>
                        <a:t>Recognized Swedish trust marks lift legitimacy for new buyers</a:t>
                      </a:r>
                    </a:p>
                  </a:txBody>
                  <a:tcPr marL="73152" marR="73152" marT="18288" marB="18288" anchor="ctr">
                    <a:solidFill>
                      <a:srgbClr val="000000"/>
                    </a:solidFill>
                  </a:tcPr>
                </a:tc>
                <a:tc>
                  <a:txBody>
                    <a:bodyPr wrap="square"/>
                    <a:lstStyle/>
                    <a:p>
                      <a:pPr algn="l"/>
                      <a:r>
                        <a:rPr sz="900" b="0">
                          <a:solidFill>
                            <a:srgbClr val="EFEEEE"/>
                          </a:solidFill>
                          <a:latin typeface="Helvetica Neue"/>
                        </a:rPr>
                        <a:t>3 of 4 rivals show Trygg; assets buried in footer</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Localization</a:t>
                      </a:r>
                    </a:p>
                  </a:txBody>
                  <a:tcPr marL="73152" marR="73152" marT="18288" marB="18288" anchor="ctr">
                    <a:solidFill>
                      <a:srgbClr val="0B0B0B"/>
                    </a:solidFill>
                  </a:tcPr>
                </a:tc>
                <a:tc>
                  <a:txBody>
                    <a:bodyPr wrap="square"/>
                    <a:lstStyle/>
                    <a:p>
                      <a:pPr algn="l"/>
                      <a:r>
                        <a:rPr sz="900" b="0">
                          <a:solidFill>
                            <a:srgbClr val="EFEEEE"/>
                          </a:solidFill>
                          <a:latin typeface="Helvetica Neue"/>
                        </a:rPr>
                        <a:t>Remove Danish leaks ("Kjøb", "Smagekasser") and the stray .dk Trustpilot 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Full Swedish polish removes trust dissonance</a:t>
                      </a:r>
                    </a:p>
                  </a:txBody>
                  <a:tcPr marL="73152" marR="73152" marT="18288" marB="18288" anchor="ctr">
                    <a:solidFill>
                      <a:srgbClr val="0B0B0B"/>
                    </a:solidFill>
                  </a:tcPr>
                </a:tc>
                <a:tc>
                  <a:txBody>
                    <a:bodyPr wrap="square"/>
                    <a:lstStyle/>
                    <a:p>
                      <a:pPr algn="l"/>
                      <a:r>
                        <a:rPr sz="900" b="0">
                          <a:solidFill>
                            <a:srgbClr val="EFEEEE"/>
                          </a:solidFill>
                          <a:latin typeface="Helvetica Neue"/>
                        </a:rPr>
                        <a:t>Danish page title + .dk widget shown to Swedes</a:t>
                      </a:r>
                    </a:p>
                  </a:txBody>
                  <a:tcPr marL="73152" marR="73152" marT="18288" marB="18288" anchor="ctr">
                    <a:solidFill>
                      <a:srgbClr val="0B0B0B"/>
                    </a:solidFill>
                  </a:tcPr>
                </a:tc>
                <a:tc>
                  <a:txBody>
                    <a:bodyPr wrap="square"/>
                    <a:lstStyle/>
                    <a:p>
                      <a:pPr algn="r"/>
                      <a:r>
                        <a:rPr sz="900" b="0">
                          <a:solidFill>
                            <a:srgbClr val="F7D007"/>
                          </a:solidFill>
                          <a:latin typeface="Menlo"/>
                        </a:rPr>
                        <a:t>Low</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Owned channels</a:t>
                      </a:r>
                    </a:p>
                  </a:txBody>
                  <a:tcPr marL="73152" marR="73152" marT="18288" marB="18288" anchor="ctr">
                    <a:solidFill>
                      <a:srgbClr val="000000"/>
                    </a:solidFill>
                  </a:tcPr>
                </a:tc>
                <a:tc>
                  <a:txBody>
                    <a:bodyPr wrap="square"/>
                    <a:lstStyle/>
                    <a:p>
                      <a:pPr algn="l"/>
                      <a:r>
                        <a:rPr sz="900" b="0">
                          <a:solidFill>
                            <a:srgbClr val="EFEEEE"/>
                          </a:solidFill>
                          <a:latin typeface="Helvetica Neue"/>
                        </a:rPr>
                        <a:t>Grow email and search to balance the ~33% paid social share</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demand de risks the whole business</a:t>
                      </a:r>
                    </a:p>
                  </a:txBody>
                  <a:tcPr marL="73152" marR="73152" marT="18288" marB="18288" anchor="ctr">
                    <a:solidFill>
                      <a:srgbClr val="000000"/>
                    </a:solidFill>
                  </a:tcPr>
                </a:tc>
                <a:tc>
                  <a:txBody>
                    <a:bodyPr wrap="square"/>
                    <a:lstStyle/>
                    <a:p>
                      <a:pPr algn="l"/>
                      <a:r>
                        <a:rPr sz="900" b="0">
                          <a:solidFill>
                            <a:srgbClr val="EFEEEE"/>
                          </a:solidFill>
                          <a:latin typeface="Helvetica Neue"/>
                        </a:rPr>
                        <a:t>Paid social ~33% of sessions; tagged email ~1% of sessions yet ~16% of orders, barely instrumented</a:t>
                      </a:r>
                    </a:p>
                  </a:txBody>
                  <a:tcPr marL="73152" marR="73152" marT="18288" marB="18288" anchor="ctr">
                    <a:solidFill>
                      <a:srgbClr val="000000"/>
                    </a:solidFill>
                  </a:tcPr>
                </a:tc>
                <a:tc>
                  <a:txBody>
                    <a:bodyPr wrap="square"/>
                    <a:lstStyle/>
                    <a:p>
                      <a:pPr algn="r"/>
                      <a:r>
                        <a:rPr sz="900" b="0">
                          <a:solidFill>
                            <a:srgbClr val="F7D007"/>
                          </a:solidFill>
                          <a:latin typeface="Menlo"/>
                        </a:rPr>
                        <a:t>Strategic</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One Page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If You Do Only Three Things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These three sit at the intersection of biggest evidence and lowest effort. Start here.</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A visible "why this is legal" block on product page and cart, with the age check, Danish import model, tax included, and your 4.7 Trustpilot proof.</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Lifts first time buyers</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Replace "1-3 dagar" with an honest ETA and proactive updates. Protects the 40% of revenue that comes from repeat buyers.</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Kills 86% of complaints at the source</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Surface shipping rules in cart and add a clear continue step. 60.2% of carts never reach checkout today.</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per quarter at current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Thank You</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Recommended first sprint: legality trust block, delivery promise, cart shipping clarity</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Bhaskar Roy · CRO 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