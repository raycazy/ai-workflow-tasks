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Rectangle 6"/>
          <p:cNvSpPr/>
          <p:nvPr/>
        </p:nvSpPr>
        <p:spPr>
          <a:xfrm>
            <a:off x="731520" y="1371600"/>
            <a:ext cx="192024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192024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9" name="TextBox 8"/>
          <p:cNvSpPr txBox="1"/>
          <p:nvPr/>
        </p:nvSpPr>
        <p:spPr>
          <a:xfrm>
            <a:off x="731520" y="2286000"/>
            <a:ext cx="10058400" cy="2377440"/>
          </a:xfrm>
          <a:prstGeom prst="rect">
            <a:avLst/>
          </a:prstGeom>
          <a:noFill/>
        </p:spPr>
        <p:txBody>
          <a:bodyPr wrap="square" lIns="0" rIns="0" tIns="0" bIns="0" anchor="t">
            <a:spAutoFit/>
          </a:bodyPr>
          <a:lstStyle/>
          <a:p>
            <a:pPr algn="l">
              <a:lnSpc>
                <a:spcPct val="100000"/>
              </a:lnSpc>
            </a:pPr>
            <a:r>
              <a:rPr sz="5200" b="1" i="0">
                <a:solidFill>
                  <a:srgbClr val="F7D007"/>
                </a:solidFill>
                <a:latin typeface="Helvetica Neue"/>
              </a:rPr>
              <a:t>dittvin.se</a:t>
            </a:r>
          </a:p>
          <a:p>
            <a:pPr algn="l">
              <a:lnSpc>
                <a:spcPct val="100000"/>
              </a:lnSpc>
            </a:pPr>
            <a:r>
              <a:rPr sz="4400" b="1" i="0">
                <a:solidFill>
                  <a:srgbClr val="FFFFFF"/>
                </a:solidFill>
                <a:latin typeface="Helvetica Neue"/>
              </a:rPr>
              <a:t>The numbers say you are</a:t>
            </a:r>
          </a:p>
          <a:p>
            <a:pPr algn="l">
              <a:lnSpc>
                <a:spcPct val="100000"/>
              </a:lnSpc>
            </a:pPr>
            <a:r>
              <a:rPr sz="4400" b="1" i="0">
                <a:solidFill>
                  <a:srgbClr val="FFFFFF"/>
                </a:solidFill>
                <a:latin typeface="Helvetica Neue"/>
              </a:rPr>
              <a:t>bigger than you think.</a:t>
            </a:r>
          </a:p>
        </p:txBody>
      </p:sp>
      <p:sp>
        <p:nvSpPr>
          <p:cNvPr id="10" name="Rounded Rectangle 9"/>
          <p:cNvSpPr/>
          <p:nvPr/>
        </p:nvSpPr>
        <p:spPr>
          <a:xfrm>
            <a:off x="731520" y="4709160"/>
            <a:ext cx="1225295"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709160"/>
            <a:ext cx="1225295" cy="384048"/>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2" name="Rounded Rectangle 11"/>
          <p:cNvSpPr/>
          <p:nvPr/>
        </p:nvSpPr>
        <p:spPr>
          <a:xfrm>
            <a:off x="2121407" y="4709160"/>
            <a:ext cx="1627631"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21407" y="4709160"/>
            <a:ext cx="1627631" cy="384048"/>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4" name="Rounded Rectangle 13"/>
          <p:cNvSpPr/>
          <p:nvPr/>
        </p:nvSpPr>
        <p:spPr>
          <a:xfrm>
            <a:off x="3913630" y="4709160"/>
            <a:ext cx="1426464"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13630" y="4709160"/>
            <a:ext cx="1426464" cy="384048"/>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6" name="Rounded Rectangle 15"/>
          <p:cNvSpPr/>
          <p:nvPr/>
        </p:nvSpPr>
        <p:spPr>
          <a:xfrm>
            <a:off x="5504686" y="4709160"/>
            <a:ext cx="1426464"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04686" y="4709160"/>
            <a:ext cx="1426464" cy="384048"/>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18" name="TextBox 17"/>
          <p:cNvSpPr txBox="1"/>
          <p:nvPr/>
        </p:nvSpPr>
        <p:spPr>
          <a:xfrm>
            <a:off x="731520" y="5394960"/>
            <a:ext cx="10058400" cy="274320"/>
          </a:xfrm>
          <a:prstGeom prst="rect">
            <a:avLst/>
          </a:prstGeom>
          <a:noFill/>
        </p:spPr>
        <p:txBody>
          <a:bodyPr wrap="square" lIns="0" rIns="0" tIns="0" bIns="0" anchor="t">
            <a:spAutoFit/>
          </a:bodyPr>
          <a:lstStyle/>
          <a:p>
            <a:pPr algn="l"/>
            <a:r>
              <a:rPr sz="1300" b="0" i="0">
                <a:solidFill>
                  <a:srgbClr val="999999"/>
                </a:solidFill>
                <a:latin typeface="Helvetica Neue"/>
              </a:rPr>
              <a:t>Shopify 91 days: 38.310 orders, 33,2M SEK gross, 867 SEK AOV. GA4 property 461839723 captured only ~31%.</a:t>
            </a:r>
          </a:p>
        </p:txBody>
      </p:sp>
      <p:sp>
        <p:nvSpPr>
          <p:cNvPr id="19" name="TextBox 18"/>
          <p:cNvSpPr txBox="1"/>
          <p:nvPr/>
        </p:nvSpPr>
        <p:spPr>
          <a:xfrm>
            <a:off x="731520" y="5669280"/>
            <a:ext cx="10058400" cy="27432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is traced to a source. Estimates are marked "Est."</a:t>
            </a:r>
          </a:p>
        </p:txBody>
      </p:sp>
      <p:sp>
        <p:nvSpPr>
          <p:cNvPr id="10" name="Rounded Rectangle 9"/>
          <p:cNvSpPr/>
          <p:nvPr/>
        </p:nvSpPr>
        <p:spPr>
          <a:xfrm>
            <a:off x="792327" y="22860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4871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01</a:t>
            </a:r>
          </a:p>
        </p:txBody>
      </p:sp>
      <p:sp>
        <p:nvSpPr>
          <p:cNvPr id="12" name="TextBox 11"/>
          <p:cNvSpPr txBox="1"/>
          <p:nvPr/>
        </p:nvSpPr>
        <p:spPr>
          <a:xfrm>
            <a:off x="1020927" y="27614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GA4 Analytics</a:t>
            </a:r>
          </a:p>
        </p:txBody>
      </p:sp>
      <p:sp>
        <p:nvSpPr>
          <p:cNvPr id="13" name="TextBox 12"/>
          <p:cNvSpPr txBox="1"/>
          <p:nvPr/>
        </p:nvSpPr>
        <p:spPr>
          <a:xfrm>
            <a:off x="1020927" y="31272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90 days, property 461839723. Sessions, funnel, channels, devices, landing pages.</a:t>
            </a:r>
          </a:p>
        </p:txBody>
      </p:sp>
      <p:sp>
        <p:nvSpPr>
          <p:cNvPr id="14" name="Rounded Rectangle 13"/>
          <p:cNvSpPr/>
          <p:nvPr/>
        </p:nvSpPr>
        <p:spPr>
          <a:xfrm>
            <a:off x="4419447" y="22860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8047" y="24871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02</a:t>
            </a:r>
          </a:p>
        </p:txBody>
      </p:sp>
      <p:sp>
        <p:nvSpPr>
          <p:cNvPr id="16" name="TextBox 15"/>
          <p:cNvSpPr txBox="1"/>
          <p:nvPr/>
        </p:nvSpPr>
        <p:spPr>
          <a:xfrm>
            <a:off x="4648047" y="27614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Voice of Customer</a:t>
            </a:r>
          </a:p>
        </p:txBody>
      </p:sp>
      <p:sp>
        <p:nvSpPr>
          <p:cNvPr id="17" name="TextBox 16"/>
          <p:cNvSpPr txBox="1"/>
          <p:nvPr/>
        </p:nvSpPr>
        <p:spPr>
          <a:xfrm>
            <a:off x="4648047" y="31272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5.985 Trustpilot reviews (4,7/5). 300 verbatim reviews mined via the widget API.</a:t>
            </a:r>
          </a:p>
        </p:txBody>
      </p:sp>
      <p:sp>
        <p:nvSpPr>
          <p:cNvPr id="18" name="Rounded Rectangle 17"/>
          <p:cNvSpPr/>
          <p:nvPr/>
        </p:nvSpPr>
        <p:spPr>
          <a:xfrm>
            <a:off x="8046567" y="22860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167" y="24871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03</a:t>
            </a:r>
          </a:p>
        </p:txBody>
      </p:sp>
      <p:sp>
        <p:nvSpPr>
          <p:cNvPr id="20" name="TextBox 19"/>
          <p:cNvSpPr txBox="1"/>
          <p:nvPr/>
        </p:nvSpPr>
        <p:spPr>
          <a:xfrm>
            <a:off x="8275167" y="27614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Competitor set</a:t>
            </a:r>
          </a:p>
        </p:txBody>
      </p:sp>
      <p:sp>
        <p:nvSpPr>
          <p:cNvPr id="21" name="TextBox 20"/>
          <p:cNvSpPr txBox="1"/>
          <p:nvPr/>
        </p:nvSpPr>
        <p:spPr>
          <a:xfrm>
            <a:off x="8275167" y="31272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5 verified rivals: Winefinder, Winefamly, KRAN, Supervin, plus Systembolaget.</a:t>
            </a:r>
          </a:p>
        </p:txBody>
      </p:sp>
      <p:sp>
        <p:nvSpPr>
          <p:cNvPr id="22" name="Rounded Rectangle 21"/>
          <p:cNvSpPr/>
          <p:nvPr/>
        </p:nvSpPr>
        <p:spPr>
          <a:xfrm>
            <a:off x="792327" y="41148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0927" y="43159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04</a:t>
            </a:r>
          </a:p>
        </p:txBody>
      </p:sp>
      <p:sp>
        <p:nvSpPr>
          <p:cNvPr id="24" name="TextBox 23"/>
          <p:cNvSpPr txBox="1"/>
          <p:nvPr/>
        </p:nvSpPr>
        <p:spPr>
          <a:xfrm>
            <a:off x="1020927" y="45902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Heuristic review</a:t>
            </a:r>
          </a:p>
        </p:txBody>
      </p:sp>
      <p:sp>
        <p:nvSpPr>
          <p:cNvPr id="25" name="TextBox 24"/>
          <p:cNvSpPr txBox="1"/>
          <p:nvPr/>
        </p:nvSpPr>
        <p:spPr>
          <a:xfrm>
            <a:off x="1020927" y="49560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4 page types on mobile: entry, home, collection, PDP. Screenshot verified.</a:t>
            </a:r>
          </a:p>
        </p:txBody>
      </p:sp>
      <p:sp>
        <p:nvSpPr>
          <p:cNvPr id="26" name="Rounded Rectangle 25"/>
          <p:cNvSpPr/>
          <p:nvPr/>
        </p:nvSpPr>
        <p:spPr>
          <a:xfrm>
            <a:off x="4419447" y="41148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8047" y="43159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05</a:t>
            </a:r>
          </a:p>
        </p:txBody>
      </p:sp>
      <p:sp>
        <p:nvSpPr>
          <p:cNvPr id="28" name="TextBox 27"/>
          <p:cNvSpPr txBox="1"/>
          <p:nvPr/>
        </p:nvSpPr>
        <p:spPr>
          <a:xfrm>
            <a:off x="4648047" y="45902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Shopify sales data</a:t>
            </a:r>
          </a:p>
        </p:txBody>
      </p:sp>
      <p:sp>
        <p:nvSpPr>
          <p:cNvPr id="29" name="TextBox 28"/>
          <p:cNvSpPr txBox="1"/>
          <p:nvPr/>
        </p:nvSpPr>
        <p:spPr>
          <a:xfrm>
            <a:off x="4648047" y="49560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91 days of order, product and AOV exports. The source of truth for RPV.</a:t>
            </a:r>
          </a:p>
        </p:txBody>
      </p:sp>
      <p:sp>
        <p:nvSpPr>
          <p:cNvPr id="30" name="Rounded Rectangle 29"/>
          <p:cNvSpPr/>
          <p:nvPr/>
        </p:nvSpPr>
        <p:spPr>
          <a:xfrm>
            <a:off x="8046567" y="41148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5167" y="43159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06</a:t>
            </a:r>
          </a:p>
        </p:txBody>
      </p:sp>
      <p:sp>
        <p:nvSpPr>
          <p:cNvPr id="32" name="TextBox 31"/>
          <p:cNvSpPr txBox="1"/>
          <p:nvPr/>
        </p:nvSpPr>
        <p:spPr>
          <a:xfrm>
            <a:off x="8275167" y="45902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Industry benchmarks</a:t>
            </a:r>
          </a:p>
        </p:txBody>
      </p:sp>
      <p:sp>
        <p:nvSpPr>
          <p:cNvPr id="33" name="TextBox 32"/>
          <p:cNvSpPr txBox="1"/>
          <p:nvPr/>
        </p:nvSpPr>
        <p:spPr>
          <a:xfrm>
            <a:off x="8275167" y="49560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Named sources: Littledata, Baymard, Sovos, SVB, Omnisend.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Six findings that move revenue</a:t>
            </a:r>
          </a:p>
        </p:txBody>
      </p:sp>
      <p:sp>
        <p:nvSpPr>
          <p:cNvPr id="9" name="Oval 8"/>
          <p:cNvSpPr/>
          <p:nvPr/>
        </p:nvSpPr>
        <p:spPr>
          <a:xfrm>
            <a:off x="822960" y="2066544"/>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011680"/>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The store is healthy and box led. </a:t>
            </a:r>
            <a:r>
              <a:rPr sz="1300" b="0" i="0">
                <a:solidFill>
                  <a:srgbClr val="CCCCCC"/>
                </a:solidFill>
                <a:latin typeface="Helvetica Neue"/>
              </a:rPr>
              <a:t>11,88M SEK and 11.689 GA4 orders in 90 days. Wine boxes convert far above single bottles.</a:t>
            </a:r>
          </a:p>
        </p:txBody>
      </p:sp>
      <p:sp>
        <p:nvSpPr>
          <p:cNvPr id="11" name="TextBox 10"/>
          <p:cNvSpPr txBox="1"/>
          <p:nvPr/>
        </p:nvSpPr>
        <p:spPr>
          <a:xfrm>
            <a:off x="1078992" y="2468880"/>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Wine boxes are the growth engine. Merchandise them harder.</a:t>
            </a:r>
          </a:p>
        </p:txBody>
      </p:sp>
      <p:sp>
        <p:nvSpPr>
          <p:cNvPr id="12" name="Oval 11"/>
          <p:cNvSpPr/>
          <p:nvPr/>
        </p:nvSpPr>
        <p:spPr>
          <a:xfrm>
            <a:off x="822960" y="2962656"/>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2907792"/>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Delivery is the number one trust wound. </a:t>
            </a:r>
            <a:r>
              <a:rPr sz="1300" b="0" i="0">
                <a:solidFill>
                  <a:srgbClr val="CCCCCC"/>
                </a:solidFill>
                <a:latin typeface="Helvetica Neue"/>
              </a:rPr>
              <a:t>The site promises "1-3 dagar" but 31% of low star reviews report 7 to 16 days.</a:t>
            </a:r>
          </a:p>
        </p:txBody>
      </p:sp>
      <p:sp>
        <p:nvSpPr>
          <p:cNvPr id="14" name="TextBox 13"/>
          <p:cNvSpPr txBox="1"/>
          <p:nvPr/>
        </p:nvSpPr>
        <p:spPr>
          <a:xfrm>
            <a:off x="1078992" y="3364992"/>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Fix the promise, not the wine. A retention leak, not just acquisition.</a:t>
            </a:r>
          </a:p>
        </p:txBody>
      </p:sp>
      <p:sp>
        <p:nvSpPr>
          <p:cNvPr id="15" name="Oval 14"/>
          <p:cNvSpPr/>
          <p:nvPr/>
        </p:nvSpPr>
        <p:spPr>
          <a:xfrm>
            <a:off x="822960" y="3858768"/>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03904"/>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The legality question is unanswered. </a:t>
            </a:r>
            <a:r>
              <a:rPr sz="1300" b="0" i="0">
                <a:solidFill>
                  <a:srgbClr val="CCCCCC"/>
                </a:solidFill>
                <a:latin typeface="Helvetica Neue"/>
              </a:rPr>
              <a:t>In a monopoly market, dittvin explains nothing while KRAN and Winefamly reassure directly.</a:t>
            </a:r>
          </a:p>
        </p:txBody>
      </p:sp>
      <p:sp>
        <p:nvSpPr>
          <p:cNvPr id="17" name="TextBox 16"/>
          <p:cNvSpPr txBox="1"/>
          <p:nvPr/>
        </p:nvSpPr>
        <p:spPr>
          <a:xfrm>
            <a:off x="1078992" y="4261104"/>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80,8% of users are new. The trust block is missing where it converts.</a:t>
            </a:r>
          </a:p>
        </p:txBody>
      </p:sp>
      <p:sp>
        <p:nvSpPr>
          <p:cNvPr id="18" name="Oval 17"/>
          <p:cNvSpPr/>
          <p:nvPr/>
        </p:nvSpPr>
        <p:spPr>
          <a:xfrm>
            <a:off x="822960" y="4754880"/>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700016"/>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The cart to checkout leak is the biggest recoverable pool. </a:t>
            </a:r>
            <a:r>
              <a:rPr sz="1300" b="0" i="0">
                <a:solidFill>
                  <a:srgbClr val="CCCCCC"/>
                </a:solidFill>
                <a:latin typeface="Helvetica Neue"/>
              </a:rPr>
              <a:t>60,2% of add to carts never begin checkout (32.859 users in 90 days).</a:t>
            </a:r>
          </a:p>
        </p:txBody>
      </p:sp>
      <p:sp>
        <p:nvSpPr>
          <p:cNvPr id="20" name="TextBox 19"/>
          <p:cNvSpPr txBox="1"/>
          <p:nvPr/>
        </p:nvSpPr>
        <p:spPr>
          <a:xfrm>
            <a:off x="1078992" y="5157216"/>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Est. 1,5 to 1,8M SEK per quarter recoverable at current AOV.</a:t>
            </a:r>
          </a:p>
        </p:txBody>
      </p:sp>
      <p:sp>
        <p:nvSpPr>
          <p:cNvPr id="21" name="Oval 20"/>
          <p:cNvSpPr/>
          <p:nvPr/>
        </p:nvSpPr>
        <p:spPr>
          <a:xfrm>
            <a:off x="822960" y="5650992"/>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78992" y="5596128"/>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Revenue rides on one channel. </a:t>
            </a:r>
            <a:r>
              <a:rPr sz="1300" b="0" i="0">
                <a:solidFill>
                  <a:srgbClr val="CCCCCC"/>
                </a:solidFill>
                <a:latin typeface="Helvetica Neue"/>
              </a:rPr>
              <a:t>Facebook paid drives 41% of sessions and 43,6% of all orders.</a:t>
            </a:r>
          </a:p>
        </p:txBody>
      </p:sp>
      <p:sp>
        <p:nvSpPr>
          <p:cNvPr id="23" name="Oval 22"/>
          <p:cNvSpPr/>
          <p:nvPr/>
        </p:nvSpPr>
        <p:spPr>
          <a:xfrm>
            <a:off x="822960" y="6236208"/>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6181344"/>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Tracking is noisy and partly misconfigured. </a:t>
            </a:r>
            <a:r>
              <a:rPr sz="1300" b="0" i="0">
                <a:solidFill>
                  <a:srgbClr val="CCCCCC"/>
                </a:solidFill>
                <a:latin typeface="Helvetica Neue"/>
              </a:rPr>
              <a:t>Four GA4 properties fire at once and 29% of sessions land as "(not set)".</a:t>
            </a:r>
          </a:p>
        </p:txBody>
      </p:sp>
      <p:sp>
        <p:nvSpPr>
          <p:cNvPr id="25" name="TextBox 24"/>
          <p:cNvSpPr txBox="1"/>
          <p:nvPr/>
        </p:nvSpPr>
        <p:spPr>
          <a:xfrm>
            <a:off x="1078992" y="6638544"/>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Clean the data first. The store is better than the dashboard shows.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01</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GA4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452.552 sessions. Where the traffic comes from, where it converts, and where it leaks.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724912"/>
            <a:ext cx="1901952" cy="502920"/>
          </a:xfrm>
          <a:prstGeom prst="rect">
            <a:avLst/>
          </a:prstGeom>
          <a:noFill/>
        </p:spPr>
        <p:txBody>
          <a:bodyPr wrap="square" lIns="0" rIns="0" tIns="0" bIns="0" anchor="t">
            <a:spAutoFit/>
          </a:bodyPr>
          <a:lstStyle/>
          <a:p>
            <a:pPr algn="ctr"/>
            <a:r>
              <a:rPr sz="3000" b="1" i="0">
                <a:solidFill>
                  <a:srgbClr val="FFFFFF"/>
                </a:solidFill>
                <a:latin typeface="Menlo"/>
              </a:rPr>
              <a:t>452.552</a:t>
            </a:r>
          </a:p>
        </p:txBody>
      </p:sp>
      <p:sp>
        <p:nvSpPr>
          <p:cNvPr id="11" name="TextBox 10"/>
          <p:cNvSpPr txBox="1"/>
          <p:nvPr/>
        </p:nvSpPr>
        <p:spPr>
          <a:xfrm>
            <a:off x="792327"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268.555 users · 95% Sweden</a:t>
            </a:r>
          </a:p>
        </p:txBody>
      </p:sp>
      <p:sp>
        <p:nvSpPr>
          <p:cNvPr id="13" name="Rounded Rectangle 12"/>
          <p:cNvSpPr/>
          <p:nvPr/>
        </p:nvSpPr>
        <p:spPr>
          <a:xfrm>
            <a:off x="2968599"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68599" y="2724912"/>
            <a:ext cx="1901952" cy="502920"/>
          </a:xfrm>
          <a:prstGeom prst="rect">
            <a:avLst/>
          </a:prstGeom>
          <a:noFill/>
        </p:spPr>
        <p:txBody>
          <a:bodyPr wrap="square" lIns="0" rIns="0" tIns="0" bIns="0" anchor="t">
            <a:spAutoFit/>
          </a:bodyPr>
          <a:lstStyle/>
          <a:p>
            <a:pPr algn="ctr"/>
            <a:r>
              <a:rPr sz="3000" b="1" i="0">
                <a:solidFill>
                  <a:srgbClr val="F7D007"/>
                </a:solidFill>
                <a:latin typeface="Menlo"/>
              </a:rPr>
              <a:t>11.689</a:t>
            </a:r>
          </a:p>
        </p:txBody>
      </p:sp>
      <p:sp>
        <p:nvSpPr>
          <p:cNvPr id="15" name="TextBox 14"/>
          <p:cNvSpPr txBox="1"/>
          <p:nvPr/>
        </p:nvSpPr>
        <p:spPr>
          <a:xfrm>
            <a:off x="2968599"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PURCHASES</a:t>
            </a:r>
          </a:p>
        </p:txBody>
      </p:sp>
      <p:sp>
        <p:nvSpPr>
          <p:cNvPr id="16" name="TextBox 15"/>
          <p:cNvSpPr txBox="1"/>
          <p:nvPr/>
        </p:nvSpPr>
        <p:spPr>
          <a:xfrm>
            <a:off x="2968599"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11.537 unique buyers</a:t>
            </a:r>
          </a:p>
        </p:txBody>
      </p:sp>
      <p:sp>
        <p:nvSpPr>
          <p:cNvPr id="17" name="Rounded Rectangle 16"/>
          <p:cNvSpPr/>
          <p:nvPr/>
        </p:nvSpPr>
        <p:spPr>
          <a:xfrm>
            <a:off x="5144871"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44871" y="2724912"/>
            <a:ext cx="1901952" cy="502920"/>
          </a:xfrm>
          <a:prstGeom prst="rect">
            <a:avLst/>
          </a:prstGeom>
          <a:noFill/>
        </p:spPr>
        <p:txBody>
          <a:bodyPr wrap="square" lIns="0" rIns="0" tIns="0" bIns="0" anchor="t">
            <a:spAutoFit/>
          </a:bodyPr>
          <a:lstStyle/>
          <a:p>
            <a:pPr algn="ctr"/>
            <a:r>
              <a:rPr sz="3000" b="1" i="0">
                <a:solidFill>
                  <a:srgbClr val="22C55E"/>
                </a:solidFill>
                <a:latin typeface="Menlo"/>
              </a:rPr>
              <a:t>11,88M</a:t>
            </a:r>
          </a:p>
        </p:txBody>
      </p:sp>
      <p:sp>
        <p:nvSpPr>
          <p:cNvPr id="19" name="TextBox 18"/>
          <p:cNvSpPr txBox="1"/>
          <p:nvPr/>
        </p:nvSpPr>
        <p:spPr>
          <a:xfrm>
            <a:off x="5144871"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REVENUE (SEK)</a:t>
            </a:r>
          </a:p>
        </p:txBody>
      </p:sp>
      <p:sp>
        <p:nvSpPr>
          <p:cNvPr id="20" name="TextBox 19"/>
          <p:cNvSpPr txBox="1"/>
          <p:nvPr/>
        </p:nvSpPr>
        <p:spPr>
          <a:xfrm>
            <a:off x="5144871"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1.017 SEK AOV</a:t>
            </a:r>
          </a:p>
        </p:txBody>
      </p:sp>
      <p:sp>
        <p:nvSpPr>
          <p:cNvPr id="21" name="Rounded Rectangle 20"/>
          <p:cNvSpPr/>
          <p:nvPr/>
        </p:nvSpPr>
        <p:spPr>
          <a:xfrm>
            <a:off x="7321143"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21143" y="2724912"/>
            <a:ext cx="1901952" cy="502920"/>
          </a:xfrm>
          <a:prstGeom prst="rect">
            <a:avLst/>
          </a:prstGeom>
          <a:noFill/>
        </p:spPr>
        <p:txBody>
          <a:bodyPr wrap="square" lIns="0" rIns="0" tIns="0" bIns="0" anchor="t">
            <a:spAutoFit/>
          </a:bodyPr>
          <a:lstStyle/>
          <a:p>
            <a:pPr algn="ctr"/>
            <a:r>
              <a:rPr sz="3000" b="1" i="0">
                <a:solidFill>
                  <a:srgbClr val="FFFFFF"/>
                </a:solidFill>
                <a:latin typeface="Menlo"/>
              </a:rPr>
              <a:t>2,58%</a:t>
            </a:r>
          </a:p>
        </p:txBody>
      </p:sp>
      <p:sp>
        <p:nvSpPr>
          <p:cNvPr id="23" name="TextBox 22"/>
          <p:cNvSpPr txBox="1"/>
          <p:nvPr/>
        </p:nvSpPr>
        <p:spPr>
          <a:xfrm>
            <a:off x="7321143"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 CVR</a:t>
            </a:r>
          </a:p>
        </p:txBody>
      </p:sp>
      <p:sp>
        <p:nvSpPr>
          <p:cNvPr id="24" name="TextBox 23"/>
          <p:cNvSpPr txBox="1"/>
          <p:nvPr/>
        </p:nvSpPr>
        <p:spPr>
          <a:xfrm>
            <a:off x="7321143"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~3,6% on clean traffic</a:t>
            </a:r>
          </a:p>
        </p:txBody>
      </p:sp>
      <p:sp>
        <p:nvSpPr>
          <p:cNvPr id="25" name="Rounded Rectangle 24"/>
          <p:cNvSpPr/>
          <p:nvPr/>
        </p:nvSpPr>
        <p:spPr>
          <a:xfrm>
            <a:off x="9497415"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7415" y="2724912"/>
            <a:ext cx="1901952" cy="502920"/>
          </a:xfrm>
          <a:prstGeom prst="rect">
            <a:avLst/>
          </a:prstGeom>
          <a:noFill/>
        </p:spPr>
        <p:txBody>
          <a:bodyPr wrap="square" lIns="0" rIns="0" tIns="0" bIns="0" anchor="t">
            <a:spAutoFit/>
          </a:bodyPr>
          <a:lstStyle/>
          <a:p>
            <a:pPr algn="ctr"/>
            <a:r>
              <a:rPr sz="3000" b="1" i="0">
                <a:solidFill>
                  <a:srgbClr val="EF4444"/>
                </a:solidFill>
                <a:latin typeface="Menlo"/>
              </a:rPr>
              <a:t>80,8%</a:t>
            </a:r>
          </a:p>
        </p:txBody>
      </p:sp>
      <p:sp>
        <p:nvSpPr>
          <p:cNvPr id="27" name="TextBox 26"/>
          <p:cNvSpPr txBox="1"/>
          <p:nvPr/>
        </p:nvSpPr>
        <p:spPr>
          <a:xfrm>
            <a:off x="9497415"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USERS</a:t>
            </a:r>
          </a:p>
        </p:txBody>
      </p:sp>
      <p:sp>
        <p:nvSpPr>
          <p:cNvPr id="28" name="TextBox 27"/>
          <p:cNvSpPr txBox="1"/>
          <p:nvPr/>
        </p:nvSpPr>
        <p:spPr>
          <a:xfrm>
            <a:off x="9497415"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Only ~19% return</a:t>
            </a:r>
          </a:p>
        </p:txBody>
      </p:sp>
      <p:sp>
        <p:nvSpPr>
          <p:cNvPr id="29" name="Rounded Rectangle 28"/>
          <p:cNvSpPr/>
          <p:nvPr/>
        </p:nvSpPr>
        <p:spPr>
          <a:xfrm>
            <a:off x="1280160" y="4572000"/>
            <a:ext cx="9601200" cy="8229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08760" y="4709160"/>
            <a:ext cx="9144000" cy="54864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GA4 attributed totals for the 90 day window. AOV is revenue / ecommerce purchases. Shopify shows the store is ~3x larger (see the RPV section).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 · UNIQUE USERS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purchase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Counted by unique users so it reconciles to real orders. Only 7,5% of viewers buy.</a:t>
            </a:r>
          </a:p>
        </p:txBody>
      </p:sp>
      <p:sp>
        <p:nvSpPr>
          <p:cNvPr id="10" name="TextBox 9"/>
          <p:cNvSpPr txBox="1"/>
          <p:nvPr/>
        </p:nvSpPr>
        <p:spPr>
          <a:xfrm>
            <a:off x="1188720" y="22860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View product</a:t>
            </a:r>
          </a:p>
        </p:txBody>
      </p:sp>
      <p:sp>
        <p:nvSpPr>
          <p:cNvPr id="11" name="Rounded Rectangle 10"/>
          <p:cNvSpPr/>
          <p:nvPr/>
        </p:nvSpPr>
        <p:spPr>
          <a:xfrm>
            <a:off x="2971800" y="2286000"/>
            <a:ext cx="6400800" cy="411480"/>
          </a:xfrm>
          <a:prstGeom prst="roundRect">
            <a:avLst>
              <a:gd name="adj" fmla="val 12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81528" y="2286000"/>
            <a:ext cx="6400800" cy="411480"/>
          </a:xfrm>
          <a:prstGeom prst="rect">
            <a:avLst/>
          </a:prstGeom>
          <a:noFill/>
        </p:spPr>
        <p:txBody>
          <a:bodyPr wrap="square" lIns="0" rIns="0" tIns="0" bIns="0" anchor="ctr">
            <a:spAutoFit/>
          </a:bodyPr>
          <a:lstStyle/>
          <a:p>
            <a:pPr algn="l"/>
            <a:r>
              <a:rPr sz="1200" b="1" i="0">
                <a:solidFill>
                  <a:srgbClr val="000000"/>
                </a:solidFill>
                <a:latin typeface="Menlo"/>
              </a:rPr>
              <a:t>153.509   100.0%</a:t>
            </a:r>
          </a:p>
        </p:txBody>
      </p:sp>
      <p:sp>
        <p:nvSpPr>
          <p:cNvPr id="13" name="TextBox 12"/>
          <p:cNvSpPr txBox="1"/>
          <p:nvPr/>
        </p:nvSpPr>
        <p:spPr>
          <a:xfrm>
            <a:off x="1188720" y="29718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Add to cart</a:t>
            </a:r>
          </a:p>
        </p:txBody>
      </p:sp>
      <p:sp>
        <p:nvSpPr>
          <p:cNvPr id="14" name="Rounded Rectangle 13"/>
          <p:cNvSpPr/>
          <p:nvPr/>
        </p:nvSpPr>
        <p:spPr>
          <a:xfrm>
            <a:off x="2971800" y="2971800"/>
            <a:ext cx="2278684" cy="411480"/>
          </a:xfrm>
          <a:prstGeom prst="roundRect">
            <a:avLst>
              <a:gd name="adj" fmla="val 12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1528" y="2971800"/>
            <a:ext cx="2278684" cy="411480"/>
          </a:xfrm>
          <a:prstGeom prst="rect">
            <a:avLst/>
          </a:prstGeom>
          <a:noFill/>
        </p:spPr>
        <p:txBody>
          <a:bodyPr wrap="square" lIns="0" rIns="0" tIns="0" bIns="0" anchor="ctr">
            <a:spAutoFit/>
          </a:bodyPr>
          <a:lstStyle/>
          <a:p>
            <a:pPr algn="l"/>
            <a:r>
              <a:rPr sz="1200" b="1" i="0">
                <a:solidFill>
                  <a:srgbClr val="000000"/>
                </a:solidFill>
                <a:latin typeface="Menlo"/>
              </a:rPr>
              <a:t>54.583   35.6%</a:t>
            </a:r>
          </a:p>
        </p:txBody>
      </p:sp>
      <p:sp>
        <p:nvSpPr>
          <p:cNvPr id="16" name="TextBox 15"/>
          <p:cNvSpPr txBox="1"/>
          <p:nvPr/>
        </p:nvSpPr>
        <p:spPr>
          <a:xfrm>
            <a:off x="9555480" y="2971800"/>
            <a:ext cx="2011680" cy="411480"/>
          </a:xfrm>
          <a:prstGeom prst="rect">
            <a:avLst/>
          </a:prstGeom>
          <a:noFill/>
        </p:spPr>
        <p:txBody>
          <a:bodyPr wrap="square" lIns="0" rIns="0" tIns="0" bIns="0" anchor="ctr">
            <a:spAutoFit/>
          </a:bodyPr>
          <a:lstStyle/>
          <a:p>
            <a:pPr algn="l"/>
            <a:r>
              <a:rPr sz="1100" b="1" i="0">
                <a:solidFill>
                  <a:srgbClr val="EF4444"/>
                </a:solidFill>
                <a:latin typeface="Menlo"/>
              </a:rPr>
              <a:t>64,4% do not add</a:t>
            </a:r>
          </a:p>
        </p:txBody>
      </p:sp>
      <p:sp>
        <p:nvSpPr>
          <p:cNvPr id="17" name="TextBox 16"/>
          <p:cNvSpPr txBox="1"/>
          <p:nvPr/>
        </p:nvSpPr>
        <p:spPr>
          <a:xfrm>
            <a:off x="1188720" y="36576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Begin checkout</a:t>
            </a:r>
          </a:p>
        </p:txBody>
      </p:sp>
      <p:sp>
        <p:nvSpPr>
          <p:cNvPr id="18" name="Rounded Rectangle 17"/>
          <p:cNvSpPr/>
          <p:nvPr/>
        </p:nvSpPr>
        <p:spPr>
          <a:xfrm>
            <a:off x="2971800" y="3657600"/>
            <a:ext cx="908913" cy="41148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81528" y="3657600"/>
            <a:ext cx="908913" cy="411480"/>
          </a:xfrm>
          <a:prstGeom prst="rect">
            <a:avLst/>
          </a:prstGeom>
          <a:noFill/>
        </p:spPr>
        <p:txBody>
          <a:bodyPr wrap="square" lIns="0" rIns="0" tIns="0" bIns="0" anchor="ctr">
            <a:spAutoFit/>
          </a:bodyPr>
          <a:lstStyle/>
          <a:p>
            <a:pPr algn="l"/>
            <a:r>
              <a:rPr sz="1200" b="1" i="0">
                <a:solidFill>
                  <a:srgbClr val="000000"/>
                </a:solidFill>
                <a:latin typeface="Menlo"/>
              </a:rPr>
              <a:t>21.724   14.2%</a:t>
            </a:r>
          </a:p>
        </p:txBody>
      </p:sp>
      <p:sp>
        <p:nvSpPr>
          <p:cNvPr id="20" name="TextBox 19"/>
          <p:cNvSpPr txBox="1"/>
          <p:nvPr/>
        </p:nvSpPr>
        <p:spPr>
          <a:xfrm>
            <a:off x="9555480" y="3657600"/>
            <a:ext cx="2011680" cy="411480"/>
          </a:xfrm>
          <a:prstGeom prst="rect">
            <a:avLst/>
          </a:prstGeom>
          <a:noFill/>
        </p:spPr>
        <p:txBody>
          <a:bodyPr wrap="square" lIns="0" rIns="0" tIns="0" bIns="0" anchor="ctr">
            <a:spAutoFit/>
          </a:bodyPr>
          <a:lstStyle/>
          <a:p>
            <a:pPr algn="l"/>
            <a:r>
              <a:rPr sz="1100" b="1" i="0">
                <a:solidFill>
                  <a:srgbClr val="EF4444"/>
                </a:solidFill>
                <a:latin typeface="Menlo"/>
              </a:rPr>
              <a:t>60,2% abandon cart</a:t>
            </a:r>
          </a:p>
        </p:txBody>
      </p:sp>
      <p:sp>
        <p:nvSpPr>
          <p:cNvPr id="21" name="TextBox 20"/>
          <p:cNvSpPr txBox="1"/>
          <p:nvPr/>
        </p:nvSpPr>
        <p:spPr>
          <a:xfrm>
            <a:off x="1188720" y="43434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Purchase</a:t>
            </a:r>
          </a:p>
        </p:txBody>
      </p:sp>
      <p:sp>
        <p:nvSpPr>
          <p:cNvPr id="22" name="Rounded Rectangle 21"/>
          <p:cNvSpPr/>
          <p:nvPr/>
        </p:nvSpPr>
        <p:spPr>
          <a:xfrm>
            <a:off x="2971800" y="4343400"/>
            <a:ext cx="480060" cy="41148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4343400"/>
            <a:ext cx="480060" cy="411480"/>
          </a:xfrm>
          <a:prstGeom prst="rect">
            <a:avLst/>
          </a:prstGeom>
          <a:noFill/>
        </p:spPr>
        <p:txBody>
          <a:bodyPr wrap="square" lIns="0" rIns="0" tIns="0" bIns="0" anchor="ctr">
            <a:spAutoFit/>
          </a:bodyPr>
          <a:lstStyle/>
          <a:p>
            <a:pPr algn="l"/>
            <a:r>
              <a:rPr sz="1200" b="1" i="0">
                <a:solidFill>
                  <a:srgbClr val="000000"/>
                </a:solidFill>
                <a:latin typeface="Menlo"/>
              </a:rPr>
              <a:t>11.537   7.5%</a:t>
            </a:r>
          </a:p>
        </p:txBody>
      </p:sp>
      <p:sp>
        <p:nvSpPr>
          <p:cNvPr id="24" name="TextBox 23"/>
          <p:cNvSpPr txBox="1"/>
          <p:nvPr/>
        </p:nvSpPr>
        <p:spPr>
          <a:xfrm>
            <a:off x="9555480" y="4343400"/>
            <a:ext cx="2011680" cy="411480"/>
          </a:xfrm>
          <a:prstGeom prst="rect">
            <a:avLst/>
          </a:prstGeom>
          <a:noFill/>
        </p:spPr>
        <p:txBody>
          <a:bodyPr wrap="square" lIns="0" rIns="0" tIns="0" bIns="0" anchor="ctr">
            <a:spAutoFit/>
          </a:bodyPr>
          <a:lstStyle/>
          <a:p>
            <a:pPr algn="l"/>
            <a:r>
              <a:rPr sz="1100" b="1" i="0">
                <a:solidFill>
                  <a:srgbClr val="EF4444"/>
                </a:solidFill>
                <a:latin typeface="Menlo"/>
              </a:rPr>
              <a:t>46,9% abandon checkout</a:t>
            </a:r>
          </a:p>
        </p:txBody>
      </p:sp>
      <p:sp>
        <p:nvSpPr>
          <p:cNvPr id="25" name="TextBox 24"/>
          <p:cNvSpPr txBox="1"/>
          <p:nvPr/>
        </p:nvSpPr>
        <p:spPr>
          <a:xfrm>
            <a:off x="1188720" y="5394960"/>
            <a:ext cx="9784080" cy="457200"/>
          </a:xfrm>
          <a:prstGeom prst="rect">
            <a:avLst/>
          </a:prstGeom>
          <a:noFill/>
        </p:spPr>
        <p:txBody>
          <a:bodyPr wrap="square" lIns="0" rIns="0" tIns="0" bIns="0" anchor="t">
            <a:spAutoFit/>
          </a:bodyPr>
          <a:lstStyle/>
          <a:p>
            <a:pPr algn="l"/>
            <a:r>
              <a:rPr sz="1100" b="0" i="0">
                <a:solidFill>
                  <a:srgbClr val="6B7C75"/>
                </a:solidFill>
                <a:latin typeface="Helvetica Neue"/>
              </a:rPr>
              <a:t>GA4 event totalUsers. The v1alpha sequential funnel corroborates the pattern (73,8% abandon before add to cart, 57,9% at cart, 58,1%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a:t>
            </a:r>
          </a:p>
        </p:txBody>
      </p:sp>
      <p:sp>
        <p:nvSpPr>
          <p:cNvPr id="10" name="Rounded Rectangle 9"/>
          <p:cNvSpPr/>
          <p:nvPr/>
        </p:nvSpPr>
        <p:spPr>
          <a:xfrm>
            <a:off x="792327" y="2194560"/>
            <a:ext cx="3352800" cy="29260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7744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to cart to checkout</a:t>
            </a:r>
          </a:p>
        </p:txBody>
      </p:sp>
      <p:sp>
        <p:nvSpPr>
          <p:cNvPr id="13" name="TextBox 12"/>
          <p:cNvSpPr txBox="1"/>
          <p:nvPr/>
        </p:nvSpPr>
        <p:spPr>
          <a:xfrm>
            <a:off x="102092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32.859 carts never reach checkout in 90 days. The largest recoverable pool. Shipping surprise (695 SEK, Airmee only) and no clear push to continue.</a:t>
            </a:r>
          </a:p>
        </p:txBody>
      </p:sp>
      <p:sp>
        <p:nvSpPr>
          <p:cNvPr id="14" name="Rounded Rectangle 13"/>
          <p:cNvSpPr/>
          <p:nvPr/>
        </p:nvSpPr>
        <p:spPr>
          <a:xfrm>
            <a:off x="102092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Est. 1,5-1,8M SEK/qtr</a:t>
            </a:r>
          </a:p>
        </p:txBody>
      </p:sp>
      <p:sp>
        <p:nvSpPr>
          <p:cNvPr id="16" name="Rounded Rectangle 15"/>
          <p:cNvSpPr/>
          <p:nvPr/>
        </p:nvSpPr>
        <p:spPr>
          <a:xfrm>
            <a:off x="4419447" y="2194560"/>
            <a:ext cx="3352800" cy="29260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7744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9" name="TextBox 18"/>
          <p:cNvSpPr txBox="1"/>
          <p:nvPr/>
        </p:nvSpPr>
        <p:spPr>
          <a:xfrm>
            <a:off x="464804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10.187 users start checkout and drop. Highest intent, lowest cost to recover. Delivery doubt and 90+ JS console errors are prime suspects.</a:t>
            </a:r>
          </a:p>
        </p:txBody>
      </p:sp>
      <p:sp>
        <p:nvSpPr>
          <p:cNvPr id="20" name="Rounded Rectangle 19"/>
          <p:cNvSpPr/>
          <p:nvPr/>
        </p:nvSpPr>
        <p:spPr>
          <a:xfrm>
            <a:off x="464804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Cheapest win</a:t>
            </a:r>
          </a:p>
        </p:txBody>
      </p:sp>
      <p:sp>
        <p:nvSpPr>
          <p:cNvPr id="22" name="Rounded Rectangle 21"/>
          <p:cNvSpPr/>
          <p:nvPr/>
        </p:nvSpPr>
        <p:spPr>
          <a:xfrm>
            <a:off x="8046567" y="2194560"/>
            <a:ext cx="3352800" cy="29260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7744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View to add to cart</a:t>
            </a:r>
          </a:p>
        </p:txBody>
      </p:sp>
      <p:sp>
        <p:nvSpPr>
          <p:cNvPr id="25" name="TextBox 24"/>
          <p:cNvSpPr txBox="1"/>
          <p:nvPr/>
        </p:nvSpPr>
        <p:spPr>
          <a:xfrm>
            <a:off x="827516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98.926 product viewers never add. Lower intent, but PDP trust gaps (no legality block, thin box detail, 3 images) suppress action.</a:t>
            </a:r>
          </a:p>
        </p:txBody>
      </p:sp>
      <p:sp>
        <p:nvSpPr>
          <p:cNvPr id="26" name="Rounded Rectangle 25"/>
          <p:cNvSpPr/>
          <p:nvPr/>
        </p:nvSpPr>
        <p:spPr>
          <a:xfrm>
            <a:off x="827516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PDP trust + detail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86% of sessions and 87% of orders are mobile, and mobile converts at least as well as desktop.</a:t>
            </a:r>
          </a:p>
        </p:txBody>
      </p:sp>
      <p:graphicFrame>
        <p:nvGraphicFramePr>
          <p:cNvPr id="10" name="Table 9"/>
          <p:cNvGraphicFramePr>
            <a:graphicFrameLocks noGrp="1"/>
          </p:cNvGraphicFramePr>
          <p:nvPr/>
        </p:nvGraphicFramePr>
        <p:xfrm>
          <a:off x="1463040" y="2377440"/>
          <a:ext cx="9235437" cy="1463040"/>
        </p:xfrm>
        <a:graphic>
          <a:graphicData uri="http://schemas.openxmlformats.org/drawingml/2006/table">
            <a:tbl>
              <a:tblPr>
                <a:tableStyleId>{2D5ABB26-0587-4C30-8999-92F81FD0307C}</a:tableStyleId>
              </a:tblPr>
              <a:tblGrid>
                <a:gridCol w="2232743"/>
                <a:gridCol w="1623813"/>
                <a:gridCol w="1217860"/>
                <a:gridCol w="1217860"/>
                <a:gridCol w="1725301"/>
                <a:gridCol w="1217860"/>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BOUNCE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388.549</a:t>
                      </a:r>
                    </a:p>
                  </a:txBody>
                  <a:tcPr marL="73152" marR="73152" marT="18288" marB="18288" anchor="ctr">
                    <a:solidFill>
                      <a:srgbClr val="000000"/>
                    </a:solidFill>
                  </a:tcPr>
                </a:tc>
                <a:tc>
                  <a:txBody>
                    <a:bodyPr wrap="square"/>
                    <a:lstStyle/>
                    <a:p>
                      <a:pPr algn="r"/>
                      <a:r>
                        <a:rPr sz="1100" b="0">
                          <a:solidFill>
                            <a:srgbClr val="EFEEEE"/>
                          </a:solidFill>
                          <a:latin typeface="Menlo"/>
                        </a:rPr>
                        <a:t>85,9%</a:t>
                      </a:r>
                    </a:p>
                  </a:txBody>
                  <a:tcPr marL="73152" marR="73152" marT="18288" marB="18288" anchor="ctr">
                    <a:solidFill>
                      <a:srgbClr val="000000"/>
                    </a:solidFill>
                  </a:tcPr>
                </a:tc>
                <a:tc>
                  <a:txBody>
                    <a:bodyPr wrap="square"/>
                    <a:lstStyle/>
                    <a:p>
                      <a:pPr algn="r"/>
                      <a:r>
                        <a:rPr sz="1100" b="0">
                          <a:solidFill>
                            <a:srgbClr val="22C55E"/>
                          </a:solidFill>
                          <a:latin typeface="Menlo"/>
                        </a:rPr>
                        <a:t>2,61%</a:t>
                      </a:r>
                    </a:p>
                  </a:txBody>
                  <a:tcPr marL="73152" marR="73152" marT="18288" marB="18288" anchor="ctr">
                    <a:solidFill>
                      <a:srgbClr val="000000"/>
                    </a:solidFill>
                  </a:tcPr>
                </a:tc>
                <a:tc>
                  <a:txBody>
                    <a:bodyPr wrap="square"/>
                    <a:lstStyle/>
                    <a:p>
                      <a:pPr algn="r"/>
                      <a:r>
                        <a:rPr sz="1100" b="0">
                          <a:solidFill>
                            <a:srgbClr val="EFEEEE"/>
                          </a:solidFill>
                          <a:latin typeface="Menlo"/>
                        </a:rPr>
                        <a:t>10,23M</a:t>
                      </a:r>
                    </a:p>
                  </a:txBody>
                  <a:tcPr marL="73152" marR="73152" marT="18288" marB="18288" anchor="ctr">
                    <a:solidFill>
                      <a:srgbClr val="000000"/>
                    </a:solidFill>
                  </a:tcPr>
                </a:tc>
                <a:tc>
                  <a:txBody>
                    <a:bodyPr wrap="square"/>
                    <a:lstStyle/>
                    <a:p>
                      <a:pPr algn="r"/>
                      <a:r>
                        <a:rPr sz="1100" b="0">
                          <a:solidFill>
                            <a:srgbClr val="EFEEEE"/>
                          </a:solidFill>
                          <a:latin typeface="Menlo"/>
                        </a:rPr>
                        <a:t>41,1%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47.604</a:t>
                      </a:r>
                    </a:p>
                  </a:txBody>
                  <a:tcPr marL="73152" marR="73152" marT="18288" marB="18288" anchor="ctr">
                    <a:solidFill>
                      <a:srgbClr val="0B0B0B"/>
                    </a:solidFill>
                  </a:tcPr>
                </a:tc>
                <a:tc>
                  <a:txBody>
                    <a:bodyPr wrap="square"/>
                    <a:lstStyle/>
                    <a:p>
                      <a:pPr algn="r"/>
                      <a:r>
                        <a:rPr sz="1100" b="0">
                          <a:solidFill>
                            <a:srgbClr val="EFEEEE"/>
                          </a:solidFill>
                          <a:latin typeface="Menlo"/>
                        </a:rPr>
                        <a:t>10,5%</a:t>
                      </a:r>
                    </a:p>
                  </a:txBody>
                  <a:tcPr marL="73152" marR="73152" marT="18288" marB="18288" anchor="ctr">
                    <a:solidFill>
                      <a:srgbClr val="0B0B0B"/>
                    </a:solidFill>
                  </a:tcPr>
                </a:tc>
                <a:tc>
                  <a:txBody>
                    <a:bodyPr wrap="square"/>
                    <a:lstStyle/>
                    <a:p>
                      <a:pPr algn="r"/>
                      <a:r>
                        <a:rPr sz="1100" b="0">
                          <a:solidFill>
                            <a:srgbClr val="EFEEEE"/>
                          </a:solidFill>
                          <a:latin typeface="Menlo"/>
                        </a:rPr>
                        <a:t>2,25%</a:t>
                      </a:r>
                    </a:p>
                  </a:txBody>
                  <a:tcPr marL="73152" marR="73152" marT="18288" marB="18288" anchor="ctr">
                    <a:solidFill>
                      <a:srgbClr val="0B0B0B"/>
                    </a:solidFill>
                  </a:tcPr>
                </a:tc>
                <a:tc>
                  <a:txBody>
                    <a:bodyPr wrap="square"/>
                    <a:lstStyle/>
                    <a:p>
                      <a:pPr algn="r"/>
                      <a:r>
                        <a:rPr sz="1100" b="0">
                          <a:solidFill>
                            <a:srgbClr val="EFEEEE"/>
                          </a:solidFill>
                          <a:latin typeface="Menlo"/>
                        </a:rPr>
                        <a:t>1,21M</a:t>
                      </a:r>
                    </a:p>
                  </a:txBody>
                  <a:tcPr marL="73152" marR="73152" marT="18288" marB="18288" anchor="ctr">
                    <a:solidFill>
                      <a:srgbClr val="0B0B0B"/>
                    </a:solidFill>
                  </a:tcPr>
                </a:tc>
                <a:tc>
                  <a:txBody>
                    <a:bodyPr wrap="square"/>
                    <a:lstStyle/>
                    <a:p>
                      <a:pPr algn="r"/>
                      <a:r>
                        <a:rPr sz="1100" b="0">
                          <a:solidFill>
                            <a:srgbClr val="EFEEEE"/>
                          </a:solidFill>
                          <a:latin typeface="Menlo"/>
                        </a:rPr>
                        <a:t>39,4%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16.247</a:t>
                      </a:r>
                    </a:p>
                  </a:txBody>
                  <a:tcPr marL="73152" marR="73152" marT="18288" marB="18288" anchor="ctr">
                    <a:solidFill>
                      <a:srgbClr val="000000"/>
                    </a:solidFill>
                  </a:tcPr>
                </a:tc>
                <a:tc>
                  <a:txBody>
                    <a:bodyPr wrap="square"/>
                    <a:lstStyle/>
                    <a:p>
                      <a:pPr algn="r"/>
                      <a:r>
                        <a:rPr sz="1100" b="0">
                          <a:solidFill>
                            <a:srgbClr val="EFEEEE"/>
                          </a:solidFill>
                          <a:latin typeface="Menlo"/>
                        </a:rPr>
                        <a:t>3,6%</a:t>
                      </a:r>
                    </a:p>
                  </a:txBody>
                  <a:tcPr marL="73152" marR="73152" marT="18288" marB="18288" anchor="ctr">
                    <a:solidFill>
                      <a:srgbClr val="000000"/>
                    </a:solidFill>
                  </a:tcPr>
                </a:tc>
                <a:tc>
                  <a:txBody>
                    <a:bodyPr wrap="square"/>
                    <a:lstStyle/>
                    <a:p>
                      <a:pPr algn="r"/>
                      <a:r>
                        <a:rPr sz="1100" b="0">
                          <a:solidFill>
                            <a:srgbClr val="22C55E"/>
                          </a:solidFill>
                          <a:latin typeface="Menlo"/>
                        </a:rPr>
                        <a:t>2,94%</a:t>
                      </a:r>
                    </a:p>
                  </a:txBody>
                  <a:tcPr marL="73152" marR="73152" marT="18288" marB="18288" anchor="ctr">
                    <a:solidFill>
                      <a:srgbClr val="000000"/>
                    </a:solidFill>
                  </a:tcPr>
                </a:tc>
                <a:tc>
                  <a:txBody>
                    <a:bodyPr wrap="square"/>
                    <a:lstStyle/>
                    <a:p>
                      <a:pPr algn="r"/>
                      <a:r>
                        <a:rPr sz="1100" b="0">
                          <a:solidFill>
                            <a:srgbClr val="EFEEEE"/>
                          </a:solidFill>
                          <a:latin typeface="Menlo"/>
                        </a:rPr>
                        <a:t>0,44M</a:t>
                      </a:r>
                    </a:p>
                  </a:txBody>
                  <a:tcPr marL="73152" marR="73152" marT="18288" marB="18288" anchor="ctr">
                    <a:solidFill>
                      <a:srgbClr val="000000"/>
                    </a:solidFill>
                  </a:tcPr>
                </a:tc>
                <a:tc>
                  <a:txBody>
                    <a:bodyPr wrap="square"/>
                    <a:lstStyle/>
                    <a:p>
                      <a:pPr algn="r"/>
                      <a:r>
                        <a:rPr sz="1100" b="0">
                          <a:solidFill>
                            <a:srgbClr val="EFEEEE"/>
                          </a:solidFill>
                          <a:latin typeface="Menlo"/>
                        </a:rPr>
                        <a:t>43,2%</a:t>
                      </a:r>
                    </a:p>
                  </a:txBody>
                  <a:tcPr marL="73152" marR="73152" marT="18288" marB="18288" anchor="ctr">
                    <a:solidFill>
                      <a:srgbClr val="000000"/>
                    </a:solidFill>
                  </a:tcPr>
                </a:tc>
              </a:tr>
            </a:tbl>
          </a:graphicData>
        </a:graphic>
      </p:graphicFrame>
      <p:sp>
        <p:nvSpPr>
          <p:cNvPr id="11" name="TextBox 10"/>
          <p:cNvSpPr txBox="1"/>
          <p:nvPr/>
        </p:nvSpPr>
        <p:spPr>
          <a:xfrm>
            <a:off x="1463040" y="4023360"/>
            <a:ext cx="9235440" cy="365760"/>
          </a:xfrm>
          <a:prstGeom prst="rect">
            <a:avLst/>
          </a:prstGeom>
          <a:noFill/>
        </p:spPr>
        <p:txBody>
          <a:bodyPr wrap="square" lIns="0" rIns="0" tIns="0" bIns="0" anchor="t">
            <a:spAutoFit/>
          </a:bodyPr>
          <a:lstStyle/>
          <a:p>
            <a:pPr algn="l"/>
            <a:r>
              <a:rPr sz="1100" b="0" i="0">
                <a:solidFill>
                  <a:srgbClr val="6B7C75"/>
                </a:solidFill>
                <a:latin typeface="Helvetica Neue"/>
              </a:rPr>
              <a:t>Desktop converts slightly worse than mobile here, which is unusual and points to a desktop specific friction worth a follow up look.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Traffic and channel performance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Facebook paid carries the store. Email is a strong, cheaper second engine.</a:t>
            </a:r>
          </a:p>
        </p:txBody>
      </p:sp>
      <p:graphicFrame>
        <p:nvGraphicFramePr>
          <p:cNvPr id="10" name="Table 9"/>
          <p:cNvGraphicFramePr>
            <a:graphicFrameLocks noGrp="1"/>
          </p:cNvGraphicFramePr>
          <p:nvPr/>
        </p:nvGraphicFramePr>
        <p:xfrm>
          <a:off x="1005840" y="2286000"/>
          <a:ext cx="10149838" cy="2340864"/>
        </p:xfrm>
        <a:graphic>
          <a:graphicData uri="http://schemas.openxmlformats.org/drawingml/2006/table">
            <a:tbl>
              <a:tblPr>
                <a:tableStyleId>{2D5ABB26-0587-4C30-8999-92F81FD0307C}</a:tableStyleId>
              </a:tblPr>
              <a:tblGrid>
                <a:gridCol w="2927838"/>
                <a:gridCol w="1463919"/>
                <a:gridCol w="1268730"/>
                <a:gridCol w="1171135"/>
                <a:gridCol w="1854297"/>
                <a:gridCol w="1463919"/>
              </a:tblGrid>
              <a:tr h="365760">
                <a:tc>
                  <a:txBody>
                    <a:bodyPr wrap="square"/>
                    <a:lstStyle/>
                    <a:p>
                      <a:pPr algn="l"/>
                      <a:r>
                        <a:rPr sz="900" b="1" spc="100">
                          <a:solidFill>
                            <a:srgbClr val="999999"/>
                          </a:solidFill>
                          <a:latin typeface="Helvetica Neue"/>
                        </a:rPr>
                        <a:t>SOURCE / MEDIUM</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EF4444"/>
                          </a:solidFill>
                          <a:latin typeface="Helvetica Neue"/>
                        </a:rPr>
                        <a:t>facebook / paid</a:t>
                      </a:r>
                    </a:p>
                  </a:txBody>
                  <a:tcPr marL="73152" marR="73152" marT="18288" marB="18288" anchor="ctr">
                    <a:solidFill>
                      <a:srgbClr val="000000"/>
                    </a:solidFill>
                  </a:tcPr>
                </a:tc>
                <a:tc>
                  <a:txBody>
                    <a:bodyPr wrap="square"/>
                    <a:lstStyle/>
                    <a:p>
                      <a:pPr algn="r"/>
                      <a:r>
                        <a:rPr sz="1100" b="0">
                          <a:solidFill>
                            <a:srgbClr val="EFEEEE"/>
                          </a:solidFill>
                          <a:latin typeface="Menlo"/>
                        </a:rPr>
                        <a:t>187.519</a:t>
                      </a:r>
                    </a:p>
                  </a:txBody>
                  <a:tcPr marL="73152" marR="73152" marT="18288" marB="18288" anchor="ctr">
                    <a:solidFill>
                      <a:srgbClr val="000000"/>
                    </a:solidFill>
                  </a:tcPr>
                </a:tc>
                <a:tc>
                  <a:txBody>
                    <a:bodyPr wrap="square"/>
                    <a:lstStyle/>
                    <a:p>
                      <a:pPr algn="r"/>
                      <a:r>
                        <a:rPr sz="1100" b="0">
                          <a:solidFill>
                            <a:srgbClr val="EFEEEE"/>
                          </a:solidFill>
                          <a:latin typeface="Menlo"/>
                        </a:rPr>
                        <a:t>5.092</a:t>
                      </a:r>
                    </a:p>
                  </a:txBody>
                  <a:tcPr marL="73152" marR="73152" marT="18288" marB="18288" anchor="ctr">
                    <a:solidFill>
                      <a:srgbClr val="000000"/>
                    </a:solidFill>
                  </a:tcPr>
                </a:tc>
                <a:tc>
                  <a:txBody>
                    <a:bodyPr wrap="square"/>
                    <a:lstStyle/>
                    <a:p>
                      <a:pPr algn="r"/>
                      <a:r>
                        <a:rPr sz="1100" b="0">
                          <a:solidFill>
                            <a:srgbClr val="EFEEEE"/>
                          </a:solidFill>
                          <a:latin typeface="Menlo"/>
                        </a:rPr>
                        <a:t>2,72%</a:t>
                      </a:r>
                    </a:p>
                  </a:txBody>
                  <a:tcPr marL="73152" marR="73152" marT="18288" marB="18288" anchor="ctr">
                    <a:solidFill>
                      <a:srgbClr val="000000"/>
                    </a:solidFill>
                  </a:tcPr>
                </a:tc>
                <a:tc>
                  <a:txBody>
                    <a:bodyPr wrap="square"/>
                    <a:lstStyle/>
                    <a:p>
                      <a:pPr algn="r"/>
                      <a:r>
                        <a:rPr sz="1100" b="0">
                          <a:solidFill>
                            <a:srgbClr val="EF4444"/>
                          </a:solidFill>
                          <a:latin typeface="Menlo"/>
                        </a:rPr>
                        <a:t>43,6%</a:t>
                      </a:r>
                    </a:p>
                  </a:txBody>
                  <a:tcPr marL="73152" marR="73152" marT="18288" marB="18288" anchor="ctr">
                    <a:solidFill>
                      <a:srgbClr val="000000"/>
                    </a:solidFill>
                  </a:tcPr>
                </a:tc>
                <a:tc>
                  <a:txBody>
                    <a:bodyPr wrap="square"/>
                    <a:lstStyle/>
                    <a:p>
                      <a:pPr algn="r"/>
                      <a:r>
                        <a:rPr sz="1100" b="0">
                          <a:solidFill>
                            <a:srgbClr val="EFEEEE"/>
                          </a:solidFill>
                          <a:latin typeface="Menlo"/>
                        </a:rPr>
                        <a:t>4,73M</a:t>
                      </a:r>
                    </a:p>
                  </a:txBody>
                  <a:tcPr marL="73152" marR="73152" marT="18288" marB="18288" anchor="ctr">
                    <a:solidFill>
                      <a:srgbClr val="000000"/>
                    </a:solidFill>
                  </a:tcPr>
                </a:tc>
              </a:tr>
              <a:tr h="329184">
                <a:tc>
                  <a:txBody>
                    <a:bodyPr wrap="square"/>
                    <a:lstStyle/>
                    <a:p>
                      <a:pPr algn="l"/>
                      <a:r>
                        <a:rPr sz="1100" b="1">
                          <a:solidFill>
                            <a:srgbClr val="F7D007"/>
                          </a:solidFill>
                          <a:latin typeface="Helvetica Neue"/>
                        </a:rPr>
                        <a:t>Klaviyo / email</a:t>
                      </a:r>
                    </a:p>
                  </a:txBody>
                  <a:tcPr marL="73152" marR="73152" marT="18288" marB="18288" anchor="ctr">
                    <a:solidFill>
                      <a:srgbClr val="0B0B0B"/>
                    </a:solidFill>
                  </a:tcPr>
                </a:tc>
                <a:tc>
                  <a:txBody>
                    <a:bodyPr wrap="square"/>
                    <a:lstStyle/>
                    <a:p>
                      <a:pPr algn="r"/>
                      <a:r>
                        <a:rPr sz="1100" b="0">
                          <a:solidFill>
                            <a:srgbClr val="EFEEEE"/>
                          </a:solidFill>
                          <a:latin typeface="Menlo"/>
                        </a:rPr>
                        <a:t>72.324</a:t>
                      </a:r>
                    </a:p>
                  </a:txBody>
                  <a:tcPr marL="73152" marR="73152" marT="18288" marB="18288" anchor="ctr">
                    <a:solidFill>
                      <a:srgbClr val="0B0B0B"/>
                    </a:solidFill>
                  </a:tcPr>
                </a:tc>
                <a:tc>
                  <a:txBody>
                    <a:bodyPr wrap="square"/>
                    <a:lstStyle/>
                    <a:p>
                      <a:pPr algn="r"/>
                      <a:r>
                        <a:rPr sz="1100" b="0">
                          <a:solidFill>
                            <a:srgbClr val="EFEEEE"/>
                          </a:solidFill>
                          <a:latin typeface="Menlo"/>
                        </a:rPr>
                        <a:t>1.846</a:t>
                      </a:r>
                    </a:p>
                  </a:txBody>
                  <a:tcPr marL="73152" marR="73152" marT="18288" marB="18288" anchor="ctr">
                    <a:solidFill>
                      <a:srgbClr val="0B0B0B"/>
                    </a:solidFill>
                  </a:tcPr>
                </a:tc>
                <a:tc>
                  <a:txBody>
                    <a:bodyPr wrap="square"/>
                    <a:lstStyle/>
                    <a:p>
                      <a:pPr algn="r"/>
                      <a:r>
                        <a:rPr sz="1100" b="0">
                          <a:solidFill>
                            <a:srgbClr val="EFEEEE"/>
                          </a:solidFill>
                          <a:latin typeface="Menlo"/>
                        </a:rPr>
                        <a:t>2,55%</a:t>
                      </a:r>
                    </a:p>
                  </a:txBody>
                  <a:tcPr marL="73152" marR="73152" marT="18288" marB="18288" anchor="ctr">
                    <a:solidFill>
                      <a:srgbClr val="0B0B0B"/>
                    </a:solidFill>
                  </a:tcPr>
                </a:tc>
                <a:tc>
                  <a:txBody>
                    <a:bodyPr wrap="square"/>
                    <a:lstStyle/>
                    <a:p>
                      <a:pPr algn="r"/>
                      <a:r>
                        <a:rPr sz="1100" b="0">
                          <a:solidFill>
                            <a:srgbClr val="EFEEEE"/>
                          </a:solidFill>
                          <a:latin typeface="Menlo"/>
                        </a:rPr>
                        <a:t>15,8%</a:t>
                      </a:r>
                    </a:p>
                  </a:txBody>
                  <a:tcPr marL="73152" marR="73152" marT="18288" marB="18288" anchor="ctr">
                    <a:solidFill>
                      <a:srgbClr val="0B0B0B"/>
                    </a:solidFill>
                  </a:tcPr>
                </a:tc>
                <a:tc>
                  <a:txBody>
                    <a:bodyPr wrap="square"/>
                    <a:lstStyle/>
                    <a:p>
                      <a:pPr algn="r"/>
                      <a:r>
                        <a:rPr sz="1100" b="0">
                          <a:solidFill>
                            <a:srgbClr val="EFEEEE"/>
                          </a:solidFill>
                          <a:latin typeface="Menlo"/>
                        </a:rPr>
                        <a:t>1,90M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google / cpc</a:t>
                      </a:r>
                    </a:p>
                  </a:txBody>
                  <a:tcPr marL="73152" marR="73152" marT="18288" marB="18288" anchor="ctr">
                    <a:solidFill>
                      <a:srgbClr val="000000"/>
                    </a:solidFill>
                  </a:tcPr>
                </a:tc>
                <a:tc>
                  <a:txBody>
                    <a:bodyPr wrap="square"/>
                    <a:lstStyle/>
                    <a:p>
                      <a:pPr algn="r"/>
                      <a:r>
                        <a:rPr sz="1100" b="0">
                          <a:solidFill>
                            <a:srgbClr val="EFEEEE"/>
                          </a:solidFill>
                          <a:latin typeface="Menlo"/>
                        </a:rPr>
                        <a:t>66.979</a:t>
                      </a:r>
                    </a:p>
                  </a:txBody>
                  <a:tcPr marL="73152" marR="73152" marT="18288" marB="18288" anchor="ctr">
                    <a:solidFill>
                      <a:srgbClr val="000000"/>
                    </a:solidFill>
                  </a:tcPr>
                </a:tc>
                <a:tc>
                  <a:txBody>
                    <a:bodyPr wrap="square"/>
                    <a:lstStyle/>
                    <a:p>
                      <a:pPr algn="r"/>
                      <a:r>
                        <a:rPr sz="1100" b="0">
                          <a:solidFill>
                            <a:srgbClr val="EFEEEE"/>
                          </a:solidFill>
                          <a:latin typeface="Menlo"/>
                        </a:rPr>
                        <a:t>1.674</a:t>
                      </a:r>
                    </a:p>
                  </a:txBody>
                  <a:tcPr marL="73152" marR="73152" marT="18288" marB="18288" anchor="ctr">
                    <a:solidFill>
                      <a:srgbClr val="000000"/>
                    </a:solidFill>
                  </a:tcPr>
                </a:tc>
                <a:tc>
                  <a:txBody>
                    <a:bodyPr wrap="square"/>
                    <a:lstStyle/>
                    <a:p>
                      <a:pPr algn="r"/>
                      <a:r>
                        <a:rPr sz="1100" b="0">
                          <a:solidFill>
                            <a:srgbClr val="22C55E"/>
                          </a:solidFill>
                          <a:latin typeface="Menlo"/>
                        </a:rPr>
                        <a:t>2,50%</a:t>
                      </a:r>
                    </a:p>
                  </a:txBody>
                  <a:tcPr marL="73152" marR="73152" marT="18288" marB="18288" anchor="ctr">
                    <a:solidFill>
                      <a:srgbClr val="000000"/>
                    </a:solidFill>
                  </a:tcPr>
                </a:tc>
                <a:tc>
                  <a:txBody>
                    <a:bodyPr wrap="square"/>
                    <a:lstStyle/>
                    <a:p>
                      <a:pPr algn="r"/>
                      <a:r>
                        <a:rPr sz="1100" b="0">
                          <a:solidFill>
                            <a:srgbClr val="EFEEEE"/>
                          </a:solidFill>
                          <a:latin typeface="Menlo"/>
                        </a:rPr>
                        <a:t>14,3%</a:t>
                      </a:r>
                    </a:p>
                  </a:txBody>
                  <a:tcPr marL="73152" marR="73152" marT="18288" marB="18288" anchor="ctr">
                    <a:solidFill>
                      <a:srgbClr val="000000"/>
                    </a:solidFill>
                  </a:tcPr>
                </a:tc>
                <a:tc>
                  <a:txBody>
                    <a:bodyPr wrap="square"/>
                    <a:lstStyle/>
                    <a:p>
                      <a:pPr algn="r"/>
                      <a:r>
                        <a:rPr sz="1100" b="0">
                          <a:solidFill>
                            <a:srgbClr val="EFEEEE"/>
                          </a:solidFill>
                          <a:latin typeface="Menlo"/>
                        </a:rPr>
                        <a:t>1,87M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(direct)</a:t>
                      </a:r>
                    </a:p>
                  </a:txBody>
                  <a:tcPr marL="73152" marR="73152" marT="18288" marB="18288" anchor="ctr">
                    <a:solidFill>
                      <a:srgbClr val="0B0B0B"/>
                    </a:solidFill>
                  </a:tcPr>
                </a:tc>
                <a:tc>
                  <a:txBody>
                    <a:bodyPr wrap="square"/>
                    <a:lstStyle/>
                    <a:p>
                      <a:pPr algn="r"/>
                      <a:r>
                        <a:rPr sz="1100" b="0">
                          <a:solidFill>
                            <a:srgbClr val="EFEEEE"/>
                          </a:solidFill>
                          <a:latin typeface="Menlo"/>
                        </a:rPr>
                        <a:t>50.060</a:t>
                      </a:r>
                    </a:p>
                  </a:txBody>
                  <a:tcPr marL="73152" marR="73152" marT="18288" marB="18288" anchor="ctr">
                    <a:solidFill>
                      <a:srgbClr val="0B0B0B"/>
                    </a:solidFill>
                  </a:tcPr>
                </a:tc>
                <a:tc>
                  <a:txBody>
                    <a:bodyPr wrap="square"/>
                    <a:lstStyle/>
                    <a:p>
                      <a:pPr algn="r"/>
                      <a:r>
                        <a:rPr sz="1100" b="0">
                          <a:solidFill>
                            <a:srgbClr val="EFEEEE"/>
                          </a:solidFill>
                          <a:latin typeface="Menlo"/>
                        </a:rPr>
                        <a:t>1.252</a:t>
                      </a:r>
                    </a:p>
                  </a:txBody>
                  <a:tcPr marL="73152" marR="73152" marT="18288" marB="18288" anchor="ctr">
                    <a:solidFill>
                      <a:srgbClr val="0B0B0B"/>
                    </a:solidFill>
                  </a:tcPr>
                </a:tc>
                <a:tc>
                  <a:txBody>
                    <a:bodyPr wrap="square"/>
                    <a:lstStyle/>
                    <a:p>
                      <a:pPr algn="r"/>
                      <a:r>
                        <a:rPr sz="1100" b="0">
                          <a:solidFill>
                            <a:srgbClr val="EFEEEE"/>
                          </a:solidFill>
                          <a:latin typeface="Menlo"/>
                        </a:rPr>
                        <a:t>2,50%</a:t>
                      </a:r>
                    </a:p>
                  </a:txBody>
                  <a:tcPr marL="73152" marR="73152" marT="18288" marB="18288" anchor="ctr">
                    <a:solidFill>
                      <a:srgbClr val="0B0B0B"/>
                    </a:solidFill>
                  </a:tcPr>
                </a:tc>
                <a:tc>
                  <a:txBody>
                    <a:bodyPr wrap="square"/>
                    <a:lstStyle/>
                    <a:p>
                      <a:pPr algn="r"/>
                      <a:r>
                        <a:rPr sz="1100" b="0">
                          <a:solidFill>
                            <a:srgbClr val="EFEEEE"/>
                          </a:solidFill>
                          <a:latin typeface="Menlo"/>
                        </a:rPr>
                        <a:t>10,7%</a:t>
                      </a:r>
                    </a:p>
                  </a:txBody>
                  <a:tcPr marL="73152" marR="73152" marT="18288" marB="18288" anchor="ctr">
                    <a:solidFill>
                      <a:srgbClr val="0B0B0B"/>
                    </a:solidFill>
                  </a:tcPr>
                </a:tc>
                <a:tc>
                  <a:txBody>
                    <a:bodyPr wrap="square"/>
                    <a:lstStyle/>
                    <a:p>
                      <a:pPr algn="r"/>
                      <a:r>
                        <a:rPr sz="1100" b="0">
                          <a:solidFill>
                            <a:srgbClr val="EFEEEE"/>
                          </a:solidFill>
                          <a:latin typeface="Menlo"/>
                        </a:rPr>
                        <a:t>1,41M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google / organic</a:t>
                      </a:r>
                    </a:p>
                  </a:txBody>
                  <a:tcPr marL="73152" marR="73152" marT="18288" marB="18288" anchor="ctr">
                    <a:solidFill>
                      <a:srgbClr val="000000"/>
                    </a:solidFill>
                  </a:tcPr>
                </a:tc>
                <a:tc>
                  <a:txBody>
                    <a:bodyPr wrap="square"/>
                    <a:lstStyle/>
                    <a:p>
                      <a:pPr algn="r"/>
                      <a:r>
                        <a:rPr sz="1100" b="0">
                          <a:solidFill>
                            <a:srgbClr val="EFEEEE"/>
                          </a:solidFill>
                          <a:latin typeface="Menlo"/>
                        </a:rPr>
                        <a:t>41.999</a:t>
                      </a:r>
                    </a:p>
                  </a:txBody>
                  <a:tcPr marL="73152" marR="73152" marT="18288" marB="18288" anchor="ctr">
                    <a:solidFill>
                      <a:srgbClr val="000000"/>
                    </a:solidFill>
                  </a:tcPr>
                </a:tc>
                <a:tc>
                  <a:txBody>
                    <a:bodyPr wrap="square"/>
                    <a:lstStyle/>
                    <a:p>
                      <a:pPr algn="r"/>
                      <a:r>
                        <a:rPr sz="1100" b="0">
                          <a:solidFill>
                            <a:srgbClr val="EFEEEE"/>
                          </a:solidFill>
                          <a:latin typeface="Menlo"/>
                        </a:rPr>
                        <a:t>851</a:t>
                      </a:r>
                    </a:p>
                  </a:txBody>
                  <a:tcPr marL="73152" marR="73152" marT="18288" marB="18288" anchor="ctr">
                    <a:solidFill>
                      <a:srgbClr val="000000"/>
                    </a:solidFill>
                  </a:tcPr>
                </a:tc>
                <a:tc>
                  <a:txBody>
                    <a:bodyPr wrap="square"/>
                    <a:lstStyle/>
                    <a:p>
                      <a:pPr algn="r"/>
                      <a:r>
                        <a:rPr sz="1100" b="0">
                          <a:solidFill>
                            <a:srgbClr val="F59E0B"/>
                          </a:solidFill>
                          <a:latin typeface="Menlo"/>
                        </a:rPr>
                        <a:t>2,03%</a:t>
                      </a:r>
                    </a:p>
                  </a:txBody>
                  <a:tcPr marL="73152" marR="73152" marT="18288" marB="18288" anchor="ctr">
                    <a:solidFill>
                      <a:srgbClr val="000000"/>
                    </a:solidFill>
                  </a:tcPr>
                </a:tc>
                <a:tc>
                  <a:txBody>
                    <a:bodyPr wrap="square"/>
                    <a:lstStyle/>
                    <a:p>
                      <a:pPr algn="r"/>
                      <a:r>
                        <a:rPr sz="1100" b="0">
                          <a:solidFill>
                            <a:srgbClr val="EFEEEE"/>
                          </a:solidFill>
                          <a:latin typeface="Menlo"/>
                        </a:rPr>
                        <a:t>7,3%</a:t>
                      </a:r>
                    </a:p>
                  </a:txBody>
                  <a:tcPr marL="73152" marR="73152" marT="18288" marB="18288" anchor="ctr">
                    <a:solidFill>
                      <a:srgbClr val="000000"/>
                    </a:solidFill>
                  </a:tcPr>
                </a:tc>
                <a:tc>
                  <a:txBody>
                    <a:bodyPr wrap="square"/>
                    <a:lstStyle/>
                    <a:p>
                      <a:pPr algn="r"/>
                      <a:r>
                        <a:rPr sz="1100" b="0">
                          <a:solidFill>
                            <a:srgbClr val="EFEEEE"/>
                          </a:solidFill>
                          <a:latin typeface="Menlo"/>
                        </a:rPr>
                        <a:t>0,96M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Klaviyo / sms</a:t>
                      </a:r>
                    </a:p>
                  </a:txBody>
                  <a:tcPr marL="73152" marR="73152" marT="18288" marB="18288" anchor="ctr">
                    <a:solidFill>
                      <a:srgbClr val="0B0B0B"/>
                    </a:solidFill>
                  </a:tcPr>
                </a:tc>
                <a:tc>
                  <a:txBody>
                    <a:bodyPr wrap="square"/>
                    <a:lstStyle/>
                    <a:p>
                      <a:pPr algn="r"/>
                      <a:r>
                        <a:rPr sz="1100" b="0">
                          <a:solidFill>
                            <a:srgbClr val="EFEEEE"/>
                          </a:solidFill>
                          <a:latin typeface="Menlo"/>
                        </a:rPr>
                        <a:t>7.572</a:t>
                      </a:r>
                    </a:p>
                  </a:txBody>
                  <a:tcPr marL="73152" marR="73152" marT="18288" marB="18288" anchor="ctr">
                    <a:solidFill>
                      <a:srgbClr val="0B0B0B"/>
                    </a:solidFill>
                  </a:tcPr>
                </a:tc>
                <a:tc>
                  <a:txBody>
                    <a:bodyPr wrap="square"/>
                    <a:lstStyle/>
                    <a:p>
                      <a:pPr algn="r"/>
                      <a:r>
                        <a:rPr sz="1100" b="0">
                          <a:solidFill>
                            <a:srgbClr val="EFEEEE"/>
                          </a:solidFill>
                          <a:latin typeface="Menlo"/>
                        </a:rPr>
                        <a:t>155</a:t>
                      </a:r>
                    </a:p>
                  </a:txBody>
                  <a:tcPr marL="73152" marR="73152" marT="18288" marB="18288" anchor="ctr">
                    <a:solidFill>
                      <a:srgbClr val="0B0B0B"/>
                    </a:solidFill>
                  </a:tcPr>
                </a:tc>
                <a:tc>
                  <a:txBody>
                    <a:bodyPr wrap="square"/>
                    <a:lstStyle/>
                    <a:p>
                      <a:pPr algn="r"/>
                      <a:r>
                        <a:rPr sz="1100" b="0">
                          <a:solidFill>
                            <a:srgbClr val="EFEEEE"/>
                          </a:solidFill>
                          <a:latin typeface="Menlo"/>
                        </a:rPr>
                        <a:t>2,05%</a:t>
                      </a:r>
                    </a:p>
                  </a:txBody>
                  <a:tcPr marL="73152" marR="73152" marT="18288" marB="18288" anchor="ctr">
                    <a:solidFill>
                      <a:srgbClr val="0B0B0B"/>
                    </a:solidFill>
                  </a:tcPr>
                </a:tc>
                <a:tc>
                  <a:txBody>
                    <a:bodyPr wrap="square"/>
                    <a:lstStyle/>
                    <a:p>
                      <a:pPr algn="r"/>
                      <a:r>
                        <a:rPr sz="1100" b="0">
                          <a:solidFill>
                            <a:srgbClr val="EFEEEE"/>
                          </a:solidFill>
                          <a:latin typeface="Menlo"/>
                        </a:rPr>
                        <a:t>1,3%</a:t>
                      </a:r>
                    </a:p>
                  </a:txBody>
                  <a:tcPr marL="73152" marR="73152" marT="18288" marB="18288" anchor="ctr">
                    <a:solidFill>
                      <a:srgbClr val="0B0B0B"/>
                    </a:solidFill>
                  </a:tcPr>
                </a:tc>
                <a:tc>
                  <a:txBody>
                    <a:bodyPr wrap="square"/>
                    <a:lstStyle/>
                    <a:p>
                      <a:pPr algn="r"/>
                      <a:r>
                        <a:rPr sz="1100" b="0">
                          <a:solidFill>
                            <a:srgbClr val="EFEEEE"/>
                          </a:solidFill>
                          <a:latin typeface="Menlo"/>
                        </a:rPr>
                        <a:t>0,16M</a:t>
                      </a:r>
                    </a:p>
                  </a:txBody>
                  <a:tcPr marL="73152" marR="73152" marT="18288" marB="18288" anchor="ctr">
                    <a:solidFill>
                      <a:srgbClr val="0B0B0B"/>
                    </a:solidFill>
                  </a:tcPr>
                </a:tc>
              </a:tr>
            </a:tbl>
          </a:graphicData>
        </a:graphic>
      </p:graphicFrame>
      <p:sp>
        <p:nvSpPr>
          <p:cNvPr id="11" name="TextBox 10"/>
          <p:cNvSpPr txBox="1"/>
          <p:nvPr/>
        </p:nvSpPr>
        <p:spPr>
          <a:xfrm>
            <a:off x="1005840" y="4937760"/>
            <a:ext cx="10149840" cy="365760"/>
          </a:xfrm>
          <a:prstGeom prst="rect">
            <a:avLst/>
          </a:prstGeom>
          <a:noFill/>
        </p:spPr>
        <p:txBody>
          <a:bodyPr wrap="square" lIns="0" rIns="0" tIns="0" bIns="0" anchor="t">
            <a:spAutoFit/>
          </a:bodyPr>
          <a:lstStyle/>
          <a:p>
            <a:pPr algn="l"/>
            <a:r>
              <a:rPr sz="1100" b="0" i="0">
                <a:solidFill>
                  <a:srgbClr val="6B7C75"/>
                </a:solidFill>
                <a:latin typeface="Helvetica Neue"/>
              </a:rPr>
              <a:t>Concentration risk: 43,6% of orders come from one paid channel. Email already returns a strong 2,55% CVR at lower cost.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underbuilt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Returning visitors convert 26% better, yet only about 1 in 5 users comes back.</a:t>
            </a:r>
          </a:p>
        </p:txBody>
      </p:sp>
      <p:sp>
        <p:nvSpPr>
          <p:cNvPr id="10" name="Rounded Rectangle 9"/>
          <p:cNvSpPr/>
          <p:nvPr/>
        </p:nvSpPr>
        <p:spPr>
          <a:xfrm>
            <a:off x="79232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907792"/>
            <a:ext cx="2446020" cy="502920"/>
          </a:xfrm>
          <a:prstGeom prst="rect">
            <a:avLst/>
          </a:prstGeom>
          <a:noFill/>
        </p:spPr>
        <p:txBody>
          <a:bodyPr wrap="square" lIns="0" rIns="0" tIns="0" bIns="0" anchor="t">
            <a:spAutoFit/>
          </a:bodyPr>
          <a:lstStyle/>
          <a:p>
            <a:pPr algn="ctr"/>
            <a:r>
              <a:rPr sz="3000" b="1" i="0">
                <a:solidFill>
                  <a:srgbClr val="FFFFFF"/>
                </a:solidFill>
                <a:latin typeface="Menlo"/>
              </a:rPr>
              <a:t>2,66%</a:t>
            </a:r>
          </a:p>
        </p:txBody>
      </p:sp>
      <p:sp>
        <p:nvSpPr>
          <p:cNvPr id="12" name="TextBox 11"/>
          <p:cNvSpPr txBox="1"/>
          <p:nvPr/>
        </p:nvSpPr>
        <p:spPr>
          <a:xfrm>
            <a:off x="79232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USER CVR</a:t>
            </a:r>
          </a:p>
        </p:txBody>
      </p:sp>
      <p:sp>
        <p:nvSpPr>
          <p:cNvPr id="13" name="TextBox 12"/>
          <p:cNvSpPr txBox="1"/>
          <p:nvPr/>
        </p:nvSpPr>
        <p:spPr>
          <a:xfrm>
            <a:off x="79232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269.835 sessions</a:t>
            </a:r>
          </a:p>
        </p:txBody>
      </p:sp>
      <p:sp>
        <p:nvSpPr>
          <p:cNvPr id="14" name="Rounded Rectangle 13"/>
          <p:cNvSpPr/>
          <p:nvPr/>
        </p:nvSpPr>
        <p:spPr>
          <a:xfrm>
            <a:off x="351266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907792"/>
            <a:ext cx="2446020" cy="502920"/>
          </a:xfrm>
          <a:prstGeom prst="rect">
            <a:avLst/>
          </a:prstGeom>
          <a:noFill/>
        </p:spPr>
        <p:txBody>
          <a:bodyPr wrap="square" lIns="0" rIns="0" tIns="0" bIns="0" anchor="t">
            <a:spAutoFit/>
          </a:bodyPr>
          <a:lstStyle/>
          <a:p>
            <a:pPr algn="ctr"/>
            <a:r>
              <a:rPr sz="3000" b="1" i="0">
                <a:solidFill>
                  <a:srgbClr val="22C55E"/>
                </a:solidFill>
                <a:latin typeface="Menlo"/>
              </a:rPr>
              <a:t>3,36%</a:t>
            </a:r>
          </a:p>
        </p:txBody>
      </p:sp>
      <p:sp>
        <p:nvSpPr>
          <p:cNvPr id="16" name="TextBox 15"/>
          <p:cNvSpPr txBox="1"/>
          <p:nvPr/>
        </p:nvSpPr>
        <p:spPr>
          <a:xfrm>
            <a:off x="351266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CVR</a:t>
            </a:r>
          </a:p>
        </p:txBody>
      </p:sp>
      <p:sp>
        <p:nvSpPr>
          <p:cNvPr id="17" name="TextBox 16"/>
          <p:cNvSpPr txBox="1"/>
          <p:nvPr/>
        </p:nvSpPr>
        <p:spPr>
          <a:xfrm>
            <a:off x="351266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26% higher</a:t>
            </a:r>
          </a:p>
        </p:txBody>
      </p:sp>
      <p:sp>
        <p:nvSpPr>
          <p:cNvPr id="18" name="Rounded Rectangle 17"/>
          <p:cNvSpPr/>
          <p:nvPr/>
        </p:nvSpPr>
        <p:spPr>
          <a:xfrm>
            <a:off x="623300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907792"/>
            <a:ext cx="2446020" cy="502920"/>
          </a:xfrm>
          <a:prstGeom prst="rect">
            <a:avLst/>
          </a:prstGeom>
          <a:noFill/>
        </p:spPr>
        <p:txBody>
          <a:bodyPr wrap="square" lIns="0" rIns="0" tIns="0" bIns="0" anchor="t">
            <a:spAutoFit/>
          </a:bodyPr>
          <a:lstStyle/>
          <a:p>
            <a:pPr algn="ctr"/>
            <a:r>
              <a:rPr sz="3000" b="1" i="0">
                <a:solidFill>
                  <a:srgbClr val="F7D007"/>
                </a:solidFill>
                <a:latin typeface="Menlo"/>
              </a:rPr>
              <a:t>40%</a:t>
            </a:r>
          </a:p>
        </p:txBody>
      </p:sp>
      <p:sp>
        <p:nvSpPr>
          <p:cNvPr id="20" name="TextBox 19"/>
          <p:cNvSpPr txBox="1"/>
          <p:nvPr/>
        </p:nvSpPr>
        <p:spPr>
          <a:xfrm>
            <a:off x="623300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REV FROM RETURNING</a:t>
            </a:r>
          </a:p>
        </p:txBody>
      </p:sp>
      <p:sp>
        <p:nvSpPr>
          <p:cNvPr id="21" name="TextBox 20"/>
          <p:cNvSpPr txBox="1"/>
          <p:nvPr/>
        </p:nvSpPr>
        <p:spPr>
          <a:xfrm>
            <a:off x="623300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4,81M SEK</a:t>
            </a:r>
          </a:p>
        </p:txBody>
      </p:sp>
      <p:sp>
        <p:nvSpPr>
          <p:cNvPr id="22" name="Rounded Rectangle 21"/>
          <p:cNvSpPr/>
          <p:nvPr/>
        </p:nvSpPr>
        <p:spPr>
          <a:xfrm>
            <a:off x="895334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907792"/>
            <a:ext cx="2446020" cy="502920"/>
          </a:xfrm>
          <a:prstGeom prst="rect">
            <a:avLst/>
          </a:prstGeom>
          <a:noFill/>
        </p:spPr>
        <p:txBody>
          <a:bodyPr wrap="square" lIns="0" rIns="0" tIns="0" bIns="0" anchor="t">
            <a:spAutoFit/>
          </a:bodyPr>
          <a:lstStyle/>
          <a:p>
            <a:pPr algn="ctr"/>
            <a:r>
              <a:rPr sz="3000" b="1" i="0">
                <a:solidFill>
                  <a:srgbClr val="EF4444"/>
                </a:solidFill>
                <a:latin typeface="Menlo"/>
              </a:rPr>
              <a:t>~19%</a:t>
            </a:r>
          </a:p>
        </p:txBody>
      </p:sp>
      <p:sp>
        <p:nvSpPr>
          <p:cNvPr id="24" name="TextBox 23"/>
          <p:cNvSpPr txBox="1"/>
          <p:nvPr/>
        </p:nvSpPr>
        <p:spPr>
          <a:xfrm>
            <a:off x="895334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USERS WHO RETURN</a:t>
            </a:r>
          </a:p>
        </p:txBody>
      </p:sp>
      <p:sp>
        <p:nvSpPr>
          <p:cNvPr id="25" name="TextBox 24"/>
          <p:cNvSpPr txBox="1"/>
          <p:nvPr/>
        </p:nvSpPr>
        <p:spPr>
          <a:xfrm>
            <a:off x="895334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80,8% are new</a:t>
            </a:r>
          </a:p>
        </p:txBody>
      </p:sp>
      <p:sp>
        <p:nvSpPr>
          <p:cNvPr id="26" name="Rounded Rectangle 25"/>
          <p:cNvSpPr/>
          <p:nvPr/>
        </p:nvSpPr>
        <p:spPr>
          <a:xfrm>
            <a:off x="1280160" y="4663440"/>
            <a:ext cx="9601200" cy="77724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800600"/>
            <a:ext cx="9144000" cy="50292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The subscription (Abonnement) plus Klaviyo flows are the levers to lift the return rate. Retention compounds on the 4,7 Trustpilot 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outconvert everything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intro wine box converts at more than double a single bottle page.</a:t>
            </a:r>
          </a:p>
        </p:txBody>
      </p:sp>
      <p:graphicFrame>
        <p:nvGraphicFramePr>
          <p:cNvPr id="10" name="Table 9"/>
          <p:cNvGraphicFramePr>
            <a:graphicFrameLocks noGrp="1"/>
          </p:cNvGraphicFramePr>
          <p:nvPr/>
        </p:nvGraphicFramePr>
        <p:xfrm>
          <a:off x="1645920" y="2286000"/>
          <a:ext cx="8869678" cy="2340864"/>
        </p:xfrm>
        <a:graphic>
          <a:graphicData uri="http://schemas.openxmlformats.org/drawingml/2006/table">
            <a:tbl>
              <a:tblPr>
                <a:tableStyleId>{2D5ABB26-0587-4C30-8999-92F81FD0307C}</a:tableStyleId>
              </a:tblPr>
              <a:tblGrid>
                <a:gridCol w="3262411"/>
                <a:gridCol w="1529255"/>
                <a:gridCol w="1325354"/>
                <a:gridCol w="1325354"/>
                <a:gridCol w="1427304"/>
              </a:tblGrid>
              <a:tr h="365760">
                <a:tc>
                  <a:txBody>
                    <a:bodyPr wrap="square"/>
                    <a:lstStyle/>
                    <a:p>
                      <a:pPr algn="l"/>
                      <a:r>
                        <a:rPr sz="900" b="1" spc="100">
                          <a:solidFill>
                            <a:srgbClr val="999999"/>
                          </a:solidFill>
                          <a:latin typeface="Helvetica Neue"/>
                        </a:rPr>
                        <a:t>LANDING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a:t>
                      </a:r>
                    </a:p>
                  </a:txBody>
                  <a:tcPr marL="73152" marR="73152" marT="18288" marB="18288" anchor="ctr">
                    <a:solidFill>
                      <a:srgbClr val="0A0A0A"/>
                    </a:solidFill>
                  </a:tcPr>
                </a:tc>
              </a:tr>
              <a:tr h="329184">
                <a:tc>
                  <a:txBody>
                    <a:bodyPr wrap="square"/>
                    <a:lstStyle/>
                    <a:p>
                      <a:pPr algn="l"/>
                      <a:r>
                        <a:rPr sz="1100" b="1">
                          <a:solidFill>
                            <a:srgbClr val="F7D007"/>
                          </a:solidFill>
                          <a:latin typeface="Helvetica Neue"/>
                        </a:rPr>
                        <a:t>XL introlåda (box)</a:t>
                      </a:r>
                    </a:p>
                  </a:txBody>
                  <a:tcPr marL="73152" marR="73152" marT="18288" marB="18288" anchor="ctr">
                    <a:solidFill>
                      <a:srgbClr val="000000"/>
                    </a:solidFill>
                  </a:tcPr>
                </a:tc>
                <a:tc>
                  <a:txBody>
                    <a:bodyPr wrap="square"/>
                    <a:lstStyle/>
                    <a:p>
                      <a:pPr algn="r"/>
                      <a:r>
                        <a:rPr sz="1100" b="0">
                          <a:solidFill>
                            <a:srgbClr val="EFEEEE"/>
                          </a:solidFill>
                          <a:latin typeface="Menlo"/>
                        </a:rPr>
                        <a:t>25.583</a:t>
                      </a:r>
                    </a:p>
                  </a:txBody>
                  <a:tcPr marL="73152" marR="73152" marT="18288" marB="18288" anchor="ctr">
                    <a:solidFill>
                      <a:srgbClr val="000000"/>
                    </a:solidFill>
                  </a:tcPr>
                </a:tc>
                <a:tc>
                  <a:txBody>
                    <a:bodyPr wrap="square"/>
                    <a:lstStyle/>
                    <a:p>
                      <a:pPr algn="r"/>
                      <a:r>
                        <a:rPr sz="1100" b="0">
                          <a:solidFill>
                            <a:srgbClr val="EFEEEE"/>
                          </a:solidFill>
                          <a:latin typeface="Menlo"/>
                        </a:rPr>
                        <a:t>1.418</a:t>
                      </a:r>
                    </a:p>
                  </a:txBody>
                  <a:tcPr marL="73152" marR="73152" marT="18288" marB="18288" anchor="ctr">
                    <a:solidFill>
                      <a:srgbClr val="000000"/>
                    </a:solidFill>
                  </a:tcPr>
                </a:tc>
                <a:tc>
                  <a:txBody>
                    <a:bodyPr wrap="square"/>
                    <a:lstStyle/>
                    <a:p>
                      <a:pPr algn="r"/>
                      <a:r>
                        <a:rPr sz="1100" b="0">
                          <a:solidFill>
                            <a:srgbClr val="22C55E"/>
                          </a:solidFill>
                          <a:latin typeface="Menlo"/>
                        </a:rPr>
                        <a:t>5,54%</a:t>
                      </a:r>
                    </a:p>
                  </a:txBody>
                  <a:tcPr marL="73152" marR="73152" marT="18288" marB="18288" anchor="ctr">
                    <a:solidFill>
                      <a:srgbClr val="000000"/>
                    </a:solidFill>
                  </a:tcPr>
                </a:tc>
                <a:tc>
                  <a:txBody>
                    <a:bodyPr wrap="square"/>
                    <a:lstStyle/>
                    <a:p>
                      <a:pPr algn="r"/>
                      <a:r>
                        <a:rPr sz="1100" b="0">
                          <a:solidFill>
                            <a:srgbClr val="EFEEEE"/>
                          </a:solidFill>
                          <a:latin typeface="Menlo"/>
                        </a:rPr>
                        <a:t>1,34M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XL Smaken av Sydeuropa</a:t>
                      </a:r>
                    </a:p>
                  </a:txBody>
                  <a:tcPr marL="73152" marR="73152" marT="18288" marB="18288" anchor="ctr">
                    <a:solidFill>
                      <a:srgbClr val="0B0B0B"/>
                    </a:solidFill>
                  </a:tcPr>
                </a:tc>
                <a:tc>
                  <a:txBody>
                    <a:bodyPr wrap="square"/>
                    <a:lstStyle/>
                    <a:p>
                      <a:pPr algn="r"/>
                      <a:r>
                        <a:rPr sz="1100" b="0">
                          <a:solidFill>
                            <a:srgbClr val="EFEEEE"/>
                          </a:solidFill>
                          <a:latin typeface="Menlo"/>
                        </a:rPr>
                        <a:t>11.764</a:t>
                      </a:r>
                    </a:p>
                  </a:txBody>
                  <a:tcPr marL="73152" marR="73152" marT="18288" marB="18288" anchor="ctr">
                    <a:solidFill>
                      <a:srgbClr val="0B0B0B"/>
                    </a:solidFill>
                  </a:tcPr>
                </a:tc>
                <a:tc>
                  <a:txBody>
                    <a:bodyPr wrap="square"/>
                    <a:lstStyle/>
                    <a:p>
                      <a:pPr algn="r"/>
                      <a:r>
                        <a:rPr sz="1100" b="0">
                          <a:solidFill>
                            <a:srgbClr val="EFEEEE"/>
                          </a:solidFill>
                          <a:latin typeface="Menlo"/>
                        </a:rPr>
                        <a:t>482</a:t>
                      </a:r>
                    </a:p>
                  </a:txBody>
                  <a:tcPr marL="73152" marR="73152" marT="18288" marB="18288" anchor="ctr">
                    <a:solidFill>
                      <a:srgbClr val="0B0B0B"/>
                    </a:solidFill>
                  </a:tcPr>
                </a:tc>
                <a:tc>
                  <a:txBody>
                    <a:bodyPr wrap="square"/>
                    <a:lstStyle/>
                    <a:p>
                      <a:pPr algn="r"/>
                      <a:r>
                        <a:rPr sz="1100" b="0">
                          <a:solidFill>
                            <a:srgbClr val="22C55E"/>
                          </a:solidFill>
                          <a:latin typeface="Menlo"/>
                        </a:rPr>
                        <a:t>4,10%</a:t>
                      </a:r>
                    </a:p>
                  </a:txBody>
                  <a:tcPr marL="73152" marR="73152" marT="18288" marB="18288" anchor="ctr">
                    <a:solidFill>
                      <a:srgbClr val="0B0B0B"/>
                    </a:solidFill>
                  </a:tcPr>
                </a:tc>
                <a:tc>
                  <a:txBody>
                    <a:bodyPr wrap="square"/>
                    <a:lstStyle/>
                    <a:p>
                      <a:pPr algn="r"/>
                      <a:r>
                        <a:rPr sz="1100" b="0">
                          <a:solidFill>
                            <a:srgbClr val="EFEEEE"/>
                          </a:solidFill>
                          <a:latin typeface="Menlo"/>
                        </a:rPr>
                        <a:t>0,46M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The Fantini box</a:t>
                      </a:r>
                    </a:p>
                  </a:txBody>
                  <a:tcPr marL="73152" marR="73152" marT="18288" marB="18288" anchor="ctr">
                    <a:solidFill>
                      <a:srgbClr val="000000"/>
                    </a:solidFill>
                  </a:tcPr>
                </a:tc>
                <a:tc>
                  <a:txBody>
                    <a:bodyPr wrap="square"/>
                    <a:lstStyle/>
                    <a:p>
                      <a:pPr algn="r"/>
                      <a:r>
                        <a:rPr sz="1100" b="0">
                          <a:solidFill>
                            <a:srgbClr val="EFEEEE"/>
                          </a:solidFill>
                          <a:latin typeface="Menlo"/>
                        </a:rPr>
                        <a:t>21.018</a:t>
                      </a:r>
                    </a:p>
                  </a:txBody>
                  <a:tcPr marL="73152" marR="73152" marT="18288" marB="18288" anchor="ctr">
                    <a:solidFill>
                      <a:srgbClr val="000000"/>
                    </a:solidFill>
                  </a:tcPr>
                </a:tc>
                <a:tc>
                  <a:txBody>
                    <a:bodyPr wrap="square"/>
                    <a:lstStyle/>
                    <a:p>
                      <a:pPr algn="r"/>
                      <a:r>
                        <a:rPr sz="1100" b="0">
                          <a:solidFill>
                            <a:srgbClr val="EFEEEE"/>
                          </a:solidFill>
                          <a:latin typeface="Menlo"/>
                        </a:rPr>
                        <a:t>816</a:t>
                      </a:r>
                    </a:p>
                  </a:txBody>
                  <a:tcPr marL="73152" marR="73152" marT="18288" marB="18288" anchor="ctr">
                    <a:solidFill>
                      <a:srgbClr val="000000"/>
                    </a:solidFill>
                  </a:tcPr>
                </a:tc>
                <a:tc>
                  <a:txBody>
                    <a:bodyPr wrap="square"/>
                    <a:lstStyle/>
                    <a:p>
                      <a:pPr algn="r"/>
                      <a:r>
                        <a:rPr sz="1100" b="0">
                          <a:solidFill>
                            <a:srgbClr val="EFEEEE"/>
                          </a:solidFill>
                          <a:latin typeface="Menlo"/>
                        </a:rPr>
                        <a:t>3,88%</a:t>
                      </a:r>
                    </a:p>
                  </a:txBody>
                  <a:tcPr marL="73152" marR="73152" marT="18288" marB="18288" anchor="ctr">
                    <a:solidFill>
                      <a:srgbClr val="000000"/>
                    </a:solidFill>
                  </a:tcPr>
                </a:tc>
                <a:tc>
                  <a:txBody>
                    <a:bodyPr wrap="square"/>
                    <a:lstStyle/>
                    <a:p>
                      <a:pPr algn="r"/>
                      <a:r>
                        <a:rPr sz="1100" b="0">
                          <a:solidFill>
                            <a:srgbClr val="EFEEEE"/>
                          </a:solidFill>
                          <a:latin typeface="Menlo"/>
                        </a:rPr>
                        <a:t>0,78M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Homepage /</a:t>
                      </a:r>
                    </a:p>
                  </a:txBody>
                  <a:tcPr marL="73152" marR="73152" marT="18288" marB="18288" anchor="ctr">
                    <a:solidFill>
                      <a:srgbClr val="0B0B0B"/>
                    </a:solidFill>
                  </a:tcPr>
                </a:tc>
                <a:tc>
                  <a:txBody>
                    <a:bodyPr wrap="square"/>
                    <a:lstStyle/>
                    <a:p>
                      <a:pPr algn="r"/>
                      <a:r>
                        <a:rPr sz="1100" b="0">
                          <a:solidFill>
                            <a:srgbClr val="EFEEEE"/>
                          </a:solidFill>
                          <a:latin typeface="Menlo"/>
                        </a:rPr>
                        <a:t>62.611</a:t>
                      </a:r>
                    </a:p>
                  </a:txBody>
                  <a:tcPr marL="73152" marR="73152" marT="18288" marB="18288" anchor="ctr">
                    <a:solidFill>
                      <a:srgbClr val="0B0B0B"/>
                    </a:solidFill>
                  </a:tcPr>
                </a:tc>
                <a:tc>
                  <a:txBody>
                    <a:bodyPr wrap="square"/>
                    <a:lstStyle/>
                    <a:p>
                      <a:pPr algn="r"/>
                      <a:r>
                        <a:rPr sz="1100" b="0">
                          <a:solidFill>
                            <a:srgbClr val="EFEEEE"/>
                          </a:solidFill>
                          <a:latin typeface="Menlo"/>
                        </a:rPr>
                        <a:t>2.105</a:t>
                      </a:r>
                    </a:p>
                  </a:txBody>
                  <a:tcPr marL="73152" marR="73152" marT="18288" marB="18288" anchor="ctr">
                    <a:solidFill>
                      <a:srgbClr val="0B0B0B"/>
                    </a:solidFill>
                  </a:tcPr>
                </a:tc>
                <a:tc>
                  <a:txBody>
                    <a:bodyPr wrap="square"/>
                    <a:lstStyle/>
                    <a:p>
                      <a:pPr algn="r"/>
                      <a:r>
                        <a:rPr sz="1100" b="0">
                          <a:solidFill>
                            <a:srgbClr val="EFEEEE"/>
                          </a:solidFill>
                          <a:latin typeface="Menlo"/>
                        </a:rPr>
                        <a:t>3,36%</a:t>
                      </a:r>
                    </a:p>
                  </a:txBody>
                  <a:tcPr marL="73152" marR="73152" marT="18288" marB="18288" anchor="ctr">
                    <a:solidFill>
                      <a:srgbClr val="0B0B0B"/>
                    </a:solidFill>
                  </a:tcPr>
                </a:tc>
                <a:tc>
                  <a:txBody>
                    <a:bodyPr wrap="square"/>
                    <a:lstStyle/>
                    <a:p>
                      <a:pPr algn="r"/>
                      <a:r>
                        <a:rPr sz="1100" b="0">
                          <a:solidFill>
                            <a:srgbClr val="EFEEEE"/>
                          </a:solidFill>
                          <a:latin typeface="Menlo"/>
                        </a:rPr>
                        <a:t>2,38M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/collections/vinlador</a:t>
                      </a:r>
                    </a:p>
                  </a:txBody>
                  <a:tcPr marL="73152" marR="73152" marT="18288" marB="18288" anchor="ctr">
                    <a:solidFill>
                      <a:srgbClr val="000000"/>
                    </a:solidFill>
                  </a:tcPr>
                </a:tc>
                <a:tc>
                  <a:txBody>
                    <a:bodyPr wrap="square"/>
                    <a:lstStyle/>
                    <a:p>
                      <a:pPr algn="r"/>
                      <a:r>
                        <a:rPr sz="1100" b="0">
                          <a:solidFill>
                            <a:srgbClr val="EFEEEE"/>
                          </a:solidFill>
                          <a:latin typeface="Menlo"/>
                        </a:rPr>
                        <a:t>17.849</a:t>
                      </a:r>
                    </a:p>
                  </a:txBody>
                  <a:tcPr marL="73152" marR="73152" marT="18288" marB="18288" anchor="ctr">
                    <a:solidFill>
                      <a:srgbClr val="000000"/>
                    </a:solidFill>
                  </a:tcPr>
                </a:tc>
                <a:tc>
                  <a:txBody>
                    <a:bodyPr wrap="square"/>
                    <a:lstStyle/>
                    <a:p>
                      <a:pPr algn="r"/>
                      <a:r>
                        <a:rPr sz="1100" b="0">
                          <a:solidFill>
                            <a:srgbClr val="EFEEEE"/>
                          </a:solidFill>
                          <a:latin typeface="Menlo"/>
                        </a:rPr>
                        <a:t>465</a:t>
                      </a:r>
                    </a:p>
                  </a:txBody>
                  <a:tcPr marL="73152" marR="73152" marT="18288" marB="18288" anchor="ctr">
                    <a:solidFill>
                      <a:srgbClr val="000000"/>
                    </a:solidFill>
                  </a:tcPr>
                </a:tc>
                <a:tc>
                  <a:txBody>
                    <a:bodyPr wrap="square"/>
                    <a:lstStyle/>
                    <a:p>
                      <a:pPr algn="r"/>
                      <a:r>
                        <a:rPr sz="1100" b="0">
                          <a:solidFill>
                            <a:srgbClr val="F59E0B"/>
                          </a:solidFill>
                          <a:latin typeface="Menlo"/>
                        </a:rPr>
                        <a:t>2,60%</a:t>
                      </a:r>
                    </a:p>
                  </a:txBody>
                  <a:tcPr marL="73152" marR="73152" marT="18288" marB="18288" anchor="ctr">
                    <a:solidFill>
                      <a:srgbClr val="000000"/>
                    </a:solidFill>
                  </a:tcPr>
                </a:tc>
                <a:tc>
                  <a:txBody>
                    <a:bodyPr wrap="square"/>
                    <a:lstStyle/>
                    <a:p>
                      <a:pPr algn="r"/>
                      <a:r>
                        <a:rPr sz="1100" b="0">
                          <a:solidFill>
                            <a:srgbClr val="EFEEEE"/>
                          </a:solidFill>
                          <a:latin typeface="Menlo"/>
                        </a:rPr>
                        <a:t>0,50M</a:t>
                      </a:r>
                    </a:p>
                  </a:txBody>
                  <a:tcPr marL="73152" marR="73152" marT="18288" marB="18288" anchor="ctr">
                    <a:solidFill>
                      <a:srgbClr val="000000"/>
                    </a:solidFill>
                  </a:tcPr>
                </a:tc>
              </a:tr>
              <a:tr h="329184">
                <a:tc>
                  <a:txBody>
                    <a:bodyPr wrap="square"/>
                    <a:lstStyle/>
                    <a:p>
                      <a:pPr algn="l"/>
                      <a:r>
                        <a:rPr sz="1100" b="1">
                          <a:solidFill>
                            <a:srgbClr val="F59E0B"/>
                          </a:solidFill>
                          <a:latin typeface="Helvetica Neue"/>
                        </a:rPr>
                        <a:t>PNK bubbles (single line)</a:t>
                      </a:r>
                    </a:p>
                  </a:txBody>
                  <a:tcPr marL="73152" marR="73152" marT="18288" marB="18288" anchor="ctr">
                    <a:solidFill>
                      <a:srgbClr val="0B0B0B"/>
                    </a:solidFill>
                  </a:tcPr>
                </a:tc>
                <a:tc>
                  <a:txBody>
                    <a:bodyPr wrap="square"/>
                    <a:lstStyle/>
                    <a:p>
                      <a:pPr algn="r"/>
                      <a:r>
                        <a:rPr sz="1100" b="0">
                          <a:solidFill>
                            <a:srgbClr val="EFEEEE"/>
                          </a:solidFill>
                          <a:latin typeface="Menlo"/>
                        </a:rPr>
                        <a:t>9.202</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F59E0B"/>
                          </a:solidFill>
                          <a:latin typeface="Menlo"/>
                        </a:rPr>
                        <a:t>2,16%</a:t>
                      </a:r>
                    </a:p>
                  </a:txBody>
                  <a:tcPr marL="73152" marR="73152" marT="18288" marB="18288" anchor="ctr">
                    <a:solidFill>
                      <a:srgbClr val="0B0B0B"/>
                    </a:solidFill>
                  </a:tcPr>
                </a:tc>
                <a:tc>
                  <a:txBody>
                    <a:bodyPr wrap="square"/>
                    <a:lstStyle/>
                    <a:p>
                      <a:pPr algn="r"/>
                      <a:r>
                        <a:rPr sz="1100" b="0">
                          <a:solidFill>
                            <a:srgbClr val="EFEEEE"/>
                          </a:solidFill>
                          <a:latin typeface="Menlo"/>
                        </a:rPr>
                        <a:t>0,15M</a:t>
                      </a:r>
                    </a:p>
                  </a:txBody>
                  <a:tcPr marL="73152" marR="73152" marT="18288" marB="18288" anchor="ctr">
                    <a:solidFill>
                      <a:srgbClr val="0B0B0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DATA QUALITY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store is better than the dashboard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Nearly a third of sessions land as "(not set)" and almost never convert.</a:t>
            </a:r>
          </a:p>
        </p:txBody>
      </p:sp>
      <p:sp>
        <p:nvSpPr>
          <p:cNvPr id="10" name="Rounded Rectangle 9"/>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EF4444"/>
                </a:solidFill>
                <a:latin typeface="Menlo"/>
              </a:rPr>
              <a:t>129.913</a:t>
            </a:r>
          </a:p>
        </p:txBody>
      </p:sp>
      <p:sp>
        <p:nvSpPr>
          <p:cNvPr id="12" name="TextBox 11"/>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"(NOT SET)" SESSIONS</a:t>
            </a:r>
          </a:p>
        </p:txBody>
      </p:sp>
      <p:sp>
        <p:nvSpPr>
          <p:cNvPr id="13" name="TextBox 12"/>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28,7% of all sessions</a:t>
            </a:r>
          </a:p>
        </p:txBody>
      </p:sp>
      <p:sp>
        <p:nvSpPr>
          <p:cNvPr id="14" name="Rounded Rectangle 13"/>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EF4444"/>
                </a:solidFill>
                <a:latin typeface="Menlo"/>
              </a:rPr>
              <a:t>10</a:t>
            </a:r>
          </a:p>
        </p:txBody>
      </p:sp>
      <p:sp>
        <p:nvSpPr>
          <p:cNvPr id="16" name="TextBox 15"/>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 FROM THEM</a:t>
            </a:r>
          </a:p>
        </p:txBody>
      </p:sp>
      <p:sp>
        <p:nvSpPr>
          <p:cNvPr id="17" name="TextBox 16"/>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64% bounce, 37s dwell</a:t>
            </a:r>
          </a:p>
        </p:txBody>
      </p:sp>
      <p:sp>
        <p:nvSpPr>
          <p:cNvPr id="18" name="Rounded Rectangle 17"/>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~3,6%</a:t>
            </a:r>
          </a:p>
        </p:txBody>
      </p:sp>
      <p:sp>
        <p:nvSpPr>
          <p:cNvPr id="20" name="TextBox 19"/>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ON CLEAN TRAFFIC</a:t>
            </a:r>
          </a:p>
        </p:txBody>
      </p:sp>
      <p:sp>
        <p:nvSpPr>
          <p:cNvPr id="21" name="TextBox 20"/>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2,58% reported</a:t>
            </a:r>
          </a:p>
        </p:txBody>
      </p:sp>
      <p:sp>
        <p:nvSpPr>
          <p:cNvPr id="22" name="Rounded Rectangle 21"/>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CAPI</a:t>
            </a:r>
          </a:p>
        </p:txBody>
      </p:sp>
      <p:sp>
        <p:nvSpPr>
          <p:cNvPr id="24" name="TextBox 23"/>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THE FIX</a:t>
            </a:r>
          </a:p>
        </p:txBody>
      </p:sp>
      <p:sp>
        <p:nvSpPr>
          <p:cNvPr id="25" name="TextBox 24"/>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Server side + consent</a:t>
            </a:r>
          </a:p>
        </p:txBody>
      </p:sp>
      <p:sp>
        <p:nvSpPr>
          <p:cNvPr id="26" name="Rounded Rectangle 25"/>
          <p:cNvSpPr/>
          <p:nvPr/>
        </p:nvSpPr>
        <p:spPr>
          <a:xfrm>
            <a:off x="1280160" y="4389120"/>
            <a:ext cx="9601200" cy="100584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526280"/>
            <a:ext cx="9144000" cy="73152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Most likely consent denied cookieless pings (Cookiebot) plus Facebook in app browser sessions where the landing page fails to resolve. Recovering this signal also feeds Meta and Google better conversion data, improving ad optimization on the channel the store depends 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02</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negative tail is highly concentrated on one issue.</a:t>
            </a:r>
          </a:p>
        </p:txBody>
      </p:sp>
      <p:sp>
        <p:nvSpPr>
          <p:cNvPr id="10" name="Rounded Rectangle 9"/>
          <p:cNvSpPr/>
          <p:nvPr/>
        </p:nvSpPr>
        <p:spPr>
          <a:xfrm>
            <a:off x="79232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24912"/>
            <a:ext cx="2446020" cy="502920"/>
          </a:xfrm>
          <a:prstGeom prst="rect">
            <a:avLst/>
          </a:prstGeom>
          <a:noFill/>
        </p:spPr>
        <p:txBody>
          <a:bodyPr wrap="square" lIns="0" rIns="0" tIns="0" bIns="0" anchor="t">
            <a:spAutoFit/>
          </a:bodyPr>
          <a:lstStyle/>
          <a:p>
            <a:pPr algn="ctr"/>
            <a:r>
              <a:rPr sz="3000" b="1" i="0">
                <a:solidFill>
                  <a:srgbClr val="F7D007"/>
                </a:solidFill>
                <a:latin typeface="Menlo"/>
              </a:rPr>
              <a:t>4,7</a:t>
            </a:r>
          </a:p>
        </p:txBody>
      </p:sp>
      <p:sp>
        <p:nvSpPr>
          <p:cNvPr id="12" name="TextBox 11"/>
          <p:cNvSpPr txBox="1"/>
          <p:nvPr/>
        </p:nvSpPr>
        <p:spPr>
          <a:xfrm>
            <a:off x="79232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TRUSTSCORE</a:t>
            </a:r>
          </a:p>
        </p:txBody>
      </p:sp>
      <p:sp>
        <p:nvSpPr>
          <p:cNvPr id="13" name="TextBox 12"/>
          <p:cNvSpPr txBox="1"/>
          <p:nvPr/>
        </p:nvSpPr>
        <p:spPr>
          <a:xfrm>
            <a:off x="79232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"Utmärkt"</a:t>
            </a:r>
          </a:p>
        </p:txBody>
      </p:sp>
      <p:sp>
        <p:nvSpPr>
          <p:cNvPr id="14" name="Rounded Rectangle 13"/>
          <p:cNvSpPr/>
          <p:nvPr/>
        </p:nvSpPr>
        <p:spPr>
          <a:xfrm>
            <a:off x="351266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24912"/>
            <a:ext cx="2446020" cy="502920"/>
          </a:xfrm>
          <a:prstGeom prst="rect">
            <a:avLst/>
          </a:prstGeom>
          <a:noFill/>
        </p:spPr>
        <p:txBody>
          <a:bodyPr wrap="square" lIns="0" rIns="0" tIns="0" bIns="0" anchor="t">
            <a:spAutoFit/>
          </a:bodyPr>
          <a:lstStyle/>
          <a:p>
            <a:pPr algn="ctr"/>
            <a:r>
              <a:rPr sz="3000" b="1" i="0">
                <a:solidFill>
                  <a:srgbClr val="FFFFFF"/>
                </a:solidFill>
                <a:latin typeface="Menlo"/>
              </a:rPr>
              <a:t>5.985</a:t>
            </a:r>
          </a:p>
        </p:txBody>
      </p:sp>
      <p:sp>
        <p:nvSpPr>
          <p:cNvPr id="16" name="TextBox 15"/>
          <p:cNvSpPr txBox="1"/>
          <p:nvPr/>
        </p:nvSpPr>
        <p:spPr>
          <a:xfrm>
            <a:off x="351266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REVIEWS</a:t>
            </a:r>
          </a:p>
        </p:txBody>
      </p:sp>
      <p:sp>
        <p:nvSpPr>
          <p:cNvPr id="17" name="TextBox 16"/>
          <p:cNvSpPr txBox="1"/>
          <p:nvPr/>
        </p:nvSpPr>
        <p:spPr>
          <a:xfrm>
            <a:off x="351266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79,6% at 5 stars</a:t>
            </a:r>
          </a:p>
        </p:txBody>
      </p:sp>
      <p:sp>
        <p:nvSpPr>
          <p:cNvPr id="18" name="Rounded Rectangle 17"/>
          <p:cNvSpPr/>
          <p:nvPr/>
        </p:nvSpPr>
        <p:spPr>
          <a:xfrm>
            <a:off x="623300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24912"/>
            <a:ext cx="2446020" cy="502920"/>
          </a:xfrm>
          <a:prstGeom prst="rect">
            <a:avLst/>
          </a:prstGeom>
          <a:noFill/>
        </p:spPr>
        <p:txBody>
          <a:bodyPr wrap="square" lIns="0" rIns="0" tIns="0" bIns="0" anchor="t">
            <a:spAutoFit/>
          </a:bodyPr>
          <a:lstStyle/>
          <a:p>
            <a:pPr algn="ctr"/>
            <a:r>
              <a:rPr sz="3000" b="1" i="0">
                <a:solidFill>
                  <a:srgbClr val="EF4444"/>
                </a:solidFill>
                <a:latin typeface="Menlo"/>
              </a:rPr>
              <a:t>86%</a:t>
            </a:r>
          </a:p>
        </p:txBody>
      </p:sp>
      <p:sp>
        <p:nvSpPr>
          <p:cNvPr id="20" name="TextBox 19"/>
          <p:cNvSpPr txBox="1"/>
          <p:nvPr/>
        </p:nvSpPr>
        <p:spPr>
          <a:xfrm>
            <a:off x="623300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COMPLAINTS RE DELIVERY</a:t>
            </a:r>
          </a:p>
        </p:txBody>
      </p:sp>
      <p:sp>
        <p:nvSpPr>
          <p:cNvPr id="21" name="TextBox 20"/>
          <p:cNvSpPr txBox="1"/>
          <p:nvPr/>
        </p:nvSpPr>
        <p:spPr>
          <a:xfrm>
            <a:off x="623300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sampled low star</a:t>
            </a:r>
          </a:p>
        </p:txBody>
      </p:sp>
      <p:sp>
        <p:nvSpPr>
          <p:cNvPr id="22" name="Rounded Rectangle 21"/>
          <p:cNvSpPr/>
          <p:nvPr/>
        </p:nvSpPr>
        <p:spPr>
          <a:xfrm>
            <a:off x="895334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24912"/>
            <a:ext cx="2446020" cy="502920"/>
          </a:xfrm>
          <a:prstGeom prst="rect">
            <a:avLst/>
          </a:prstGeom>
          <a:noFill/>
        </p:spPr>
        <p:txBody>
          <a:bodyPr wrap="square" lIns="0" rIns="0" tIns="0" bIns="0" anchor="t">
            <a:spAutoFit/>
          </a:bodyPr>
          <a:lstStyle/>
          <a:p>
            <a:pPr algn="ctr"/>
            <a:r>
              <a:rPr sz="3000" b="1" i="0">
                <a:solidFill>
                  <a:srgbClr val="F59E0B"/>
                </a:solidFill>
                <a:latin typeface="Menlo"/>
              </a:rPr>
              <a:t>14%</a:t>
            </a:r>
          </a:p>
        </p:txBody>
      </p:sp>
      <p:sp>
        <p:nvSpPr>
          <p:cNvPr id="24" name="TextBox 23"/>
          <p:cNvSpPr txBox="1"/>
          <p:nvPr/>
        </p:nvSpPr>
        <p:spPr>
          <a:xfrm>
            <a:off x="895334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COMPLAINTS RE TASTE</a:t>
            </a:r>
          </a:p>
        </p:txBody>
      </p:sp>
      <p:sp>
        <p:nvSpPr>
          <p:cNvPr id="25" name="TextBox 24"/>
          <p:cNvSpPr txBox="1"/>
          <p:nvPr/>
        </p:nvSpPr>
        <p:spPr>
          <a:xfrm>
            <a:off x="895334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"smakar som saft"</a:t>
            </a:r>
          </a:p>
        </p:txBody>
      </p:sp>
      <p:sp>
        <p:nvSpPr>
          <p:cNvPr id="26" name="Rounded Rectangle 25"/>
          <p:cNvSpPr/>
          <p:nvPr/>
        </p:nvSpPr>
        <p:spPr>
          <a:xfrm>
            <a:off x="1280160" y="4480560"/>
            <a:ext cx="9601200" cy="77724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617720"/>
            <a:ext cx="9144000" cy="50292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Buy drivers (sampled 200 high star): fast delivery 36%, easy to order 34%, price and value 28%, discovery boxes 21%, wine quality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a:t>
            </a:r>
          </a:p>
        </p:txBody>
      </p:sp>
      <p:sp>
        <p:nvSpPr>
          <p:cNvPr id="10" name="Rounded Rectangle 9"/>
          <p:cNvSpPr/>
          <p:nvPr/>
        </p:nvSpPr>
        <p:spPr>
          <a:xfrm>
            <a:off x="792327" y="210312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"Smidigt, enkelt, prisvärt, bra viner mm! Dessutom inga begränsade öppettider att förhålla sig till."</a:t>
            </a:r>
          </a:p>
        </p:txBody>
      </p:sp>
      <p:sp>
        <p:nvSpPr>
          <p:cNvPr id="12" name="TextBox 11"/>
          <p:cNvSpPr txBox="1"/>
          <p:nvPr/>
        </p:nvSpPr>
        <p:spPr>
          <a:xfrm>
            <a:off x="104835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Smooth, easy, good value, and no restricted opening hours.</a:t>
            </a:r>
          </a:p>
        </p:txBody>
      </p:sp>
      <p:sp>
        <p:nvSpPr>
          <p:cNvPr id="13" name="TextBox 12"/>
          <p:cNvSpPr txBox="1"/>
          <p:nvPr/>
        </p:nvSpPr>
        <p:spPr>
          <a:xfrm>
            <a:off x="104835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kundnamn · 4 stjärnor</a:t>
            </a:r>
          </a:p>
        </p:txBody>
      </p:sp>
      <p:sp>
        <p:nvSpPr>
          <p:cNvPr id="14" name="Rounded Rectangle 13"/>
          <p:cNvSpPr/>
          <p:nvPr/>
        </p:nvSpPr>
        <p:spPr>
          <a:xfrm>
            <a:off x="6255867" y="210312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189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"Är så skönt med färdiga bland lådor av viner, man har stor chans att hitta nya favoriter."</a:t>
            </a:r>
          </a:p>
        </p:txBody>
      </p:sp>
      <p:sp>
        <p:nvSpPr>
          <p:cNvPr id="16" name="TextBox 15"/>
          <p:cNvSpPr txBox="1"/>
          <p:nvPr/>
        </p:nvSpPr>
        <p:spPr>
          <a:xfrm>
            <a:off x="651189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Ready made mixed boxes give a real chance to find new favourites.</a:t>
            </a:r>
          </a:p>
        </p:txBody>
      </p:sp>
      <p:sp>
        <p:nvSpPr>
          <p:cNvPr id="17" name="TextBox 16"/>
          <p:cNvSpPr txBox="1"/>
          <p:nvPr/>
        </p:nvSpPr>
        <p:spPr>
          <a:xfrm>
            <a:off x="651189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Ritva Nilsson · 5 stjärnor</a:t>
            </a:r>
          </a:p>
        </p:txBody>
      </p:sp>
      <p:sp>
        <p:nvSpPr>
          <p:cNvPr id="18" name="Rounded Rectangle 17"/>
          <p:cNvSpPr/>
          <p:nvPr/>
        </p:nvSpPr>
        <p:spPr>
          <a:xfrm>
            <a:off x="792327" y="406908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"...trevligt att smaka viner från mindre kända vingårdar!"</a:t>
            </a:r>
          </a:p>
        </p:txBody>
      </p:sp>
      <p:sp>
        <p:nvSpPr>
          <p:cNvPr id="20" name="TextBox 19"/>
          <p:cNvSpPr txBox="1"/>
          <p:nvPr/>
        </p:nvSpPr>
        <p:spPr>
          <a:xfrm>
            <a:off x="104835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Nice to try wines from lesser known vineyards, at affordable prices.</a:t>
            </a:r>
          </a:p>
        </p:txBody>
      </p:sp>
      <p:sp>
        <p:nvSpPr>
          <p:cNvPr id="21" name="TextBox 20"/>
          <p:cNvSpPr txBox="1"/>
          <p:nvPr/>
        </p:nvSpPr>
        <p:spPr>
          <a:xfrm>
            <a:off x="104835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Martin Åström · 5 stjärnor</a:t>
            </a:r>
          </a:p>
        </p:txBody>
      </p:sp>
      <p:sp>
        <p:nvSpPr>
          <p:cNvPr id="22" name="Rounded Rectangle 21"/>
          <p:cNvSpPr/>
          <p:nvPr/>
        </p:nvSpPr>
        <p:spPr>
          <a:xfrm>
            <a:off x="6255867" y="406908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189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"Mycket goda alkoholfria alternativ, såväl vitt vin som mousserande."</a:t>
            </a:r>
          </a:p>
        </p:txBody>
      </p:sp>
      <p:sp>
        <p:nvSpPr>
          <p:cNvPr id="24" name="TextBox 23"/>
          <p:cNvSpPr txBox="1"/>
          <p:nvPr/>
        </p:nvSpPr>
        <p:spPr>
          <a:xfrm>
            <a:off x="651189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Very good alcohol free options. A niche but loyal segment.</a:t>
            </a:r>
          </a:p>
        </p:txBody>
      </p:sp>
      <p:sp>
        <p:nvSpPr>
          <p:cNvPr id="25" name="TextBox 24"/>
          <p:cNvSpPr txBox="1"/>
          <p:nvPr/>
        </p:nvSpPr>
        <p:spPr>
          <a:xfrm>
            <a:off x="651189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Sari Andersson · 5 stjärnor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Customers report 7 to 16 days.</a:t>
            </a:r>
          </a:p>
        </p:txBody>
      </p:sp>
      <p:sp>
        <p:nvSpPr>
          <p:cNvPr id="10" name="Rounded Rectangle 9"/>
          <p:cNvSpPr/>
          <p:nvPr/>
        </p:nvSpPr>
        <p:spPr>
          <a:xfrm>
            <a:off x="792327" y="210312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"1-3 dagars leverans står det. Just nu väntat i 11 dagar. Första och sista gången tyvärr."</a:t>
            </a:r>
          </a:p>
        </p:txBody>
      </p:sp>
      <p:sp>
        <p:nvSpPr>
          <p:cNvPr id="12" name="TextBox 11"/>
          <p:cNvSpPr txBox="1"/>
          <p:nvPr/>
        </p:nvSpPr>
        <p:spPr>
          <a:xfrm>
            <a:off x="104835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Says 1-3 days. Waited 11 days. First and last time.</a:t>
            </a:r>
          </a:p>
        </p:txBody>
      </p:sp>
      <p:sp>
        <p:nvSpPr>
          <p:cNvPr id="13" name="TextBox 12"/>
          <p:cNvSpPr txBox="1"/>
          <p:nvPr/>
        </p:nvSpPr>
        <p:spPr>
          <a:xfrm>
            <a:off x="104835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Sebastian Svahn · 1 stjärna</a:t>
            </a:r>
          </a:p>
        </p:txBody>
      </p:sp>
      <p:sp>
        <p:nvSpPr>
          <p:cNvPr id="14" name="Rounded Rectangle 13"/>
          <p:cNvSpPr/>
          <p:nvPr/>
        </p:nvSpPr>
        <p:spPr>
          <a:xfrm>
            <a:off x="6255867" y="210312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189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"Vilseledande marknadsföring! Leverans som aldrig är 1-3 dagar som det står på sidan."</a:t>
            </a:r>
          </a:p>
        </p:txBody>
      </p:sp>
      <p:sp>
        <p:nvSpPr>
          <p:cNvPr id="16" name="TextBox 15"/>
          <p:cNvSpPr txBox="1"/>
          <p:nvPr/>
        </p:nvSpPr>
        <p:spPr>
          <a:xfrm>
            <a:off x="651189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Misleading marketing. Never the 1-3 days the site claims.</a:t>
            </a:r>
          </a:p>
        </p:txBody>
      </p:sp>
      <p:sp>
        <p:nvSpPr>
          <p:cNvPr id="17" name="TextBox 16"/>
          <p:cNvSpPr txBox="1"/>
          <p:nvPr/>
        </p:nvSpPr>
        <p:spPr>
          <a:xfrm>
            <a:off x="651189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Elias Lindell · 1 stjärna</a:t>
            </a:r>
          </a:p>
        </p:txBody>
      </p:sp>
      <p:sp>
        <p:nvSpPr>
          <p:cNvPr id="18" name="Rounded Rectangle 17"/>
          <p:cNvSpPr/>
          <p:nvPr/>
        </p:nvSpPr>
        <p:spPr>
          <a:xfrm>
            <a:off x="792327" y="406908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"Dittvin utlovar 1-3 dagars leverans men det är snarare 10-13. Trust me."</a:t>
            </a:r>
          </a:p>
        </p:txBody>
      </p:sp>
      <p:sp>
        <p:nvSpPr>
          <p:cNvPr id="20" name="TextBox 19"/>
          <p:cNvSpPr txBox="1"/>
          <p:nvPr/>
        </p:nvSpPr>
        <p:spPr>
          <a:xfrm>
            <a:off x="104835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Promises 1-3 days but it is more like 10-13.</a:t>
            </a:r>
          </a:p>
        </p:txBody>
      </p:sp>
      <p:sp>
        <p:nvSpPr>
          <p:cNvPr id="21" name="TextBox 20"/>
          <p:cNvSpPr txBox="1"/>
          <p:nvPr/>
        </p:nvSpPr>
        <p:spPr>
          <a:xfrm>
            <a:off x="104835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Mattias Bedding · 2 stjärnor</a:t>
            </a:r>
          </a:p>
        </p:txBody>
      </p:sp>
      <p:sp>
        <p:nvSpPr>
          <p:cNvPr id="22" name="Rounded Rectangle 21"/>
          <p:cNvSpPr/>
          <p:nvPr/>
        </p:nvSpPr>
        <p:spPr>
          <a:xfrm>
            <a:off x="6255867" y="406908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189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"Ska levereras mellan 17-22, sen 5 minuter innan så avbryts leveransen!"</a:t>
            </a:r>
          </a:p>
        </p:txBody>
      </p:sp>
      <p:sp>
        <p:nvSpPr>
          <p:cNvPr id="24" name="TextBox 23"/>
          <p:cNvSpPr txBox="1"/>
          <p:nvPr/>
        </p:nvSpPr>
        <p:spPr>
          <a:xfrm>
            <a:off x="651189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Meant to arrive 17-22, then cancelled 5 minutes before. Alcohol needs someone home.</a:t>
            </a:r>
          </a:p>
        </p:txBody>
      </p:sp>
      <p:sp>
        <p:nvSpPr>
          <p:cNvPr id="25" name="TextBox 24"/>
          <p:cNvSpPr txBox="1"/>
          <p:nvPr/>
        </p:nvSpPr>
        <p:spPr>
          <a:xfrm>
            <a:off x="651189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Elias Lindell · 1 stjärna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Rounded Rectangle 8"/>
          <p:cNvSpPr/>
          <p:nvPr/>
        </p:nvSpPr>
        <p:spPr>
          <a:xfrm>
            <a:off x="792327" y="210312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835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"Köpte 12 så kallade kvalitetsviner. Flertalet knappt drickbara och sämre än de billigare på systemet."</a:t>
            </a:r>
          </a:p>
        </p:txBody>
      </p:sp>
      <p:sp>
        <p:nvSpPr>
          <p:cNvPr id="11" name="TextBox 10"/>
          <p:cNvSpPr txBox="1"/>
          <p:nvPr/>
        </p:nvSpPr>
        <p:spPr>
          <a:xfrm>
            <a:off x="104835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12 so called quality wines, several barely drinkable and worse than Systembolaget budget.</a:t>
            </a:r>
          </a:p>
        </p:txBody>
      </p:sp>
      <p:sp>
        <p:nvSpPr>
          <p:cNvPr id="12" name="TextBox 11"/>
          <p:cNvSpPr txBox="1"/>
          <p:nvPr/>
        </p:nvSpPr>
        <p:spPr>
          <a:xfrm>
            <a:off x="104835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Consumer · 2 stjärnor</a:t>
            </a:r>
          </a:p>
        </p:txBody>
      </p:sp>
      <p:sp>
        <p:nvSpPr>
          <p:cNvPr id="13" name="Rounded Rectangle 12"/>
          <p:cNvSpPr/>
          <p:nvPr/>
        </p:nvSpPr>
        <p:spPr>
          <a:xfrm>
            <a:off x="6255867" y="2103120"/>
            <a:ext cx="5143500" cy="1691640"/>
          </a:xfrm>
          <a:prstGeom prst="roundRect">
            <a:avLst>
              <a:gd name="adj" fmla="val 5000"/>
            </a:avLst>
          </a:prstGeom>
          <a:solidFill>
            <a:srgbClr val="101010"/>
          </a:solidFill>
          <a:ln w="9525">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189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"Vinerna smakar som saft."</a:t>
            </a:r>
          </a:p>
        </p:txBody>
      </p:sp>
      <p:sp>
        <p:nvSpPr>
          <p:cNvPr id="15" name="TextBox 14"/>
          <p:cNvSpPr txBox="1"/>
          <p:nvPr/>
        </p:nvSpPr>
        <p:spPr>
          <a:xfrm>
            <a:off x="651189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The wines taste like juice. 14% of complaints mention taste.</a:t>
            </a:r>
          </a:p>
        </p:txBody>
      </p:sp>
      <p:sp>
        <p:nvSpPr>
          <p:cNvPr id="16" name="TextBox 15"/>
          <p:cNvSpPr txBox="1"/>
          <p:nvPr/>
        </p:nvSpPr>
        <p:spPr>
          <a:xfrm>
            <a:off x="651189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Harry Frank · 2 stjärnor</a:t>
            </a:r>
          </a:p>
        </p:txBody>
      </p:sp>
      <p:sp>
        <p:nvSpPr>
          <p:cNvPr id="17" name="Rounded Rectangle 16"/>
          <p:cNvSpPr/>
          <p:nvPr/>
        </p:nvSpPr>
        <p:spPr>
          <a:xfrm>
            <a:off x="792327" y="406908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835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"Kundservice är ett automatiskt AI svar som 'beklagar och ska ta din feedback med oss'."</a:t>
            </a:r>
          </a:p>
        </p:txBody>
      </p:sp>
      <p:sp>
        <p:nvSpPr>
          <p:cNvPr id="19" name="TextBox 18"/>
          <p:cNvSpPr txBox="1"/>
          <p:nvPr/>
        </p:nvSpPr>
        <p:spPr>
          <a:xfrm>
            <a:off x="104835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Customer service is an automatic AI reply. 38% of complaints cite service.</a:t>
            </a:r>
          </a:p>
        </p:txBody>
      </p:sp>
      <p:sp>
        <p:nvSpPr>
          <p:cNvPr id="20" name="TextBox 19"/>
          <p:cNvSpPr txBox="1"/>
          <p:nvPr/>
        </p:nvSpPr>
        <p:spPr>
          <a:xfrm>
            <a:off x="104835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Elias Lindell · 1 stjärna</a:t>
            </a:r>
          </a:p>
        </p:txBody>
      </p:sp>
      <p:sp>
        <p:nvSpPr>
          <p:cNvPr id="21" name="Rounded Rectangle 20"/>
          <p:cNvSpPr/>
          <p:nvPr/>
        </p:nvSpPr>
        <p:spPr>
          <a:xfrm>
            <a:off x="6255867" y="406908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189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"En flaska var skadad, dom löste det snabbt och lätt. Mycket bra återkoppling på mejl."</a:t>
            </a:r>
          </a:p>
        </p:txBody>
      </p:sp>
      <p:sp>
        <p:nvSpPr>
          <p:cNvPr id="23" name="TextBox 22"/>
          <p:cNvSpPr txBox="1"/>
          <p:nvPr/>
        </p:nvSpPr>
        <p:spPr>
          <a:xfrm>
            <a:off x="651189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Solved quickly. When service is fast, it becomes a 5 star reason.</a:t>
            </a:r>
          </a:p>
        </p:txBody>
      </p:sp>
      <p:sp>
        <p:nvSpPr>
          <p:cNvPr id="24" name="TextBox 23"/>
          <p:cNvSpPr txBox="1"/>
          <p:nvPr/>
        </p:nvSpPr>
        <p:spPr>
          <a:xfrm>
            <a:off x="651189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Bengt Angséus · 5 stjärnor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CATEGORY'S BIGGEST BARRIER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Online wine's one structural disadvantage: no tasting. Removing taste uncertainty lifts conversion and order value at once.</a:t>
            </a:r>
          </a:p>
        </p:txBody>
      </p:sp>
      <p:sp>
        <p:nvSpPr>
          <p:cNvPr id="10" name="Rounded Rectangle 9"/>
          <p:cNvSpPr/>
          <p:nvPr/>
        </p:nvSpPr>
        <p:spPr>
          <a:xfrm>
            <a:off x="79232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Taste is a blind gamble</a:t>
            </a:r>
          </a:p>
        </p:txBody>
      </p:sp>
      <p:sp>
        <p:nvSpPr>
          <p:cNvPr id="13" name="TextBox 12"/>
          <p:cNvSpPr txBox="1"/>
          <p:nvPr/>
        </p:nvSpPr>
        <p:spPr>
          <a:xfrm>
            <a:off x="106664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14% of complaints are about taste, and buyers ask for the information outright. A box of 12 unknown wines is a leap of faith, so price and discount become the only decision cues.</a:t>
            </a:r>
          </a:p>
        </p:txBody>
      </p:sp>
      <p:sp>
        <p:nvSpPr>
          <p:cNvPr id="14" name="Rounded Rectangle 13"/>
          <p:cNvSpPr/>
          <p:nvPr/>
        </p:nvSpPr>
        <p:spPr>
          <a:xfrm>
            <a:off x="106664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"Vinerna smakar som saft"</a:t>
            </a:r>
          </a:p>
        </p:txBody>
      </p:sp>
      <p:sp>
        <p:nvSpPr>
          <p:cNvPr id="16" name="Rounded Rectangle 15"/>
          <p:cNvSpPr/>
          <p:nvPr/>
        </p:nvSpPr>
        <p:spPr>
          <a:xfrm>
            <a:off x="1066647" y="4608576"/>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4663440"/>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"Jag saknar en beskrivning av respektive vin."</a:t>
            </a:r>
          </a:p>
        </p:txBody>
      </p:sp>
      <p:sp>
        <p:nvSpPr>
          <p:cNvPr id="18" name="Rounded Rectangle 17"/>
          <p:cNvSpPr/>
          <p:nvPr/>
        </p:nvSpPr>
        <p:spPr>
          <a:xfrm>
            <a:off x="632444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a:t>
            </a:r>
          </a:p>
        </p:txBody>
      </p:sp>
      <p:sp>
        <p:nvSpPr>
          <p:cNvPr id="20" name="TextBox 19"/>
          <p:cNvSpPr txBox="1"/>
          <p:nvPr/>
        </p:nvSpPr>
        <p:spPr>
          <a:xfrm>
            <a:off x="659876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Dry to sweet and light to full scales, plain language tasting notes, the Vivino score you already hold, and food pairing. Plus a short "hitta din smak" taste match quiz.</a:t>
            </a:r>
          </a:p>
        </p:txBody>
      </p:sp>
      <p:sp>
        <p:nvSpPr>
          <p:cNvPr id="22" name="Rounded Rectangle 21"/>
          <p:cNvSpPr/>
          <p:nvPr/>
        </p:nvSpPr>
        <p:spPr>
          <a:xfrm>
            <a:off x="659876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592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Torrt ————o———— Sött   ·   Lätt ———————o— Fylligt</a:t>
            </a:r>
          </a:p>
        </p:txBody>
      </p:sp>
      <p:sp>
        <p:nvSpPr>
          <p:cNvPr id="24" name="Rounded Rectangle 23"/>
          <p:cNvSpPr/>
          <p:nvPr/>
        </p:nvSpPr>
        <p:spPr>
          <a:xfrm>
            <a:off x="6598767" y="4608576"/>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35927" y="4663440"/>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Mörka bär · Kryddig · Vivino 4,1 · Passar grillat kött</a:t>
            </a:r>
          </a:p>
        </p:txBody>
      </p:sp>
      <p:sp>
        <p:nvSpPr>
          <p:cNvPr id="26" name="TextBox 25"/>
          <p:cNvSpPr txBox="1"/>
          <p:nvPr/>
        </p:nvSpPr>
        <p:spPr>
          <a:xfrm>
            <a:off x="1280160" y="5532120"/>
            <a:ext cx="9601200" cy="457200"/>
          </a:xfrm>
          <a:prstGeom prst="rect">
            <a:avLst/>
          </a:prstGeom>
          <a:noFill/>
        </p:spPr>
        <p:txBody>
          <a:bodyPr wrap="square" lIns="0" rIns="0" tIns="0" bIns="0" anchor="t">
            <a:spAutoFit/>
          </a:bodyPr>
          <a:lstStyle/>
          <a:p>
            <a:pPr algn="ctr"/>
            <a:r>
              <a:rPr sz="1100" b="0" i="0">
                <a:solidFill>
                  <a:srgbClr val="6B7C75"/>
                </a:solidFill>
                <a:latin typeface="Helvetica Neue"/>
              </a:rPr>
              <a:t>The highest leverage content fix for a wine PDP: it turns a blind box into an informed pick, lifts add to cart, powers the AOV box ladder, and cuts the "smakar som saft" complaints.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03</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Two levers decide the first purchase: is it legal, and will it arrive. dittvin is silent on the first and unreliable on the second.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dittvin lawfully ships as a Danish cross border private importer. It never explains this, so doubt fills the gap.</a:t>
            </a:r>
          </a:p>
        </p:txBody>
      </p:sp>
      <p:sp>
        <p:nvSpPr>
          <p:cNvPr id="10" name="Rounded Rectangle 9"/>
          <p:cNvSpPr/>
          <p:nvPr/>
        </p:nvSpPr>
        <p:spPr>
          <a:xfrm>
            <a:off x="79232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a:t>
            </a:r>
          </a:p>
        </p:txBody>
      </p:sp>
      <p:sp>
        <p:nvSpPr>
          <p:cNvPr id="14" name="Rounded Rectangle 13"/>
          <p:cNvSpPr/>
          <p:nvPr/>
        </p:nvSpPr>
        <p:spPr>
          <a:xfrm>
            <a:off x="106664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"Tror detta r bedrägeri. VARNING" (I think this is fraud)</a:t>
            </a:r>
          </a:p>
        </p:txBody>
      </p:sp>
      <p:sp>
        <p:nvSpPr>
          <p:cNvPr id="16" name="Rounded Rectangle 15"/>
          <p:cNvSpPr/>
          <p:nvPr/>
        </p:nvSpPr>
        <p:spPr>
          <a:xfrm>
            <a:off x="632444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Winefinder and Supervin also show Trygg E-handel.</a:t>
            </a:r>
          </a:p>
        </p:txBody>
      </p:sp>
      <p:sp>
        <p:nvSpPr>
          <p:cNvPr id="20" name="Rounded Rectangle 19"/>
          <p:cNvSpPr/>
          <p:nvPr/>
        </p:nvSpPr>
        <p:spPr>
          <a:xfrm>
            <a:off x="659876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block on PDP and cart.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Rounded Rectangle 8"/>
          <p:cNvSpPr/>
          <p:nvPr/>
        </p:nvSpPr>
        <p:spPr>
          <a:xfrm>
            <a:off x="79232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1</a:t>
            </a:r>
          </a:p>
        </p:txBody>
      </p:sp>
      <p:sp>
        <p:nvSpPr>
          <p:cNvPr id="11" name="TextBox 10"/>
          <p:cNvSpPr txBox="1"/>
          <p:nvPr/>
        </p:nvSpPr>
        <p:spPr>
          <a:xfrm>
            <a:off x="102092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might be illegal."</a:t>
            </a:r>
          </a:p>
        </p:txBody>
      </p:sp>
      <p:sp>
        <p:nvSpPr>
          <p:cNvPr id="12" name="TextBox 11"/>
          <p:cNvSpPr txBox="1"/>
          <p:nvPr/>
        </p:nvSpPr>
        <p:spPr>
          <a:xfrm>
            <a:off x="102092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Danish private import, Skatteverket distance seller, tax and VAT included, Trustpilot proof at hesitation.</a:t>
            </a:r>
          </a:p>
        </p:txBody>
      </p:sp>
      <p:sp>
        <p:nvSpPr>
          <p:cNvPr id="13" name="Rounded Rectangle 12"/>
          <p:cNvSpPr/>
          <p:nvPr/>
        </p:nvSpPr>
        <p:spPr>
          <a:xfrm>
            <a:off x="102092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80,8% are new buyers</a:t>
            </a:r>
          </a:p>
        </p:txBody>
      </p:sp>
      <p:sp>
        <p:nvSpPr>
          <p:cNvPr id="15" name="Rounded Rectangle 14"/>
          <p:cNvSpPr/>
          <p:nvPr/>
        </p:nvSpPr>
        <p:spPr>
          <a:xfrm>
            <a:off x="441944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2</a:t>
            </a:r>
          </a:p>
        </p:txBody>
      </p:sp>
      <p:sp>
        <p:nvSpPr>
          <p:cNvPr id="17" name="TextBox 16"/>
          <p:cNvSpPr txBox="1"/>
          <p:nvPr/>
        </p:nvSpPr>
        <p:spPr>
          <a:xfrm>
            <a:off x="464804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8" name="TextBox 17"/>
          <p:cNvSpPr txBox="1"/>
          <p:nvPr/>
        </p:nvSpPr>
        <p:spPr>
          <a:xfrm>
            <a:off x="464804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Destroy it by fixing the promise, not the wine. Honest order specific ETA, proactive updates, and a chooseable delivery window.</a:t>
            </a:r>
          </a:p>
        </p:txBody>
      </p:sp>
      <p:sp>
        <p:nvSpPr>
          <p:cNvPr id="19" name="Rounded Rectangle 18"/>
          <p:cNvSpPr/>
          <p:nvPr/>
        </p:nvSpPr>
        <p:spPr>
          <a:xfrm>
            <a:off x="464804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804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a:t>
            </a:r>
          </a:p>
        </p:txBody>
      </p:sp>
      <p:sp>
        <p:nvSpPr>
          <p:cNvPr id="21" name="Rounded Rectangle 20"/>
          <p:cNvSpPr/>
          <p:nvPr/>
        </p:nvSpPr>
        <p:spPr>
          <a:xfrm>
            <a:off x="804656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16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3</a:t>
            </a:r>
          </a:p>
        </p:txBody>
      </p:sp>
      <p:sp>
        <p:nvSpPr>
          <p:cNvPr id="23" name="TextBox 22"/>
          <p:cNvSpPr txBox="1"/>
          <p:nvPr/>
        </p:nvSpPr>
        <p:spPr>
          <a:xfrm>
            <a:off x="827516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cheap plonk."</a:t>
            </a:r>
          </a:p>
        </p:txBody>
      </p:sp>
      <p:sp>
        <p:nvSpPr>
          <p:cNvPr id="24" name="TextBox 23"/>
          <p:cNvSpPr txBox="1"/>
          <p:nvPr/>
        </p:nvSpPr>
        <p:spPr>
          <a:xfrm>
            <a:off x="827516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grape, region, a dry to sweet scale, and the Vivino score. A box should not be a blind gamble.</a:t>
            </a:r>
          </a:p>
        </p:txBody>
      </p:sp>
      <p:sp>
        <p:nvSpPr>
          <p:cNvPr id="25" name="Rounded Rectangle 24"/>
          <p:cNvSpPr/>
          <p:nvPr/>
        </p:nvSpPr>
        <p:spPr>
          <a:xfrm>
            <a:off x="827516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cite taste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04</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Heuristic Analysis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and PDP, reviewed on the mobile experience that carries 86% of the store. Every claim is screenshot verified.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Rounded Rectangle 8"/>
          <p:cNvSpPr/>
          <p:nvPr/>
        </p:nvSpPr>
        <p:spPr>
          <a:xfrm>
            <a:off x="822960" y="1828800"/>
            <a:ext cx="2011680" cy="429768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ptx-entry.jpg"/>
          <p:cNvPicPr>
            <a:picLocks noChangeAspect="1"/>
          </p:cNvPicPr>
          <p:nvPr/>
        </p:nvPicPr>
        <p:blipFill>
          <a:blip r:embed="rId3"/>
          <a:stretch>
            <a:fillRect/>
          </a:stretch>
        </p:blipFill>
        <p:spPr>
          <a:xfrm>
            <a:off x="835852" y="1828800"/>
            <a:ext cx="1985895" cy="4297680"/>
          </a:xfrm>
          <a:prstGeom prst="rect">
            <a:avLst/>
          </a:prstGeom>
        </p:spPr>
      </p:pic>
      <p:sp>
        <p:nvSpPr>
          <p:cNvPr id="11" name="TextBox 10"/>
          <p:cNvSpPr txBox="1"/>
          <p:nvPr/>
        </p:nvSpPr>
        <p:spPr>
          <a:xfrm>
            <a:off x="822960" y="6199632"/>
            <a:ext cx="2011680" cy="274320"/>
          </a:xfrm>
          <a:prstGeom prst="rect">
            <a:avLst/>
          </a:prstGeom>
          <a:noFill/>
        </p:spPr>
        <p:txBody>
          <a:bodyPr wrap="square" lIns="0" rIns="0" tIns="0" bIns="0" anchor="t">
            <a:spAutoFit/>
          </a:bodyPr>
          <a:lstStyle/>
          <a:p>
            <a:pPr algn="ctr"/>
            <a:r>
              <a:rPr sz="1000" b="1" i="0" spc="200">
                <a:solidFill>
                  <a:srgbClr val="FFFFFF"/>
                </a:solidFill>
                <a:latin typeface="Helvetica Neue"/>
              </a:rPr>
              <a:t>ENTRY · MOBILE</a:t>
            </a:r>
          </a:p>
        </p:txBody>
      </p:sp>
      <p:sp>
        <p:nvSpPr>
          <p:cNvPr id="12" name="Oval 11"/>
          <p:cNvSpPr/>
          <p:nvPr/>
        </p:nvSpPr>
        <p:spPr>
          <a:xfrm>
            <a:off x="3566160" y="2066544"/>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2" y="201168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Double interstitial. </a:t>
            </a:r>
            <a:r>
              <a:rPr sz="1300" b="0" i="0">
                <a:solidFill>
                  <a:srgbClr val="CCCCCC"/>
                </a:solidFill>
                <a:latin typeface="Helvetica Neue"/>
              </a:rPr>
              <a:t>A legally required age gate stacks on a spin the wheel popup. Two dismissals before the first product.</a:t>
            </a:r>
          </a:p>
        </p:txBody>
      </p:sp>
      <p:sp>
        <p:nvSpPr>
          <p:cNvPr id="14" name="Oval 13"/>
          <p:cNvSpPr/>
          <p:nvPr/>
        </p:nvSpPr>
        <p:spPr>
          <a:xfrm>
            <a:off x="3566160" y="2651760"/>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22192" y="2596896"/>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Turn the age gate into a trust moment. </a:t>
            </a:r>
            <a:r>
              <a:rPr sz="1300" b="0" i="0">
                <a:solidFill>
                  <a:srgbClr val="CCCCCC"/>
                </a:solidFill>
                <a:latin typeface="Helvetica Neue"/>
              </a:rPr>
              <a:t>Add one line: lawful Danish import, tax included. The perfect place to answer legality.</a:t>
            </a:r>
          </a:p>
        </p:txBody>
      </p:sp>
      <p:sp>
        <p:nvSpPr>
          <p:cNvPr id="16" name="Oval 15"/>
          <p:cNvSpPr/>
          <p:nvPr/>
        </p:nvSpPr>
        <p:spPr>
          <a:xfrm>
            <a:off x="3566160" y="3236976"/>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22192" y="3182112"/>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Emoji heavy promo bar. </a:t>
            </a:r>
            <a:r>
              <a:rPr sz="1300" b="0" i="0">
                <a:solidFill>
                  <a:srgbClr val="CCCCCC"/>
                </a:solidFill>
                <a:latin typeface="Helvetica Neue"/>
              </a:rPr>
              <a:t>Clashes with a "kvalitetsviner" premium promise on a wine brand.</a:t>
            </a:r>
          </a:p>
        </p:txBody>
      </p:sp>
      <p:sp>
        <p:nvSpPr>
          <p:cNvPr id="18" name="Oval 17"/>
          <p:cNvSpPr/>
          <p:nvPr/>
        </p:nvSpPr>
        <p:spPr>
          <a:xfrm>
            <a:off x="3566160" y="3822192"/>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2" y="3767328"/>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Chat and Klaviyo present. </a:t>
            </a:r>
            <a:r>
              <a:rPr sz="1300" b="0" i="0">
                <a:solidFill>
                  <a:srgbClr val="CCCCCC"/>
                </a:solidFill>
                <a:latin typeface="Helvetica Neue"/>
              </a:rPr>
              <a:t>Support and capture are live. The issue is stacking and sequence, not absence.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Rounded Rectangle 8"/>
          <p:cNvSpPr/>
          <p:nvPr/>
        </p:nvSpPr>
        <p:spPr>
          <a:xfrm>
            <a:off x="822960" y="1828800"/>
            <a:ext cx="2011680" cy="429768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ptx-home.jpg"/>
          <p:cNvPicPr>
            <a:picLocks noChangeAspect="1"/>
          </p:cNvPicPr>
          <p:nvPr/>
        </p:nvPicPr>
        <p:blipFill>
          <a:blip r:embed="rId3"/>
          <a:stretch>
            <a:fillRect/>
          </a:stretch>
        </p:blipFill>
        <p:spPr>
          <a:xfrm>
            <a:off x="897636" y="1828800"/>
            <a:ext cx="1862328" cy="4297680"/>
          </a:xfrm>
          <a:prstGeom prst="rect">
            <a:avLst/>
          </a:prstGeom>
        </p:spPr>
      </p:pic>
      <p:sp>
        <p:nvSpPr>
          <p:cNvPr id="11" name="TextBox 10"/>
          <p:cNvSpPr txBox="1"/>
          <p:nvPr/>
        </p:nvSpPr>
        <p:spPr>
          <a:xfrm>
            <a:off x="822960" y="6199632"/>
            <a:ext cx="2011680" cy="274320"/>
          </a:xfrm>
          <a:prstGeom prst="rect">
            <a:avLst/>
          </a:prstGeom>
          <a:noFill/>
        </p:spPr>
        <p:txBody>
          <a:bodyPr wrap="square" lIns="0" rIns="0" tIns="0" bIns="0" anchor="t">
            <a:spAutoFit/>
          </a:bodyPr>
          <a:lstStyle/>
          <a:p>
            <a:pPr algn="ctr"/>
            <a:r>
              <a:rPr sz="1000" b="1" i="0" spc="200">
                <a:solidFill>
                  <a:srgbClr val="FFFFFF"/>
                </a:solidFill>
                <a:latin typeface="Helvetica Neue"/>
              </a:rPr>
              <a:t>HOMEPAGE · MOBILE</a:t>
            </a:r>
          </a:p>
        </p:txBody>
      </p:sp>
      <p:sp>
        <p:nvSpPr>
          <p:cNvPr id="12" name="Oval 11"/>
          <p:cNvSpPr/>
          <p:nvPr/>
        </p:nvSpPr>
        <p:spPr>
          <a:xfrm>
            <a:off x="3566160" y="2066544"/>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2" y="201168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Clear category circles. </a:t>
            </a:r>
            <a:r>
              <a:rPr sz="1300" b="0" i="0">
                <a:solidFill>
                  <a:srgbClr val="CCCCCC"/>
                </a:solidFill>
                <a:latin typeface="Helvetica Neue"/>
              </a:rPr>
              <a:t>Rött, Vitt, Mousserande, Rosé, Gin, Vinlådor, Erbjudanden, Abonnemang, Alkoholfri. Vivino badges on products.</a:t>
            </a:r>
          </a:p>
        </p:txBody>
      </p:sp>
      <p:sp>
        <p:nvSpPr>
          <p:cNvPr id="14" name="Oval 13"/>
          <p:cNvSpPr/>
          <p:nvPr/>
        </p:nvSpPr>
        <p:spPr>
          <a:xfrm>
            <a:off x="3566160" y="2651760"/>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22192" y="2596896"/>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Everything is on sale. </a:t>
            </a:r>
            <a:r>
              <a:rPr sz="1300" b="0" i="0">
                <a:solidFill>
                  <a:srgbClr val="CCCCCC"/>
                </a:solidFill>
                <a:latin typeface="Helvetica Neue"/>
              </a:rPr>
              <a:t>Every product wears a red discount flag plus "Spara X kr". Permanent discounting reads as generic, not premium.</a:t>
            </a:r>
          </a:p>
        </p:txBody>
      </p:sp>
      <p:sp>
        <p:nvSpPr>
          <p:cNvPr id="16" name="TextBox 15"/>
          <p:cNvSpPr txBox="1"/>
          <p:nvPr/>
        </p:nvSpPr>
        <p:spPr>
          <a:xfrm>
            <a:off x="3822192" y="3054096"/>
            <a:ext cx="7607808" cy="274320"/>
          </a:xfrm>
          <a:prstGeom prst="rect">
            <a:avLst/>
          </a:prstGeom>
          <a:noFill/>
        </p:spPr>
        <p:txBody>
          <a:bodyPr wrap="square" lIns="0" rIns="0" tIns="0" bIns="0" anchor="t">
            <a:spAutoFit/>
          </a:bodyPr>
          <a:lstStyle/>
          <a:p>
            <a:pPr algn="l"/>
            <a:r>
              <a:rPr sz="1100" b="1" i="0">
                <a:solidFill>
                  <a:srgbClr val="F7D007"/>
                </a:solidFill>
                <a:latin typeface="Helvetica Neue"/>
              </a:rPr>
              <a:t>Reserve discounting for real offers.</a:t>
            </a:r>
          </a:p>
        </p:txBody>
      </p:sp>
      <p:sp>
        <p:nvSpPr>
          <p:cNvPr id="17" name="Oval 16"/>
          <p:cNvSpPr/>
          <p:nvPr/>
        </p:nvSpPr>
        <p:spPr>
          <a:xfrm>
            <a:off x="3566160" y="3547872"/>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22192" y="3493008"/>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Sections render inconsistently. </a:t>
            </a:r>
            <a:r>
              <a:rPr sz="1300" b="0" i="0">
                <a:solidFill>
                  <a:srgbClr val="CCCCCC"/>
                </a:solidFill>
                <a:latin typeface="Helvetica Neue"/>
              </a:rPr>
              <a:t>"Upplev..." and "Kunskap..." load as empty bands on one capture and filled on the next.</a:t>
            </a:r>
          </a:p>
        </p:txBody>
      </p:sp>
      <p:sp>
        <p:nvSpPr>
          <p:cNvPr id="19" name="TextBox 18"/>
          <p:cNvSpPr txBox="1"/>
          <p:nvPr/>
        </p:nvSpPr>
        <p:spPr>
          <a:xfrm>
            <a:off x="3822192" y="3950208"/>
            <a:ext cx="7607808" cy="274320"/>
          </a:xfrm>
          <a:prstGeom prst="rect">
            <a:avLst/>
          </a:prstGeom>
          <a:noFill/>
        </p:spPr>
        <p:txBody>
          <a:bodyPr wrap="square" lIns="0" rIns="0" tIns="0" bIns="0" anchor="t">
            <a:spAutoFit/>
          </a:bodyPr>
          <a:lstStyle/>
          <a:p>
            <a:pPr algn="l"/>
            <a:r>
              <a:rPr sz="1100" b="1" i="0">
                <a:solidFill>
                  <a:srgbClr val="F7D007"/>
                </a:solidFill>
                <a:latin typeface="Helvetica Neue"/>
              </a:rPr>
              <a:t>Flaky, tied to 90+ JS errors.</a:t>
            </a:r>
          </a:p>
        </p:txBody>
      </p:sp>
      <p:sp>
        <p:nvSpPr>
          <p:cNvPr id="20" name="Oval 19"/>
          <p:cNvSpPr/>
          <p:nvPr/>
        </p:nvSpPr>
        <p:spPr>
          <a:xfrm>
            <a:off x="3566160" y="4443984"/>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22192" y="438912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Trust assets buried. </a:t>
            </a:r>
            <a:r>
              <a:rPr sz="1300" b="0" i="0">
                <a:solidFill>
                  <a:srgbClr val="CCCCCC"/>
                </a:solidFill>
                <a:latin typeface="Helvetica Neue"/>
              </a:rPr>
              <a:t>The Danish operator line and Løvens Hule backing sit only in the footer.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COLLECTION &amp; PDP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buy box, missing reassurance</a:t>
            </a:r>
          </a:p>
        </p:txBody>
      </p:sp>
      <p:sp>
        <p:nvSpPr>
          <p:cNvPr id="9" name="Rounded Rectangle 8"/>
          <p:cNvSpPr/>
          <p:nvPr/>
        </p:nvSpPr>
        <p:spPr>
          <a:xfrm>
            <a:off x="822960" y="1828800"/>
            <a:ext cx="2011680" cy="429768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ptx-pdp.jpg"/>
          <p:cNvPicPr>
            <a:picLocks noChangeAspect="1"/>
          </p:cNvPicPr>
          <p:nvPr/>
        </p:nvPicPr>
        <p:blipFill>
          <a:blip r:embed="rId3"/>
          <a:stretch>
            <a:fillRect/>
          </a:stretch>
        </p:blipFill>
        <p:spPr>
          <a:xfrm>
            <a:off x="897636" y="1828800"/>
            <a:ext cx="1862328" cy="4297680"/>
          </a:xfrm>
          <a:prstGeom prst="rect">
            <a:avLst/>
          </a:prstGeom>
        </p:spPr>
      </p:pic>
      <p:sp>
        <p:nvSpPr>
          <p:cNvPr id="11" name="TextBox 10"/>
          <p:cNvSpPr txBox="1"/>
          <p:nvPr/>
        </p:nvSpPr>
        <p:spPr>
          <a:xfrm>
            <a:off x="822960" y="6199632"/>
            <a:ext cx="2011680" cy="274320"/>
          </a:xfrm>
          <a:prstGeom prst="rect">
            <a:avLst/>
          </a:prstGeom>
          <a:noFill/>
        </p:spPr>
        <p:txBody>
          <a:bodyPr wrap="square" lIns="0" rIns="0" tIns="0" bIns="0" anchor="t">
            <a:spAutoFit/>
          </a:bodyPr>
          <a:lstStyle/>
          <a:p>
            <a:pPr algn="ctr"/>
            <a:r>
              <a:rPr sz="1000" b="1" i="0" spc="200">
                <a:solidFill>
                  <a:srgbClr val="FFFFFF"/>
                </a:solidFill>
                <a:latin typeface="Helvetica Neue"/>
              </a:rPr>
              <a:t>FANTINI BOX PDP · MOBILE</a:t>
            </a:r>
          </a:p>
        </p:txBody>
      </p:sp>
      <p:sp>
        <p:nvSpPr>
          <p:cNvPr id="12" name="Oval 11"/>
          <p:cNvSpPr/>
          <p:nvPr/>
        </p:nvSpPr>
        <p:spPr>
          <a:xfrm>
            <a:off x="3566160" y="2066544"/>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2" y="201168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Solid fundamentals. </a:t>
            </a:r>
            <a:r>
              <a:rPr sz="1300" b="0" i="0">
                <a:solidFill>
                  <a:srgbClr val="CCCCCC"/>
                </a:solidFill>
                <a:latin typeface="Helvetica Neue"/>
              </a:rPr>
              <a:t>Sticky add to cart, strikethrough price, "+75.000 vinälskare", Trustpilot and award badges, free shipping bar.</a:t>
            </a:r>
          </a:p>
        </p:txBody>
      </p:sp>
      <p:sp>
        <p:nvSpPr>
          <p:cNvPr id="14" name="Oval 13"/>
          <p:cNvSpPr/>
          <p:nvPr/>
        </p:nvSpPr>
        <p:spPr>
          <a:xfrm>
            <a:off x="3566160" y="2651760"/>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22192" y="2596896"/>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No legality block at the decision point. </a:t>
            </a:r>
            <a:r>
              <a:rPr sz="1300" b="0" i="0">
                <a:solidFill>
                  <a:srgbClr val="CCCCCC"/>
                </a:solidFill>
                <a:latin typeface="Helvetica Neue"/>
              </a:rPr>
              <a:t>The exact place KRAN and Winefamly reassure, dittvin stays silent. Suppresses the 64% who view but never add.</a:t>
            </a:r>
          </a:p>
        </p:txBody>
      </p:sp>
      <p:sp>
        <p:nvSpPr>
          <p:cNvPr id="16" name="Oval 15"/>
          <p:cNvSpPr/>
          <p:nvPr/>
        </p:nvSpPr>
        <p:spPr>
          <a:xfrm>
            <a:off x="3566160" y="3236976"/>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22192" y="3182112"/>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Thin box detail. </a:t>
            </a:r>
            <a:r>
              <a:rPr sz="1300" b="0" i="0">
                <a:solidFill>
                  <a:srgbClr val="CCCCCC"/>
                </a:solidFill>
                <a:latin typeface="Helvetica Neue"/>
              </a:rPr>
              <a:t>Only 3 gallery images for a 12 bottle box, and no per wine grape, sweetness or Vivino.</a:t>
            </a:r>
          </a:p>
        </p:txBody>
      </p:sp>
      <p:sp>
        <p:nvSpPr>
          <p:cNvPr id="18" name="TextBox 17"/>
          <p:cNvSpPr txBox="1"/>
          <p:nvPr/>
        </p:nvSpPr>
        <p:spPr>
          <a:xfrm>
            <a:off x="3822192" y="3639312"/>
            <a:ext cx="7607808" cy="274320"/>
          </a:xfrm>
          <a:prstGeom prst="rect">
            <a:avLst/>
          </a:prstGeom>
          <a:noFill/>
        </p:spPr>
        <p:txBody>
          <a:bodyPr wrap="square" lIns="0" rIns="0" tIns="0" bIns="0" anchor="t">
            <a:spAutoFit/>
          </a:bodyPr>
          <a:lstStyle/>
          <a:p>
            <a:pPr algn="l"/>
            <a:r>
              <a:rPr sz="1100" b="1" i="0">
                <a:solidFill>
                  <a:srgbClr val="F7D007"/>
                </a:solidFill>
                <a:latin typeface="Helvetica Neue"/>
              </a:rPr>
              <a:t>Customers ask for it directly.</a:t>
            </a:r>
          </a:p>
        </p:txBody>
      </p:sp>
      <p:sp>
        <p:nvSpPr>
          <p:cNvPr id="19" name="Oval 18"/>
          <p:cNvSpPr/>
          <p:nvPr/>
        </p:nvSpPr>
        <p:spPr>
          <a:xfrm>
            <a:off x="3566160" y="4133088"/>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22192" y="4078224"/>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Danish leaks and shipping caveats. </a:t>
            </a:r>
            <a:r>
              <a:rPr sz="1300" b="0" i="0">
                <a:solidFill>
                  <a:srgbClr val="CCCCCC"/>
                </a:solidFill>
                <a:latin typeface="Helvetica Neue"/>
              </a:rPr>
              <a:t>Title reads "Kjøb hos Dittvin.se", and free shipping is quietly limited to Airmee.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Rounded Rectangle 8"/>
          <p:cNvSpPr/>
          <p:nvPr/>
        </p:nvSpPr>
        <p:spPr>
          <a:xfrm>
            <a:off x="792327" y="210312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1" name="TextBox 10"/>
          <p:cNvSpPr txBox="1"/>
          <p:nvPr/>
        </p:nvSpPr>
        <p:spPr>
          <a:xfrm>
            <a:off x="1020927" y="288036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The best converter (5,54%) and a genuine customer love. Product and data agree.</a:t>
            </a:r>
          </a:p>
        </p:txBody>
      </p:sp>
      <p:sp>
        <p:nvSpPr>
          <p:cNvPr id="12" name="Rounded Rectangle 11"/>
          <p:cNvSpPr/>
          <p:nvPr/>
        </p:nvSpPr>
        <p:spPr>
          <a:xfrm>
            <a:off x="4419447" y="210312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4" name="TextBox 13"/>
          <p:cNvSpPr txBox="1"/>
          <p:nvPr/>
        </p:nvSpPr>
        <p:spPr>
          <a:xfrm>
            <a:off x="4648047" y="288036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A powerful proof asset for the legality and quality objections.</a:t>
            </a:r>
          </a:p>
        </p:txBody>
      </p:sp>
      <p:sp>
        <p:nvSpPr>
          <p:cNvPr id="15" name="Rounded Rectangle 14"/>
          <p:cNvSpPr/>
          <p:nvPr/>
        </p:nvSpPr>
        <p:spPr>
          <a:xfrm>
            <a:off x="8046567" y="210312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7" name="TextBox 16"/>
          <p:cNvSpPr txBox="1"/>
          <p:nvPr/>
        </p:nvSpPr>
        <p:spPr>
          <a:xfrm>
            <a:off x="8275167" y="288036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24,9% bounce is excellent. The top of the experience works. The leaks are deeper.</a:t>
            </a:r>
          </a:p>
        </p:txBody>
      </p:sp>
      <p:sp>
        <p:nvSpPr>
          <p:cNvPr id="18" name="Rounded Rectangle 17"/>
          <p:cNvSpPr/>
          <p:nvPr/>
        </p:nvSpPr>
        <p:spPr>
          <a:xfrm>
            <a:off x="792327" y="429768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092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 free ship bar</a:t>
            </a:r>
          </a:p>
        </p:txBody>
      </p:sp>
      <p:sp>
        <p:nvSpPr>
          <p:cNvPr id="20" name="TextBox 19"/>
          <p:cNvSpPr txBox="1"/>
          <p:nvPr/>
        </p:nvSpPr>
        <p:spPr>
          <a:xfrm>
            <a:off x="1020927" y="507492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a:t>
            </a:r>
          </a:p>
        </p:txBody>
      </p:sp>
      <p:sp>
        <p:nvSpPr>
          <p:cNvPr id="21" name="Rounded Rectangle 20"/>
          <p:cNvSpPr/>
          <p:nvPr/>
        </p:nvSpPr>
        <p:spPr>
          <a:xfrm>
            <a:off x="4419447" y="429768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4804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3" name="TextBox 22"/>
          <p:cNvSpPr txBox="1"/>
          <p:nvPr/>
        </p:nvSpPr>
        <p:spPr>
          <a:xfrm>
            <a:off x="4648047" y="507492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Løvens Hule backing rivals lack.</a:t>
            </a:r>
          </a:p>
        </p:txBody>
      </p:sp>
      <p:sp>
        <p:nvSpPr>
          <p:cNvPr id="24" name="Rounded Rectangle 23"/>
          <p:cNvSpPr/>
          <p:nvPr/>
        </p:nvSpPr>
        <p:spPr>
          <a:xfrm>
            <a:off x="8046567" y="429768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516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6" name="TextBox 25"/>
          <p:cNvSpPr txBox="1"/>
          <p:nvPr/>
        </p:nvSpPr>
        <p:spPr>
          <a:xfrm>
            <a:off x="8275167" y="507492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Klaviyo email drives 16% of orders at 2,55% CVR. A ready lever to reduce paid dependence.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05</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Everyone reassures on legality except dittvin.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graphicFrame>
        <p:nvGraphicFramePr>
          <p:cNvPr id="9" name="Table 8"/>
          <p:cNvGraphicFramePr>
            <a:graphicFrameLocks noGrp="1"/>
          </p:cNvGraphicFramePr>
          <p:nvPr/>
        </p:nvGraphicFramePr>
        <p:xfrm>
          <a:off x="640080" y="1920240"/>
          <a:ext cx="10881360" cy="2542032"/>
        </p:xfrm>
        <a:graphic>
          <a:graphicData uri="http://schemas.openxmlformats.org/drawingml/2006/table">
            <a:tbl>
              <a:tblPr>
                <a:tableStyleId>{2D5ABB26-0587-4C30-8999-92F81FD0307C}</a:tableStyleId>
              </a:tblPr>
              <a:tblGrid>
                <a:gridCol w="2487168"/>
                <a:gridCol w="1399032"/>
                <a:gridCol w="1399032"/>
                <a:gridCol w="1399032"/>
                <a:gridCol w="1243584"/>
                <a:gridCol w="1399032"/>
                <a:gridCol w="1554480"/>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310896">
                <a:tc>
                  <a:txBody>
                    <a:bodyPr wrap="square"/>
                    <a:lstStyle/>
                    <a:p>
                      <a:pPr algn="l"/>
                      <a:r>
                        <a:rPr sz="950" b="1">
                          <a:solidFill>
                            <a:srgbClr val="EFEEEE"/>
                          </a:solidFill>
                          <a:latin typeface="Helvetica Neue"/>
                        </a:rPr>
                        <a:t>Legality messaging</a:t>
                      </a:r>
                    </a:p>
                  </a:txBody>
                  <a:tcPr marL="73152" marR="73152" marT="18288" marB="18288" anchor="ctr">
                    <a:solidFill>
                      <a:srgbClr val="000000"/>
                    </a:solidFill>
                  </a:tcPr>
                </a:tc>
                <a:tc>
                  <a:txBody>
                    <a:bodyPr wrap="square"/>
                    <a:lstStyle/>
                    <a:p>
                      <a:pPr algn="l"/>
                      <a:r>
                        <a:rPr sz="950" b="0">
                          <a:solidFill>
                            <a:srgbClr val="EF4444"/>
                          </a:solidFill>
                          <a:latin typeface="Helvetica Neue"/>
                        </a:rPr>
                        <a:t>None</a:t>
                      </a:r>
                    </a:p>
                  </a:txBody>
                  <a:tcPr marL="73152" marR="73152" marT="18288" marB="18288" anchor="ctr">
                    <a:solidFill>
                      <a:srgbClr val="000000"/>
                    </a:solidFill>
                  </a:tcPr>
                </a:tc>
                <a:tc>
                  <a:txBody>
                    <a:bodyPr wrap="square"/>
                    <a:lstStyle/>
                    <a:p>
                      <a:pPr algn="l"/>
                      <a:r>
                        <a:rPr sz="950" b="0">
                          <a:solidFill>
                            <a:srgbClr val="F59E0B"/>
                          </a:solidFill>
                          <a:latin typeface="Helvetica Neue"/>
                        </a:rPr>
                        <a:t>Trygg</a:t>
                      </a:r>
                    </a:p>
                  </a:txBody>
                  <a:tcPr marL="73152" marR="73152" marT="18288" marB="18288" anchor="ctr">
                    <a:solidFill>
                      <a:srgbClr val="000000"/>
                    </a:solidFill>
                  </a:tcPr>
                </a:tc>
                <a:tc>
                  <a:txBody>
                    <a:bodyPr wrap="square"/>
                    <a:lstStyle/>
                    <a:p>
                      <a:pPr algn="l"/>
                      <a:r>
                        <a:rPr sz="95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50" b="0">
                          <a:solidFill>
                            <a:srgbClr val="22C55E"/>
                          </a:solidFill>
                          <a:latin typeface="Helvetica Neue"/>
                        </a:rPr>
                        <a:t>Skatteverket</a:t>
                      </a:r>
                    </a:p>
                  </a:txBody>
                  <a:tcPr marL="73152" marR="73152" marT="18288" marB="18288" anchor="ctr">
                    <a:solidFill>
                      <a:srgbClr val="000000"/>
                    </a:solidFill>
                  </a:tcPr>
                </a:tc>
                <a:tc>
                  <a:txBody>
                    <a:bodyPr wrap="square"/>
                    <a:lstStyle/>
                    <a:p>
                      <a:pPr algn="l"/>
                      <a:r>
                        <a:rPr sz="950" b="0">
                          <a:solidFill>
                            <a:srgbClr val="F59E0B"/>
                          </a:solidFill>
                          <a:latin typeface="Helvetica Neue"/>
                        </a:rPr>
                        <a:t>CVR+Trygg</a:t>
                      </a:r>
                    </a:p>
                  </a:txBody>
                  <a:tcPr marL="73152" marR="73152" marT="18288" marB="18288" anchor="ctr">
                    <a:solidFill>
                      <a:srgbClr val="000000"/>
                    </a:solidFill>
                  </a:tcPr>
                </a:tc>
                <a:tc>
                  <a:txBody>
                    <a:bodyPr wrap="square"/>
                    <a:lstStyle/>
                    <a:p>
                      <a:pPr algn="l"/>
                      <a:r>
                        <a:rPr sz="950" b="0">
                          <a:solidFill>
                            <a:srgbClr val="22C55E"/>
                          </a:solidFill>
                          <a:latin typeface="Helvetica Neue"/>
                        </a:rPr>
                        <a:t>Is channel</a:t>
                      </a:r>
                    </a:p>
                  </a:txBody>
                  <a:tcPr marL="73152" marR="73152" marT="18288" marB="18288" anchor="ctr">
                    <a:solidFill>
                      <a:srgbClr val="000000"/>
                    </a:solidFill>
                  </a:tcPr>
                </a:tc>
              </a:tr>
              <a:tr h="310896">
                <a:tc>
                  <a:txBody>
                    <a:bodyPr wrap="square"/>
                    <a:lstStyle/>
                    <a:p>
                      <a:pPr algn="l"/>
                      <a:r>
                        <a:rPr sz="950" b="1">
                          <a:solidFill>
                            <a:srgbClr val="EFEEEE"/>
                          </a:solidFill>
                          <a:latin typeface="Helvetica Neue"/>
                        </a:rPr>
                        <a:t>Trygg E-handel</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EFEEEE"/>
                          </a:solidFill>
                          <a:latin typeface="Helvetica Neue"/>
                        </a:rPr>
                        <a:t>N/A</a:t>
                      </a:r>
                    </a:p>
                  </a:txBody>
                  <a:tcPr marL="73152" marR="73152" marT="18288" marB="18288" anchor="ctr">
                    <a:solidFill>
                      <a:srgbClr val="0B0B0B"/>
                    </a:solidFill>
                  </a:tcPr>
                </a:tc>
              </a:tr>
              <a:tr h="310896">
                <a:tc>
                  <a:txBody>
                    <a:bodyPr wrap="square"/>
                    <a:lstStyle/>
                    <a:p>
                      <a:pPr algn="l"/>
                      <a:r>
                        <a:rPr sz="950" b="1">
                          <a:solidFill>
                            <a:srgbClr val="EFEEEE"/>
                          </a:solidFill>
                          <a:latin typeface="Helvetica Neue"/>
                        </a:rPr>
                        <a:t>Delivery clarity</a:t>
                      </a:r>
                    </a:p>
                  </a:txBody>
                  <a:tcPr marL="73152" marR="73152" marT="18288" marB="18288" anchor="ctr">
                    <a:solidFill>
                      <a:srgbClr val="000000"/>
                    </a:solidFill>
                  </a:tcPr>
                </a:tc>
                <a:tc>
                  <a:txBody>
                    <a:bodyPr wrap="square"/>
                    <a:lstStyle/>
                    <a:p>
                      <a:pPr algn="l"/>
                      <a:r>
                        <a:rPr sz="950" b="0">
                          <a:solidFill>
                            <a:srgbClr val="F59E0B"/>
                          </a:solidFill>
                          <a:latin typeface="Helvetica Neue"/>
                        </a:rPr>
                        <a:t>Vague</a:t>
                      </a:r>
                    </a:p>
                  </a:txBody>
                  <a:tcPr marL="73152" marR="73152" marT="18288" marB="18288" anchor="ctr">
                    <a:solidFill>
                      <a:srgbClr val="000000"/>
                    </a:solidFill>
                  </a:tcPr>
                </a:tc>
                <a:tc>
                  <a:txBody>
                    <a:bodyPr wrap="square"/>
                    <a:lstStyle/>
                    <a:p>
                      <a:pPr algn="l"/>
                      <a:r>
                        <a:rPr sz="950" b="0">
                          <a:solidFill>
                            <a:srgbClr val="F59E0B"/>
                          </a:solidFill>
                          <a:latin typeface="Helvetica Neue"/>
                        </a:rPr>
                        <a:t>Carriers</a:t>
                      </a:r>
                    </a:p>
                  </a:txBody>
                  <a:tcPr marL="73152" marR="73152" marT="18288" marB="18288" anchor="ctr">
                    <a:solidFill>
                      <a:srgbClr val="000000"/>
                    </a:solidFill>
                  </a:tcPr>
                </a:tc>
                <a:tc>
                  <a:txBody>
                    <a:bodyPr wrap="square"/>
                    <a:lstStyle/>
                    <a:p>
                      <a:pPr algn="l"/>
                      <a:r>
                        <a:rPr sz="950" b="0">
                          <a:solidFill>
                            <a:srgbClr val="F59E0B"/>
                          </a:solidFill>
                          <a:latin typeface="Helvetica Neue"/>
                        </a:rPr>
                        <a:t>Home</a:t>
                      </a:r>
                    </a:p>
                  </a:txBody>
                  <a:tcPr marL="73152" marR="73152" marT="18288" marB="18288" anchor="ctr">
                    <a:solidFill>
                      <a:srgbClr val="000000"/>
                    </a:solidFill>
                  </a:tcPr>
                </a:tc>
                <a:tc>
                  <a:txBody>
                    <a:bodyPr wrap="square"/>
                    <a:lstStyle/>
                    <a:p>
                      <a:pPr algn="l"/>
                      <a:r>
                        <a:rPr sz="95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50" b="0">
                          <a:solidFill>
                            <a:srgbClr val="22C55E"/>
                          </a:solidFill>
                          <a:latin typeface="Helvetica Neue"/>
                        </a:rPr>
                        <a:t>29 kr, 2-5d</a:t>
                      </a:r>
                    </a:p>
                  </a:txBody>
                  <a:tcPr marL="73152" marR="73152" marT="18288" marB="18288" anchor="ctr">
                    <a:solidFill>
                      <a:srgbClr val="000000"/>
                    </a:solidFill>
                  </a:tcPr>
                </a:tc>
                <a:tc>
                  <a:txBody>
                    <a:bodyPr wrap="square"/>
                    <a:lstStyle/>
                    <a:p>
                      <a:pPr algn="l"/>
                      <a:r>
                        <a:rPr sz="950" b="0">
                          <a:solidFill>
                            <a:srgbClr val="F59E0B"/>
                          </a:solidFill>
                          <a:latin typeface="Helvetica Neue"/>
                        </a:rPr>
                        <a:t>Multiple</a:t>
                      </a:r>
                    </a:p>
                  </a:txBody>
                  <a:tcPr marL="73152" marR="73152" marT="18288" marB="18288" anchor="ctr">
                    <a:solidFill>
                      <a:srgbClr val="000000"/>
                    </a:solidFill>
                  </a:tcPr>
                </a:tc>
              </a:tr>
              <a:tr h="310896">
                <a:tc>
                  <a:txBody>
                    <a:bodyPr wrap="square"/>
                    <a:lstStyle/>
                    <a:p>
                      <a:pPr algn="l"/>
                      <a:r>
                        <a:rPr sz="95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F59E0B"/>
                          </a:solidFill>
                          <a:latin typeface="Helvetica Neue"/>
                        </a:rPr>
                        <a:t>Boxes</a:t>
                      </a:r>
                    </a:p>
                  </a:txBody>
                  <a:tcPr marL="73152" marR="73152" marT="18288" marB="18288" anchor="ctr">
                    <a:solidFill>
                      <a:srgbClr val="0B0B0B"/>
                    </a:solidFill>
                  </a:tcPr>
                </a:tc>
                <a:tc>
                  <a:txBody>
                    <a:bodyPr wrap="square"/>
                    <a:lstStyle/>
                    <a:p>
                      <a:pPr algn="l"/>
                      <a:r>
                        <a:rPr sz="950" b="0">
                          <a:solidFill>
                            <a:srgbClr val="22C55E"/>
                          </a:solidFill>
                          <a:latin typeface="Helvetica Neue"/>
                        </a:rPr>
                        <a:t>Club</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r>
              <a:tr h="310896">
                <a:tc>
                  <a:txBody>
                    <a:bodyPr wrap="square"/>
                    <a:lstStyle/>
                    <a:p>
                      <a:pPr algn="l"/>
                      <a:r>
                        <a:rPr sz="950" b="1">
                          <a:solidFill>
                            <a:srgbClr val="EFEEEE"/>
                          </a:solidFill>
                          <a:latin typeface="Helvetica Neue"/>
                        </a:rPr>
                        <a:t>Wine boxes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EF4444"/>
                          </a:solidFill>
                          <a:latin typeface="Helvetica Neue"/>
                        </a:rPr>
                        <a:t>No</a:t>
                      </a:r>
                    </a:p>
                  </a:txBody>
                  <a:tcPr marL="73152" marR="73152" marT="18288" marB="18288" anchor="ctr">
                    <a:solidFill>
                      <a:srgbClr val="000000"/>
                    </a:solidFill>
                  </a:tcPr>
                </a:tc>
              </a:tr>
              <a:tr h="310896">
                <a:tc>
                  <a:txBody>
                    <a:bodyPr wrap="square"/>
                    <a:lstStyle/>
                    <a:p>
                      <a:pPr algn="l"/>
                      <a:r>
                        <a:rPr sz="950" b="1">
                          <a:solidFill>
                            <a:srgbClr val="EFEEEE"/>
                          </a:solidFill>
                          <a:latin typeface="Helvetica Neue"/>
                        </a:rPr>
                        <a:t>Reviews shown</a:t>
                      </a:r>
                    </a:p>
                  </a:txBody>
                  <a:tcPr marL="73152" marR="73152" marT="18288" marB="18288" anchor="ctr">
                    <a:solidFill>
                      <a:srgbClr val="0B0B0B"/>
                    </a:solidFill>
                  </a:tcPr>
                </a:tc>
                <a:tc>
                  <a:txBody>
                    <a:bodyPr wrap="square"/>
                    <a:lstStyle/>
                    <a:p>
                      <a:pPr algn="l"/>
                      <a:r>
                        <a:rPr sz="950" b="0">
                          <a:solidFill>
                            <a:srgbClr val="F59E0B"/>
                          </a:solidFill>
                          <a:latin typeface="Helvetica Neue"/>
                        </a:rPr>
                        <a:t>Vivino</a:t>
                      </a:r>
                    </a:p>
                  </a:txBody>
                  <a:tcPr marL="73152" marR="73152" marT="18288" marB="18288" anchor="ctr">
                    <a:solidFill>
                      <a:srgbClr val="0B0B0B"/>
                    </a:solidFill>
                  </a:tcPr>
                </a:tc>
                <a:tc>
                  <a:txBody>
                    <a:bodyPr wrap="square"/>
                    <a:lstStyle/>
                    <a:p>
                      <a:pPr algn="l"/>
                      <a:r>
                        <a:rPr sz="950" b="0">
                          <a:solidFill>
                            <a:srgbClr val="22C55E"/>
                          </a:solidFill>
                          <a:latin typeface="Helvetica Neue"/>
                        </a:rPr>
                        <a:t>Critic+stars</a:t>
                      </a:r>
                    </a:p>
                  </a:txBody>
                  <a:tcPr marL="73152" marR="73152" marT="18288" marB="18288" anchor="ctr">
                    <a:solidFill>
                      <a:srgbClr val="0B0B0B"/>
                    </a:solidFill>
                  </a:tcPr>
                </a:tc>
                <a:tc>
                  <a:txBody>
                    <a:bodyPr wrap="square"/>
                    <a:lstStyle/>
                    <a:p>
                      <a:pPr algn="l"/>
                      <a:r>
                        <a:rPr sz="95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50" b="0">
                          <a:solidFill>
                            <a:srgbClr val="F59E0B"/>
                          </a:solidFill>
                          <a:latin typeface="Helvetica Neue"/>
                        </a:rPr>
                        <a:t>Press</a:t>
                      </a:r>
                    </a:p>
                  </a:txBody>
                  <a:tcPr marL="73152" marR="73152" marT="18288" marB="18288" anchor="ctr">
                    <a:solidFill>
                      <a:srgbClr val="0B0B0B"/>
                    </a:solidFill>
                  </a:tcPr>
                </a:tc>
                <a:tc>
                  <a:txBody>
                    <a:bodyPr wrap="square"/>
                    <a:lstStyle/>
                    <a:p>
                      <a:pPr algn="l"/>
                      <a:r>
                        <a:rPr sz="950" b="0">
                          <a:solidFill>
                            <a:srgbClr val="22C55E"/>
                          </a:solidFill>
                          <a:latin typeface="Helvetica Neue"/>
                        </a:rPr>
                        <a:t>Trustpilot</a:t>
                      </a:r>
                    </a:p>
                  </a:txBody>
                  <a:tcPr marL="73152" marR="73152" marT="18288" marB="18288" anchor="ctr">
                    <a:solidFill>
                      <a:srgbClr val="0B0B0B"/>
                    </a:solidFill>
                  </a:tcPr>
                </a:tc>
                <a:tc>
                  <a:txBody>
                    <a:bodyPr wrap="square"/>
                    <a:lstStyle/>
                    <a:p>
                      <a:pPr algn="l"/>
                      <a:r>
                        <a:rPr sz="950" b="0">
                          <a:solidFill>
                            <a:srgbClr val="EF4444"/>
                          </a:solidFill>
                          <a:latin typeface="Helvetica Neue"/>
                        </a:rPr>
                        <a:t>None</a:t>
                      </a:r>
                    </a:p>
                  </a:txBody>
                  <a:tcPr marL="73152" marR="73152" marT="18288" marB="18288" anchor="ctr">
                    <a:solidFill>
                      <a:srgbClr val="0B0B0B"/>
                    </a:solidFill>
                  </a:tcPr>
                </a:tc>
              </a:tr>
              <a:tr h="310896">
                <a:tc>
                  <a:txBody>
                    <a:bodyPr wrap="square"/>
                    <a:lstStyle/>
                    <a:p>
                      <a:pPr algn="l"/>
                      <a:r>
                        <a:rPr sz="950" b="1">
                          <a:solidFill>
                            <a:srgbClr val="EFEEEE"/>
                          </a:solidFill>
                          <a:latin typeface="Helvetica Neue"/>
                        </a:rPr>
                        <a:t>Filtering</a:t>
                      </a:r>
                    </a:p>
                  </a:txBody>
                  <a:tcPr marL="73152" marR="73152" marT="18288" marB="18288" anchor="ctr">
                    <a:solidFill>
                      <a:srgbClr val="000000"/>
                    </a:solidFill>
                  </a:tcPr>
                </a:tc>
                <a:tc>
                  <a:txBody>
                    <a:bodyPr wrap="square"/>
                    <a:lstStyle/>
                    <a:p>
                      <a:pPr algn="l"/>
                      <a:r>
                        <a:rPr sz="950" b="0">
                          <a:solidFill>
                            <a:srgbClr val="F59E0B"/>
                          </a:solidFill>
                          <a:latin typeface="Helvetica Neue"/>
                        </a:rPr>
                        <a:t>Basic</a:t>
                      </a:r>
                    </a:p>
                  </a:txBody>
                  <a:tcPr marL="73152" marR="73152" marT="18288" marB="18288" anchor="ctr">
                    <a:solidFill>
                      <a:srgbClr val="000000"/>
                    </a:solidFill>
                  </a:tcPr>
                </a:tc>
                <a:tc>
                  <a:txBody>
                    <a:bodyPr wrap="square"/>
                    <a:lstStyle/>
                    <a:p>
                      <a:pPr algn="l"/>
                      <a:r>
                        <a:rPr sz="950" b="0">
                          <a:solidFill>
                            <a:srgbClr val="22C55E"/>
                          </a:solidFill>
                          <a:latin typeface="Helvetica Neue"/>
                        </a:rPr>
                        <a:t>Faceted</a:t>
                      </a:r>
                    </a:p>
                  </a:txBody>
                  <a:tcPr marL="73152" marR="73152" marT="18288" marB="18288" anchor="ctr">
                    <a:solidFill>
                      <a:srgbClr val="000000"/>
                    </a:solidFill>
                  </a:tcPr>
                </a:tc>
                <a:tc>
                  <a:txBody>
                    <a:bodyPr wrap="square"/>
                    <a:lstStyle/>
                    <a:p>
                      <a:pPr algn="l"/>
                      <a:r>
                        <a:rPr sz="950" b="0">
                          <a:solidFill>
                            <a:srgbClr val="F59E0B"/>
                          </a:solidFill>
                          <a:latin typeface="Helvetica Neue"/>
                        </a:rPr>
                        <a:t>Category</a:t>
                      </a:r>
                    </a:p>
                  </a:txBody>
                  <a:tcPr marL="73152" marR="73152" marT="18288" marB="18288" anchor="ctr">
                    <a:solidFill>
                      <a:srgbClr val="000000"/>
                    </a:solidFill>
                  </a:tcPr>
                </a:tc>
                <a:tc>
                  <a:txBody>
                    <a:bodyPr wrap="square"/>
                    <a:lstStyle/>
                    <a:p>
                      <a:pPr algn="l"/>
                      <a:r>
                        <a:rPr sz="950" b="0">
                          <a:solidFill>
                            <a:srgbClr val="EF4444"/>
                          </a:solidFill>
                          <a:latin typeface="Helvetica Neue"/>
                        </a:rPr>
                        <a:t>Minimal</a:t>
                      </a:r>
                    </a:p>
                  </a:txBody>
                  <a:tcPr marL="73152" marR="73152" marT="18288" marB="18288" anchor="ctr">
                    <a:solidFill>
                      <a:srgbClr val="000000"/>
                    </a:solidFill>
                  </a:tcPr>
                </a:tc>
                <a:tc>
                  <a:txBody>
                    <a:bodyPr wrap="square"/>
                    <a:lstStyle/>
                    <a:p>
                      <a:pPr algn="l"/>
                      <a:r>
                        <a:rPr sz="950" b="0">
                          <a:solidFill>
                            <a:srgbClr val="F59E0B"/>
                          </a:solidFill>
                          <a:latin typeface="Helvetica Neue"/>
                        </a:rPr>
                        <a:t>Category</a:t>
                      </a:r>
                    </a:p>
                  </a:txBody>
                  <a:tcPr marL="73152" marR="73152" marT="18288" marB="18288" anchor="ctr">
                    <a:solidFill>
                      <a:srgbClr val="000000"/>
                    </a:solidFill>
                  </a:tcPr>
                </a:tc>
                <a:tc>
                  <a:txBody>
                    <a:bodyPr wrap="square"/>
                    <a:lstStyle/>
                    <a:p>
                      <a:pPr algn="l"/>
                      <a:r>
                        <a:rPr sz="950" b="0">
                          <a:solidFill>
                            <a:srgbClr val="22C55E"/>
                          </a:solidFill>
                          <a:latin typeface="Helvetica Neue"/>
                        </a:rPr>
                        <a:t>Food pair</a:t>
                      </a:r>
                    </a:p>
                  </a:txBody>
                  <a:tcPr marL="73152" marR="73152" marT="18288" marB="18288" anchor="ctr">
                    <a:solidFill>
                      <a:srgbClr val="000000"/>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Rounded Rectangle 8"/>
          <p:cNvSpPr/>
          <p:nvPr/>
        </p:nvSpPr>
        <p:spPr>
          <a:xfrm>
            <a:off x="792327" y="192024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10312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1" name="TextBox 10"/>
          <p:cNvSpPr txBox="1"/>
          <p:nvPr/>
        </p:nvSpPr>
        <p:spPr>
          <a:xfrm>
            <a:off x="1020927" y="26974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2" name="TextBox 11"/>
          <p:cNvSpPr txBox="1"/>
          <p:nvPr/>
        </p:nvSpPr>
        <p:spPr>
          <a:xfrm>
            <a:off x="1020927" y="329184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top objection, and only KRAN answers it (buried in text). A visible "why this is legal" module out reassures everyone.</a:t>
            </a:r>
          </a:p>
        </p:txBody>
      </p:sp>
      <p:sp>
        <p:nvSpPr>
          <p:cNvPr id="13" name="Rounded Rectangle 12"/>
          <p:cNvSpPr/>
          <p:nvPr/>
        </p:nvSpPr>
        <p:spPr>
          <a:xfrm>
            <a:off x="1020927" y="3474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3474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5" name="Rounded Rectangle 14"/>
          <p:cNvSpPr/>
          <p:nvPr/>
        </p:nvSpPr>
        <p:spPr>
          <a:xfrm>
            <a:off x="4419447" y="192024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10312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7" name="TextBox 16"/>
          <p:cNvSpPr txBox="1"/>
          <p:nvPr/>
        </p:nvSpPr>
        <p:spPr>
          <a:xfrm>
            <a:off x="4648047" y="26974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8" name="TextBox 17"/>
          <p:cNvSpPr txBox="1"/>
          <p:nvPr/>
        </p:nvSpPr>
        <p:spPr>
          <a:xfrm>
            <a:off x="4648047" y="329184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a:t>
            </a:r>
          </a:p>
        </p:txBody>
      </p:sp>
      <p:sp>
        <p:nvSpPr>
          <p:cNvPr id="19" name="Rounded Rectangle 18"/>
          <p:cNvSpPr/>
          <p:nvPr/>
        </p:nvSpPr>
        <p:spPr>
          <a:xfrm>
            <a:off x="4648047" y="3474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8047" y="3474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1" name="Rounded Rectangle 20"/>
          <p:cNvSpPr/>
          <p:nvPr/>
        </p:nvSpPr>
        <p:spPr>
          <a:xfrm>
            <a:off x="8046567" y="192024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167" y="210312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3" name="TextBox 22"/>
          <p:cNvSpPr txBox="1"/>
          <p:nvPr/>
        </p:nvSpPr>
        <p:spPr>
          <a:xfrm>
            <a:off x="8275167" y="26974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4" name="TextBox 23"/>
          <p:cNvSpPr txBox="1"/>
          <p:nvPr/>
        </p:nvSpPr>
        <p:spPr>
          <a:xfrm>
            <a:off x="8275167" y="329184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threshold.</a:t>
            </a:r>
          </a:p>
        </p:txBody>
      </p:sp>
      <p:sp>
        <p:nvSpPr>
          <p:cNvPr id="25" name="Rounded Rectangle 24"/>
          <p:cNvSpPr/>
          <p:nvPr/>
        </p:nvSpPr>
        <p:spPr>
          <a:xfrm>
            <a:off x="8275167" y="3474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3474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7" name="Rounded Rectangle 26"/>
          <p:cNvSpPr/>
          <p:nvPr/>
        </p:nvSpPr>
        <p:spPr>
          <a:xfrm>
            <a:off x="792327" y="425196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927" y="443484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29" name="TextBox 28"/>
          <p:cNvSpPr txBox="1"/>
          <p:nvPr/>
        </p:nvSpPr>
        <p:spPr>
          <a:xfrm>
            <a:off x="1020927" y="50292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0" name="TextBox 29"/>
          <p:cNvSpPr txBox="1"/>
          <p:nvPr/>
        </p:nvSpPr>
        <p:spPr>
          <a:xfrm>
            <a:off x="1020927" y="562356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titles leak through ("Kjøb", "Smagekasser"). It reads un Swedish.</a:t>
            </a:r>
          </a:p>
        </p:txBody>
      </p:sp>
      <p:sp>
        <p:nvSpPr>
          <p:cNvPr id="31" name="Rounded Rectangle 30"/>
          <p:cNvSpPr/>
          <p:nvPr/>
        </p:nvSpPr>
        <p:spPr>
          <a:xfrm>
            <a:off x="1020927" y="5806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0927" y="5806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3" name="Rounded Rectangle 32"/>
          <p:cNvSpPr/>
          <p:nvPr/>
        </p:nvSpPr>
        <p:spPr>
          <a:xfrm>
            <a:off x="4419447" y="425196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8047" y="443484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5" name="TextBox 34"/>
          <p:cNvSpPr txBox="1"/>
          <p:nvPr/>
        </p:nvSpPr>
        <p:spPr>
          <a:xfrm>
            <a:off x="4648047" y="50292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discounts</a:t>
            </a:r>
          </a:p>
        </p:txBody>
      </p:sp>
      <p:sp>
        <p:nvSpPr>
          <p:cNvPr id="36" name="TextBox 35"/>
          <p:cNvSpPr txBox="1"/>
          <p:nvPr/>
        </p:nvSpPr>
        <p:spPr>
          <a:xfrm>
            <a:off x="4648047" y="562356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medals, Vivino and 4,7 Trustpilot but relies on a blanket 10% off. Own "curated value with proof".</a:t>
            </a:r>
          </a:p>
        </p:txBody>
      </p:sp>
      <p:sp>
        <p:nvSpPr>
          <p:cNvPr id="37" name="Rounded Rectangle 36"/>
          <p:cNvSpPr/>
          <p:nvPr/>
        </p:nvSpPr>
        <p:spPr>
          <a:xfrm>
            <a:off x="4648047" y="5806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48047" y="5806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39" name="Rounded Rectangle 38"/>
          <p:cNvSpPr/>
          <p:nvPr/>
        </p:nvSpPr>
        <p:spPr>
          <a:xfrm>
            <a:off x="8046567" y="425196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75167" y="443484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1" name="TextBox 40"/>
          <p:cNvSpPr txBox="1"/>
          <p:nvPr/>
        </p:nvSpPr>
        <p:spPr>
          <a:xfrm>
            <a:off x="8275167" y="50292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2" name="TextBox 41"/>
          <p:cNvSpPr txBox="1"/>
          <p:nvPr/>
        </p:nvSpPr>
        <p:spPr>
          <a:xfrm>
            <a:off x="8275167" y="562356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Own "the recurring discovery box for everyday Swedes".</a:t>
            </a:r>
          </a:p>
        </p:txBody>
      </p:sp>
      <p:sp>
        <p:nvSpPr>
          <p:cNvPr id="43" name="Rounded Rectangle 42"/>
          <p:cNvSpPr/>
          <p:nvPr/>
        </p:nvSpPr>
        <p:spPr>
          <a:xfrm>
            <a:off x="8275167" y="5806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75167" y="5806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06</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94560"/>
            <a:ext cx="3352800" cy="182880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42316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2" name="TextBox 11"/>
          <p:cNvSpPr txBox="1"/>
          <p:nvPr/>
        </p:nvSpPr>
        <p:spPr>
          <a:xfrm>
            <a:off x="1020927" y="297180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fires "en=conversion, value 1,43 SEK" on homepage load. Every visit logs a conversion, polluting Ads data.</a:t>
            </a:r>
          </a:p>
        </p:txBody>
      </p:sp>
      <p:sp>
        <p:nvSpPr>
          <p:cNvPr id="13" name="Rounded Rectangle 12"/>
          <p:cNvSpPr/>
          <p:nvPr/>
        </p:nvSpPr>
        <p:spPr>
          <a:xfrm>
            <a:off x="1020927" y="3520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3520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 low effort</a:t>
            </a:r>
          </a:p>
        </p:txBody>
      </p:sp>
      <p:sp>
        <p:nvSpPr>
          <p:cNvPr id="15" name="Rounded Rectangle 14"/>
          <p:cNvSpPr/>
          <p:nvPr/>
        </p:nvSpPr>
        <p:spPr>
          <a:xfrm>
            <a:off x="4419447" y="2194560"/>
            <a:ext cx="3352800" cy="182880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42316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7" name="TextBox 16"/>
          <p:cNvSpPr txBox="1"/>
          <p:nvPr/>
        </p:nvSpPr>
        <p:spPr>
          <a:xfrm>
            <a:off x="4648047" y="297180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G-2H577FR3BL, QVVPL3QFTK, ZHBPVPWFVY, ZPDXL42WNW all fire page_view in parallel. Fragmented, duplicated reporting.</a:t>
            </a:r>
          </a:p>
        </p:txBody>
      </p:sp>
      <p:sp>
        <p:nvSpPr>
          <p:cNvPr id="18" name="Rounded Rectangle 17"/>
          <p:cNvSpPr/>
          <p:nvPr/>
        </p:nvSpPr>
        <p:spPr>
          <a:xfrm>
            <a:off x="4648047" y="3520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8047" y="3520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 med effort</a:t>
            </a:r>
          </a:p>
        </p:txBody>
      </p:sp>
      <p:sp>
        <p:nvSpPr>
          <p:cNvPr id="20" name="Rounded Rectangle 19"/>
          <p:cNvSpPr/>
          <p:nvPr/>
        </p:nvSpPr>
        <p:spPr>
          <a:xfrm>
            <a:off x="8046567" y="2194560"/>
            <a:ext cx="3352800" cy="18288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5167" y="242316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2" name="TextBox 21"/>
          <p:cNvSpPr txBox="1"/>
          <p:nvPr/>
        </p:nvSpPr>
        <p:spPr>
          <a:xfrm>
            <a:off x="8275167" y="297180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still sits in GTM (dead since 2023), and two Google Ads accounts fire.</a:t>
            </a:r>
          </a:p>
        </p:txBody>
      </p:sp>
      <p:sp>
        <p:nvSpPr>
          <p:cNvPr id="23" name="Rounded Rectangle 22"/>
          <p:cNvSpPr/>
          <p:nvPr/>
        </p:nvSpPr>
        <p:spPr>
          <a:xfrm>
            <a:off x="8275167" y="3520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167" y="3520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 low effort</a:t>
            </a:r>
          </a:p>
        </p:txBody>
      </p:sp>
      <p:sp>
        <p:nvSpPr>
          <p:cNvPr id="25" name="Rounded Rectangle 24"/>
          <p:cNvSpPr/>
          <p:nvPr/>
        </p:nvSpPr>
        <p:spPr>
          <a:xfrm>
            <a:off x="792327" y="4297680"/>
            <a:ext cx="3352800" cy="18288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092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27" name="TextBox 26"/>
          <p:cNvSpPr txBox="1"/>
          <p:nvPr/>
        </p:nvSpPr>
        <p:spPr>
          <a:xfrm>
            <a:off x="1020927" y="507492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Likely cause of the blank homepage sections and a checkout suspect.</a:t>
            </a:r>
          </a:p>
        </p:txBody>
      </p:sp>
      <p:sp>
        <p:nvSpPr>
          <p:cNvPr id="28" name="Rounded Rectangle 27"/>
          <p:cNvSpPr/>
          <p:nvPr/>
        </p:nvSpPr>
        <p:spPr>
          <a:xfrm>
            <a:off x="1020927" y="56235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56235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a:t>
            </a:r>
          </a:p>
        </p:txBody>
      </p:sp>
      <p:sp>
        <p:nvSpPr>
          <p:cNvPr id="30" name="Rounded Rectangle 29"/>
          <p:cNvSpPr/>
          <p:nvPr/>
        </p:nvSpPr>
        <p:spPr>
          <a:xfrm>
            <a:off x="4419447" y="429768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4804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2" name="TextBox 31"/>
          <p:cNvSpPr txBox="1"/>
          <p:nvPr/>
        </p:nvSpPr>
        <p:spPr>
          <a:xfrm>
            <a:off x="4648047" y="507492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Microsoft Clarity (v7fb9kby3w) is live and collecting session replays you are not using. Grant dashboard access.</a:t>
            </a:r>
          </a:p>
        </p:txBody>
      </p:sp>
      <p:sp>
        <p:nvSpPr>
          <p:cNvPr id="33" name="Rounded Rectangle 32"/>
          <p:cNvSpPr/>
          <p:nvPr/>
        </p:nvSpPr>
        <p:spPr>
          <a:xfrm>
            <a:off x="4648047" y="56235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8047" y="56235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ASSET · no effort</a:t>
            </a:r>
          </a:p>
        </p:txBody>
      </p:sp>
      <p:sp>
        <p:nvSpPr>
          <p:cNvPr id="35" name="Rounded Rectangle 34"/>
          <p:cNvSpPr/>
          <p:nvPr/>
        </p:nvSpPr>
        <p:spPr>
          <a:xfrm>
            <a:off x="8046567" y="4297680"/>
            <a:ext cx="3352800" cy="18288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7516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37" name="TextBox 36"/>
          <p:cNvSpPr txBox="1"/>
          <p:nvPr/>
        </p:nvSpPr>
        <p:spPr>
          <a:xfrm>
            <a:off x="8275167" y="507492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CAPI and consent mode modeling recover the 29% of sessions currently lost.</a:t>
            </a:r>
          </a:p>
        </p:txBody>
      </p:sp>
      <p:sp>
        <p:nvSpPr>
          <p:cNvPr id="38" name="Rounded Rectangle 37"/>
          <p:cNvSpPr/>
          <p:nvPr/>
        </p:nvSpPr>
        <p:spPr>
          <a:xfrm>
            <a:off x="8275167" y="56235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75167" y="56235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 high effort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07</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Industry Benchmarks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Every figure carries a named source. General ecommerce rows are the fair apples to apples comparison.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where acquisition is measured, behind where revenue compounds.</a:t>
            </a:r>
          </a:p>
        </p:txBody>
      </p:sp>
      <p:graphicFrame>
        <p:nvGraphicFramePr>
          <p:cNvPr id="10" name="Table 9"/>
          <p:cNvGraphicFramePr>
            <a:graphicFrameLocks noGrp="1"/>
          </p:cNvGraphicFramePr>
          <p:nvPr/>
        </p:nvGraphicFramePr>
        <p:xfrm>
          <a:off x="914400" y="2103120"/>
          <a:ext cx="10332718" cy="2852928"/>
        </p:xfrm>
        <a:graphic>
          <a:graphicData uri="http://schemas.openxmlformats.org/drawingml/2006/table">
            <a:tbl>
              <a:tblPr>
                <a:tableStyleId>{2D5ABB26-0587-4C30-8999-92F81FD0307C}</a:tableStyleId>
              </a:tblPr>
              <a:tblGrid>
                <a:gridCol w="2853798"/>
                <a:gridCol w="1672916"/>
                <a:gridCol w="4526715"/>
                <a:gridCol w="1279289"/>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10896">
                <a:tc>
                  <a:txBody>
                    <a:bodyPr wrap="square"/>
                    <a:lstStyle/>
                    <a:p>
                      <a:pPr algn="l"/>
                      <a:r>
                        <a:rPr sz="1050" b="1">
                          <a:solidFill>
                            <a:srgbClr val="EFEEEE"/>
                          </a:solidFill>
                          <a:latin typeface="Helvetica Neue"/>
                        </a:rPr>
                        <a:t>Session conversion rate</a:t>
                      </a:r>
                    </a:p>
                  </a:txBody>
                  <a:tcPr marL="73152" marR="73152" marT="18288" marB="18288" anchor="ctr">
                    <a:solidFill>
                      <a:srgbClr val="000000"/>
                    </a:solidFill>
                  </a:tcPr>
                </a:tc>
                <a:tc>
                  <a:txBody>
                    <a:bodyPr wrap="square"/>
                    <a:lstStyle/>
                    <a:p>
                      <a:pPr algn="l"/>
                      <a:r>
                        <a:rPr sz="1050" b="0">
                          <a:solidFill>
                            <a:srgbClr val="F7D007"/>
                          </a:solidFill>
                          <a:latin typeface="Helvetica Neue"/>
                        </a:rPr>
                        <a:t>2,58%</a:t>
                      </a:r>
                    </a:p>
                  </a:txBody>
                  <a:tcPr marL="73152" marR="73152" marT="18288" marB="18288" anchor="ctr">
                    <a:solidFill>
                      <a:srgbClr val="000000"/>
                    </a:solidFill>
                  </a:tcPr>
                </a:tc>
                <a:tc>
                  <a:txBody>
                    <a:bodyPr wrap="square"/>
                    <a:lstStyle/>
                    <a:p>
                      <a:pPr algn="l"/>
                      <a:r>
                        <a:rPr sz="1050" b="0">
                          <a:solidFill>
                            <a:srgbClr val="EFEEEE"/>
                          </a:solidFill>
                          <a:latin typeface="Helvetica Neue"/>
                        </a:rPr>
                        <a:t>1,4% Shopify avg (Littledata 2023)</a:t>
                      </a:r>
                    </a:p>
                  </a:txBody>
                  <a:tcPr marL="73152" marR="73152" marT="18288" marB="18288" anchor="ctr">
                    <a:solidFill>
                      <a:srgbClr val="000000"/>
                    </a:solidFill>
                  </a:tcPr>
                </a:tc>
                <a:tc>
                  <a:txBody>
                    <a:bodyPr wrap="square"/>
                    <a:lstStyle/>
                    <a:p>
                      <a:pPr algn="l"/>
                      <a:r>
                        <a:rPr sz="1050" b="0">
                          <a:solidFill>
                            <a:srgbClr val="22C55E"/>
                          </a:solidFill>
                          <a:latin typeface="Helvetica Neue"/>
                        </a:rPr>
                        <a:t>Ahead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050" b="0">
                          <a:solidFill>
                            <a:srgbClr val="F7D007"/>
                          </a:solidFill>
                          <a:latin typeface="Helvetica Neue"/>
                        </a:rPr>
                        <a:t>867 SEK</a:t>
                      </a:r>
                    </a:p>
                  </a:txBody>
                  <a:tcPr marL="73152" marR="73152" marT="18288" marB="18288" anchor="ctr">
                    <a:solidFill>
                      <a:srgbClr val="0B0B0B"/>
                    </a:solidFill>
                  </a:tcPr>
                </a:tc>
                <a:tc>
                  <a:txBody>
                    <a:bodyPr wrap="square"/>
                    <a:lstStyle/>
                    <a:p>
                      <a:pPr algn="l"/>
                      <a:r>
                        <a:rPr sz="1050" b="0">
                          <a:solidFill>
                            <a:srgbClr val="EFEEEE"/>
                          </a:solidFill>
                          <a:latin typeface="Helvetica Neue"/>
                        </a:rPr>
                        <a:t>~$85 Shopify avg (Littledata 2023)</a:t>
                      </a:r>
                    </a:p>
                  </a:txBody>
                  <a:tcPr marL="73152" marR="73152" marT="18288" marB="18288" anchor="ctr">
                    <a:solidFill>
                      <a:srgbClr val="0B0B0B"/>
                    </a:solidFill>
                  </a:tcPr>
                </a:tc>
                <a:tc>
                  <a:txBody>
                    <a:bodyPr wrap="square"/>
                    <a:lstStyle/>
                    <a:p>
                      <a:pPr algn="l"/>
                      <a:r>
                        <a:rPr sz="1050" b="0">
                          <a:solidFill>
                            <a:srgbClr val="22C55E"/>
                          </a:solidFill>
                          <a:latin typeface="Helvetica Neue"/>
                        </a:rPr>
                        <a:t>On par</a:t>
                      </a:r>
                    </a:p>
                  </a:txBody>
                  <a:tcPr marL="73152" marR="73152" marT="18288" marB="18288" anchor="ctr">
                    <a:solidFill>
                      <a:srgbClr val="0B0B0B"/>
                    </a:solidFill>
                  </a:tcPr>
                </a:tc>
              </a:tr>
              <a:tr h="310896">
                <a:tc>
                  <a:txBody>
                    <a:bodyPr wrap="square"/>
                    <a:lstStyle/>
                    <a:p>
                      <a:pPr algn="l"/>
                      <a:r>
                        <a:rPr sz="105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050" b="0">
                          <a:solidFill>
                            <a:srgbClr val="F7D007"/>
                          </a:solidFill>
                          <a:latin typeface="Helvetica Neue"/>
                        </a:rPr>
                        <a:t>26 / 73+ SEK</a:t>
                      </a:r>
                    </a:p>
                  </a:txBody>
                  <a:tcPr marL="73152" marR="73152" marT="18288" marB="18288" anchor="ctr">
                    <a:solidFill>
                      <a:srgbClr val="000000"/>
                    </a:solidFill>
                  </a:tcPr>
                </a:tc>
                <a:tc>
                  <a:txBody>
                    <a:bodyPr wrap="square"/>
                    <a:lstStyle/>
                    <a:p>
                      <a:pPr algn="l"/>
                      <a:r>
                        <a:rPr sz="1050" b="0">
                          <a:solidFill>
                            <a:srgbClr val="EFEEEE"/>
                          </a:solidFill>
                          <a:latin typeface="Helvetica Neue"/>
                        </a:rPr>
                        <a:t>~$1,19 Shopify Est. (AOV x CVR)</a:t>
                      </a:r>
                    </a:p>
                  </a:txBody>
                  <a:tcPr marL="73152" marR="73152" marT="18288" marB="18288" anchor="ctr">
                    <a:solidFill>
                      <a:srgbClr val="000000"/>
                    </a:solidFill>
                  </a:tcPr>
                </a:tc>
                <a:tc>
                  <a:txBody>
                    <a:bodyPr wrap="square"/>
                    <a:lstStyle/>
                    <a:p>
                      <a:pPr algn="l"/>
                      <a:r>
                        <a:rPr sz="1050" b="0">
                          <a:solidFill>
                            <a:srgbClr val="22C55E"/>
                          </a:solidFill>
                          <a:latin typeface="Helvetica Neue"/>
                        </a:rPr>
                        <a:t>Ahead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050" b="0">
                          <a:solidFill>
                            <a:srgbClr val="F7D007"/>
                          </a:solidFill>
                          <a:latin typeface="Helvetica Neue"/>
                        </a:rPr>
                        <a:t>60%</a:t>
                      </a:r>
                    </a:p>
                  </a:txBody>
                  <a:tcPr marL="73152" marR="73152" marT="18288" marB="18288" anchor="ctr">
                    <a:solidFill>
                      <a:srgbClr val="0B0B0B"/>
                    </a:solidFill>
                  </a:tcPr>
                </a:tc>
                <a:tc>
                  <a:txBody>
                    <a:bodyPr wrap="square"/>
                    <a:lstStyle/>
                    <a:p>
                      <a:pPr algn="l"/>
                      <a:r>
                        <a:rPr sz="1050" b="0">
                          <a:solidFill>
                            <a:srgbClr val="EFEEEE"/>
                          </a:solidFill>
                          <a:latin typeface="Helvetica Neue"/>
                        </a:rPr>
                        <a:t>70,2% avg of 50 studies (Baymard 2025)</a:t>
                      </a:r>
                    </a:p>
                  </a:txBody>
                  <a:tcPr marL="73152" marR="73152" marT="18288" marB="18288" anchor="ctr">
                    <a:solidFill>
                      <a:srgbClr val="0B0B0B"/>
                    </a:solidFill>
                  </a:tcPr>
                </a:tc>
                <a:tc>
                  <a:txBody>
                    <a:bodyPr wrap="square"/>
                    <a:lstStyle/>
                    <a:p>
                      <a:pPr algn="l"/>
                      <a:r>
                        <a:rPr sz="1050" b="0">
                          <a:solidFill>
                            <a:srgbClr val="22C55E"/>
                          </a:solidFill>
                          <a:latin typeface="Helvetica Neue"/>
                        </a:rPr>
                        <a:t>Ahead</a:t>
                      </a:r>
                    </a:p>
                  </a:txBody>
                  <a:tcPr marL="73152" marR="73152" marT="18288" marB="18288" anchor="ctr">
                    <a:solidFill>
                      <a:srgbClr val="0B0B0B"/>
                    </a:solidFill>
                  </a:tcPr>
                </a:tc>
              </a:tr>
              <a:tr h="310896">
                <a:tc>
                  <a:txBody>
                    <a:bodyPr wrap="square"/>
                    <a:lstStyle/>
                    <a:p>
                      <a:pPr algn="l"/>
                      <a:r>
                        <a:rPr sz="1050" b="1">
                          <a:solidFill>
                            <a:srgbClr val="EFEEEE"/>
                          </a:solidFill>
                          <a:latin typeface="Helvetica Neue"/>
                        </a:rPr>
                        <a:t>Repeat customer rate</a:t>
                      </a:r>
                    </a:p>
                  </a:txBody>
                  <a:tcPr marL="73152" marR="73152" marT="18288" marB="18288" anchor="ctr">
                    <a:solidFill>
                      <a:srgbClr val="000000"/>
                    </a:solidFill>
                  </a:tcPr>
                </a:tc>
                <a:tc>
                  <a:txBody>
                    <a:bodyPr wrap="square"/>
                    <a:lstStyle/>
                    <a:p>
                      <a:pPr algn="l"/>
                      <a:r>
                        <a:rPr sz="1050" b="0">
                          <a:solidFill>
                            <a:srgbClr val="EF4444"/>
                          </a:solidFill>
                          <a:latin typeface="Helvetica Neue"/>
                        </a:rPr>
                        <a:t>~19%</a:t>
                      </a:r>
                    </a:p>
                  </a:txBody>
                  <a:tcPr marL="73152" marR="73152" marT="18288" marB="18288" anchor="ctr">
                    <a:solidFill>
                      <a:srgbClr val="000000"/>
                    </a:solidFill>
                  </a:tcPr>
                </a:tc>
                <a:tc>
                  <a:txBody>
                    <a:bodyPr wrap="square"/>
                    <a:lstStyle/>
                    <a:p>
                      <a:pPr algn="l"/>
                      <a:r>
                        <a:rPr sz="1050" b="0">
                          <a:solidFill>
                            <a:srgbClr val="EFEEEE"/>
                          </a:solidFill>
                          <a:latin typeface="Helvetica Neue"/>
                        </a:rPr>
                        <a:t>under 20% is weak (OpenSend, MetricUno)</a:t>
                      </a:r>
                    </a:p>
                  </a:txBody>
                  <a:tcPr marL="73152" marR="73152" marT="18288" marB="18288" anchor="ctr">
                    <a:solidFill>
                      <a:srgbClr val="000000"/>
                    </a:solidFill>
                  </a:tcPr>
                </a:tc>
                <a:tc>
                  <a:txBody>
                    <a:bodyPr wrap="square"/>
                    <a:lstStyle/>
                    <a:p>
                      <a:pPr algn="l"/>
                      <a:r>
                        <a:rPr sz="1050" b="0">
                          <a:solidFill>
                            <a:srgbClr val="EF4444"/>
                          </a:solidFill>
                          <a:latin typeface="Helvetica Neue"/>
                        </a:rPr>
                        <a:t>Behind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050" b="0">
                          <a:solidFill>
                            <a:srgbClr val="F59E0B"/>
                          </a:solidFill>
                          <a:latin typeface="Helvetica Neue"/>
                        </a:rPr>
                        <a:t>16%</a:t>
                      </a:r>
                    </a:p>
                  </a:txBody>
                  <a:tcPr marL="73152" marR="73152" marT="18288" marB="18288" anchor="ctr">
                    <a:solidFill>
                      <a:srgbClr val="0B0B0B"/>
                    </a:solidFill>
                  </a:tcPr>
                </a:tc>
                <a:tc>
                  <a:txBody>
                    <a:bodyPr wrap="square"/>
                    <a:lstStyle/>
                    <a:p>
                      <a:pPr algn="l"/>
                      <a:r>
                        <a:rPr sz="1050" b="0">
                          <a:solidFill>
                            <a:srgbClr val="EFEEEE"/>
                          </a:solidFill>
                          <a:latin typeface="Helvetica Neue"/>
                        </a:rPr>
                        <a:t>~20-30% of DTC revenue Est. (Omnisend)</a:t>
                      </a:r>
                    </a:p>
                  </a:txBody>
                  <a:tcPr marL="73152" marR="73152" marT="18288" marB="18288" anchor="ctr">
                    <a:solidFill>
                      <a:srgbClr val="0B0B0B"/>
                    </a:solidFill>
                  </a:tcPr>
                </a:tc>
                <a:tc>
                  <a:txBody>
                    <a:bodyPr wrap="square"/>
                    <a:lstStyle/>
                    <a:p>
                      <a:pPr algn="l"/>
                      <a:r>
                        <a:rPr sz="1050" b="0">
                          <a:solidFill>
                            <a:srgbClr val="F59E0B"/>
                          </a:solidFill>
                          <a:latin typeface="Helvetica Neue"/>
                        </a:rPr>
                        <a:t>Behind</a:t>
                      </a:r>
                    </a:p>
                  </a:txBody>
                  <a:tcPr marL="73152" marR="73152" marT="18288" marB="18288" anchor="ctr">
                    <a:solidFill>
                      <a:srgbClr val="0B0B0B"/>
                    </a:solidFill>
                  </a:tcPr>
                </a:tc>
              </a:tr>
              <a:tr h="310896">
                <a:tc>
                  <a:txBody>
                    <a:bodyPr wrap="square"/>
                    <a:lstStyle/>
                    <a:p>
                      <a:pPr algn="l"/>
                      <a:r>
                        <a:rPr sz="1050" b="1">
                          <a:solidFill>
                            <a:srgbClr val="EFEEEE"/>
                          </a:solidFill>
                          <a:latin typeface="Helvetica Neue"/>
                        </a:rPr>
                        <a:t>Subscription / club share</a:t>
                      </a:r>
                    </a:p>
                  </a:txBody>
                  <a:tcPr marL="73152" marR="73152" marT="18288" marB="18288" anchor="ctr">
                    <a:solidFill>
                      <a:srgbClr val="000000"/>
                    </a:solidFill>
                  </a:tcPr>
                </a:tc>
                <a:tc>
                  <a:txBody>
                    <a:bodyPr wrap="square"/>
                    <a:lstStyle/>
                    <a:p>
                      <a:pPr algn="l"/>
                      <a:r>
                        <a:rPr sz="1050" b="0">
                          <a:solidFill>
                            <a:srgbClr val="EF4444"/>
                          </a:solidFill>
                          <a:latin typeface="Helvetica Neue"/>
                        </a:rPr>
                        <a:t>0,2%</a:t>
                      </a:r>
                    </a:p>
                  </a:txBody>
                  <a:tcPr marL="73152" marR="73152" marT="18288" marB="18288" anchor="ctr">
                    <a:solidFill>
                      <a:srgbClr val="000000"/>
                    </a:solidFill>
                  </a:tcPr>
                </a:tc>
                <a:tc>
                  <a:txBody>
                    <a:bodyPr wrap="square"/>
                    <a:lstStyle/>
                    <a:p>
                      <a:pPr algn="l"/>
                      <a:r>
                        <a:rPr sz="1050" b="0">
                          <a:solidFill>
                            <a:srgbClr val="EFEEEE"/>
                          </a:solidFill>
                          <a:latin typeface="Helvetica Neue"/>
                        </a:rPr>
                        <a:t>wine clubs 39% of winery DtC (SVB 2025)</a:t>
                      </a:r>
                    </a:p>
                  </a:txBody>
                  <a:tcPr marL="73152" marR="73152" marT="18288" marB="18288" anchor="ctr">
                    <a:solidFill>
                      <a:srgbClr val="000000"/>
                    </a:solidFill>
                  </a:tcPr>
                </a:tc>
                <a:tc>
                  <a:txBody>
                    <a:bodyPr wrap="square"/>
                    <a:lstStyle/>
                    <a:p>
                      <a:pPr algn="l"/>
                      <a:r>
                        <a:rPr sz="1050" b="0">
                          <a:solidFill>
                            <a:srgbClr val="EF4444"/>
                          </a:solidFill>
                          <a:latin typeface="Helvetica Neue"/>
                        </a:rPr>
                        <a:t>Behind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050" b="0">
                          <a:solidFill>
                            <a:srgbClr val="EFEEEE"/>
                          </a:solidFill>
                          <a:latin typeface="Helvetica Neue"/>
                        </a:rPr>
                        <a:t>86%</a:t>
                      </a:r>
                    </a:p>
                  </a:txBody>
                  <a:tcPr marL="73152" marR="73152" marT="18288" marB="18288" anchor="ctr">
                    <a:solidFill>
                      <a:srgbClr val="0B0B0B"/>
                    </a:solidFill>
                  </a:tcPr>
                </a:tc>
                <a:tc>
                  <a:txBody>
                    <a:bodyPr wrap="square"/>
                    <a:lstStyle/>
                    <a:p>
                      <a:pPr algn="l"/>
                      <a:r>
                        <a:rPr sz="1050" b="0">
                          <a:solidFill>
                            <a:srgbClr val="EFEEEE"/>
                          </a:solidFill>
                          <a:latin typeface="Helvetica Neue"/>
                        </a:rPr>
                        <a:t>mobile converts ~37% below desktop (Littledata)</a:t>
                      </a:r>
                    </a:p>
                  </a:txBody>
                  <a:tcPr marL="73152" marR="73152" marT="18288" marB="18288" anchor="ctr">
                    <a:solidFill>
                      <a:srgbClr val="0B0B0B"/>
                    </a:solidFill>
                  </a:tcPr>
                </a:tc>
                <a:tc>
                  <a:txBody>
                    <a:bodyPr wrap="square"/>
                    <a:lstStyle/>
                    <a:p>
                      <a:pPr algn="l"/>
                      <a:r>
                        <a:rPr sz="1050" b="0">
                          <a:solidFill>
                            <a:srgbClr val="F59E0B"/>
                          </a:solidFill>
                          <a:latin typeface="Helvetica Neue"/>
                        </a:rPr>
                        <a:t>Upside</a:t>
                      </a:r>
                    </a:p>
                  </a:txBody>
                  <a:tcPr marL="73152" marR="73152" marT="18288" marB="18288" anchor="ctr">
                    <a:solidFill>
                      <a:srgbClr val="0B0B0B"/>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monetizing retention.</a:t>
            </a:r>
          </a:p>
        </p:txBody>
      </p:sp>
      <p:sp>
        <p:nvSpPr>
          <p:cNvPr id="10" name="Rounded Rectangle 9"/>
          <p:cNvSpPr/>
          <p:nvPr/>
        </p:nvSpPr>
        <p:spPr>
          <a:xfrm>
            <a:off x="792327" y="2194560"/>
            <a:ext cx="5074920" cy="29260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42316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ALREADY AHEAD</a:t>
            </a:r>
          </a:p>
        </p:txBody>
      </p:sp>
      <p:sp>
        <p:nvSpPr>
          <p:cNvPr id="12" name="TextBox 11"/>
          <p:cNvSpPr txBox="1"/>
          <p:nvPr/>
        </p:nvSpPr>
        <p:spPr>
          <a:xfrm>
            <a:off x="1066647" y="269748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Acquisition is a strength</a:t>
            </a:r>
          </a:p>
        </p:txBody>
      </p:sp>
      <p:sp>
        <p:nvSpPr>
          <p:cNvPr id="13" name="TextBox 12"/>
          <p:cNvSpPr txBox="1"/>
          <p:nvPr/>
        </p:nvSpPr>
        <p:spPr>
          <a:xfrm>
            <a:off x="1066647" y="312724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Conversion ~1,8x the Shopify average, on 86% mobile. AOV above the Shopify line. RPV ~1,75x the derived Shopify benchmark. Cart abandonment 10 points better than Baymard.</a:t>
            </a:r>
          </a:p>
        </p:txBody>
      </p:sp>
      <p:sp>
        <p:nvSpPr>
          <p:cNvPr id="14" name="Rounded Rectangle 13"/>
          <p:cNvSpPr/>
          <p:nvPr/>
        </p:nvSpPr>
        <p:spPr>
          <a:xfrm>
            <a:off x="6324447" y="2194560"/>
            <a:ext cx="5074920" cy="29260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98767" y="242316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RPV GAPS</a:t>
            </a:r>
          </a:p>
        </p:txBody>
      </p:sp>
      <p:sp>
        <p:nvSpPr>
          <p:cNvPr id="16" name="TextBox 15"/>
          <p:cNvSpPr txBox="1"/>
          <p:nvPr/>
        </p:nvSpPr>
        <p:spPr>
          <a:xfrm>
            <a:off x="6598767" y="269748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Retention is underbuilt</a:t>
            </a:r>
          </a:p>
        </p:txBody>
      </p:sp>
      <p:sp>
        <p:nvSpPr>
          <p:cNvPr id="17" name="TextBox 16"/>
          <p:cNvSpPr txBox="1"/>
          <p:nvPr/>
        </p:nvSpPr>
        <p:spPr>
          <a:xfrm>
            <a:off x="6598767" y="312724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Repeat rate ~19% sits under the "weak" 20% line, in the category that monetizes retention hardest. Email 16% of orders vs a 20-30% norm. Subscription 0,2% of revenue is the biggest single gap.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08</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MEASUREMENT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are measuring one third of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 recorded three times the orders GA4 did over the same 91 days.</a:t>
            </a:r>
          </a:p>
        </p:txBody>
      </p:sp>
      <p:graphicFrame>
        <p:nvGraphicFramePr>
          <p:cNvPr id="10" name="Table 9"/>
          <p:cNvGraphicFramePr>
            <a:graphicFrameLocks noGrp="1"/>
          </p:cNvGraphicFramePr>
          <p:nvPr/>
        </p:nvGraphicFramePr>
        <p:xfrm>
          <a:off x="1463040" y="2194560"/>
          <a:ext cx="9235440" cy="2011680"/>
        </p:xfrm>
        <a:graphic>
          <a:graphicData uri="http://schemas.openxmlformats.org/drawingml/2006/table">
            <a:tbl>
              <a:tblPr>
                <a:tableStyleId>{2D5ABB26-0587-4C30-8999-92F81FD0307C}</a:tableStyleId>
              </a:tblPr>
              <a:tblGrid>
                <a:gridCol w="3108960"/>
                <a:gridCol w="2194560"/>
                <a:gridCol w="2194560"/>
                <a:gridCol w="1737360"/>
              </a:tblGrid>
              <a:tr h="365760">
                <a:tc>
                  <a:txBody>
                    <a:bodyPr wrap="square"/>
                    <a:lstStyle/>
                    <a:p>
                      <a:pPr algn="l"/>
                      <a:r>
                        <a:rPr sz="900" b="1" spc="100">
                          <a:solidFill>
                            <a:srgbClr val="999999"/>
                          </a:solidFill>
                          <a:latin typeface="Helvetica Neue"/>
                        </a:rPr>
                        <a:t>METRIC (SAME 91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AUDIT PROPERTY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CAPTURES</a:t>
                      </a:r>
                    </a:p>
                  </a:txBody>
                  <a:tcPr marL="73152" marR="73152" marT="18288" marB="18288" anchor="ctr">
                    <a:solidFill>
                      <a:srgbClr val="0A0A0A"/>
                    </a:solidFill>
                  </a:tcPr>
                </a:tc>
              </a:tr>
              <a:tr h="329184">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38.310</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29184">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33,2M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Total sales incl tax</a:t>
                      </a:r>
                    </a:p>
                  </a:txBody>
                  <a:tcPr marL="73152" marR="73152" marT="18288" marB="18288" anchor="ctr">
                    <a:solidFill>
                      <a:srgbClr val="000000"/>
                    </a:solidFill>
                  </a:tcPr>
                </a:tc>
                <a:tc>
                  <a:txBody>
                    <a:bodyPr wrap="square"/>
                    <a:lstStyle/>
                    <a:p>
                      <a:pPr algn="r"/>
                      <a:r>
                        <a:rPr sz="1100" b="0">
                          <a:solidFill>
                            <a:srgbClr val="EFEEEE"/>
                          </a:solidFill>
                          <a:latin typeface="Menlo"/>
                        </a:rPr>
                        <a:t>39,9M SEK</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EFEEEE"/>
                          </a:solidFill>
                          <a:latin typeface="Menlo"/>
                        </a:rPr>
                        <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Net sales (ex tax, disc)</a:t>
                      </a:r>
                    </a:p>
                  </a:txBody>
                  <a:tcPr marL="73152" marR="73152" marT="18288" marB="18288" anchor="ctr">
                    <a:solidFill>
                      <a:srgbClr val="0B0B0B"/>
                    </a:solidFill>
                  </a:tcPr>
                </a:tc>
                <a:tc>
                  <a:txBody>
                    <a:bodyPr wrap="square"/>
                    <a:lstStyle/>
                    <a:p>
                      <a:pPr algn="r"/>
                      <a:r>
                        <a:rPr sz="1100" b="0">
                          <a:solidFill>
                            <a:srgbClr val="EFEEEE"/>
                          </a:solidFill>
                          <a:latin typeface="Menlo"/>
                        </a:rPr>
                        <a:t>31,9M SEK</a:t>
                      </a:r>
                    </a:p>
                  </a:txBody>
                  <a:tcPr marL="73152" marR="73152" marT="18288" marB="18288" anchor="ctr">
                    <a:solidFill>
                      <a:srgbClr val="0B0B0B"/>
                    </a:solidFill>
                  </a:tcPr>
                </a:tc>
                <a:tc>
                  <a:txBody>
                    <a:bodyPr wrap="square"/>
                    <a:lstStyle/>
                    <a:p>
                      <a:pPr algn="r"/>
                      <a:r>
                        <a:rPr sz="1100" b="0">
                          <a:solidFill>
                            <a:srgbClr val="EFEEEE"/>
                          </a:solidFill>
                          <a:latin typeface="Menlo"/>
                        </a:rPr>
                        <a:t>n/a</a:t>
                      </a:r>
                    </a:p>
                  </a:txBody>
                  <a:tcPr marL="73152" marR="73152" marT="18288" marB="18288" anchor="ctr">
                    <a:solidFill>
                      <a:srgbClr val="0B0B0B"/>
                    </a:solidFill>
                  </a:tcPr>
                </a:tc>
                <a:tc>
                  <a:txBody>
                    <a:bodyPr wrap="square"/>
                    <a:lstStyle/>
                    <a:p>
                      <a:pPr algn="r"/>
                      <a:r>
                        <a:rPr sz="1100" b="0">
                          <a:solidFill>
                            <a:srgbClr val="EFEEEE"/>
                          </a:solidFill>
                          <a:latin typeface="Menlo"/>
                        </a:rPr>
                        <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Refund rate</a:t>
                      </a:r>
                    </a:p>
                  </a:txBody>
                  <a:tcPr marL="73152" marR="73152" marT="18288" marB="18288" anchor="ctr">
                    <a:solidFill>
                      <a:srgbClr val="000000"/>
                    </a:solidFill>
                  </a:tcPr>
                </a:tc>
                <a:tc>
                  <a:txBody>
                    <a:bodyPr wrap="square"/>
                    <a:lstStyle/>
                    <a:p>
                      <a:pPr algn="r"/>
                      <a:r>
                        <a:rPr sz="1100" b="0">
                          <a:solidFill>
                            <a:srgbClr val="22C55E"/>
                          </a:solidFill>
                          <a:latin typeface="Menlo"/>
                        </a:rPr>
                        <a:t>0,4%</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EFEEEE"/>
                          </a:solidFill>
                          <a:latin typeface="Menlo"/>
                        </a:rPr>
                        <a:t/>
                      </a:r>
                    </a:p>
                  </a:txBody>
                  <a:tcPr marL="73152" marR="73152" marT="18288" marB="18288" anchor="ctr">
                    <a:solidFill>
                      <a:srgbClr val="000000"/>
                    </a:solidFill>
                  </a:tcPr>
                </a:tc>
              </a:tr>
            </a:tbl>
          </a:graphicData>
        </a:graphic>
      </p:graphicFrame>
      <p:sp>
        <p:nvSpPr>
          <p:cNvPr id="11" name="Rounded Rectangle 10"/>
          <p:cNvSpPr/>
          <p:nvPr/>
        </p:nvSpPr>
        <p:spPr>
          <a:xfrm>
            <a:off x="1463040" y="4480560"/>
            <a:ext cx="9235440" cy="10515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91640" y="4617720"/>
            <a:ext cx="8778240" cy="77724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Causes: Cookiebot consent denial, Facebook in app browser attribution loss on 41% of traffic, and 4 parallel GA4 properties. So the store is ~3x larger than the GA4 view, Facebook optimizes on 1/3 of the signal, and Shopify is the RPV source of truth until GA4 is rebuilt server side with Meta CAPI.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The real numbers, corrected against Shopify.</a:t>
            </a:r>
          </a:p>
        </p:txBody>
      </p:sp>
      <p:sp>
        <p:nvSpPr>
          <p:cNvPr id="10" name="Rounded Rectangle 9"/>
          <p:cNvSpPr/>
          <p:nvPr/>
        </p:nvSpPr>
        <p:spPr>
          <a:xfrm>
            <a:off x="79232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816352"/>
            <a:ext cx="2446020" cy="502920"/>
          </a:xfrm>
          <a:prstGeom prst="rect">
            <a:avLst/>
          </a:prstGeom>
          <a:noFill/>
        </p:spPr>
        <p:txBody>
          <a:bodyPr wrap="square" lIns="0" rIns="0" tIns="0" bIns="0" anchor="t">
            <a:spAutoFit/>
          </a:bodyPr>
          <a:lstStyle/>
          <a:p>
            <a:pPr algn="ctr"/>
            <a:r>
              <a:rPr sz="3000" b="1" i="0">
                <a:solidFill>
                  <a:srgbClr val="F7D007"/>
                </a:solidFill>
                <a:latin typeface="Menlo"/>
              </a:rPr>
              <a:t>867 SEK</a:t>
            </a:r>
          </a:p>
        </p:txBody>
      </p:sp>
      <p:sp>
        <p:nvSpPr>
          <p:cNvPr id="12" name="TextBox 11"/>
          <p:cNvSpPr txBox="1"/>
          <p:nvPr/>
        </p:nvSpPr>
        <p:spPr>
          <a:xfrm>
            <a:off x="79232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3" name="TextBox 12"/>
          <p:cNvSpPr txBox="1"/>
          <p:nvPr/>
        </p:nvSpPr>
        <p:spPr>
          <a:xfrm>
            <a:off x="79232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4" name="Rounded Rectangle 13"/>
          <p:cNvSpPr/>
          <p:nvPr/>
        </p:nvSpPr>
        <p:spPr>
          <a:xfrm>
            <a:off x="351266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816352"/>
            <a:ext cx="2446020" cy="502920"/>
          </a:xfrm>
          <a:prstGeom prst="rect">
            <a:avLst/>
          </a:prstGeom>
          <a:noFill/>
        </p:spPr>
        <p:txBody>
          <a:bodyPr wrap="square" lIns="0" rIns="0" tIns="0" bIns="0" anchor="t">
            <a:spAutoFit/>
          </a:bodyPr>
          <a:lstStyle/>
          <a:p>
            <a:pPr algn="ctr"/>
            <a:r>
              <a:rPr sz="3000" b="1" i="0">
                <a:solidFill>
                  <a:srgbClr val="F7D007"/>
                </a:solidFill>
                <a:latin typeface="Menlo"/>
              </a:rPr>
              <a:t>73+ SEK</a:t>
            </a:r>
          </a:p>
        </p:txBody>
      </p:sp>
      <p:sp>
        <p:nvSpPr>
          <p:cNvPr id="16" name="TextBox 15"/>
          <p:cNvSpPr txBox="1"/>
          <p:nvPr/>
        </p:nvSpPr>
        <p:spPr>
          <a:xfrm>
            <a:off x="351266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RPV / SESSION</a:t>
            </a:r>
          </a:p>
        </p:txBody>
      </p:sp>
      <p:sp>
        <p:nvSpPr>
          <p:cNvPr id="17" name="TextBox 16"/>
          <p:cNvSpPr txBox="1"/>
          <p:nvPr/>
        </p:nvSpPr>
        <p:spPr>
          <a:xfrm>
            <a:off x="351266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26 SEK GA4 implied</a:t>
            </a:r>
          </a:p>
        </p:txBody>
      </p:sp>
      <p:sp>
        <p:nvSpPr>
          <p:cNvPr id="18" name="Rounded Rectangle 17"/>
          <p:cNvSpPr/>
          <p:nvPr/>
        </p:nvSpPr>
        <p:spPr>
          <a:xfrm>
            <a:off x="623300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816352"/>
            <a:ext cx="2446020" cy="502920"/>
          </a:xfrm>
          <a:prstGeom prst="rect">
            <a:avLst/>
          </a:prstGeom>
          <a:noFill/>
        </p:spPr>
        <p:txBody>
          <a:bodyPr wrap="square" lIns="0" rIns="0" tIns="0" bIns="0" anchor="t">
            <a:spAutoFit/>
          </a:bodyPr>
          <a:lstStyle/>
          <a:p>
            <a:pPr algn="ctr"/>
            <a:r>
              <a:rPr sz="3000" b="1" i="0">
                <a:solidFill>
                  <a:srgbClr val="FFFFFF"/>
                </a:solidFill>
                <a:latin typeface="Menlo"/>
              </a:rPr>
              <a:t>38.310</a:t>
            </a:r>
          </a:p>
        </p:txBody>
      </p:sp>
      <p:sp>
        <p:nvSpPr>
          <p:cNvPr id="20" name="TextBox 19"/>
          <p:cNvSpPr txBox="1"/>
          <p:nvPr/>
        </p:nvSpPr>
        <p:spPr>
          <a:xfrm>
            <a:off x="623300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91D</a:t>
            </a:r>
          </a:p>
        </p:txBody>
      </p:sp>
      <p:sp>
        <p:nvSpPr>
          <p:cNvPr id="21" name="TextBox 20"/>
          <p:cNvSpPr txBox="1"/>
          <p:nvPr/>
        </p:nvSpPr>
        <p:spPr>
          <a:xfrm>
            <a:off x="623300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2" name="Rounded Rectangle 21"/>
          <p:cNvSpPr/>
          <p:nvPr/>
        </p:nvSpPr>
        <p:spPr>
          <a:xfrm>
            <a:off x="895334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816352"/>
            <a:ext cx="2446020" cy="502920"/>
          </a:xfrm>
          <a:prstGeom prst="rect">
            <a:avLst/>
          </a:prstGeom>
          <a:noFill/>
        </p:spPr>
        <p:txBody>
          <a:bodyPr wrap="square" lIns="0" rIns="0" tIns="0" bIns="0" anchor="t">
            <a:spAutoFit/>
          </a:bodyPr>
          <a:lstStyle/>
          <a:p>
            <a:pPr algn="ctr"/>
            <a:r>
              <a:rPr sz="3000" b="1" i="0">
                <a:solidFill>
                  <a:srgbClr val="22C55E"/>
                </a:solidFill>
                <a:latin typeface="Menlo"/>
              </a:rPr>
              <a:t>0,2%</a:t>
            </a:r>
          </a:p>
        </p:txBody>
      </p:sp>
      <p:sp>
        <p:nvSpPr>
          <p:cNvPr id="24" name="TextBox 23"/>
          <p:cNvSpPr txBox="1"/>
          <p:nvPr/>
        </p:nvSpPr>
        <p:spPr>
          <a:xfrm>
            <a:off x="895334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ON SUBSCRIPTION</a:t>
            </a:r>
          </a:p>
        </p:txBody>
      </p:sp>
      <p:sp>
        <p:nvSpPr>
          <p:cNvPr id="25" name="TextBox 24"/>
          <p:cNvSpPr txBox="1"/>
          <p:nvPr/>
        </p:nvSpPr>
        <p:spPr>
          <a:xfrm>
            <a:off x="895334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off</a:t>
            </a:r>
          </a:p>
        </p:txBody>
      </p:sp>
      <p:sp>
        <p:nvSpPr>
          <p:cNvPr id="26" name="Rounded Rectangle 25"/>
          <p:cNvSpPr/>
          <p:nvPr/>
        </p:nvSpPr>
        <p:spPr>
          <a:xfrm>
            <a:off x="1280160" y="4572000"/>
            <a:ext cx="9601200" cy="8229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709160"/>
            <a:ext cx="9144000" cy="54864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RPV lower bound = Shopify gross 33,2M / GA4 sessions 452.552 = 73 SEK. The point is not the exact number: AOV and repeat are the levers with the most room, and measurement lets us steer them.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Realized blended discount is only 3,4%.</a:t>
            </a:r>
          </a:p>
        </p:txBody>
      </p:sp>
      <p:graphicFrame>
        <p:nvGraphicFramePr>
          <p:cNvPr id="10" name="Table 9"/>
          <p:cNvGraphicFramePr>
            <a:graphicFrameLocks noGrp="1"/>
          </p:cNvGraphicFramePr>
          <p:nvPr/>
        </p:nvGraphicFramePr>
        <p:xfrm>
          <a:off x="1280160" y="2286000"/>
          <a:ext cx="9601197" cy="1755648"/>
        </p:xfrm>
        <a:graphic>
          <a:graphicData uri="http://schemas.openxmlformats.org/drawingml/2006/table">
            <a:tbl>
              <a:tblPr>
                <a:tableStyleId>{2D5ABB26-0587-4C30-8999-92F81FD0307C}</a:tableStyleId>
              </a:tblPr>
              <a:tblGrid>
                <a:gridCol w="2717320"/>
                <a:gridCol w="1449237"/>
                <a:gridCol w="1992701"/>
                <a:gridCol w="1630392"/>
                <a:gridCol w="1811547"/>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47472">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47472">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47472">
                <a:tc>
                  <a:txBody>
                    <a:bodyPr wrap="square"/>
                    <a:lstStyle/>
                    <a:p>
                      <a:pPr algn="l"/>
                      <a:r>
                        <a:rPr sz="1100" b="1">
                          <a:solidFill>
                            <a:srgbClr val="EFEEEE"/>
                          </a:solidFill>
                          <a:latin typeface="Helvetica Neue"/>
                        </a:rPr>
                        <a:t>Premium boxes (Grill, Guld)</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700-865 SEK</a:t>
                      </a:r>
                    </a:p>
                  </a:txBody>
                  <a:tcPr marL="73152" marR="73152" marT="18288" marB="18288" anchor="ctr">
                    <a:solidFill>
                      <a:srgbClr val="000000"/>
                    </a:solidFill>
                  </a:tcPr>
                </a:tc>
                <a:tc>
                  <a:txBody>
                    <a:bodyPr wrap="square"/>
                    <a:lstStyle/>
                    <a:p>
                      <a:pPr algn="r"/>
                      <a:r>
                        <a:rPr sz="1100" b="0">
                          <a:solidFill>
                            <a:srgbClr val="EFEEEE"/>
                          </a:solidFill>
                          <a:latin typeface="Menlo"/>
                        </a:rPr>
                        <a:t>2-5%</a:t>
                      </a:r>
                    </a:p>
                  </a:txBody>
                  <a:tcPr marL="73152" marR="73152" marT="18288" marB="18288" anchor="ctr">
                    <a:solidFill>
                      <a:srgbClr val="000000"/>
                    </a:solidFill>
                  </a:tcPr>
                </a:tc>
              </a:tr>
              <a:tr h="347472">
                <a:tc>
                  <a:txBody>
                    <a:bodyPr wrap="square"/>
                    <a:lstStyle/>
                    <a:p>
                      <a:pPr algn="l"/>
                      <a:r>
                        <a:rPr sz="1100" b="1">
                          <a:solidFill>
                            <a:srgbClr val="EF4444"/>
                          </a:solidFill>
                          <a:latin typeface="Helvetica Neue"/>
                        </a:rPr>
                        <a:t>Subscription (Abonnement)</a:t>
                      </a:r>
                    </a:p>
                  </a:txBody>
                  <a:tcPr marL="73152" marR="73152" marT="18288" marB="18288" anchor="ctr">
                    <a:solidFill>
                      <a:srgbClr val="0B0B0B"/>
                    </a:solidFill>
                  </a:tcPr>
                </a:tc>
                <a:tc>
                  <a:txBody>
                    <a:bodyPr wrap="square"/>
                    <a:lstStyle/>
                    <a:p>
                      <a:pPr algn="r"/>
                      <a:r>
                        <a:rPr sz="1100" b="0">
                          <a:solidFill>
                            <a:srgbClr val="EFEEEE"/>
                          </a:solidFill>
                          <a:latin typeface="Menlo"/>
                        </a:rPr>
                        <a:t>108</a:t>
                      </a:r>
                    </a:p>
                  </a:txBody>
                  <a:tcPr marL="73152" marR="73152" marT="18288" marB="18288" anchor="ctr">
                    <a:solidFill>
                      <a:srgbClr val="0B0B0B"/>
                    </a:solidFill>
                  </a:tcPr>
                </a:tc>
                <a:tc>
                  <a:txBody>
                    <a:bodyPr wrap="square"/>
                    <a:lstStyle/>
                    <a:p>
                      <a:pPr algn="r"/>
                      <a:r>
                        <a:rPr sz="1100" b="0">
                          <a:solidFill>
                            <a:srgbClr val="EF4444"/>
                          </a:solidFill>
                          <a:latin typeface="Menlo"/>
                        </a:rPr>
                        <a:t>0,2%</a:t>
                      </a:r>
                    </a:p>
                  </a:txBody>
                  <a:tcPr marL="73152" marR="73152" marT="18288" marB="18288" anchor="ctr">
                    <a:solidFill>
                      <a:srgbClr val="0B0B0B"/>
                    </a:solidFill>
                  </a:tcPr>
                </a:tc>
                <a:tc>
                  <a:txBody>
                    <a:bodyPr wrap="square"/>
                    <a:lstStyle/>
                    <a:p>
                      <a:pPr algn="r"/>
                      <a:r>
                        <a:rPr sz="1100" b="0">
                          <a:solidFill>
                            <a:srgbClr val="EFEEEE"/>
                          </a:solidFill>
                          <a:latin typeface="Menlo"/>
                        </a:rPr>
                        <a:t>611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1" name="TextBox 10"/>
          <p:cNvSpPr txBox="1"/>
          <p:nvPr/>
        </p:nvSpPr>
        <p:spPr>
          <a:xfrm>
            <a:off x="1280160" y="4480560"/>
            <a:ext cx="9601200" cy="548640"/>
          </a:xfrm>
          <a:prstGeom prst="rect">
            <a:avLst/>
          </a:prstGeom>
          <a:noFill/>
        </p:spPr>
        <p:txBody>
          <a:bodyPr wrap="square" lIns="0" rIns="0" tIns="0" bIns="0" anchor="t">
            <a:spAutoFit/>
          </a:bodyPr>
          <a:lstStyle/>
          <a:p>
            <a:pPr algn="l"/>
            <a:r>
              <a:rPr sz="1100" b="0" i="0">
                <a:solidFill>
                  <a:srgbClr val="6B7C75"/>
                </a:solidFill>
                <a:latin typeface="Helvetica Neue"/>
              </a:rPr>
              <a:t>Top 2 SKUs = 26,5% of net sales. Top 30 SKUs (6% of the catalog) = 80%. The AOV lever is a box ladder (567 SEK to the 700 SEK+ tiers) plus a real subscription, not more discounting.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leverage on revenue per visitor. Measurement first because it multiplies every other lever.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graphicFrame>
        <p:nvGraphicFramePr>
          <p:cNvPr id="9" name="Table 8"/>
          <p:cNvGraphicFramePr>
            <a:graphicFrameLocks noGrp="1"/>
          </p:cNvGraphicFramePr>
          <p:nvPr/>
        </p:nvGraphicFramePr>
        <p:xfrm>
          <a:off x="640080" y="2011680"/>
          <a:ext cx="10881357" cy="3200400"/>
        </p:xfrm>
        <a:graphic>
          <a:graphicData uri="http://schemas.openxmlformats.org/drawingml/2006/table">
            <a:tbl>
              <a:tblPr>
                <a:tableStyleId>{2D5ABB26-0587-4C30-8999-92F81FD0307C}</a:tableStyleId>
              </a:tblPr>
              <a:tblGrid>
                <a:gridCol w="614270"/>
                <a:gridCol w="1667305"/>
                <a:gridCol w="3685621"/>
                <a:gridCol w="3773374"/>
                <a:gridCol w="1140787"/>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EFFORT</a:t>
                      </a:r>
                    </a:p>
                  </a:txBody>
                  <a:tcPr marL="73152" marR="73152" marT="18288" marB="18288" anchor="ctr">
                    <a:solidFill>
                      <a:srgbClr val="0A0A0A"/>
                    </a:solidFill>
                  </a:tcPr>
                </a:tc>
              </a:tr>
              <a:tr h="566928">
                <a:tc>
                  <a:txBody>
                    <a:bodyPr wrap="square"/>
                    <a:lstStyle/>
                    <a:p>
                      <a:pPr algn="l"/>
                      <a:r>
                        <a:rPr sz="1050" b="1">
                          <a:solidFill>
                            <a:srgbClr val="EF4444"/>
                          </a:solidFill>
                          <a:latin typeface="Helvetica Neue"/>
                        </a:rPr>
                        <a:t>1</a:t>
                      </a:r>
                    </a:p>
                  </a:txBody>
                  <a:tcPr marL="73152" marR="73152" marT="18288" marB="18288" anchor="ctr">
                    <a:solidFill>
                      <a:srgbClr val="000000"/>
                    </a:solidFill>
                  </a:tcPr>
                </a:tc>
                <a:tc>
                  <a:txBody>
                    <a:bodyPr wrap="square"/>
                    <a:lstStyle/>
                    <a:p>
                      <a:pPr algn="l"/>
                      <a:r>
                        <a:rPr sz="105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1050" b="0">
                          <a:solidFill>
                            <a:srgbClr val="EFEEEE"/>
                          </a:solidFill>
                          <a:latin typeface="Helvetica Neue"/>
                        </a:rPr>
                        <a:t>Server side GTM + Consent Mode + Meta CAPI; one GA4</a:t>
                      </a:r>
                    </a:p>
                  </a:txBody>
                  <a:tcPr marL="73152" marR="73152" marT="18288" marB="18288" anchor="ctr">
                    <a:solidFill>
                      <a:srgbClr val="000000"/>
                    </a:solidFill>
                  </a:tcPr>
                </a:tc>
                <a:tc>
                  <a:txBody>
                    <a:bodyPr wrap="square"/>
                    <a:lstStyle/>
                    <a:p>
                      <a:pPr algn="l"/>
                      <a:r>
                        <a:rPr sz="1050" b="0">
                          <a:solidFill>
                            <a:srgbClr val="EFEEEE"/>
                          </a:solidFill>
                          <a:latin typeface="Helvetica Neue"/>
                        </a:rPr>
                        <a:t>Unlocks true RPV and feeds ad algorithms 3x the signal</a:t>
                      </a:r>
                    </a:p>
                  </a:txBody>
                  <a:tcPr marL="73152" marR="73152" marT="18288" marB="18288" anchor="ctr">
                    <a:solidFill>
                      <a:srgbClr val="000000"/>
                    </a:solidFill>
                  </a:tcPr>
                </a:tc>
                <a:tc>
                  <a:txBody>
                    <a:bodyPr wrap="square"/>
                    <a:lstStyle/>
                    <a:p>
                      <a:pPr algn="l"/>
                      <a:r>
                        <a:rPr sz="1050" b="0">
                          <a:solidFill>
                            <a:srgbClr val="EFEEEE"/>
                          </a:solidFill>
                          <a:latin typeface="Helvetica Neue"/>
                        </a:rPr>
                        <a:t>High</a:t>
                      </a:r>
                    </a:p>
                  </a:txBody>
                  <a:tcPr marL="73152" marR="73152" marT="18288" marB="18288" anchor="ctr">
                    <a:solidFill>
                      <a:srgbClr val="000000"/>
                    </a:solidFill>
                  </a:tcPr>
                </a:tc>
              </a:tr>
              <a:tr h="566928">
                <a:tc>
                  <a:txBody>
                    <a:bodyPr wrap="square"/>
                    <a:lstStyle/>
                    <a:p>
                      <a:pPr algn="l"/>
                      <a:r>
                        <a:rPr sz="1050" b="1">
                          <a:solidFill>
                            <a:srgbClr val="EF4444"/>
                          </a:solidFill>
                          <a:latin typeface="Helvetica Neue"/>
                        </a:rPr>
                        <a:t>2</a:t>
                      </a:r>
                    </a:p>
                  </a:txBody>
                  <a:tcPr marL="73152" marR="73152" marT="18288" marB="18288" anchor="ctr">
                    <a:solidFill>
                      <a:srgbClr val="0B0B0B"/>
                    </a:solidFill>
                  </a:tcPr>
                </a:tc>
                <a:tc>
                  <a:txBody>
                    <a:bodyPr wrap="square"/>
                    <a:lstStyle/>
                    <a:p>
                      <a:pPr algn="l"/>
                      <a:r>
                        <a:rPr sz="105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1050" b="0">
                          <a:solidFill>
                            <a:srgbClr val="EFEEEE"/>
                          </a:solidFill>
                          <a:latin typeface="Helvetica Neue"/>
                        </a:rPr>
                        <a:t>Launch a real monthly discovery box club</a:t>
                      </a:r>
                    </a:p>
                  </a:txBody>
                  <a:tcPr marL="73152" marR="73152" marT="18288" marB="18288" anchor="ctr">
                    <a:solidFill>
                      <a:srgbClr val="0B0B0B"/>
                    </a:solidFill>
                  </a:tcPr>
                </a:tc>
                <a:tc>
                  <a:txBody>
                    <a:bodyPr wrap="square"/>
                    <a:lstStyle/>
                    <a:p>
                      <a:pPr algn="l"/>
                      <a:r>
                        <a:rPr sz="1050" b="0">
                          <a:solidFill>
                            <a:srgbClr val="EFEEEE"/>
                          </a:solidFill>
                          <a:latin typeface="Helvetica Neue"/>
                        </a:rPr>
                        <a:t>Repeat is stuck at 19%; recurring RPV base</a:t>
                      </a:r>
                    </a:p>
                  </a:txBody>
                  <a:tcPr marL="73152" marR="73152" marT="18288" marB="18288" anchor="ctr">
                    <a:solidFill>
                      <a:srgbClr val="0B0B0B"/>
                    </a:solidFill>
                  </a:tcPr>
                </a:tc>
                <a:tc>
                  <a:txBody>
                    <a:bodyPr wrap="square"/>
                    <a:lstStyle/>
                    <a:p>
                      <a:pPr algn="l"/>
                      <a:r>
                        <a:rPr sz="1050" b="0">
                          <a:solidFill>
                            <a:srgbClr val="EFEEEE"/>
                          </a:solidFill>
                          <a:latin typeface="Helvetica Neue"/>
                        </a:rPr>
                        <a:t>Med</a:t>
                      </a:r>
                    </a:p>
                  </a:txBody>
                  <a:tcPr marL="73152" marR="73152" marT="18288" marB="18288" anchor="ctr">
                    <a:solidFill>
                      <a:srgbClr val="0B0B0B"/>
                    </a:solidFill>
                  </a:tcPr>
                </a:tc>
              </a:tr>
              <a:tr h="566928">
                <a:tc>
                  <a:txBody>
                    <a:bodyPr wrap="square"/>
                    <a:lstStyle/>
                    <a:p>
                      <a:pPr algn="l"/>
                      <a:r>
                        <a:rPr sz="1050" b="1">
                          <a:solidFill>
                            <a:srgbClr val="F59E0B"/>
                          </a:solidFill>
                          <a:latin typeface="Helvetica Neue"/>
                        </a:rPr>
                        <a:t>3</a:t>
                      </a:r>
                    </a:p>
                  </a:txBody>
                  <a:tcPr marL="73152" marR="73152" marT="18288" marB="18288" anchor="ctr">
                    <a:solidFill>
                      <a:srgbClr val="000000"/>
                    </a:solidFill>
                  </a:tcPr>
                </a:tc>
                <a:tc>
                  <a:txBody>
                    <a:bodyPr wrap="square"/>
                    <a:lstStyle/>
                    <a:p>
                      <a:pPr algn="l"/>
                      <a:r>
                        <a:rPr sz="105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1050" b="0">
                          <a:solidFill>
                            <a:srgbClr val="EFEEEE"/>
                          </a:solidFill>
                          <a:latin typeface="Helvetica Neue"/>
                        </a:rPr>
                        <a:t>Upsell 567 SEK buyers to 700 SEK+ boxes; Rebuy attach</a:t>
                      </a:r>
                    </a:p>
                  </a:txBody>
                  <a:tcPr marL="73152" marR="73152" marT="18288" marB="18288" anchor="ctr">
                    <a:solidFill>
                      <a:srgbClr val="000000"/>
                    </a:solidFill>
                  </a:tcPr>
                </a:tc>
                <a:tc>
                  <a:txBody>
                    <a:bodyPr wrap="square"/>
                    <a:lstStyle/>
                    <a:p>
                      <a:pPr algn="l"/>
                      <a:r>
                        <a:rPr sz="1050" b="0">
                          <a:solidFill>
                            <a:srgbClr val="EFEEEE"/>
                          </a:solidFill>
                          <a:latin typeface="Helvetica Neue"/>
                        </a:rPr>
                        <a:t>Lifts the AOV half of RPV without new traffic</a:t>
                      </a:r>
                    </a:p>
                  </a:txBody>
                  <a:tcPr marL="73152" marR="73152" marT="18288" marB="18288" anchor="ctr">
                    <a:solidFill>
                      <a:srgbClr val="000000"/>
                    </a:solidFill>
                  </a:tcPr>
                </a:tc>
                <a:tc>
                  <a:txBody>
                    <a:bodyPr wrap="square"/>
                    <a:lstStyle/>
                    <a:p>
                      <a:pPr algn="l"/>
                      <a:r>
                        <a:rPr sz="1050" b="0">
                          <a:solidFill>
                            <a:srgbClr val="EFEEEE"/>
                          </a:solidFill>
                          <a:latin typeface="Helvetica Neue"/>
                        </a:rPr>
                        <a:t>Med</a:t>
                      </a:r>
                    </a:p>
                  </a:txBody>
                  <a:tcPr marL="73152" marR="73152" marT="18288" marB="18288" anchor="ctr">
                    <a:solidFill>
                      <a:srgbClr val="000000"/>
                    </a:solidFill>
                  </a:tcPr>
                </a:tc>
              </a:tr>
              <a:tr h="566928">
                <a:tc>
                  <a:txBody>
                    <a:bodyPr wrap="square"/>
                    <a:lstStyle/>
                    <a:p>
                      <a:pPr algn="l"/>
                      <a:r>
                        <a:rPr sz="1050" b="1">
                          <a:solidFill>
                            <a:srgbClr val="F59E0B"/>
                          </a:solidFill>
                          <a:latin typeface="Helvetica Neue"/>
                        </a:rPr>
                        <a:t>4</a:t>
                      </a:r>
                    </a:p>
                  </a:txBody>
                  <a:tcPr marL="73152" marR="73152" marT="18288" marB="18288" anchor="ctr">
                    <a:solidFill>
                      <a:srgbClr val="0B0B0B"/>
                    </a:solidFill>
                  </a:tcPr>
                </a:tc>
                <a:tc>
                  <a:txBody>
                    <a:bodyPr wrap="square"/>
                    <a:lstStyle/>
                    <a:p>
                      <a:pPr algn="l"/>
                      <a:r>
                        <a:rPr sz="105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1050" b="0">
                          <a:solidFill>
                            <a:srgbClr val="EFEEEE"/>
                          </a:solidFill>
                          <a:latin typeface="Helvetica Neue"/>
                        </a:rPr>
                        <a:t>Legality block + honest delivery + cart clarity</a:t>
                      </a:r>
                    </a:p>
                  </a:txBody>
                  <a:tcPr marL="73152" marR="73152" marT="18288" marB="18288" anchor="ctr">
                    <a:solidFill>
                      <a:srgbClr val="0B0B0B"/>
                    </a:solidFill>
                  </a:tcPr>
                </a:tc>
                <a:tc>
                  <a:txBody>
                    <a:bodyPr wrap="square"/>
                    <a:lstStyle/>
                    <a:p>
                      <a:pPr algn="l"/>
                      <a:r>
                        <a:rPr sz="1050" b="0">
                          <a:solidFill>
                            <a:srgbClr val="EFEEEE"/>
                          </a:solidFill>
                          <a:latin typeface="Helvetica Neue"/>
                        </a:rPr>
                        <a:t>Lifts the conversion half of RPV, esp. first time buyers</a:t>
                      </a:r>
                    </a:p>
                  </a:txBody>
                  <a:tcPr marL="73152" marR="73152" marT="18288" marB="18288" anchor="ctr">
                    <a:solidFill>
                      <a:srgbClr val="0B0B0B"/>
                    </a:solidFill>
                  </a:tcPr>
                </a:tc>
                <a:tc>
                  <a:txBody>
                    <a:bodyPr wrap="square"/>
                    <a:lstStyle/>
                    <a:p>
                      <a:pPr algn="l"/>
                      <a:r>
                        <a:rPr sz="1050" b="0">
                          <a:solidFill>
                            <a:srgbClr val="EFEEEE"/>
                          </a:solidFill>
                          <a:latin typeface="Helvetica Neue"/>
                        </a:rPr>
                        <a:t>Med</a:t>
                      </a:r>
                    </a:p>
                  </a:txBody>
                  <a:tcPr marL="73152" marR="73152" marT="18288" marB="18288" anchor="ctr">
                    <a:solidFill>
                      <a:srgbClr val="0B0B0B"/>
                    </a:solidFill>
                  </a:tcPr>
                </a:tc>
              </a:tr>
              <a:tr h="566928">
                <a:tc>
                  <a:txBody>
                    <a:bodyPr wrap="square"/>
                    <a:lstStyle/>
                    <a:p>
                      <a:pPr algn="l"/>
                      <a:r>
                        <a:rPr sz="1050" b="1">
                          <a:solidFill>
                            <a:srgbClr val="6AA9FF"/>
                          </a:solidFill>
                          <a:latin typeface="Helvetica Neue"/>
                        </a:rPr>
                        <a:t>5</a:t>
                      </a:r>
                    </a:p>
                  </a:txBody>
                  <a:tcPr marL="73152" marR="73152" marT="18288" marB="18288" anchor="ctr">
                    <a:solidFill>
                      <a:srgbClr val="000000"/>
                    </a:solidFill>
                  </a:tcPr>
                </a:tc>
                <a:tc>
                  <a:txBody>
                    <a:bodyPr wrap="square"/>
                    <a:lstStyle/>
                    <a:p>
                      <a:pPr algn="l"/>
                      <a:r>
                        <a:rPr sz="105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1050" b="0">
                          <a:solidFill>
                            <a:srgbClr val="EFEEEE"/>
                          </a:solidFill>
                          <a:latin typeface="Helvetica Neue"/>
                        </a:rPr>
                        <a:t>Grow email/owned and organic; cut Facebook reliance</a:t>
                      </a:r>
                    </a:p>
                  </a:txBody>
                  <a:tcPr marL="73152" marR="73152" marT="18288" marB="18288" anchor="ctr">
                    <a:solidFill>
                      <a:srgbClr val="000000"/>
                    </a:solidFill>
                  </a:tcPr>
                </a:tc>
                <a:tc>
                  <a:txBody>
                    <a:bodyPr wrap="square"/>
                    <a:lstStyle/>
                    <a:p>
                      <a:pPr algn="l"/>
                      <a:r>
                        <a:rPr sz="1050" b="0">
                          <a:solidFill>
                            <a:srgbClr val="EFEEEE"/>
                          </a:solidFill>
                          <a:latin typeface="Helvetica Neue"/>
                        </a:rPr>
                        <a:t>Higher quality, cheaper traffic; de risks 43,6% concentration</a:t>
                      </a:r>
                    </a:p>
                  </a:txBody>
                  <a:tcPr marL="73152" marR="73152" marT="18288" marB="18288" anchor="ctr">
                    <a:solidFill>
                      <a:srgbClr val="000000"/>
                    </a:solidFill>
                  </a:tcPr>
                </a:tc>
                <a:tc>
                  <a:txBody>
                    <a:bodyPr wrap="square"/>
                    <a:lstStyle/>
                    <a:p>
                      <a:pPr algn="l"/>
                      <a:r>
                        <a:rPr sz="1050" b="0">
                          <a:solidFill>
                            <a:srgbClr val="EFEEEE"/>
                          </a:solidFill>
                          <a:latin typeface="Helvetica Neue"/>
                        </a:rPr>
                        <a:t>Strategic</a:t>
                      </a:r>
                    </a:p>
                  </a:txBody>
                  <a:tcPr marL="73152" marR="73152" marT="18288" marB="18288" anchor="ctr">
                    <a:solidFill>
                      <a:srgbClr val="000000"/>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IF YOU DO ONLY THREE THINGS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Start here</a:t>
            </a:r>
          </a:p>
        </p:txBody>
      </p:sp>
      <p:sp>
        <p:nvSpPr>
          <p:cNvPr id="9" name="Rounded Rectangle 8"/>
          <p:cNvSpPr/>
          <p:nvPr/>
        </p:nvSpPr>
        <p:spPr>
          <a:xfrm>
            <a:off x="79232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1</a:t>
            </a:r>
          </a:p>
        </p:txBody>
      </p:sp>
      <p:sp>
        <p:nvSpPr>
          <p:cNvPr id="11" name="TextBox 10"/>
          <p:cNvSpPr txBox="1"/>
          <p:nvPr/>
        </p:nvSpPr>
        <p:spPr>
          <a:xfrm>
            <a:off x="102092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2" name="TextBox 11"/>
          <p:cNvSpPr txBox="1"/>
          <p:nvPr/>
        </p:nvSpPr>
        <p:spPr>
          <a:xfrm>
            <a:off x="102092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A visible "why this is legal" block on PDP and cart, with the age check, Danish import model, tax included, and your 4,7 Trustpilot proof.</a:t>
            </a:r>
          </a:p>
        </p:txBody>
      </p:sp>
      <p:sp>
        <p:nvSpPr>
          <p:cNvPr id="13" name="Rounded Rectangle 12"/>
          <p:cNvSpPr/>
          <p:nvPr/>
        </p:nvSpPr>
        <p:spPr>
          <a:xfrm>
            <a:off x="102092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Lifts 80,8% new buyers</a:t>
            </a:r>
          </a:p>
        </p:txBody>
      </p:sp>
      <p:sp>
        <p:nvSpPr>
          <p:cNvPr id="15" name="Rounded Rectangle 14"/>
          <p:cNvSpPr/>
          <p:nvPr/>
        </p:nvSpPr>
        <p:spPr>
          <a:xfrm>
            <a:off x="441944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2</a:t>
            </a:r>
          </a:p>
        </p:txBody>
      </p:sp>
      <p:sp>
        <p:nvSpPr>
          <p:cNvPr id="17" name="TextBox 16"/>
          <p:cNvSpPr txBox="1"/>
          <p:nvPr/>
        </p:nvSpPr>
        <p:spPr>
          <a:xfrm>
            <a:off x="464804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8" name="TextBox 17"/>
          <p:cNvSpPr txBox="1"/>
          <p:nvPr/>
        </p:nvSpPr>
        <p:spPr>
          <a:xfrm>
            <a:off x="464804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Replace "1-3 dagar" with an honest ETA and proactive updates. Protects the 40% of revenue from repeat buyers.</a:t>
            </a:r>
          </a:p>
        </p:txBody>
      </p:sp>
      <p:sp>
        <p:nvSpPr>
          <p:cNvPr id="19" name="Rounded Rectangle 18"/>
          <p:cNvSpPr/>
          <p:nvPr/>
        </p:nvSpPr>
        <p:spPr>
          <a:xfrm>
            <a:off x="464804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804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Kills 86% of complaints</a:t>
            </a:r>
          </a:p>
        </p:txBody>
      </p:sp>
      <p:sp>
        <p:nvSpPr>
          <p:cNvPr id="21" name="Rounded Rectangle 20"/>
          <p:cNvSpPr/>
          <p:nvPr/>
        </p:nvSpPr>
        <p:spPr>
          <a:xfrm>
            <a:off x="804656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16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3</a:t>
            </a:r>
          </a:p>
        </p:txBody>
      </p:sp>
      <p:sp>
        <p:nvSpPr>
          <p:cNvPr id="23" name="TextBox 22"/>
          <p:cNvSpPr txBox="1"/>
          <p:nvPr/>
        </p:nvSpPr>
        <p:spPr>
          <a:xfrm>
            <a:off x="827516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4" name="TextBox 23"/>
          <p:cNvSpPr txBox="1"/>
          <p:nvPr/>
        </p:nvSpPr>
        <p:spPr>
          <a:xfrm>
            <a:off x="827516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Surface shipping rules in cart and add a clear continue step. 60,2% of carts never reach checkout today.</a:t>
            </a:r>
          </a:p>
        </p:txBody>
      </p:sp>
      <p:sp>
        <p:nvSpPr>
          <p:cNvPr id="25" name="Rounded Rectangle 24"/>
          <p:cNvSpPr/>
          <p:nvPr/>
        </p:nvSpPr>
        <p:spPr>
          <a:xfrm>
            <a:off x="827516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Est. 1,5-1,8M SEK/qtr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731520" y="2468880"/>
            <a:ext cx="10058400" cy="914400"/>
          </a:xfrm>
          <a:prstGeom prst="rect">
            <a:avLst/>
          </a:prstGeom>
          <a:noFill/>
        </p:spPr>
        <p:txBody>
          <a:bodyPr wrap="square" lIns="0" rIns="0" tIns="0" bIns="0" anchor="t">
            <a:spAutoFit/>
          </a:bodyPr>
          <a:lstStyle/>
          <a:p>
            <a:pPr algn="ctr"/>
            <a:r>
              <a:rPr sz="5600" b="1" i="0" spc="-100">
                <a:solidFill>
                  <a:srgbClr val="FFFFFF"/>
                </a:solidFill>
                <a:latin typeface="Helvetica Neue"/>
              </a:rPr>
              <a:t>Thank you</a:t>
            </a:r>
          </a:p>
        </p:txBody>
      </p:sp>
      <p:sp>
        <p:nvSpPr>
          <p:cNvPr id="8" name="TextBox 7"/>
          <p:cNvSpPr txBox="1"/>
          <p:nvPr/>
        </p:nvSpPr>
        <p:spPr>
          <a:xfrm>
            <a:off x="1828800" y="3566160"/>
            <a:ext cx="8503920" cy="640080"/>
          </a:xfrm>
          <a:prstGeom prst="rect">
            <a:avLst/>
          </a:prstGeom>
          <a:noFill/>
        </p:spPr>
        <p:txBody>
          <a:bodyPr wrap="square" lIns="0" rIns="0" tIns="0" bIns="0" anchor="t">
            <a:spAutoFit/>
          </a:bodyPr>
          <a:lstStyle/>
          <a:p>
            <a:pPr algn="ctr"/>
            <a:r>
              <a:rPr sz="1500" b="0" i="0">
                <a:solidFill>
                  <a:srgbClr val="F7D007"/>
                </a:solidFill>
                <a:latin typeface="Helvetica Neue"/>
              </a:rPr>
              <a:t>Recommended first sprint: fix measurement, then the legality trust block, the delivery promise, and cart shipping clarity.</a:t>
            </a:r>
          </a:p>
        </p:txBody>
      </p:sp>
      <p:sp>
        <p:nvSpPr>
          <p:cNvPr id="9" name="TextBox 8"/>
          <p:cNvSpPr txBox="1"/>
          <p:nvPr/>
        </p:nvSpPr>
        <p:spPr>
          <a:xfrm>
            <a:off x="1828800" y="4297680"/>
            <a:ext cx="8503920" cy="365760"/>
          </a:xfrm>
          <a:prstGeom prst="rect">
            <a:avLst/>
          </a:prstGeom>
          <a:noFill/>
        </p:spPr>
        <p:txBody>
          <a:bodyPr wrap="square" lIns="0" rIns="0" tIns="0" bIns="0" anchor="t">
            <a:spAutoFit/>
          </a:bodyPr>
          <a:lstStyle/>
          <a:p>
            <a:pPr algn="ctr"/>
            <a:r>
              <a:rPr sz="1300" b="0" i="0">
                <a:solidFill>
                  <a:srgbClr val="999999"/>
                </a:solidFill>
                <a:latin typeface="Helvetica Neue"/>
              </a:rPr>
              <a:t>Prepared by EcomHouse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