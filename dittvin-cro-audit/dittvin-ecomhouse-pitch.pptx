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 Id="rId4" Type="http://schemas.openxmlformats.org/officeDocument/2006/relationships/image" Target="../media/image1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 Id="rId4" Type="http://schemas.openxmlformats.org/officeDocument/2006/relationships/image" Target="../media/image1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00</a:t>
            </a:r>
          </a:p>
        </p:txBody>
      </p:sp>
      <p:sp>
        <p:nvSpPr>
          <p:cNvPr id="7" name="Rectangle 6"/>
          <p:cNvSpPr/>
          <p:nvPr/>
        </p:nvSpPr>
        <p:spPr>
          <a:xfrm>
            <a:off x="731520" y="1371600"/>
            <a:ext cx="1920240" cy="640080"/>
          </a:xfrm>
          <a:prstGeom prst="rect">
            <a:avLst/>
          </a:prstGeom>
          <a:solidFill>
            <a:srgbClr val="0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1920240" cy="640080"/>
          </a:xfrm>
          <a:prstGeom prst="rect">
            <a:avLst/>
          </a:prstGeom>
          <a:noFill/>
        </p:spPr>
        <p:txBody>
          <a:bodyPr wrap="square" lIns="0" rIns="0" tIns="0" bIns="0" anchor="ctr">
            <a:spAutoFit/>
          </a:bodyPr>
          <a:lstStyle/>
          <a:p>
            <a:pPr algn="ctr"/>
            <a:r>
              <a:rPr sz="2000" b="1" i="0" spc="400">
                <a:solidFill>
                  <a:srgbClr val="FFFFFF"/>
                </a:solidFill>
                <a:latin typeface="Helvetica Neue"/>
              </a:rPr>
              <a:t>DITT VIN</a:t>
            </a:r>
          </a:p>
        </p:txBody>
      </p:sp>
      <p:sp>
        <p:nvSpPr>
          <p:cNvPr id="9" name="TextBox 8"/>
          <p:cNvSpPr txBox="1"/>
          <p:nvPr/>
        </p:nvSpPr>
        <p:spPr>
          <a:xfrm>
            <a:off x="731520" y="2286000"/>
            <a:ext cx="10058400" cy="2377440"/>
          </a:xfrm>
          <a:prstGeom prst="rect">
            <a:avLst/>
          </a:prstGeom>
          <a:noFill/>
        </p:spPr>
        <p:txBody>
          <a:bodyPr wrap="square" lIns="0" rIns="0" tIns="0" bIns="0" anchor="t">
            <a:spAutoFit/>
          </a:bodyPr>
          <a:lstStyle/>
          <a:p>
            <a:pPr algn="l">
              <a:lnSpc>
                <a:spcPct val="100000"/>
              </a:lnSpc>
            </a:pPr>
            <a:r>
              <a:rPr sz="5200" b="1" i="0">
                <a:solidFill>
                  <a:srgbClr val="F7D007"/>
                </a:solidFill>
                <a:latin typeface="Helvetica Neue"/>
              </a:rPr>
              <a:t>dittvin.se</a:t>
            </a:r>
          </a:p>
          <a:p>
            <a:pPr algn="l">
              <a:lnSpc>
                <a:spcPct val="100000"/>
              </a:lnSpc>
            </a:pPr>
            <a:r>
              <a:rPr sz="4400" b="1" i="0">
                <a:solidFill>
                  <a:srgbClr val="FFFFFF"/>
                </a:solidFill>
                <a:latin typeface="Helvetica Neue"/>
              </a:rPr>
              <a:t>The numbers say you are</a:t>
            </a:r>
          </a:p>
          <a:p>
            <a:pPr algn="l">
              <a:lnSpc>
                <a:spcPct val="100000"/>
              </a:lnSpc>
            </a:pPr>
            <a:r>
              <a:rPr sz="4400" b="1" i="0">
                <a:solidFill>
                  <a:srgbClr val="FFFFFF"/>
                </a:solidFill>
                <a:latin typeface="Helvetica Neue"/>
              </a:rPr>
              <a:t>bigger than you think.</a:t>
            </a:r>
          </a:p>
        </p:txBody>
      </p:sp>
      <p:sp>
        <p:nvSpPr>
          <p:cNvPr id="10" name="Rounded Rectangle 9"/>
          <p:cNvSpPr/>
          <p:nvPr/>
        </p:nvSpPr>
        <p:spPr>
          <a:xfrm>
            <a:off x="731520" y="4709160"/>
            <a:ext cx="1225295" cy="384048"/>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709160"/>
            <a:ext cx="1225295" cy="384048"/>
          </a:xfrm>
          <a:prstGeom prst="rect">
            <a:avLst/>
          </a:prstGeom>
          <a:noFill/>
        </p:spPr>
        <p:txBody>
          <a:bodyPr wrap="square" lIns="0" rIns="0" tIns="0" bIns="0" anchor="ctr">
            <a:spAutoFit/>
          </a:bodyPr>
          <a:lstStyle/>
          <a:p>
            <a:pPr algn="ctr"/>
            <a:r>
              <a:rPr sz="1000" b="1" i="0" spc="100">
                <a:solidFill>
                  <a:srgbClr val="EFEEEE"/>
                </a:solidFill>
                <a:latin typeface="Helvetica Neue"/>
              </a:rPr>
              <a:t>CRO AUDIT</a:t>
            </a:r>
          </a:p>
        </p:txBody>
      </p:sp>
      <p:sp>
        <p:nvSpPr>
          <p:cNvPr id="12" name="Rounded Rectangle 11"/>
          <p:cNvSpPr/>
          <p:nvPr/>
        </p:nvSpPr>
        <p:spPr>
          <a:xfrm>
            <a:off x="2121407" y="4709160"/>
            <a:ext cx="1627631" cy="384048"/>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21407" y="4709160"/>
            <a:ext cx="1627631" cy="384048"/>
          </a:xfrm>
          <a:prstGeom prst="rect">
            <a:avLst/>
          </a:prstGeom>
          <a:noFill/>
        </p:spPr>
        <p:txBody>
          <a:bodyPr wrap="square" lIns="0" rIns="0" tIns="0" bIns="0" anchor="ctr">
            <a:spAutoFit/>
          </a:bodyPr>
          <a:lstStyle/>
          <a:p>
            <a:pPr algn="ctr"/>
            <a:r>
              <a:rPr sz="1000" b="1" i="0" spc="100">
                <a:solidFill>
                  <a:srgbClr val="EFEEEE"/>
                </a:solidFill>
                <a:latin typeface="Helvetica Neue"/>
              </a:rPr>
              <a:t>RPV NORTHSTAR</a:t>
            </a:r>
          </a:p>
        </p:txBody>
      </p:sp>
      <p:sp>
        <p:nvSpPr>
          <p:cNvPr id="14" name="Rounded Rectangle 13"/>
          <p:cNvSpPr/>
          <p:nvPr/>
        </p:nvSpPr>
        <p:spPr>
          <a:xfrm>
            <a:off x="3913630" y="4709160"/>
            <a:ext cx="1426464" cy="384048"/>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13630" y="4709160"/>
            <a:ext cx="1426464" cy="384048"/>
          </a:xfrm>
          <a:prstGeom prst="rect">
            <a:avLst/>
          </a:prstGeom>
          <a:noFill/>
        </p:spPr>
        <p:txBody>
          <a:bodyPr wrap="square" lIns="0" rIns="0" tIns="0" bIns="0" anchor="ctr">
            <a:spAutoFit/>
          </a:bodyPr>
          <a:lstStyle/>
          <a:p>
            <a:pPr algn="ctr"/>
            <a:r>
              <a:rPr sz="1000" b="1" i="0" spc="100">
                <a:solidFill>
                  <a:srgbClr val="EFEEEE"/>
                </a:solidFill>
                <a:latin typeface="Helvetica Neue"/>
              </a:rPr>
              <a:t>BENCHMARKED</a:t>
            </a:r>
          </a:p>
        </p:txBody>
      </p:sp>
      <p:sp>
        <p:nvSpPr>
          <p:cNvPr id="16" name="Rounded Rectangle 15"/>
          <p:cNvSpPr/>
          <p:nvPr/>
        </p:nvSpPr>
        <p:spPr>
          <a:xfrm>
            <a:off x="5504686" y="4709160"/>
            <a:ext cx="1426464" cy="384048"/>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04686" y="4709160"/>
            <a:ext cx="1426464" cy="384048"/>
          </a:xfrm>
          <a:prstGeom prst="rect">
            <a:avLst/>
          </a:prstGeom>
          <a:noFill/>
        </p:spPr>
        <p:txBody>
          <a:bodyPr wrap="square" lIns="0" rIns="0" tIns="0" bIns="0" anchor="ctr">
            <a:spAutoFit/>
          </a:bodyPr>
          <a:lstStyle/>
          <a:p>
            <a:pPr algn="ctr"/>
            <a:r>
              <a:rPr sz="1000" b="1" i="0" spc="100">
                <a:solidFill>
                  <a:srgbClr val="EFEEEE"/>
                </a:solidFill>
                <a:latin typeface="Helvetica Neue"/>
              </a:rPr>
              <a:t>A/B ROADMAP</a:t>
            </a:r>
          </a:p>
        </p:txBody>
      </p:sp>
      <p:sp>
        <p:nvSpPr>
          <p:cNvPr id="18" name="TextBox 17"/>
          <p:cNvSpPr txBox="1"/>
          <p:nvPr/>
        </p:nvSpPr>
        <p:spPr>
          <a:xfrm>
            <a:off x="731520" y="5394960"/>
            <a:ext cx="10058400" cy="274320"/>
          </a:xfrm>
          <a:prstGeom prst="rect">
            <a:avLst/>
          </a:prstGeom>
          <a:noFill/>
        </p:spPr>
        <p:txBody>
          <a:bodyPr wrap="square" lIns="0" rIns="0" tIns="0" bIns="0" anchor="t">
            <a:spAutoFit/>
          </a:bodyPr>
          <a:lstStyle/>
          <a:p>
            <a:pPr algn="l"/>
            <a:r>
              <a:rPr sz="1300" b="0" i="0">
                <a:solidFill>
                  <a:srgbClr val="999999"/>
                </a:solidFill>
                <a:latin typeface="Helvetica Neue"/>
              </a:rPr>
              <a:t>Shopify 91 days: 38.310 orders, 33,2M SEK gross, 867 SEK AOV. GA4 property 461839723 captured only ~31%.</a:t>
            </a:r>
          </a:p>
        </p:txBody>
      </p:sp>
      <p:sp>
        <p:nvSpPr>
          <p:cNvPr id="19" name="TextBox 18"/>
          <p:cNvSpPr txBox="1"/>
          <p:nvPr/>
        </p:nvSpPr>
        <p:spPr>
          <a:xfrm>
            <a:off x="731520" y="5669280"/>
            <a:ext cx="10058400" cy="274320"/>
          </a:xfrm>
          <a:prstGeom prst="rect">
            <a:avLst/>
          </a:prstGeom>
          <a:noFill/>
        </p:spPr>
        <p:txBody>
          <a:bodyPr wrap="square" lIns="0" rIns="0" tIns="0" bIns="0" anchor="t">
            <a:spAutoFit/>
          </a:bodyPr>
          <a:lstStyle/>
          <a:p>
            <a:pPr algn="l"/>
            <a:r>
              <a:rPr sz="1300" b="0" i="0">
                <a:solidFill>
                  <a:srgbClr val="999999"/>
                </a:solidFill>
                <a:latin typeface="Helvetica Neue"/>
              </a:rPr>
              <a:t>Prepared by EcomHouse for dittvin.se.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SCOPE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What we analyzed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Every number is traced to a source. Estimates are marked "Est."</a:t>
            </a:r>
          </a:p>
        </p:txBody>
      </p:sp>
      <p:sp>
        <p:nvSpPr>
          <p:cNvPr id="10" name="Rounded Rectangle 9"/>
          <p:cNvSpPr/>
          <p:nvPr/>
        </p:nvSpPr>
        <p:spPr>
          <a:xfrm>
            <a:off x="792327" y="2286000"/>
            <a:ext cx="3352800" cy="15544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487168"/>
            <a:ext cx="3352800" cy="228600"/>
          </a:xfrm>
          <a:prstGeom prst="rect">
            <a:avLst/>
          </a:prstGeom>
          <a:noFill/>
        </p:spPr>
        <p:txBody>
          <a:bodyPr wrap="square" lIns="0" rIns="0" tIns="0" bIns="0" anchor="t">
            <a:spAutoFit/>
          </a:bodyPr>
          <a:lstStyle/>
          <a:p>
            <a:pPr algn="l"/>
            <a:r>
              <a:rPr sz="1000" b="1" i="0" spc="100">
                <a:solidFill>
                  <a:srgbClr val="F7D007"/>
                </a:solidFill>
                <a:latin typeface="Menlo"/>
              </a:rPr>
              <a:t>// 01</a:t>
            </a:r>
          </a:p>
        </p:txBody>
      </p:sp>
      <p:sp>
        <p:nvSpPr>
          <p:cNvPr id="12" name="TextBox 11"/>
          <p:cNvSpPr txBox="1"/>
          <p:nvPr/>
        </p:nvSpPr>
        <p:spPr>
          <a:xfrm>
            <a:off x="1020927" y="2761488"/>
            <a:ext cx="2895600" cy="320040"/>
          </a:xfrm>
          <a:prstGeom prst="rect">
            <a:avLst/>
          </a:prstGeom>
          <a:noFill/>
        </p:spPr>
        <p:txBody>
          <a:bodyPr wrap="square" lIns="0" rIns="0" tIns="0" bIns="0" anchor="t">
            <a:spAutoFit/>
          </a:bodyPr>
          <a:lstStyle/>
          <a:p>
            <a:pPr algn="l"/>
            <a:r>
              <a:rPr sz="1400" b="1" i="0">
                <a:solidFill>
                  <a:srgbClr val="FFFFFF"/>
                </a:solidFill>
                <a:latin typeface="Helvetica Neue"/>
              </a:rPr>
              <a:t>GA4 Analytics</a:t>
            </a:r>
          </a:p>
        </p:txBody>
      </p:sp>
      <p:sp>
        <p:nvSpPr>
          <p:cNvPr id="13" name="TextBox 12"/>
          <p:cNvSpPr txBox="1"/>
          <p:nvPr/>
        </p:nvSpPr>
        <p:spPr>
          <a:xfrm>
            <a:off x="1020927" y="3127248"/>
            <a:ext cx="2895600" cy="640080"/>
          </a:xfrm>
          <a:prstGeom prst="rect">
            <a:avLst/>
          </a:prstGeom>
          <a:noFill/>
        </p:spPr>
        <p:txBody>
          <a:bodyPr wrap="square" lIns="0" rIns="0" tIns="0" bIns="0" anchor="t">
            <a:spAutoFit/>
          </a:bodyPr>
          <a:lstStyle/>
          <a:p>
            <a:pPr algn="l"/>
            <a:r>
              <a:rPr sz="1100" b="0" i="0">
                <a:solidFill>
                  <a:srgbClr val="CCCCCC"/>
                </a:solidFill>
                <a:latin typeface="Helvetica Neue"/>
              </a:rPr>
              <a:t>90 days, property 461839723. Sessions, funnel, channels, devices, landing pages.</a:t>
            </a:r>
          </a:p>
        </p:txBody>
      </p:sp>
      <p:sp>
        <p:nvSpPr>
          <p:cNvPr id="14" name="Rounded Rectangle 13"/>
          <p:cNvSpPr/>
          <p:nvPr/>
        </p:nvSpPr>
        <p:spPr>
          <a:xfrm>
            <a:off x="4419447" y="2286000"/>
            <a:ext cx="3352800" cy="15544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8047" y="2487168"/>
            <a:ext cx="3352800" cy="228600"/>
          </a:xfrm>
          <a:prstGeom prst="rect">
            <a:avLst/>
          </a:prstGeom>
          <a:noFill/>
        </p:spPr>
        <p:txBody>
          <a:bodyPr wrap="square" lIns="0" rIns="0" tIns="0" bIns="0" anchor="t">
            <a:spAutoFit/>
          </a:bodyPr>
          <a:lstStyle/>
          <a:p>
            <a:pPr algn="l"/>
            <a:r>
              <a:rPr sz="1000" b="1" i="0" spc="100">
                <a:solidFill>
                  <a:srgbClr val="F7D007"/>
                </a:solidFill>
                <a:latin typeface="Menlo"/>
              </a:rPr>
              <a:t>// 02</a:t>
            </a:r>
          </a:p>
        </p:txBody>
      </p:sp>
      <p:sp>
        <p:nvSpPr>
          <p:cNvPr id="16" name="TextBox 15"/>
          <p:cNvSpPr txBox="1"/>
          <p:nvPr/>
        </p:nvSpPr>
        <p:spPr>
          <a:xfrm>
            <a:off x="4648047" y="2761488"/>
            <a:ext cx="2895600" cy="320040"/>
          </a:xfrm>
          <a:prstGeom prst="rect">
            <a:avLst/>
          </a:prstGeom>
          <a:noFill/>
        </p:spPr>
        <p:txBody>
          <a:bodyPr wrap="square" lIns="0" rIns="0" tIns="0" bIns="0" anchor="t">
            <a:spAutoFit/>
          </a:bodyPr>
          <a:lstStyle/>
          <a:p>
            <a:pPr algn="l"/>
            <a:r>
              <a:rPr sz="1400" b="1" i="0">
                <a:solidFill>
                  <a:srgbClr val="FFFFFF"/>
                </a:solidFill>
                <a:latin typeface="Helvetica Neue"/>
              </a:rPr>
              <a:t>Voice of Customer</a:t>
            </a:r>
          </a:p>
        </p:txBody>
      </p:sp>
      <p:sp>
        <p:nvSpPr>
          <p:cNvPr id="17" name="TextBox 16"/>
          <p:cNvSpPr txBox="1"/>
          <p:nvPr/>
        </p:nvSpPr>
        <p:spPr>
          <a:xfrm>
            <a:off x="4648047" y="3127248"/>
            <a:ext cx="2895600" cy="640080"/>
          </a:xfrm>
          <a:prstGeom prst="rect">
            <a:avLst/>
          </a:prstGeom>
          <a:noFill/>
        </p:spPr>
        <p:txBody>
          <a:bodyPr wrap="square" lIns="0" rIns="0" tIns="0" bIns="0" anchor="t">
            <a:spAutoFit/>
          </a:bodyPr>
          <a:lstStyle/>
          <a:p>
            <a:pPr algn="l"/>
            <a:r>
              <a:rPr sz="1100" b="0" i="0">
                <a:solidFill>
                  <a:srgbClr val="CCCCCC"/>
                </a:solidFill>
                <a:latin typeface="Helvetica Neue"/>
              </a:rPr>
              <a:t>5.985 Trustpilot reviews (4,7/5). 300 verbatim reviews mined via the widget API.</a:t>
            </a:r>
          </a:p>
        </p:txBody>
      </p:sp>
      <p:sp>
        <p:nvSpPr>
          <p:cNvPr id="18" name="Rounded Rectangle 17"/>
          <p:cNvSpPr/>
          <p:nvPr/>
        </p:nvSpPr>
        <p:spPr>
          <a:xfrm>
            <a:off x="8046567" y="2286000"/>
            <a:ext cx="3352800" cy="15544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167" y="2487168"/>
            <a:ext cx="3352800" cy="228600"/>
          </a:xfrm>
          <a:prstGeom prst="rect">
            <a:avLst/>
          </a:prstGeom>
          <a:noFill/>
        </p:spPr>
        <p:txBody>
          <a:bodyPr wrap="square" lIns="0" rIns="0" tIns="0" bIns="0" anchor="t">
            <a:spAutoFit/>
          </a:bodyPr>
          <a:lstStyle/>
          <a:p>
            <a:pPr algn="l"/>
            <a:r>
              <a:rPr sz="1000" b="1" i="0" spc="100">
                <a:solidFill>
                  <a:srgbClr val="F7D007"/>
                </a:solidFill>
                <a:latin typeface="Menlo"/>
              </a:rPr>
              <a:t>// 03</a:t>
            </a:r>
          </a:p>
        </p:txBody>
      </p:sp>
      <p:sp>
        <p:nvSpPr>
          <p:cNvPr id="20" name="TextBox 19"/>
          <p:cNvSpPr txBox="1"/>
          <p:nvPr/>
        </p:nvSpPr>
        <p:spPr>
          <a:xfrm>
            <a:off x="8275167" y="2761488"/>
            <a:ext cx="2895600" cy="320040"/>
          </a:xfrm>
          <a:prstGeom prst="rect">
            <a:avLst/>
          </a:prstGeom>
          <a:noFill/>
        </p:spPr>
        <p:txBody>
          <a:bodyPr wrap="square" lIns="0" rIns="0" tIns="0" bIns="0" anchor="t">
            <a:spAutoFit/>
          </a:bodyPr>
          <a:lstStyle/>
          <a:p>
            <a:pPr algn="l"/>
            <a:r>
              <a:rPr sz="1400" b="1" i="0">
                <a:solidFill>
                  <a:srgbClr val="FFFFFF"/>
                </a:solidFill>
                <a:latin typeface="Helvetica Neue"/>
              </a:rPr>
              <a:t>Competitor set</a:t>
            </a:r>
          </a:p>
        </p:txBody>
      </p:sp>
      <p:sp>
        <p:nvSpPr>
          <p:cNvPr id="21" name="TextBox 20"/>
          <p:cNvSpPr txBox="1"/>
          <p:nvPr/>
        </p:nvSpPr>
        <p:spPr>
          <a:xfrm>
            <a:off x="8275167" y="3127248"/>
            <a:ext cx="2895600" cy="640080"/>
          </a:xfrm>
          <a:prstGeom prst="rect">
            <a:avLst/>
          </a:prstGeom>
          <a:noFill/>
        </p:spPr>
        <p:txBody>
          <a:bodyPr wrap="square" lIns="0" rIns="0" tIns="0" bIns="0" anchor="t">
            <a:spAutoFit/>
          </a:bodyPr>
          <a:lstStyle/>
          <a:p>
            <a:pPr algn="l"/>
            <a:r>
              <a:rPr sz="1100" b="0" i="0">
                <a:solidFill>
                  <a:srgbClr val="CCCCCC"/>
                </a:solidFill>
                <a:latin typeface="Helvetica Neue"/>
              </a:rPr>
              <a:t>5 verified rivals: Winefinder, Winefamly, KRAN, Supervin, plus Systembolaget.</a:t>
            </a:r>
          </a:p>
        </p:txBody>
      </p:sp>
      <p:sp>
        <p:nvSpPr>
          <p:cNvPr id="22" name="Rounded Rectangle 21"/>
          <p:cNvSpPr/>
          <p:nvPr/>
        </p:nvSpPr>
        <p:spPr>
          <a:xfrm>
            <a:off x="792327" y="4114800"/>
            <a:ext cx="3352800" cy="15544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0927" y="4315968"/>
            <a:ext cx="3352800" cy="228600"/>
          </a:xfrm>
          <a:prstGeom prst="rect">
            <a:avLst/>
          </a:prstGeom>
          <a:noFill/>
        </p:spPr>
        <p:txBody>
          <a:bodyPr wrap="square" lIns="0" rIns="0" tIns="0" bIns="0" anchor="t">
            <a:spAutoFit/>
          </a:bodyPr>
          <a:lstStyle/>
          <a:p>
            <a:pPr algn="l"/>
            <a:r>
              <a:rPr sz="1000" b="1" i="0" spc="100">
                <a:solidFill>
                  <a:srgbClr val="F7D007"/>
                </a:solidFill>
                <a:latin typeface="Menlo"/>
              </a:rPr>
              <a:t>// 04</a:t>
            </a:r>
          </a:p>
        </p:txBody>
      </p:sp>
      <p:sp>
        <p:nvSpPr>
          <p:cNvPr id="24" name="TextBox 23"/>
          <p:cNvSpPr txBox="1"/>
          <p:nvPr/>
        </p:nvSpPr>
        <p:spPr>
          <a:xfrm>
            <a:off x="1020927" y="4590288"/>
            <a:ext cx="2895600" cy="320040"/>
          </a:xfrm>
          <a:prstGeom prst="rect">
            <a:avLst/>
          </a:prstGeom>
          <a:noFill/>
        </p:spPr>
        <p:txBody>
          <a:bodyPr wrap="square" lIns="0" rIns="0" tIns="0" bIns="0" anchor="t">
            <a:spAutoFit/>
          </a:bodyPr>
          <a:lstStyle/>
          <a:p>
            <a:pPr algn="l"/>
            <a:r>
              <a:rPr sz="1400" b="1" i="0">
                <a:solidFill>
                  <a:srgbClr val="FFFFFF"/>
                </a:solidFill>
                <a:latin typeface="Helvetica Neue"/>
              </a:rPr>
              <a:t>Heuristic review</a:t>
            </a:r>
          </a:p>
        </p:txBody>
      </p:sp>
      <p:sp>
        <p:nvSpPr>
          <p:cNvPr id="25" name="TextBox 24"/>
          <p:cNvSpPr txBox="1"/>
          <p:nvPr/>
        </p:nvSpPr>
        <p:spPr>
          <a:xfrm>
            <a:off x="1020927" y="4956048"/>
            <a:ext cx="2895600" cy="640080"/>
          </a:xfrm>
          <a:prstGeom prst="rect">
            <a:avLst/>
          </a:prstGeom>
          <a:noFill/>
        </p:spPr>
        <p:txBody>
          <a:bodyPr wrap="square" lIns="0" rIns="0" tIns="0" bIns="0" anchor="t">
            <a:spAutoFit/>
          </a:bodyPr>
          <a:lstStyle/>
          <a:p>
            <a:pPr algn="l"/>
            <a:r>
              <a:rPr sz="1100" b="0" i="0">
                <a:solidFill>
                  <a:srgbClr val="CCCCCC"/>
                </a:solidFill>
                <a:latin typeface="Helvetica Neue"/>
              </a:rPr>
              <a:t>4 page types on mobile: entry, home, collection, PDP. Screenshot verified.</a:t>
            </a:r>
          </a:p>
        </p:txBody>
      </p:sp>
      <p:sp>
        <p:nvSpPr>
          <p:cNvPr id="26" name="Rounded Rectangle 25"/>
          <p:cNvSpPr/>
          <p:nvPr/>
        </p:nvSpPr>
        <p:spPr>
          <a:xfrm>
            <a:off x="4419447" y="4114800"/>
            <a:ext cx="3352800" cy="15544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48047" y="4315968"/>
            <a:ext cx="3352800" cy="228600"/>
          </a:xfrm>
          <a:prstGeom prst="rect">
            <a:avLst/>
          </a:prstGeom>
          <a:noFill/>
        </p:spPr>
        <p:txBody>
          <a:bodyPr wrap="square" lIns="0" rIns="0" tIns="0" bIns="0" anchor="t">
            <a:spAutoFit/>
          </a:bodyPr>
          <a:lstStyle/>
          <a:p>
            <a:pPr algn="l"/>
            <a:r>
              <a:rPr sz="1000" b="1" i="0" spc="100">
                <a:solidFill>
                  <a:srgbClr val="F7D007"/>
                </a:solidFill>
                <a:latin typeface="Menlo"/>
              </a:rPr>
              <a:t>// 05</a:t>
            </a:r>
          </a:p>
        </p:txBody>
      </p:sp>
      <p:sp>
        <p:nvSpPr>
          <p:cNvPr id="28" name="TextBox 27"/>
          <p:cNvSpPr txBox="1"/>
          <p:nvPr/>
        </p:nvSpPr>
        <p:spPr>
          <a:xfrm>
            <a:off x="4648047" y="4590288"/>
            <a:ext cx="2895600" cy="320040"/>
          </a:xfrm>
          <a:prstGeom prst="rect">
            <a:avLst/>
          </a:prstGeom>
          <a:noFill/>
        </p:spPr>
        <p:txBody>
          <a:bodyPr wrap="square" lIns="0" rIns="0" tIns="0" bIns="0" anchor="t">
            <a:spAutoFit/>
          </a:bodyPr>
          <a:lstStyle/>
          <a:p>
            <a:pPr algn="l"/>
            <a:r>
              <a:rPr sz="1400" b="1" i="0">
                <a:solidFill>
                  <a:srgbClr val="FFFFFF"/>
                </a:solidFill>
                <a:latin typeface="Helvetica Neue"/>
              </a:rPr>
              <a:t>Shopify sales data</a:t>
            </a:r>
          </a:p>
        </p:txBody>
      </p:sp>
      <p:sp>
        <p:nvSpPr>
          <p:cNvPr id="29" name="TextBox 28"/>
          <p:cNvSpPr txBox="1"/>
          <p:nvPr/>
        </p:nvSpPr>
        <p:spPr>
          <a:xfrm>
            <a:off x="4648047" y="4956048"/>
            <a:ext cx="2895600" cy="640080"/>
          </a:xfrm>
          <a:prstGeom prst="rect">
            <a:avLst/>
          </a:prstGeom>
          <a:noFill/>
        </p:spPr>
        <p:txBody>
          <a:bodyPr wrap="square" lIns="0" rIns="0" tIns="0" bIns="0" anchor="t">
            <a:spAutoFit/>
          </a:bodyPr>
          <a:lstStyle/>
          <a:p>
            <a:pPr algn="l"/>
            <a:r>
              <a:rPr sz="1100" b="0" i="0">
                <a:solidFill>
                  <a:srgbClr val="CCCCCC"/>
                </a:solidFill>
                <a:latin typeface="Helvetica Neue"/>
              </a:rPr>
              <a:t>91 days of order, product and AOV exports. The source of truth for RPV.</a:t>
            </a:r>
          </a:p>
        </p:txBody>
      </p:sp>
      <p:sp>
        <p:nvSpPr>
          <p:cNvPr id="30" name="Rounded Rectangle 29"/>
          <p:cNvSpPr/>
          <p:nvPr/>
        </p:nvSpPr>
        <p:spPr>
          <a:xfrm>
            <a:off x="8046567" y="4114800"/>
            <a:ext cx="3352800" cy="15544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167" y="4315968"/>
            <a:ext cx="3352800" cy="228600"/>
          </a:xfrm>
          <a:prstGeom prst="rect">
            <a:avLst/>
          </a:prstGeom>
          <a:noFill/>
        </p:spPr>
        <p:txBody>
          <a:bodyPr wrap="square" lIns="0" rIns="0" tIns="0" bIns="0" anchor="t">
            <a:spAutoFit/>
          </a:bodyPr>
          <a:lstStyle/>
          <a:p>
            <a:pPr algn="l"/>
            <a:r>
              <a:rPr sz="1000" b="1" i="0" spc="100">
                <a:solidFill>
                  <a:srgbClr val="F7D007"/>
                </a:solidFill>
                <a:latin typeface="Menlo"/>
              </a:rPr>
              <a:t>// 06</a:t>
            </a:r>
          </a:p>
        </p:txBody>
      </p:sp>
      <p:sp>
        <p:nvSpPr>
          <p:cNvPr id="32" name="TextBox 31"/>
          <p:cNvSpPr txBox="1"/>
          <p:nvPr/>
        </p:nvSpPr>
        <p:spPr>
          <a:xfrm>
            <a:off x="8275167" y="4590288"/>
            <a:ext cx="2895600" cy="320040"/>
          </a:xfrm>
          <a:prstGeom prst="rect">
            <a:avLst/>
          </a:prstGeom>
          <a:noFill/>
        </p:spPr>
        <p:txBody>
          <a:bodyPr wrap="square" lIns="0" rIns="0" tIns="0" bIns="0" anchor="t">
            <a:spAutoFit/>
          </a:bodyPr>
          <a:lstStyle/>
          <a:p>
            <a:pPr algn="l"/>
            <a:r>
              <a:rPr sz="1400" b="1" i="0">
                <a:solidFill>
                  <a:srgbClr val="FFFFFF"/>
                </a:solidFill>
                <a:latin typeface="Helvetica Neue"/>
              </a:rPr>
              <a:t>Industry benchmarks</a:t>
            </a:r>
          </a:p>
        </p:txBody>
      </p:sp>
      <p:sp>
        <p:nvSpPr>
          <p:cNvPr id="33" name="TextBox 32"/>
          <p:cNvSpPr txBox="1"/>
          <p:nvPr/>
        </p:nvSpPr>
        <p:spPr>
          <a:xfrm>
            <a:off x="8275167" y="4956048"/>
            <a:ext cx="2895600" cy="640080"/>
          </a:xfrm>
          <a:prstGeom prst="rect">
            <a:avLst/>
          </a:prstGeom>
          <a:noFill/>
        </p:spPr>
        <p:txBody>
          <a:bodyPr wrap="square" lIns="0" rIns="0" tIns="0" bIns="0" anchor="t">
            <a:spAutoFit/>
          </a:bodyPr>
          <a:lstStyle/>
          <a:p>
            <a:pPr algn="l"/>
            <a:r>
              <a:rPr sz="1100" b="0" i="0">
                <a:solidFill>
                  <a:srgbClr val="CCCCCC"/>
                </a:solidFill>
                <a:latin typeface="Helvetica Neue"/>
              </a:rPr>
              <a:t>Named sources: Littledata, Baymard, Sovos, SVB, Omnisend.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EXECUTIVE SUMMARY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Six findings that move revenue</a:t>
            </a:r>
          </a:p>
        </p:txBody>
      </p:sp>
      <p:sp>
        <p:nvSpPr>
          <p:cNvPr id="9" name="Oval 8"/>
          <p:cNvSpPr/>
          <p:nvPr/>
        </p:nvSpPr>
        <p:spPr>
          <a:xfrm>
            <a:off x="822960" y="2066544"/>
            <a:ext cx="109728" cy="10972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011680"/>
            <a:ext cx="1025956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The store is healthy and box led. </a:t>
            </a:r>
            <a:r>
              <a:rPr sz="1300" b="0" i="0">
                <a:solidFill>
                  <a:srgbClr val="CCCCCC"/>
                </a:solidFill>
                <a:latin typeface="Helvetica Neue"/>
              </a:rPr>
              <a:t>11,88M SEK and 11.689 GA4 orders in 90 days. Wine boxes convert far above single bottles.</a:t>
            </a:r>
          </a:p>
        </p:txBody>
      </p:sp>
      <p:sp>
        <p:nvSpPr>
          <p:cNvPr id="11" name="TextBox 10"/>
          <p:cNvSpPr txBox="1"/>
          <p:nvPr/>
        </p:nvSpPr>
        <p:spPr>
          <a:xfrm>
            <a:off x="1078992" y="2468880"/>
            <a:ext cx="10259568" cy="274320"/>
          </a:xfrm>
          <a:prstGeom prst="rect">
            <a:avLst/>
          </a:prstGeom>
          <a:noFill/>
        </p:spPr>
        <p:txBody>
          <a:bodyPr wrap="square" lIns="0" rIns="0" tIns="0" bIns="0" anchor="t">
            <a:spAutoFit/>
          </a:bodyPr>
          <a:lstStyle/>
          <a:p>
            <a:pPr algn="l"/>
            <a:r>
              <a:rPr sz="1100" b="1" i="0">
                <a:solidFill>
                  <a:srgbClr val="F7D007"/>
                </a:solidFill>
                <a:latin typeface="Helvetica Neue"/>
              </a:rPr>
              <a:t>Wine boxes are the growth engine. Merchandise them harder.</a:t>
            </a:r>
          </a:p>
        </p:txBody>
      </p:sp>
      <p:sp>
        <p:nvSpPr>
          <p:cNvPr id="12" name="Oval 11"/>
          <p:cNvSpPr/>
          <p:nvPr/>
        </p:nvSpPr>
        <p:spPr>
          <a:xfrm>
            <a:off x="822960" y="2962656"/>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2907792"/>
            <a:ext cx="1025956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Delivery is the number one trust wound. </a:t>
            </a:r>
            <a:r>
              <a:rPr sz="1300" b="0" i="0">
                <a:solidFill>
                  <a:srgbClr val="CCCCCC"/>
                </a:solidFill>
                <a:latin typeface="Helvetica Neue"/>
              </a:rPr>
              <a:t>The site promises "1-3 dagar" but 31% of low star reviews report 7 to 16 days.</a:t>
            </a:r>
          </a:p>
        </p:txBody>
      </p:sp>
      <p:sp>
        <p:nvSpPr>
          <p:cNvPr id="14" name="TextBox 13"/>
          <p:cNvSpPr txBox="1"/>
          <p:nvPr/>
        </p:nvSpPr>
        <p:spPr>
          <a:xfrm>
            <a:off x="1078992" y="3364992"/>
            <a:ext cx="10259568" cy="274320"/>
          </a:xfrm>
          <a:prstGeom prst="rect">
            <a:avLst/>
          </a:prstGeom>
          <a:noFill/>
        </p:spPr>
        <p:txBody>
          <a:bodyPr wrap="square" lIns="0" rIns="0" tIns="0" bIns="0" anchor="t">
            <a:spAutoFit/>
          </a:bodyPr>
          <a:lstStyle/>
          <a:p>
            <a:pPr algn="l"/>
            <a:r>
              <a:rPr sz="1100" b="1" i="0">
                <a:solidFill>
                  <a:srgbClr val="F7D007"/>
                </a:solidFill>
                <a:latin typeface="Helvetica Neue"/>
              </a:rPr>
              <a:t>Fix the promise, not the wine. A retention leak, not just acquisition.</a:t>
            </a:r>
          </a:p>
        </p:txBody>
      </p:sp>
      <p:sp>
        <p:nvSpPr>
          <p:cNvPr id="15" name="Oval 14"/>
          <p:cNvSpPr/>
          <p:nvPr/>
        </p:nvSpPr>
        <p:spPr>
          <a:xfrm>
            <a:off x="822960" y="3858768"/>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803904"/>
            <a:ext cx="1025956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The legality question is unanswered. </a:t>
            </a:r>
            <a:r>
              <a:rPr sz="1300" b="0" i="0">
                <a:solidFill>
                  <a:srgbClr val="CCCCCC"/>
                </a:solidFill>
                <a:latin typeface="Helvetica Neue"/>
              </a:rPr>
              <a:t>In a monopoly market, dittvin explains nothing while KRAN and Winefamly reassure directly.</a:t>
            </a:r>
          </a:p>
        </p:txBody>
      </p:sp>
      <p:sp>
        <p:nvSpPr>
          <p:cNvPr id="17" name="TextBox 16"/>
          <p:cNvSpPr txBox="1"/>
          <p:nvPr/>
        </p:nvSpPr>
        <p:spPr>
          <a:xfrm>
            <a:off x="1078992" y="4261104"/>
            <a:ext cx="10259568" cy="274320"/>
          </a:xfrm>
          <a:prstGeom prst="rect">
            <a:avLst/>
          </a:prstGeom>
          <a:noFill/>
        </p:spPr>
        <p:txBody>
          <a:bodyPr wrap="square" lIns="0" rIns="0" tIns="0" bIns="0" anchor="t">
            <a:spAutoFit/>
          </a:bodyPr>
          <a:lstStyle/>
          <a:p>
            <a:pPr algn="l"/>
            <a:r>
              <a:rPr sz="1100" b="1" i="0">
                <a:solidFill>
                  <a:srgbClr val="F7D007"/>
                </a:solidFill>
                <a:latin typeface="Helvetica Neue"/>
              </a:rPr>
              <a:t>80,8% of users are new. The trust block is missing where it converts.</a:t>
            </a:r>
          </a:p>
        </p:txBody>
      </p:sp>
      <p:sp>
        <p:nvSpPr>
          <p:cNvPr id="18" name="Oval 17"/>
          <p:cNvSpPr/>
          <p:nvPr/>
        </p:nvSpPr>
        <p:spPr>
          <a:xfrm>
            <a:off x="822960" y="475488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700016"/>
            <a:ext cx="1025956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The cart to checkout leak is the biggest recoverable pool. </a:t>
            </a:r>
            <a:r>
              <a:rPr sz="1300" b="0" i="0">
                <a:solidFill>
                  <a:srgbClr val="CCCCCC"/>
                </a:solidFill>
                <a:latin typeface="Helvetica Neue"/>
              </a:rPr>
              <a:t>60,2% of add to carts never begin checkout (32.859 users in 90 days).</a:t>
            </a:r>
          </a:p>
        </p:txBody>
      </p:sp>
      <p:sp>
        <p:nvSpPr>
          <p:cNvPr id="20" name="TextBox 19"/>
          <p:cNvSpPr txBox="1"/>
          <p:nvPr/>
        </p:nvSpPr>
        <p:spPr>
          <a:xfrm>
            <a:off x="1078992" y="5157216"/>
            <a:ext cx="10259568" cy="274320"/>
          </a:xfrm>
          <a:prstGeom prst="rect">
            <a:avLst/>
          </a:prstGeom>
          <a:noFill/>
        </p:spPr>
        <p:txBody>
          <a:bodyPr wrap="square" lIns="0" rIns="0" tIns="0" bIns="0" anchor="t">
            <a:spAutoFit/>
          </a:bodyPr>
          <a:lstStyle/>
          <a:p>
            <a:pPr algn="l"/>
            <a:r>
              <a:rPr sz="1100" b="1" i="0">
                <a:solidFill>
                  <a:srgbClr val="F7D007"/>
                </a:solidFill>
                <a:latin typeface="Helvetica Neue"/>
              </a:rPr>
              <a:t>Est. 1,5 to 1,8M SEK per quarter recoverable at current AOV.</a:t>
            </a:r>
          </a:p>
        </p:txBody>
      </p:sp>
      <p:sp>
        <p:nvSpPr>
          <p:cNvPr id="21" name="Oval 20"/>
          <p:cNvSpPr/>
          <p:nvPr/>
        </p:nvSpPr>
        <p:spPr>
          <a:xfrm>
            <a:off x="822960" y="5650992"/>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5596128"/>
            <a:ext cx="1025956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Revenue rides on one channel. </a:t>
            </a:r>
            <a:r>
              <a:rPr sz="1300" b="0" i="0">
                <a:solidFill>
                  <a:srgbClr val="CCCCCC"/>
                </a:solidFill>
                <a:latin typeface="Helvetica Neue"/>
              </a:rPr>
              <a:t>Facebook paid drives 41% of sessions and 43,6% of all orders.</a:t>
            </a:r>
          </a:p>
        </p:txBody>
      </p:sp>
      <p:sp>
        <p:nvSpPr>
          <p:cNvPr id="23" name="Oval 22"/>
          <p:cNvSpPr/>
          <p:nvPr/>
        </p:nvSpPr>
        <p:spPr>
          <a:xfrm>
            <a:off x="822960" y="6236208"/>
            <a:ext cx="109728" cy="109728"/>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 y="6181344"/>
            <a:ext cx="1025956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Tracking is noisy and partly misconfigured. </a:t>
            </a:r>
            <a:r>
              <a:rPr sz="1300" b="0" i="0">
                <a:solidFill>
                  <a:srgbClr val="CCCCCC"/>
                </a:solidFill>
                <a:latin typeface="Helvetica Neue"/>
              </a:rPr>
              <a:t>Four GA4 properties fire at once and 29% of sessions land as "(not set)".</a:t>
            </a:r>
          </a:p>
        </p:txBody>
      </p:sp>
      <p:sp>
        <p:nvSpPr>
          <p:cNvPr id="25" name="TextBox 24"/>
          <p:cNvSpPr txBox="1"/>
          <p:nvPr/>
        </p:nvSpPr>
        <p:spPr>
          <a:xfrm>
            <a:off x="1078992" y="6638544"/>
            <a:ext cx="10259568" cy="274320"/>
          </a:xfrm>
          <a:prstGeom prst="rect">
            <a:avLst/>
          </a:prstGeom>
          <a:noFill/>
        </p:spPr>
        <p:txBody>
          <a:bodyPr wrap="square" lIns="0" rIns="0" tIns="0" bIns="0" anchor="t">
            <a:spAutoFit/>
          </a:bodyPr>
          <a:lstStyle/>
          <a:p>
            <a:pPr algn="l"/>
            <a:r>
              <a:rPr sz="1100" b="1" i="0">
                <a:solidFill>
                  <a:srgbClr val="F7D007"/>
                </a:solidFill>
                <a:latin typeface="Helvetica Neue"/>
              </a:rPr>
              <a:t>Clean the data first. The store is better than the dashboard shows.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01</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01</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GA4 Analytics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90 days, 452.552 sessions. Where the traffic comes from, where it converts, and where it leaks.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Performance dashboard</a:t>
            </a:r>
          </a:p>
        </p:txBody>
      </p:sp>
      <p:sp>
        <p:nvSpPr>
          <p:cNvPr id="9" name="Rounded Rectangle 8"/>
          <p:cNvSpPr/>
          <p:nvPr/>
        </p:nvSpPr>
        <p:spPr>
          <a:xfrm>
            <a:off x="792327" y="2468880"/>
            <a:ext cx="1901952" cy="15544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327" y="2724912"/>
            <a:ext cx="1901952" cy="502920"/>
          </a:xfrm>
          <a:prstGeom prst="rect">
            <a:avLst/>
          </a:prstGeom>
          <a:noFill/>
        </p:spPr>
        <p:txBody>
          <a:bodyPr wrap="square" lIns="0" rIns="0" tIns="0" bIns="0" anchor="t">
            <a:spAutoFit/>
          </a:bodyPr>
          <a:lstStyle/>
          <a:p>
            <a:pPr algn="ctr"/>
            <a:r>
              <a:rPr sz="3000" b="1" i="0">
                <a:solidFill>
                  <a:srgbClr val="FFFFFF"/>
                </a:solidFill>
                <a:latin typeface="Menlo"/>
              </a:rPr>
              <a:t>452.552</a:t>
            </a:r>
          </a:p>
        </p:txBody>
      </p:sp>
      <p:sp>
        <p:nvSpPr>
          <p:cNvPr id="11" name="TextBox 10"/>
          <p:cNvSpPr txBox="1"/>
          <p:nvPr/>
        </p:nvSpPr>
        <p:spPr>
          <a:xfrm>
            <a:off x="792327" y="3255264"/>
            <a:ext cx="1901952" cy="274320"/>
          </a:xfrm>
          <a:prstGeom prst="rect">
            <a:avLst/>
          </a:prstGeom>
          <a:noFill/>
        </p:spPr>
        <p:txBody>
          <a:bodyPr wrap="square" lIns="0" rIns="0" tIns="0" bIns="0" anchor="t">
            <a:spAutoFit/>
          </a:bodyPr>
          <a:lstStyle/>
          <a:p>
            <a:pPr algn="ctr"/>
            <a:r>
              <a:rPr sz="1000" b="1" i="0" spc="150">
                <a:solidFill>
                  <a:srgbClr val="999999"/>
                </a:solidFill>
                <a:latin typeface="Helvetica Neue"/>
              </a:rPr>
              <a:t>SESSIONS</a:t>
            </a:r>
          </a:p>
        </p:txBody>
      </p:sp>
      <p:sp>
        <p:nvSpPr>
          <p:cNvPr id="12" name="TextBox 11"/>
          <p:cNvSpPr txBox="1"/>
          <p:nvPr/>
        </p:nvSpPr>
        <p:spPr>
          <a:xfrm>
            <a:off x="792327" y="3493008"/>
            <a:ext cx="1901952" cy="320040"/>
          </a:xfrm>
          <a:prstGeom prst="rect">
            <a:avLst/>
          </a:prstGeom>
          <a:noFill/>
        </p:spPr>
        <p:txBody>
          <a:bodyPr wrap="square" lIns="0" rIns="0" tIns="0" bIns="0" anchor="t">
            <a:spAutoFit/>
          </a:bodyPr>
          <a:lstStyle/>
          <a:p>
            <a:pPr algn="ctr"/>
            <a:r>
              <a:rPr sz="900" b="0" i="0">
                <a:solidFill>
                  <a:srgbClr val="6B7C75"/>
                </a:solidFill>
                <a:latin typeface="Helvetica Neue"/>
              </a:rPr>
              <a:t>268.555 users · 95% Sweden</a:t>
            </a:r>
          </a:p>
        </p:txBody>
      </p:sp>
      <p:sp>
        <p:nvSpPr>
          <p:cNvPr id="13" name="Rounded Rectangle 12"/>
          <p:cNvSpPr/>
          <p:nvPr/>
        </p:nvSpPr>
        <p:spPr>
          <a:xfrm>
            <a:off x="2968599" y="2468880"/>
            <a:ext cx="1901952" cy="15544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8599" y="2724912"/>
            <a:ext cx="1901952" cy="502920"/>
          </a:xfrm>
          <a:prstGeom prst="rect">
            <a:avLst/>
          </a:prstGeom>
          <a:noFill/>
        </p:spPr>
        <p:txBody>
          <a:bodyPr wrap="square" lIns="0" rIns="0" tIns="0" bIns="0" anchor="t">
            <a:spAutoFit/>
          </a:bodyPr>
          <a:lstStyle/>
          <a:p>
            <a:pPr algn="ctr"/>
            <a:r>
              <a:rPr sz="3000" b="1" i="0">
                <a:solidFill>
                  <a:srgbClr val="F7D007"/>
                </a:solidFill>
                <a:latin typeface="Menlo"/>
              </a:rPr>
              <a:t>11.689</a:t>
            </a:r>
          </a:p>
        </p:txBody>
      </p:sp>
      <p:sp>
        <p:nvSpPr>
          <p:cNvPr id="15" name="TextBox 14"/>
          <p:cNvSpPr txBox="1"/>
          <p:nvPr/>
        </p:nvSpPr>
        <p:spPr>
          <a:xfrm>
            <a:off x="2968599" y="3255264"/>
            <a:ext cx="1901952" cy="274320"/>
          </a:xfrm>
          <a:prstGeom prst="rect">
            <a:avLst/>
          </a:prstGeom>
          <a:noFill/>
        </p:spPr>
        <p:txBody>
          <a:bodyPr wrap="square" lIns="0" rIns="0" tIns="0" bIns="0" anchor="t">
            <a:spAutoFit/>
          </a:bodyPr>
          <a:lstStyle/>
          <a:p>
            <a:pPr algn="ctr"/>
            <a:r>
              <a:rPr sz="1000" b="1" i="0" spc="150">
                <a:solidFill>
                  <a:srgbClr val="999999"/>
                </a:solidFill>
                <a:latin typeface="Helvetica Neue"/>
              </a:rPr>
              <a:t>PURCHASES</a:t>
            </a:r>
          </a:p>
        </p:txBody>
      </p:sp>
      <p:sp>
        <p:nvSpPr>
          <p:cNvPr id="16" name="TextBox 15"/>
          <p:cNvSpPr txBox="1"/>
          <p:nvPr/>
        </p:nvSpPr>
        <p:spPr>
          <a:xfrm>
            <a:off x="2968599" y="3493008"/>
            <a:ext cx="1901952" cy="320040"/>
          </a:xfrm>
          <a:prstGeom prst="rect">
            <a:avLst/>
          </a:prstGeom>
          <a:noFill/>
        </p:spPr>
        <p:txBody>
          <a:bodyPr wrap="square" lIns="0" rIns="0" tIns="0" bIns="0" anchor="t">
            <a:spAutoFit/>
          </a:bodyPr>
          <a:lstStyle/>
          <a:p>
            <a:pPr algn="ctr"/>
            <a:r>
              <a:rPr sz="900" b="0" i="0">
                <a:solidFill>
                  <a:srgbClr val="6B7C75"/>
                </a:solidFill>
                <a:latin typeface="Helvetica Neue"/>
              </a:rPr>
              <a:t>11.537 unique buyers</a:t>
            </a:r>
          </a:p>
        </p:txBody>
      </p:sp>
      <p:sp>
        <p:nvSpPr>
          <p:cNvPr id="17" name="Rounded Rectangle 16"/>
          <p:cNvSpPr/>
          <p:nvPr/>
        </p:nvSpPr>
        <p:spPr>
          <a:xfrm>
            <a:off x="5144871" y="2468880"/>
            <a:ext cx="1901952" cy="15544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4871" y="2724912"/>
            <a:ext cx="1901952" cy="502920"/>
          </a:xfrm>
          <a:prstGeom prst="rect">
            <a:avLst/>
          </a:prstGeom>
          <a:noFill/>
        </p:spPr>
        <p:txBody>
          <a:bodyPr wrap="square" lIns="0" rIns="0" tIns="0" bIns="0" anchor="t">
            <a:spAutoFit/>
          </a:bodyPr>
          <a:lstStyle/>
          <a:p>
            <a:pPr algn="ctr"/>
            <a:r>
              <a:rPr sz="3000" b="1" i="0">
                <a:solidFill>
                  <a:srgbClr val="22C55E"/>
                </a:solidFill>
                <a:latin typeface="Menlo"/>
              </a:rPr>
              <a:t>11,88M</a:t>
            </a:r>
          </a:p>
        </p:txBody>
      </p:sp>
      <p:sp>
        <p:nvSpPr>
          <p:cNvPr id="19" name="TextBox 18"/>
          <p:cNvSpPr txBox="1"/>
          <p:nvPr/>
        </p:nvSpPr>
        <p:spPr>
          <a:xfrm>
            <a:off x="5144871" y="3255264"/>
            <a:ext cx="1901952" cy="274320"/>
          </a:xfrm>
          <a:prstGeom prst="rect">
            <a:avLst/>
          </a:prstGeom>
          <a:noFill/>
        </p:spPr>
        <p:txBody>
          <a:bodyPr wrap="square" lIns="0" rIns="0" tIns="0" bIns="0" anchor="t">
            <a:spAutoFit/>
          </a:bodyPr>
          <a:lstStyle/>
          <a:p>
            <a:pPr algn="ctr"/>
            <a:r>
              <a:rPr sz="1000" b="1" i="0" spc="150">
                <a:solidFill>
                  <a:srgbClr val="999999"/>
                </a:solidFill>
                <a:latin typeface="Helvetica Neue"/>
              </a:rPr>
              <a:t>REVENUE (SEK)</a:t>
            </a:r>
          </a:p>
        </p:txBody>
      </p:sp>
      <p:sp>
        <p:nvSpPr>
          <p:cNvPr id="20" name="TextBox 19"/>
          <p:cNvSpPr txBox="1"/>
          <p:nvPr/>
        </p:nvSpPr>
        <p:spPr>
          <a:xfrm>
            <a:off x="5144871" y="3493008"/>
            <a:ext cx="1901952" cy="320040"/>
          </a:xfrm>
          <a:prstGeom prst="rect">
            <a:avLst/>
          </a:prstGeom>
          <a:noFill/>
        </p:spPr>
        <p:txBody>
          <a:bodyPr wrap="square" lIns="0" rIns="0" tIns="0" bIns="0" anchor="t">
            <a:spAutoFit/>
          </a:bodyPr>
          <a:lstStyle/>
          <a:p>
            <a:pPr algn="ctr"/>
            <a:r>
              <a:rPr sz="900" b="0" i="0">
                <a:solidFill>
                  <a:srgbClr val="6B7C75"/>
                </a:solidFill>
                <a:latin typeface="Helvetica Neue"/>
              </a:rPr>
              <a:t>1.017 SEK AOV</a:t>
            </a:r>
          </a:p>
        </p:txBody>
      </p:sp>
      <p:sp>
        <p:nvSpPr>
          <p:cNvPr id="21" name="Rounded Rectangle 20"/>
          <p:cNvSpPr/>
          <p:nvPr/>
        </p:nvSpPr>
        <p:spPr>
          <a:xfrm>
            <a:off x="7321143" y="2468880"/>
            <a:ext cx="1901952" cy="15544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21143" y="2724912"/>
            <a:ext cx="1901952" cy="502920"/>
          </a:xfrm>
          <a:prstGeom prst="rect">
            <a:avLst/>
          </a:prstGeom>
          <a:noFill/>
        </p:spPr>
        <p:txBody>
          <a:bodyPr wrap="square" lIns="0" rIns="0" tIns="0" bIns="0" anchor="t">
            <a:spAutoFit/>
          </a:bodyPr>
          <a:lstStyle/>
          <a:p>
            <a:pPr algn="ctr"/>
            <a:r>
              <a:rPr sz="3000" b="1" i="0">
                <a:solidFill>
                  <a:srgbClr val="FFFFFF"/>
                </a:solidFill>
                <a:latin typeface="Menlo"/>
              </a:rPr>
              <a:t>2,58%</a:t>
            </a:r>
          </a:p>
        </p:txBody>
      </p:sp>
      <p:sp>
        <p:nvSpPr>
          <p:cNvPr id="23" name="TextBox 22"/>
          <p:cNvSpPr txBox="1"/>
          <p:nvPr/>
        </p:nvSpPr>
        <p:spPr>
          <a:xfrm>
            <a:off x="7321143" y="3255264"/>
            <a:ext cx="1901952" cy="274320"/>
          </a:xfrm>
          <a:prstGeom prst="rect">
            <a:avLst/>
          </a:prstGeom>
          <a:noFill/>
        </p:spPr>
        <p:txBody>
          <a:bodyPr wrap="square" lIns="0" rIns="0" tIns="0" bIns="0" anchor="t">
            <a:spAutoFit/>
          </a:bodyPr>
          <a:lstStyle/>
          <a:p>
            <a:pPr algn="ctr"/>
            <a:r>
              <a:rPr sz="1000" b="1" i="0" spc="150">
                <a:solidFill>
                  <a:srgbClr val="999999"/>
                </a:solidFill>
                <a:latin typeface="Helvetica Neue"/>
              </a:rPr>
              <a:t>SESSION CVR</a:t>
            </a:r>
          </a:p>
        </p:txBody>
      </p:sp>
      <p:sp>
        <p:nvSpPr>
          <p:cNvPr id="24" name="TextBox 23"/>
          <p:cNvSpPr txBox="1"/>
          <p:nvPr/>
        </p:nvSpPr>
        <p:spPr>
          <a:xfrm>
            <a:off x="7321143" y="3493008"/>
            <a:ext cx="1901952" cy="320040"/>
          </a:xfrm>
          <a:prstGeom prst="rect">
            <a:avLst/>
          </a:prstGeom>
          <a:noFill/>
        </p:spPr>
        <p:txBody>
          <a:bodyPr wrap="square" lIns="0" rIns="0" tIns="0" bIns="0" anchor="t">
            <a:spAutoFit/>
          </a:bodyPr>
          <a:lstStyle/>
          <a:p>
            <a:pPr algn="ctr"/>
            <a:r>
              <a:rPr sz="900" b="0" i="0">
                <a:solidFill>
                  <a:srgbClr val="6B7C75"/>
                </a:solidFill>
                <a:latin typeface="Helvetica Neue"/>
              </a:rPr>
              <a:t>~3,6% on clean traffic</a:t>
            </a:r>
          </a:p>
        </p:txBody>
      </p:sp>
      <p:sp>
        <p:nvSpPr>
          <p:cNvPr id="25" name="Rounded Rectangle 24"/>
          <p:cNvSpPr/>
          <p:nvPr/>
        </p:nvSpPr>
        <p:spPr>
          <a:xfrm>
            <a:off x="9497415" y="2468880"/>
            <a:ext cx="1901952" cy="155448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97415" y="2724912"/>
            <a:ext cx="1901952" cy="502920"/>
          </a:xfrm>
          <a:prstGeom prst="rect">
            <a:avLst/>
          </a:prstGeom>
          <a:noFill/>
        </p:spPr>
        <p:txBody>
          <a:bodyPr wrap="square" lIns="0" rIns="0" tIns="0" bIns="0" anchor="t">
            <a:spAutoFit/>
          </a:bodyPr>
          <a:lstStyle/>
          <a:p>
            <a:pPr algn="ctr"/>
            <a:r>
              <a:rPr sz="3000" b="1" i="0">
                <a:solidFill>
                  <a:srgbClr val="EF4444"/>
                </a:solidFill>
                <a:latin typeface="Menlo"/>
              </a:rPr>
              <a:t>80,8%</a:t>
            </a:r>
          </a:p>
        </p:txBody>
      </p:sp>
      <p:sp>
        <p:nvSpPr>
          <p:cNvPr id="27" name="TextBox 26"/>
          <p:cNvSpPr txBox="1"/>
          <p:nvPr/>
        </p:nvSpPr>
        <p:spPr>
          <a:xfrm>
            <a:off x="9497415" y="3255264"/>
            <a:ext cx="1901952"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USERS</a:t>
            </a:r>
          </a:p>
        </p:txBody>
      </p:sp>
      <p:sp>
        <p:nvSpPr>
          <p:cNvPr id="28" name="TextBox 27"/>
          <p:cNvSpPr txBox="1"/>
          <p:nvPr/>
        </p:nvSpPr>
        <p:spPr>
          <a:xfrm>
            <a:off x="9497415" y="3493008"/>
            <a:ext cx="1901952" cy="320040"/>
          </a:xfrm>
          <a:prstGeom prst="rect">
            <a:avLst/>
          </a:prstGeom>
          <a:noFill/>
        </p:spPr>
        <p:txBody>
          <a:bodyPr wrap="square" lIns="0" rIns="0" tIns="0" bIns="0" anchor="t">
            <a:spAutoFit/>
          </a:bodyPr>
          <a:lstStyle/>
          <a:p>
            <a:pPr algn="ctr"/>
            <a:r>
              <a:rPr sz="900" b="0" i="0">
                <a:solidFill>
                  <a:srgbClr val="6B7C75"/>
                </a:solidFill>
                <a:latin typeface="Helvetica Neue"/>
              </a:rPr>
              <a:t>Only ~19% return</a:t>
            </a:r>
          </a:p>
        </p:txBody>
      </p:sp>
      <p:sp>
        <p:nvSpPr>
          <p:cNvPr id="29" name="Rounded Rectangle 28"/>
          <p:cNvSpPr/>
          <p:nvPr/>
        </p:nvSpPr>
        <p:spPr>
          <a:xfrm>
            <a:off x="1280160" y="4572000"/>
            <a:ext cx="9601200" cy="8229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8760" y="4709160"/>
            <a:ext cx="9144000" cy="548640"/>
          </a:xfrm>
          <a:prstGeom prst="rect">
            <a:avLst/>
          </a:prstGeom>
          <a:noFill/>
        </p:spPr>
        <p:txBody>
          <a:bodyPr wrap="square" lIns="0" rIns="0" tIns="0" bIns="0" anchor="ctr">
            <a:spAutoFit/>
          </a:bodyPr>
          <a:lstStyle/>
          <a:p>
            <a:pPr algn="l">
              <a:lnSpc>
                <a:spcPct val="140000"/>
              </a:lnSpc>
            </a:pPr>
            <a:r>
              <a:rPr sz="1200" b="0" i="0">
                <a:solidFill>
                  <a:srgbClr val="CCCCCC"/>
                </a:solidFill>
                <a:latin typeface="Helvetica Neue"/>
              </a:rPr>
              <a:t>GA4 attributed totals for the 90 day window. AOV is revenue / ecommerce purchases. Shopify shows the store is ~3x larger (see the RPV section).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 · UNIQUE USERS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purchase funnel</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Counted by unique users so it reconciles to real orders. Only 7,5% of viewers buy.</a:t>
            </a:r>
          </a:p>
        </p:txBody>
      </p:sp>
      <p:sp>
        <p:nvSpPr>
          <p:cNvPr id="10" name="TextBox 9"/>
          <p:cNvSpPr txBox="1"/>
          <p:nvPr/>
        </p:nvSpPr>
        <p:spPr>
          <a:xfrm>
            <a:off x="1188720" y="2286000"/>
            <a:ext cx="1645920" cy="411480"/>
          </a:xfrm>
          <a:prstGeom prst="rect">
            <a:avLst/>
          </a:prstGeom>
          <a:noFill/>
        </p:spPr>
        <p:txBody>
          <a:bodyPr wrap="square" lIns="0" rIns="0" tIns="0" bIns="0" anchor="ctr">
            <a:spAutoFit/>
          </a:bodyPr>
          <a:lstStyle/>
          <a:p>
            <a:pPr algn="r"/>
            <a:r>
              <a:rPr sz="1200" b="0" i="0">
                <a:solidFill>
                  <a:srgbClr val="CCCCCC"/>
                </a:solidFill>
                <a:latin typeface="Helvetica Neue"/>
              </a:rPr>
              <a:t>View product</a:t>
            </a:r>
          </a:p>
        </p:txBody>
      </p:sp>
      <p:sp>
        <p:nvSpPr>
          <p:cNvPr id="11" name="Rounded Rectangle 10"/>
          <p:cNvSpPr/>
          <p:nvPr/>
        </p:nvSpPr>
        <p:spPr>
          <a:xfrm>
            <a:off x="2971800" y="2286000"/>
            <a:ext cx="6400800" cy="411480"/>
          </a:xfrm>
          <a:prstGeom prst="roundRect">
            <a:avLst>
              <a:gd name="adj" fmla="val 12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81528" y="2286000"/>
            <a:ext cx="6400800" cy="411480"/>
          </a:xfrm>
          <a:prstGeom prst="rect">
            <a:avLst/>
          </a:prstGeom>
          <a:noFill/>
        </p:spPr>
        <p:txBody>
          <a:bodyPr wrap="square" lIns="0" rIns="0" tIns="0" bIns="0" anchor="ctr">
            <a:spAutoFit/>
          </a:bodyPr>
          <a:lstStyle/>
          <a:p>
            <a:pPr algn="l"/>
            <a:r>
              <a:rPr sz="1200" b="1" i="0">
                <a:solidFill>
                  <a:srgbClr val="000000"/>
                </a:solidFill>
                <a:latin typeface="Menlo"/>
              </a:rPr>
              <a:t>153.509   100.0%</a:t>
            </a:r>
          </a:p>
        </p:txBody>
      </p:sp>
      <p:sp>
        <p:nvSpPr>
          <p:cNvPr id="13" name="TextBox 12"/>
          <p:cNvSpPr txBox="1"/>
          <p:nvPr/>
        </p:nvSpPr>
        <p:spPr>
          <a:xfrm>
            <a:off x="1188720" y="2971800"/>
            <a:ext cx="1645920" cy="411480"/>
          </a:xfrm>
          <a:prstGeom prst="rect">
            <a:avLst/>
          </a:prstGeom>
          <a:noFill/>
        </p:spPr>
        <p:txBody>
          <a:bodyPr wrap="square" lIns="0" rIns="0" tIns="0" bIns="0" anchor="ctr">
            <a:spAutoFit/>
          </a:bodyPr>
          <a:lstStyle/>
          <a:p>
            <a:pPr algn="r"/>
            <a:r>
              <a:rPr sz="1200" b="0" i="0">
                <a:solidFill>
                  <a:srgbClr val="CCCCCC"/>
                </a:solidFill>
                <a:latin typeface="Helvetica Neue"/>
              </a:rPr>
              <a:t>Add to cart</a:t>
            </a:r>
          </a:p>
        </p:txBody>
      </p:sp>
      <p:sp>
        <p:nvSpPr>
          <p:cNvPr id="14" name="Rounded Rectangle 13"/>
          <p:cNvSpPr/>
          <p:nvPr/>
        </p:nvSpPr>
        <p:spPr>
          <a:xfrm>
            <a:off x="2971800" y="2971800"/>
            <a:ext cx="2278684" cy="411480"/>
          </a:xfrm>
          <a:prstGeom prst="roundRect">
            <a:avLst>
              <a:gd name="adj" fmla="val 12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81528" y="2971800"/>
            <a:ext cx="2278684" cy="411480"/>
          </a:xfrm>
          <a:prstGeom prst="rect">
            <a:avLst/>
          </a:prstGeom>
          <a:noFill/>
        </p:spPr>
        <p:txBody>
          <a:bodyPr wrap="square" lIns="0" rIns="0" tIns="0" bIns="0" anchor="ctr">
            <a:spAutoFit/>
          </a:bodyPr>
          <a:lstStyle/>
          <a:p>
            <a:pPr algn="l"/>
            <a:r>
              <a:rPr sz="1200" b="1" i="0">
                <a:solidFill>
                  <a:srgbClr val="000000"/>
                </a:solidFill>
                <a:latin typeface="Menlo"/>
              </a:rPr>
              <a:t>54.583   35.6%</a:t>
            </a:r>
          </a:p>
        </p:txBody>
      </p:sp>
      <p:sp>
        <p:nvSpPr>
          <p:cNvPr id="16" name="TextBox 15"/>
          <p:cNvSpPr txBox="1"/>
          <p:nvPr/>
        </p:nvSpPr>
        <p:spPr>
          <a:xfrm>
            <a:off x="9555480" y="2971800"/>
            <a:ext cx="2011680" cy="411480"/>
          </a:xfrm>
          <a:prstGeom prst="rect">
            <a:avLst/>
          </a:prstGeom>
          <a:noFill/>
        </p:spPr>
        <p:txBody>
          <a:bodyPr wrap="square" lIns="0" rIns="0" tIns="0" bIns="0" anchor="ctr">
            <a:spAutoFit/>
          </a:bodyPr>
          <a:lstStyle/>
          <a:p>
            <a:pPr algn="l"/>
            <a:r>
              <a:rPr sz="1100" b="1" i="0">
                <a:solidFill>
                  <a:srgbClr val="EF4444"/>
                </a:solidFill>
                <a:latin typeface="Menlo"/>
              </a:rPr>
              <a:t>64,4% do not add</a:t>
            </a:r>
          </a:p>
        </p:txBody>
      </p:sp>
      <p:sp>
        <p:nvSpPr>
          <p:cNvPr id="17" name="TextBox 16"/>
          <p:cNvSpPr txBox="1"/>
          <p:nvPr/>
        </p:nvSpPr>
        <p:spPr>
          <a:xfrm>
            <a:off x="1188720" y="3657600"/>
            <a:ext cx="1645920" cy="411480"/>
          </a:xfrm>
          <a:prstGeom prst="rect">
            <a:avLst/>
          </a:prstGeom>
          <a:noFill/>
        </p:spPr>
        <p:txBody>
          <a:bodyPr wrap="square" lIns="0" rIns="0" tIns="0" bIns="0" anchor="ctr">
            <a:spAutoFit/>
          </a:bodyPr>
          <a:lstStyle/>
          <a:p>
            <a:pPr algn="r"/>
            <a:r>
              <a:rPr sz="1200" b="0" i="0">
                <a:solidFill>
                  <a:srgbClr val="CCCCCC"/>
                </a:solidFill>
                <a:latin typeface="Helvetica Neue"/>
              </a:rPr>
              <a:t>Begin checkout</a:t>
            </a:r>
          </a:p>
        </p:txBody>
      </p:sp>
      <p:sp>
        <p:nvSpPr>
          <p:cNvPr id="18" name="Rounded Rectangle 17"/>
          <p:cNvSpPr/>
          <p:nvPr/>
        </p:nvSpPr>
        <p:spPr>
          <a:xfrm>
            <a:off x="2971800" y="3657600"/>
            <a:ext cx="908913" cy="411480"/>
          </a:xfrm>
          <a:prstGeom prst="roundRect">
            <a:avLst>
              <a:gd name="adj" fmla="val 12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81528" y="3657600"/>
            <a:ext cx="908913" cy="411480"/>
          </a:xfrm>
          <a:prstGeom prst="rect">
            <a:avLst/>
          </a:prstGeom>
          <a:noFill/>
        </p:spPr>
        <p:txBody>
          <a:bodyPr wrap="square" lIns="0" rIns="0" tIns="0" bIns="0" anchor="ctr">
            <a:spAutoFit/>
          </a:bodyPr>
          <a:lstStyle/>
          <a:p>
            <a:pPr algn="l"/>
            <a:r>
              <a:rPr sz="1200" b="1" i="0">
                <a:solidFill>
                  <a:srgbClr val="000000"/>
                </a:solidFill>
                <a:latin typeface="Menlo"/>
              </a:rPr>
              <a:t>21.724   14.2%</a:t>
            </a:r>
          </a:p>
        </p:txBody>
      </p:sp>
      <p:sp>
        <p:nvSpPr>
          <p:cNvPr id="20" name="TextBox 19"/>
          <p:cNvSpPr txBox="1"/>
          <p:nvPr/>
        </p:nvSpPr>
        <p:spPr>
          <a:xfrm>
            <a:off x="9555480" y="3657600"/>
            <a:ext cx="2011680" cy="411480"/>
          </a:xfrm>
          <a:prstGeom prst="rect">
            <a:avLst/>
          </a:prstGeom>
          <a:noFill/>
        </p:spPr>
        <p:txBody>
          <a:bodyPr wrap="square" lIns="0" rIns="0" tIns="0" bIns="0" anchor="ctr">
            <a:spAutoFit/>
          </a:bodyPr>
          <a:lstStyle/>
          <a:p>
            <a:pPr algn="l"/>
            <a:r>
              <a:rPr sz="1100" b="1" i="0">
                <a:solidFill>
                  <a:srgbClr val="EF4444"/>
                </a:solidFill>
                <a:latin typeface="Menlo"/>
              </a:rPr>
              <a:t>60,2% abandon cart</a:t>
            </a:r>
          </a:p>
        </p:txBody>
      </p:sp>
      <p:sp>
        <p:nvSpPr>
          <p:cNvPr id="21" name="TextBox 20"/>
          <p:cNvSpPr txBox="1"/>
          <p:nvPr/>
        </p:nvSpPr>
        <p:spPr>
          <a:xfrm>
            <a:off x="1188720" y="4343400"/>
            <a:ext cx="1645920" cy="411480"/>
          </a:xfrm>
          <a:prstGeom prst="rect">
            <a:avLst/>
          </a:prstGeom>
          <a:noFill/>
        </p:spPr>
        <p:txBody>
          <a:bodyPr wrap="square" lIns="0" rIns="0" tIns="0" bIns="0" anchor="ctr">
            <a:spAutoFit/>
          </a:bodyPr>
          <a:lstStyle/>
          <a:p>
            <a:pPr algn="r"/>
            <a:r>
              <a:rPr sz="1200" b="0" i="0">
                <a:solidFill>
                  <a:srgbClr val="CCCCCC"/>
                </a:solidFill>
                <a:latin typeface="Helvetica Neue"/>
              </a:rPr>
              <a:t>Purchase</a:t>
            </a:r>
          </a:p>
        </p:txBody>
      </p:sp>
      <p:sp>
        <p:nvSpPr>
          <p:cNvPr id="22" name="Rounded Rectangle 21"/>
          <p:cNvSpPr/>
          <p:nvPr/>
        </p:nvSpPr>
        <p:spPr>
          <a:xfrm>
            <a:off x="2971800" y="4343400"/>
            <a:ext cx="480060" cy="411480"/>
          </a:xfrm>
          <a:prstGeom prst="roundRect">
            <a:avLst>
              <a:gd name="adj" fmla="val 12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81528" y="4343400"/>
            <a:ext cx="480060" cy="411480"/>
          </a:xfrm>
          <a:prstGeom prst="rect">
            <a:avLst/>
          </a:prstGeom>
          <a:noFill/>
        </p:spPr>
        <p:txBody>
          <a:bodyPr wrap="square" lIns="0" rIns="0" tIns="0" bIns="0" anchor="ctr">
            <a:spAutoFit/>
          </a:bodyPr>
          <a:lstStyle/>
          <a:p>
            <a:pPr algn="l"/>
            <a:r>
              <a:rPr sz="1200" b="1" i="0">
                <a:solidFill>
                  <a:srgbClr val="000000"/>
                </a:solidFill>
                <a:latin typeface="Menlo"/>
              </a:rPr>
              <a:t>11.537   7.5%</a:t>
            </a:r>
          </a:p>
        </p:txBody>
      </p:sp>
      <p:sp>
        <p:nvSpPr>
          <p:cNvPr id="24" name="TextBox 23"/>
          <p:cNvSpPr txBox="1"/>
          <p:nvPr/>
        </p:nvSpPr>
        <p:spPr>
          <a:xfrm>
            <a:off x="9555480" y="4343400"/>
            <a:ext cx="2011680" cy="411480"/>
          </a:xfrm>
          <a:prstGeom prst="rect">
            <a:avLst/>
          </a:prstGeom>
          <a:noFill/>
        </p:spPr>
        <p:txBody>
          <a:bodyPr wrap="square" lIns="0" rIns="0" tIns="0" bIns="0" anchor="ctr">
            <a:spAutoFit/>
          </a:bodyPr>
          <a:lstStyle/>
          <a:p>
            <a:pPr algn="l"/>
            <a:r>
              <a:rPr sz="1100" b="1" i="0">
                <a:solidFill>
                  <a:srgbClr val="EF4444"/>
                </a:solidFill>
                <a:latin typeface="Menlo"/>
              </a:rPr>
              <a:t>46,9% abandon checkout</a:t>
            </a:r>
          </a:p>
        </p:txBody>
      </p:sp>
      <p:sp>
        <p:nvSpPr>
          <p:cNvPr id="25" name="TextBox 24"/>
          <p:cNvSpPr txBox="1"/>
          <p:nvPr/>
        </p:nvSpPr>
        <p:spPr>
          <a:xfrm>
            <a:off x="1188720" y="5394960"/>
            <a:ext cx="9784080" cy="457200"/>
          </a:xfrm>
          <a:prstGeom prst="rect">
            <a:avLst/>
          </a:prstGeom>
          <a:noFill/>
        </p:spPr>
        <p:txBody>
          <a:bodyPr wrap="square" lIns="0" rIns="0" tIns="0" bIns="0" anchor="t">
            <a:spAutoFit/>
          </a:bodyPr>
          <a:lstStyle/>
          <a:p>
            <a:pPr algn="l"/>
            <a:r>
              <a:rPr sz="1100" b="0" i="0">
                <a:solidFill>
                  <a:srgbClr val="6B7C75"/>
                </a:solidFill>
                <a:latin typeface="Helvetica Neue"/>
              </a:rPr>
              <a:t>GA4 event totalUsers. The v1alpha sequential funnel corroborates the pattern (73,8% abandon before add to cart, 57,9% at cart, 58,1% at checkout).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three biggest leaks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Ranked by how cheaply the revenue can be won back.</a:t>
            </a:r>
          </a:p>
        </p:txBody>
      </p:sp>
      <p:sp>
        <p:nvSpPr>
          <p:cNvPr id="10" name="Rounded Rectangle 9"/>
          <p:cNvSpPr/>
          <p:nvPr/>
        </p:nvSpPr>
        <p:spPr>
          <a:xfrm>
            <a:off x="792327" y="2194560"/>
            <a:ext cx="3352800" cy="2926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377440"/>
            <a:ext cx="731520" cy="457200"/>
          </a:xfrm>
          <a:prstGeom prst="rect">
            <a:avLst/>
          </a:prstGeom>
          <a:noFill/>
        </p:spPr>
        <p:txBody>
          <a:bodyPr wrap="square" lIns="0" rIns="0" tIns="0" bIns="0" anchor="t">
            <a:spAutoFit/>
          </a:bodyPr>
          <a:lstStyle/>
          <a:p>
            <a:pPr algn="l"/>
            <a:r>
              <a:rPr sz="2600" b="1" i="0">
                <a:solidFill>
                  <a:srgbClr val="EF4444"/>
                </a:solidFill>
                <a:latin typeface="Menlo"/>
              </a:rPr>
              <a:t>1</a:t>
            </a:r>
          </a:p>
        </p:txBody>
      </p:sp>
      <p:sp>
        <p:nvSpPr>
          <p:cNvPr id="12" name="TextBox 11"/>
          <p:cNvSpPr txBox="1"/>
          <p:nvPr/>
        </p:nvSpPr>
        <p:spPr>
          <a:xfrm>
            <a:off x="102092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Add to cart to checkout</a:t>
            </a:r>
          </a:p>
        </p:txBody>
      </p:sp>
      <p:sp>
        <p:nvSpPr>
          <p:cNvPr id="13" name="TextBox 12"/>
          <p:cNvSpPr txBox="1"/>
          <p:nvPr/>
        </p:nvSpPr>
        <p:spPr>
          <a:xfrm>
            <a:off x="102092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32.859 carts never reach checkout in 90 days. The largest recoverable pool. Shipping surprise (695 SEK, Airmee only) and no clear push to continue.</a:t>
            </a:r>
          </a:p>
        </p:txBody>
      </p:sp>
      <p:sp>
        <p:nvSpPr>
          <p:cNvPr id="14" name="Rounded Rectangle 13"/>
          <p:cNvSpPr/>
          <p:nvPr/>
        </p:nvSpPr>
        <p:spPr>
          <a:xfrm>
            <a:off x="102092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Est. 1,5-1,8M SEK/qtr</a:t>
            </a:r>
          </a:p>
        </p:txBody>
      </p:sp>
      <p:sp>
        <p:nvSpPr>
          <p:cNvPr id="16" name="Rounded Rectangle 15"/>
          <p:cNvSpPr/>
          <p:nvPr/>
        </p:nvSpPr>
        <p:spPr>
          <a:xfrm>
            <a:off x="4419447" y="2194560"/>
            <a:ext cx="3352800" cy="2926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377440"/>
            <a:ext cx="731520" cy="457200"/>
          </a:xfrm>
          <a:prstGeom prst="rect">
            <a:avLst/>
          </a:prstGeom>
          <a:noFill/>
        </p:spPr>
        <p:txBody>
          <a:bodyPr wrap="square" lIns="0" rIns="0" tIns="0" bIns="0" anchor="t">
            <a:spAutoFit/>
          </a:bodyPr>
          <a:lstStyle/>
          <a:p>
            <a:pPr algn="l"/>
            <a:r>
              <a:rPr sz="2600" b="1" i="0">
                <a:solidFill>
                  <a:srgbClr val="EF4444"/>
                </a:solidFill>
                <a:latin typeface="Menlo"/>
              </a:rPr>
              <a:t>2</a:t>
            </a:r>
          </a:p>
        </p:txBody>
      </p:sp>
      <p:sp>
        <p:nvSpPr>
          <p:cNvPr id="18" name="TextBox 17"/>
          <p:cNvSpPr txBox="1"/>
          <p:nvPr/>
        </p:nvSpPr>
        <p:spPr>
          <a:xfrm>
            <a:off x="464804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Checkout to purchase</a:t>
            </a:r>
          </a:p>
        </p:txBody>
      </p:sp>
      <p:sp>
        <p:nvSpPr>
          <p:cNvPr id="19" name="TextBox 18"/>
          <p:cNvSpPr txBox="1"/>
          <p:nvPr/>
        </p:nvSpPr>
        <p:spPr>
          <a:xfrm>
            <a:off x="464804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10.187 users start checkout and drop. Highest intent, lowest cost to recover. Delivery doubt and 90+ JS console errors are prime suspects.</a:t>
            </a:r>
          </a:p>
        </p:txBody>
      </p:sp>
      <p:sp>
        <p:nvSpPr>
          <p:cNvPr id="20" name="Rounded Rectangle 19"/>
          <p:cNvSpPr/>
          <p:nvPr/>
        </p:nvSpPr>
        <p:spPr>
          <a:xfrm>
            <a:off x="464804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Cheapest win</a:t>
            </a:r>
          </a:p>
        </p:txBody>
      </p:sp>
      <p:sp>
        <p:nvSpPr>
          <p:cNvPr id="22" name="Rounded Rectangle 21"/>
          <p:cNvSpPr/>
          <p:nvPr/>
        </p:nvSpPr>
        <p:spPr>
          <a:xfrm>
            <a:off x="8046567" y="2194560"/>
            <a:ext cx="3352800" cy="292608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377440"/>
            <a:ext cx="731520" cy="457200"/>
          </a:xfrm>
          <a:prstGeom prst="rect">
            <a:avLst/>
          </a:prstGeom>
          <a:noFill/>
        </p:spPr>
        <p:txBody>
          <a:bodyPr wrap="square" lIns="0" rIns="0" tIns="0" bIns="0" anchor="t">
            <a:spAutoFit/>
          </a:bodyPr>
          <a:lstStyle/>
          <a:p>
            <a:pPr algn="l"/>
            <a:r>
              <a:rPr sz="2600" b="1" i="0">
                <a:solidFill>
                  <a:srgbClr val="EF4444"/>
                </a:solidFill>
                <a:latin typeface="Menlo"/>
              </a:rPr>
              <a:t>3</a:t>
            </a:r>
          </a:p>
        </p:txBody>
      </p:sp>
      <p:sp>
        <p:nvSpPr>
          <p:cNvPr id="24" name="TextBox 23"/>
          <p:cNvSpPr txBox="1"/>
          <p:nvPr/>
        </p:nvSpPr>
        <p:spPr>
          <a:xfrm>
            <a:off x="827516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View to add to cart</a:t>
            </a:r>
          </a:p>
        </p:txBody>
      </p:sp>
      <p:sp>
        <p:nvSpPr>
          <p:cNvPr id="25" name="TextBox 24"/>
          <p:cNvSpPr txBox="1"/>
          <p:nvPr/>
        </p:nvSpPr>
        <p:spPr>
          <a:xfrm>
            <a:off x="827516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98.926 product viewers never add. Lower intent, but PDP trust gaps (no legality block, thin box detail, 3 images) suppress action.</a:t>
            </a:r>
          </a:p>
        </p:txBody>
      </p:sp>
      <p:sp>
        <p:nvSpPr>
          <p:cNvPr id="26" name="Rounded Rectangle 25"/>
          <p:cNvSpPr/>
          <p:nvPr/>
        </p:nvSpPr>
        <p:spPr>
          <a:xfrm>
            <a:off x="827516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PDP trust + detail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Mobile is the store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86% of sessions and 87% of orders are mobile, and mobile converts at least as well as desktop.</a:t>
            </a:r>
          </a:p>
        </p:txBody>
      </p:sp>
      <p:graphicFrame>
        <p:nvGraphicFramePr>
          <p:cNvPr id="10" name="Table 9"/>
          <p:cNvGraphicFramePr>
            <a:graphicFrameLocks noGrp="1"/>
          </p:cNvGraphicFramePr>
          <p:nvPr/>
        </p:nvGraphicFramePr>
        <p:xfrm>
          <a:off x="1463040" y="2377440"/>
          <a:ext cx="9235437" cy="1463040"/>
        </p:xfrm>
        <a:graphic>
          <a:graphicData uri="http://schemas.openxmlformats.org/drawingml/2006/table">
            <a:tbl>
              <a:tblPr>
                <a:tableStyleId>{2D5ABB26-0587-4C30-8999-92F81FD0307C}</a:tableStyleId>
              </a:tblPr>
              <a:tblGrid>
                <a:gridCol w="2232743"/>
                <a:gridCol w="1623813"/>
                <a:gridCol w="1217860"/>
                <a:gridCol w="1217860"/>
                <a:gridCol w="1725301"/>
                <a:gridCol w="1217860"/>
              </a:tblGrid>
              <a:tr h="365760">
                <a:tc>
                  <a:txBody>
                    <a:bodyPr wrap="square"/>
                    <a:lstStyle/>
                    <a:p>
                      <a:pPr algn="l"/>
                      <a:r>
                        <a:rPr sz="900" b="1" spc="100">
                          <a:solidFill>
                            <a:srgbClr val="999999"/>
                          </a:solidFill>
                          <a:latin typeface="Helvetica Neue"/>
                        </a:rPr>
                        <a:t>DEVICE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SHARE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REVENUE (SEK)</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BOUNCE</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Mobile</a:t>
                      </a:r>
                    </a:p>
                  </a:txBody>
                  <a:tcPr marL="73152" marR="73152" marT="18288" marB="18288" anchor="ctr">
                    <a:solidFill>
                      <a:srgbClr val="000000"/>
                    </a:solidFill>
                  </a:tcPr>
                </a:tc>
                <a:tc>
                  <a:txBody>
                    <a:bodyPr wrap="square"/>
                    <a:lstStyle/>
                    <a:p>
                      <a:pPr algn="r"/>
                      <a:r>
                        <a:rPr sz="1100" b="0">
                          <a:solidFill>
                            <a:srgbClr val="EFEEEE"/>
                          </a:solidFill>
                          <a:latin typeface="Menlo"/>
                        </a:rPr>
                        <a:t>388.549</a:t>
                      </a:r>
                    </a:p>
                  </a:txBody>
                  <a:tcPr marL="73152" marR="73152" marT="18288" marB="18288" anchor="ctr">
                    <a:solidFill>
                      <a:srgbClr val="000000"/>
                    </a:solidFill>
                  </a:tcPr>
                </a:tc>
                <a:tc>
                  <a:txBody>
                    <a:bodyPr wrap="square"/>
                    <a:lstStyle/>
                    <a:p>
                      <a:pPr algn="r"/>
                      <a:r>
                        <a:rPr sz="1100" b="0">
                          <a:solidFill>
                            <a:srgbClr val="EFEEEE"/>
                          </a:solidFill>
                          <a:latin typeface="Menlo"/>
                        </a:rPr>
                        <a:t>85,9%</a:t>
                      </a:r>
                    </a:p>
                  </a:txBody>
                  <a:tcPr marL="73152" marR="73152" marT="18288" marB="18288" anchor="ctr">
                    <a:solidFill>
                      <a:srgbClr val="000000"/>
                    </a:solidFill>
                  </a:tcPr>
                </a:tc>
                <a:tc>
                  <a:txBody>
                    <a:bodyPr wrap="square"/>
                    <a:lstStyle/>
                    <a:p>
                      <a:pPr algn="r"/>
                      <a:r>
                        <a:rPr sz="1100" b="0">
                          <a:solidFill>
                            <a:srgbClr val="22C55E"/>
                          </a:solidFill>
                          <a:latin typeface="Menlo"/>
                        </a:rPr>
                        <a:t>2,61%</a:t>
                      </a:r>
                    </a:p>
                  </a:txBody>
                  <a:tcPr marL="73152" marR="73152" marT="18288" marB="18288" anchor="ctr">
                    <a:solidFill>
                      <a:srgbClr val="000000"/>
                    </a:solidFill>
                  </a:tcPr>
                </a:tc>
                <a:tc>
                  <a:txBody>
                    <a:bodyPr wrap="square"/>
                    <a:lstStyle/>
                    <a:p>
                      <a:pPr algn="r"/>
                      <a:r>
                        <a:rPr sz="1100" b="0">
                          <a:solidFill>
                            <a:srgbClr val="EFEEEE"/>
                          </a:solidFill>
                          <a:latin typeface="Menlo"/>
                        </a:rPr>
                        <a:t>10,23M</a:t>
                      </a:r>
                    </a:p>
                  </a:txBody>
                  <a:tcPr marL="73152" marR="73152" marT="18288" marB="18288" anchor="ctr">
                    <a:solidFill>
                      <a:srgbClr val="000000"/>
                    </a:solidFill>
                  </a:tcPr>
                </a:tc>
                <a:tc>
                  <a:txBody>
                    <a:bodyPr wrap="square"/>
                    <a:lstStyle/>
                    <a:p>
                      <a:pPr algn="r"/>
                      <a:r>
                        <a:rPr sz="1100" b="0">
                          <a:solidFill>
                            <a:srgbClr val="EFEEEE"/>
                          </a:solidFill>
                          <a:latin typeface="Menlo"/>
                        </a:rPr>
                        <a:t>41,1%</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Desktop</a:t>
                      </a:r>
                    </a:p>
                  </a:txBody>
                  <a:tcPr marL="73152" marR="73152" marT="18288" marB="18288" anchor="ctr">
                    <a:solidFill>
                      <a:srgbClr val="0B0B0B"/>
                    </a:solidFill>
                  </a:tcPr>
                </a:tc>
                <a:tc>
                  <a:txBody>
                    <a:bodyPr wrap="square"/>
                    <a:lstStyle/>
                    <a:p>
                      <a:pPr algn="r"/>
                      <a:r>
                        <a:rPr sz="1100" b="0">
                          <a:solidFill>
                            <a:srgbClr val="EFEEEE"/>
                          </a:solidFill>
                          <a:latin typeface="Menlo"/>
                        </a:rPr>
                        <a:t>47.604</a:t>
                      </a:r>
                    </a:p>
                  </a:txBody>
                  <a:tcPr marL="73152" marR="73152" marT="18288" marB="18288" anchor="ctr">
                    <a:solidFill>
                      <a:srgbClr val="0B0B0B"/>
                    </a:solidFill>
                  </a:tcPr>
                </a:tc>
                <a:tc>
                  <a:txBody>
                    <a:bodyPr wrap="square"/>
                    <a:lstStyle/>
                    <a:p>
                      <a:pPr algn="r"/>
                      <a:r>
                        <a:rPr sz="1100" b="0">
                          <a:solidFill>
                            <a:srgbClr val="EFEEEE"/>
                          </a:solidFill>
                          <a:latin typeface="Menlo"/>
                        </a:rPr>
                        <a:t>10,5%</a:t>
                      </a:r>
                    </a:p>
                  </a:txBody>
                  <a:tcPr marL="73152" marR="73152" marT="18288" marB="18288" anchor="ctr">
                    <a:solidFill>
                      <a:srgbClr val="0B0B0B"/>
                    </a:solidFill>
                  </a:tcPr>
                </a:tc>
                <a:tc>
                  <a:txBody>
                    <a:bodyPr wrap="square"/>
                    <a:lstStyle/>
                    <a:p>
                      <a:pPr algn="r"/>
                      <a:r>
                        <a:rPr sz="1100" b="0">
                          <a:solidFill>
                            <a:srgbClr val="EFEEEE"/>
                          </a:solidFill>
                          <a:latin typeface="Menlo"/>
                        </a:rPr>
                        <a:t>2,25%</a:t>
                      </a:r>
                    </a:p>
                  </a:txBody>
                  <a:tcPr marL="73152" marR="73152" marT="18288" marB="18288" anchor="ctr">
                    <a:solidFill>
                      <a:srgbClr val="0B0B0B"/>
                    </a:solidFill>
                  </a:tcPr>
                </a:tc>
                <a:tc>
                  <a:txBody>
                    <a:bodyPr wrap="square"/>
                    <a:lstStyle/>
                    <a:p>
                      <a:pPr algn="r"/>
                      <a:r>
                        <a:rPr sz="1100" b="0">
                          <a:solidFill>
                            <a:srgbClr val="EFEEEE"/>
                          </a:solidFill>
                          <a:latin typeface="Menlo"/>
                        </a:rPr>
                        <a:t>1,21M</a:t>
                      </a:r>
                    </a:p>
                  </a:txBody>
                  <a:tcPr marL="73152" marR="73152" marT="18288" marB="18288" anchor="ctr">
                    <a:solidFill>
                      <a:srgbClr val="0B0B0B"/>
                    </a:solidFill>
                  </a:tcPr>
                </a:tc>
                <a:tc>
                  <a:txBody>
                    <a:bodyPr wrap="square"/>
                    <a:lstStyle/>
                    <a:p>
                      <a:pPr algn="r"/>
                      <a:r>
                        <a:rPr sz="1100" b="0">
                          <a:solidFill>
                            <a:srgbClr val="EFEEEE"/>
                          </a:solidFill>
                          <a:latin typeface="Menlo"/>
                        </a:rPr>
                        <a:t>39,4%</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Tablet</a:t>
                      </a:r>
                    </a:p>
                  </a:txBody>
                  <a:tcPr marL="73152" marR="73152" marT="18288" marB="18288" anchor="ctr">
                    <a:solidFill>
                      <a:srgbClr val="000000"/>
                    </a:solidFill>
                  </a:tcPr>
                </a:tc>
                <a:tc>
                  <a:txBody>
                    <a:bodyPr wrap="square"/>
                    <a:lstStyle/>
                    <a:p>
                      <a:pPr algn="r"/>
                      <a:r>
                        <a:rPr sz="1100" b="0">
                          <a:solidFill>
                            <a:srgbClr val="EFEEEE"/>
                          </a:solidFill>
                          <a:latin typeface="Menlo"/>
                        </a:rPr>
                        <a:t>16.247</a:t>
                      </a:r>
                    </a:p>
                  </a:txBody>
                  <a:tcPr marL="73152" marR="73152" marT="18288" marB="18288" anchor="ctr">
                    <a:solidFill>
                      <a:srgbClr val="000000"/>
                    </a:solidFill>
                  </a:tcPr>
                </a:tc>
                <a:tc>
                  <a:txBody>
                    <a:bodyPr wrap="square"/>
                    <a:lstStyle/>
                    <a:p>
                      <a:pPr algn="r"/>
                      <a:r>
                        <a:rPr sz="1100" b="0">
                          <a:solidFill>
                            <a:srgbClr val="EFEEEE"/>
                          </a:solidFill>
                          <a:latin typeface="Menlo"/>
                        </a:rPr>
                        <a:t>3,6%</a:t>
                      </a:r>
                    </a:p>
                  </a:txBody>
                  <a:tcPr marL="73152" marR="73152" marT="18288" marB="18288" anchor="ctr">
                    <a:solidFill>
                      <a:srgbClr val="000000"/>
                    </a:solidFill>
                  </a:tcPr>
                </a:tc>
                <a:tc>
                  <a:txBody>
                    <a:bodyPr wrap="square"/>
                    <a:lstStyle/>
                    <a:p>
                      <a:pPr algn="r"/>
                      <a:r>
                        <a:rPr sz="1100" b="0">
                          <a:solidFill>
                            <a:srgbClr val="22C55E"/>
                          </a:solidFill>
                          <a:latin typeface="Menlo"/>
                        </a:rPr>
                        <a:t>2,94%</a:t>
                      </a:r>
                    </a:p>
                  </a:txBody>
                  <a:tcPr marL="73152" marR="73152" marT="18288" marB="18288" anchor="ctr">
                    <a:solidFill>
                      <a:srgbClr val="000000"/>
                    </a:solidFill>
                  </a:tcPr>
                </a:tc>
                <a:tc>
                  <a:txBody>
                    <a:bodyPr wrap="square"/>
                    <a:lstStyle/>
                    <a:p>
                      <a:pPr algn="r"/>
                      <a:r>
                        <a:rPr sz="1100" b="0">
                          <a:solidFill>
                            <a:srgbClr val="EFEEEE"/>
                          </a:solidFill>
                          <a:latin typeface="Menlo"/>
                        </a:rPr>
                        <a:t>0,44M</a:t>
                      </a:r>
                    </a:p>
                  </a:txBody>
                  <a:tcPr marL="73152" marR="73152" marT="18288" marB="18288" anchor="ctr">
                    <a:solidFill>
                      <a:srgbClr val="000000"/>
                    </a:solidFill>
                  </a:tcPr>
                </a:tc>
                <a:tc>
                  <a:txBody>
                    <a:bodyPr wrap="square"/>
                    <a:lstStyle/>
                    <a:p>
                      <a:pPr algn="r"/>
                      <a:r>
                        <a:rPr sz="1100" b="0">
                          <a:solidFill>
                            <a:srgbClr val="EFEEEE"/>
                          </a:solidFill>
                          <a:latin typeface="Menlo"/>
                        </a:rPr>
                        <a:t>43,2%</a:t>
                      </a:r>
                    </a:p>
                  </a:txBody>
                  <a:tcPr marL="73152" marR="73152" marT="18288" marB="18288" anchor="ctr">
                    <a:solidFill>
                      <a:srgbClr val="000000"/>
                    </a:solidFill>
                  </a:tcPr>
                </a:tc>
              </a:tr>
            </a:tbl>
          </a:graphicData>
        </a:graphic>
      </p:graphicFrame>
      <p:sp>
        <p:nvSpPr>
          <p:cNvPr id="11" name="TextBox 10"/>
          <p:cNvSpPr txBox="1"/>
          <p:nvPr/>
        </p:nvSpPr>
        <p:spPr>
          <a:xfrm>
            <a:off x="1463040" y="4023360"/>
            <a:ext cx="9235440" cy="365760"/>
          </a:xfrm>
          <a:prstGeom prst="rect">
            <a:avLst/>
          </a:prstGeom>
          <a:noFill/>
        </p:spPr>
        <p:txBody>
          <a:bodyPr wrap="square" lIns="0" rIns="0" tIns="0" bIns="0" anchor="t">
            <a:spAutoFit/>
          </a:bodyPr>
          <a:lstStyle/>
          <a:p>
            <a:pPr algn="l"/>
            <a:r>
              <a:rPr sz="1100" b="0" i="0">
                <a:solidFill>
                  <a:srgbClr val="6B7C75"/>
                </a:solidFill>
                <a:latin typeface="Helvetica Neue"/>
              </a:rPr>
              <a:t>Desktop converts slightly worse than mobile here, which is unusual and points to a desktop specific friction worth a follow up look.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Traffic and channel performance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Facebook paid carries the store. Email is a strong, cheaper second engine.</a:t>
            </a:r>
          </a:p>
        </p:txBody>
      </p:sp>
      <p:graphicFrame>
        <p:nvGraphicFramePr>
          <p:cNvPr id="10" name="Table 9"/>
          <p:cNvGraphicFramePr>
            <a:graphicFrameLocks noGrp="1"/>
          </p:cNvGraphicFramePr>
          <p:nvPr/>
        </p:nvGraphicFramePr>
        <p:xfrm>
          <a:off x="1005840" y="2286000"/>
          <a:ext cx="10149838" cy="2340864"/>
        </p:xfrm>
        <a:graphic>
          <a:graphicData uri="http://schemas.openxmlformats.org/drawingml/2006/table">
            <a:tbl>
              <a:tblPr>
                <a:tableStyleId>{2D5ABB26-0587-4C30-8999-92F81FD0307C}</a:tableStyleId>
              </a:tblPr>
              <a:tblGrid>
                <a:gridCol w="2927838"/>
                <a:gridCol w="1463919"/>
                <a:gridCol w="1268730"/>
                <a:gridCol w="1171135"/>
                <a:gridCol w="1854297"/>
                <a:gridCol w="1463919"/>
              </a:tblGrid>
              <a:tr h="365760">
                <a:tc>
                  <a:txBody>
                    <a:bodyPr wrap="square"/>
                    <a:lstStyle/>
                    <a:p>
                      <a:pPr algn="l"/>
                      <a:r>
                        <a:rPr sz="900" b="1" spc="100">
                          <a:solidFill>
                            <a:srgbClr val="999999"/>
                          </a:solidFill>
                          <a:latin typeface="Helvetica Neue"/>
                        </a:rPr>
                        <a:t>SOURCE / MEDIUM</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ORDERS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SHARE OF ORDERS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REVENUE (SEK)</a:t>
                      </a:r>
                    </a:p>
                  </a:txBody>
                  <a:tcPr marL="73152" marR="73152" marT="18288" marB="18288" anchor="ctr">
                    <a:solidFill>
                      <a:srgbClr val="0A0A0A"/>
                    </a:solidFill>
                  </a:tcPr>
                </a:tc>
              </a:tr>
              <a:tr h="329184">
                <a:tc>
                  <a:txBody>
                    <a:bodyPr wrap="square"/>
                    <a:lstStyle/>
                    <a:p>
                      <a:pPr algn="l"/>
                      <a:r>
                        <a:rPr sz="1100" b="1">
                          <a:solidFill>
                            <a:srgbClr val="EF4444"/>
                          </a:solidFill>
                          <a:latin typeface="Helvetica Neue"/>
                        </a:rPr>
                        <a:t>facebook / paid</a:t>
                      </a:r>
                    </a:p>
                  </a:txBody>
                  <a:tcPr marL="73152" marR="73152" marT="18288" marB="18288" anchor="ctr">
                    <a:solidFill>
                      <a:srgbClr val="000000"/>
                    </a:solidFill>
                  </a:tcPr>
                </a:tc>
                <a:tc>
                  <a:txBody>
                    <a:bodyPr wrap="square"/>
                    <a:lstStyle/>
                    <a:p>
                      <a:pPr algn="r"/>
                      <a:r>
                        <a:rPr sz="1100" b="0">
                          <a:solidFill>
                            <a:srgbClr val="EFEEEE"/>
                          </a:solidFill>
                          <a:latin typeface="Menlo"/>
                        </a:rPr>
                        <a:t>187.519</a:t>
                      </a:r>
                    </a:p>
                  </a:txBody>
                  <a:tcPr marL="73152" marR="73152" marT="18288" marB="18288" anchor="ctr">
                    <a:solidFill>
                      <a:srgbClr val="000000"/>
                    </a:solidFill>
                  </a:tcPr>
                </a:tc>
                <a:tc>
                  <a:txBody>
                    <a:bodyPr wrap="square"/>
                    <a:lstStyle/>
                    <a:p>
                      <a:pPr algn="r"/>
                      <a:r>
                        <a:rPr sz="1100" b="0">
                          <a:solidFill>
                            <a:srgbClr val="EFEEEE"/>
                          </a:solidFill>
                          <a:latin typeface="Menlo"/>
                        </a:rPr>
                        <a:t>5.092</a:t>
                      </a:r>
                    </a:p>
                  </a:txBody>
                  <a:tcPr marL="73152" marR="73152" marT="18288" marB="18288" anchor="ctr">
                    <a:solidFill>
                      <a:srgbClr val="000000"/>
                    </a:solidFill>
                  </a:tcPr>
                </a:tc>
                <a:tc>
                  <a:txBody>
                    <a:bodyPr wrap="square"/>
                    <a:lstStyle/>
                    <a:p>
                      <a:pPr algn="r"/>
                      <a:r>
                        <a:rPr sz="1100" b="0">
                          <a:solidFill>
                            <a:srgbClr val="EFEEEE"/>
                          </a:solidFill>
                          <a:latin typeface="Menlo"/>
                        </a:rPr>
                        <a:t>2,72%</a:t>
                      </a:r>
                    </a:p>
                  </a:txBody>
                  <a:tcPr marL="73152" marR="73152" marT="18288" marB="18288" anchor="ctr">
                    <a:solidFill>
                      <a:srgbClr val="000000"/>
                    </a:solidFill>
                  </a:tcPr>
                </a:tc>
                <a:tc>
                  <a:txBody>
                    <a:bodyPr wrap="square"/>
                    <a:lstStyle/>
                    <a:p>
                      <a:pPr algn="r"/>
                      <a:r>
                        <a:rPr sz="1100" b="0">
                          <a:solidFill>
                            <a:srgbClr val="EF4444"/>
                          </a:solidFill>
                          <a:latin typeface="Menlo"/>
                        </a:rPr>
                        <a:t>43,6%</a:t>
                      </a:r>
                    </a:p>
                  </a:txBody>
                  <a:tcPr marL="73152" marR="73152" marT="18288" marB="18288" anchor="ctr">
                    <a:solidFill>
                      <a:srgbClr val="000000"/>
                    </a:solidFill>
                  </a:tcPr>
                </a:tc>
                <a:tc>
                  <a:txBody>
                    <a:bodyPr wrap="square"/>
                    <a:lstStyle/>
                    <a:p>
                      <a:pPr algn="r"/>
                      <a:r>
                        <a:rPr sz="1100" b="0">
                          <a:solidFill>
                            <a:srgbClr val="EFEEEE"/>
                          </a:solidFill>
                          <a:latin typeface="Menlo"/>
                        </a:rPr>
                        <a:t>4,73M</a:t>
                      </a:r>
                    </a:p>
                  </a:txBody>
                  <a:tcPr marL="73152" marR="73152" marT="18288" marB="18288" anchor="ctr">
                    <a:solidFill>
                      <a:srgbClr val="000000"/>
                    </a:solidFill>
                  </a:tcPr>
                </a:tc>
              </a:tr>
              <a:tr h="329184">
                <a:tc>
                  <a:txBody>
                    <a:bodyPr wrap="square"/>
                    <a:lstStyle/>
                    <a:p>
                      <a:pPr algn="l"/>
                      <a:r>
                        <a:rPr sz="1100" b="1">
                          <a:solidFill>
                            <a:srgbClr val="F7D007"/>
                          </a:solidFill>
                          <a:latin typeface="Helvetica Neue"/>
                        </a:rPr>
                        <a:t>Klaviyo / email</a:t>
                      </a:r>
                    </a:p>
                  </a:txBody>
                  <a:tcPr marL="73152" marR="73152" marT="18288" marB="18288" anchor="ctr">
                    <a:solidFill>
                      <a:srgbClr val="0B0B0B"/>
                    </a:solidFill>
                  </a:tcPr>
                </a:tc>
                <a:tc>
                  <a:txBody>
                    <a:bodyPr wrap="square"/>
                    <a:lstStyle/>
                    <a:p>
                      <a:pPr algn="r"/>
                      <a:r>
                        <a:rPr sz="1100" b="0">
                          <a:solidFill>
                            <a:srgbClr val="EFEEEE"/>
                          </a:solidFill>
                          <a:latin typeface="Menlo"/>
                        </a:rPr>
                        <a:t>72.324</a:t>
                      </a:r>
                    </a:p>
                  </a:txBody>
                  <a:tcPr marL="73152" marR="73152" marT="18288" marB="18288" anchor="ctr">
                    <a:solidFill>
                      <a:srgbClr val="0B0B0B"/>
                    </a:solidFill>
                  </a:tcPr>
                </a:tc>
                <a:tc>
                  <a:txBody>
                    <a:bodyPr wrap="square"/>
                    <a:lstStyle/>
                    <a:p>
                      <a:pPr algn="r"/>
                      <a:r>
                        <a:rPr sz="1100" b="0">
                          <a:solidFill>
                            <a:srgbClr val="EFEEEE"/>
                          </a:solidFill>
                          <a:latin typeface="Menlo"/>
                        </a:rPr>
                        <a:t>1.846</a:t>
                      </a:r>
                    </a:p>
                  </a:txBody>
                  <a:tcPr marL="73152" marR="73152" marT="18288" marB="18288" anchor="ctr">
                    <a:solidFill>
                      <a:srgbClr val="0B0B0B"/>
                    </a:solidFill>
                  </a:tcPr>
                </a:tc>
                <a:tc>
                  <a:txBody>
                    <a:bodyPr wrap="square"/>
                    <a:lstStyle/>
                    <a:p>
                      <a:pPr algn="r"/>
                      <a:r>
                        <a:rPr sz="1100" b="0">
                          <a:solidFill>
                            <a:srgbClr val="EFEEEE"/>
                          </a:solidFill>
                          <a:latin typeface="Menlo"/>
                        </a:rPr>
                        <a:t>2,55%</a:t>
                      </a:r>
                    </a:p>
                  </a:txBody>
                  <a:tcPr marL="73152" marR="73152" marT="18288" marB="18288" anchor="ctr">
                    <a:solidFill>
                      <a:srgbClr val="0B0B0B"/>
                    </a:solidFill>
                  </a:tcPr>
                </a:tc>
                <a:tc>
                  <a:txBody>
                    <a:bodyPr wrap="square"/>
                    <a:lstStyle/>
                    <a:p>
                      <a:pPr algn="r"/>
                      <a:r>
                        <a:rPr sz="1100" b="0">
                          <a:solidFill>
                            <a:srgbClr val="EFEEEE"/>
                          </a:solidFill>
                          <a:latin typeface="Menlo"/>
                        </a:rPr>
                        <a:t>15,8%</a:t>
                      </a:r>
                    </a:p>
                  </a:txBody>
                  <a:tcPr marL="73152" marR="73152" marT="18288" marB="18288" anchor="ctr">
                    <a:solidFill>
                      <a:srgbClr val="0B0B0B"/>
                    </a:solidFill>
                  </a:tcPr>
                </a:tc>
                <a:tc>
                  <a:txBody>
                    <a:bodyPr wrap="square"/>
                    <a:lstStyle/>
                    <a:p>
                      <a:pPr algn="r"/>
                      <a:r>
                        <a:rPr sz="1100" b="0">
                          <a:solidFill>
                            <a:srgbClr val="EFEEEE"/>
                          </a:solidFill>
                          <a:latin typeface="Menlo"/>
                        </a:rPr>
                        <a:t>1,90M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google / cpc</a:t>
                      </a:r>
                    </a:p>
                  </a:txBody>
                  <a:tcPr marL="73152" marR="73152" marT="18288" marB="18288" anchor="ctr">
                    <a:solidFill>
                      <a:srgbClr val="000000"/>
                    </a:solidFill>
                  </a:tcPr>
                </a:tc>
                <a:tc>
                  <a:txBody>
                    <a:bodyPr wrap="square"/>
                    <a:lstStyle/>
                    <a:p>
                      <a:pPr algn="r"/>
                      <a:r>
                        <a:rPr sz="1100" b="0">
                          <a:solidFill>
                            <a:srgbClr val="EFEEEE"/>
                          </a:solidFill>
                          <a:latin typeface="Menlo"/>
                        </a:rPr>
                        <a:t>66.979</a:t>
                      </a:r>
                    </a:p>
                  </a:txBody>
                  <a:tcPr marL="73152" marR="73152" marT="18288" marB="18288" anchor="ctr">
                    <a:solidFill>
                      <a:srgbClr val="000000"/>
                    </a:solidFill>
                  </a:tcPr>
                </a:tc>
                <a:tc>
                  <a:txBody>
                    <a:bodyPr wrap="square"/>
                    <a:lstStyle/>
                    <a:p>
                      <a:pPr algn="r"/>
                      <a:r>
                        <a:rPr sz="1100" b="0">
                          <a:solidFill>
                            <a:srgbClr val="EFEEEE"/>
                          </a:solidFill>
                          <a:latin typeface="Menlo"/>
                        </a:rPr>
                        <a:t>1.674</a:t>
                      </a:r>
                    </a:p>
                  </a:txBody>
                  <a:tcPr marL="73152" marR="73152" marT="18288" marB="18288" anchor="ctr">
                    <a:solidFill>
                      <a:srgbClr val="000000"/>
                    </a:solidFill>
                  </a:tcPr>
                </a:tc>
                <a:tc>
                  <a:txBody>
                    <a:bodyPr wrap="square"/>
                    <a:lstStyle/>
                    <a:p>
                      <a:pPr algn="r"/>
                      <a:r>
                        <a:rPr sz="1100" b="0">
                          <a:solidFill>
                            <a:srgbClr val="22C55E"/>
                          </a:solidFill>
                          <a:latin typeface="Menlo"/>
                        </a:rPr>
                        <a:t>2,50%</a:t>
                      </a:r>
                    </a:p>
                  </a:txBody>
                  <a:tcPr marL="73152" marR="73152" marT="18288" marB="18288" anchor="ctr">
                    <a:solidFill>
                      <a:srgbClr val="000000"/>
                    </a:solidFill>
                  </a:tcPr>
                </a:tc>
                <a:tc>
                  <a:txBody>
                    <a:bodyPr wrap="square"/>
                    <a:lstStyle/>
                    <a:p>
                      <a:pPr algn="r"/>
                      <a:r>
                        <a:rPr sz="1100" b="0">
                          <a:solidFill>
                            <a:srgbClr val="EFEEEE"/>
                          </a:solidFill>
                          <a:latin typeface="Menlo"/>
                        </a:rPr>
                        <a:t>14,3%</a:t>
                      </a:r>
                    </a:p>
                  </a:txBody>
                  <a:tcPr marL="73152" marR="73152" marT="18288" marB="18288" anchor="ctr">
                    <a:solidFill>
                      <a:srgbClr val="000000"/>
                    </a:solidFill>
                  </a:tcPr>
                </a:tc>
                <a:tc>
                  <a:txBody>
                    <a:bodyPr wrap="square"/>
                    <a:lstStyle/>
                    <a:p>
                      <a:pPr algn="r"/>
                      <a:r>
                        <a:rPr sz="1100" b="0">
                          <a:solidFill>
                            <a:srgbClr val="EFEEEE"/>
                          </a:solidFill>
                          <a:latin typeface="Menlo"/>
                        </a:rPr>
                        <a:t>1,87M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(direct)</a:t>
                      </a:r>
                    </a:p>
                  </a:txBody>
                  <a:tcPr marL="73152" marR="73152" marT="18288" marB="18288" anchor="ctr">
                    <a:solidFill>
                      <a:srgbClr val="0B0B0B"/>
                    </a:solidFill>
                  </a:tcPr>
                </a:tc>
                <a:tc>
                  <a:txBody>
                    <a:bodyPr wrap="square"/>
                    <a:lstStyle/>
                    <a:p>
                      <a:pPr algn="r"/>
                      <a:r>
                        <a:rPr sz="1100" b="0">
                          <a:solidFill>
                            <a:srgbClr val="EFEEEE"/>
                          </a:solidFill>
                          <a:latin typeface="Menlo"/>
                        </a:rPr>
                        <a:t>50.060</a:t>
                      </a:r>
                    </a:p>
                  </a:txBody>
                  <a:tcPr marL="73152" marR="73152" marT="18288" marB="18288" anchor="ctr">
                    <a:solidFill>
                      <a:srgbClr val="0B0B0B"/>
                    </a:solidFill>
                  </a:tcPr>
                </a:tc>
                <a:tc>
                  <a:txBody>
                    <a:bodyPr wrap="square"/>
                    <a:lstStyle/>
                    <a:p>
                      <a:pPr algn="r"/>
                      <a:r>
                        <a:rPr sz="1100" b="0">
                          <a:solidFill>
                            <a:srgbClr val="EFEEEE"/>
                          </a:solidFill>
                          <a:latin typeface="Menlo"/>
                        </a:rPr>
                        <a:t>1.252</a:t>
                      </a:r>
                    </a:p>
                  </a:txBody>
                  <a:tcPr marL="73152" marR="73152" marT="18288" marB="18288" anchor="ctr">
                    <a:solidFill>
                      <a:srgbClr val="0B0B0B"/>
                    </a:solidFill>
                  </a:tcPr>
                </a:tc>
                <a:tc>
                  <a:txBody>
                    <a:bodyPr wrap="square"/>
                    <a:lstStyle/>
                    <a:p>
                      <a:pPr algn="r"/>
                      <a:r>
                        <a:rPr sz="1100" b="0">
                          <a:solidFill>
                            <a:srgbClr val="EFEEEE"/>
                          </a:solidFill>
                          <a:latin typeface="Menlo"/>
                        </a:rPr>
                        <a:t>2,50%</a:t>
                      </a:r>
                    </a:p>
                  </a:txBody>
                  <a:tcPr marL="73152" marR="73152" marT="18288" marB="18288" anchor="ctr">
                    <a:solidFill>
                      <a:srgbClr val="0B0B0B"/>
                    </a:solidFill>
                  </a:tcPr>
                </a:tc>
                <a:tc>
                  <a:txBody>
                    <a:bodyPr wrap="square"/>
                    <a:lstStyle/>
                    <a:p>
                      <a:pPr algn="r"/>
                      <a:r>
                        <a:rPr sz="1100" b="0">
                          <a:solidFill>
                            <a:srgbClr val="EFEEEE"/>
                          </a:solidFill>
                          <a:latin typeface="Menlo"/>
                        </a:rPr>
                        <a:t>10,7%</a:t>
                      </a:r>
                    </a:p>
                  </a:txBody>
                  <a:tcPr marL="73152" marR="73152" marT="18288" marB="18288" anchor="ctr">
                    <a:solidFill>
                      <a:srgbClr val="0B0B0B"/>
                    </a:solidFill>
                  </a:tcPr>
                </a:tc>
                <a:tc>
                  <a:txBody>
                    <a:bodyPr wrap="square"/>
                    <a:lstStyle/>
                    <a:p>
                      <a:pPr algn="r"/>
                      <a:r>
                        <a:rPr sz="1100" b="0">
                          <a:solidFill>
                            <a:srgbClr val="EFEEEE"/>
                          </a:solidFill>
                          <a:latin typeface="Menlo"/>
                        </a:rPr>
                        <a:t>1,41M</a:t>
                      </a:r>
                    </a:p>
                  </a:txBody>
                  <a:tcPr marL="73152" marR="73152" marT="18288" marB="18288" anchor="ctr">
                    <a:solidFill>
                      <a:srgbClr val="0B0B0B"/>
                    </a:solidFill>
                  </a:tcPr>
                </a:tc>
              </a:tr>
              <a:tr h="329184">
                <a:tc>
                  <a:txBody>
                    <a:bodyPr wrap="square"/>
                    <a:lstStyle/>
                    <a:p>
                      <a:pPr algn="l"/>
                      <a:r>
                        <a:rPr sz="1100" b="1">
                          <a:solidFill>
                            <a:srgbClr val="F59E0B"/>
                          </a:solidFill>
                          <a:latin typeface="Helvetica Neue"/>
                        </a:rPr>
                        <a:t>google / organic</a:t>
                      </a:r>
                    </a:p>
                  </a:txBody>
                  <a:tcPr marL="73152" marR="73152" marT="18288" marB="18288" anchor="ctr">
                    <a:solidFill>
                      <a:srgbClr val="000000"/>
                    </a:solidFill>
                  </a:tcPr>
                </a:tc>
                <a:tc>
                  <a:txBody>
                    <a:bodyPr wrap="square"/>
                    <a:lstStyle/>
                    <a:p>
                      <a:pPr algn="r"/>
                      <a:r>
                        <a:rPr sz="1100" b="0">
                          <a:solidFill>
                            <a:srgbClr val="EFEEEE"/>
                          </a:solidFill>
                          <a:latin typeface="Menlo"/>
                        </a:rPr>
                        <a:t>41.999</a:t>
                      </a:r>
                    </a:p>
                  </a:txBody>
                  <a:tcPr marL="73152" marR="73152" marT="18288" marB="18288" anchor="ctr">
                    <a:solidFill>
                      <a:srgbClr val="000000"/>
                    </a:solidFill>
                  </a:tcPr>
                </a:tc>
                <a:tc>
                  <a:txBody>
                    <a:bodyPr wrap="square"/>
                    <a:lstStyle/>
                    <a:p>
                      <a:pPr algn="r"/>
                      <a:r>
                        <a:rPr sz="1100" b="0">
                          <a:solidFill>
                            <a:srgbClr val="EFEEEE"/>
                          </a:solidFill>
                          <a:latin typeface="Menlo"/>
                        </a:rPr>
                        <a:t>851</a:t>
                      </a:r>
                    </a:p>
                  </a:txBody>
                  <a:tcPr marL="73152" marR="73152" marT="18288" marB="18288" anchor="ctr">
                    <a:solidFill>
                      <a:srgbClr val="000000"/>
                    </a:solidFill>
                  </a:tcPr>
                </a:tc>
                <a:tc>
                  <a:txBody>
                    <a:bodyPr wrap="square"/>
                    <a:lstStyle/>
                    <a:p>
                      <a:pPr algn="r"/>
                      <a:r>
                        <a:rPr sz="1100" b="0">
                          <a:solidFill>
                            <a:srgbClr val="F59E0B"/>
                          </a:solidFill>
                          <a:latin typeface="Menlo"/>
                        </a:rPr>
                        <a:t>2,03%</a:t>
                      </a:r>
                    </a:p>
                  </a:txBody>
                  <a:tcPr marL="73152" marR="73152" marT="18288" marB="18288" anchor="ctr">
                    <a:solidFill>
                      <a:srgbClr val="000000"/>
                    </a:solidFill>
                  </a:tcPr>
                </a:tc>
                <a:tc>
                  <a:txBody>
                    <a:bodyPr wrap="square"/>
                    <a:lstStyle/>
                    <a:p>
                      <a:pPr algn="r"/>
                      <a:r>
                        <a:rPr sz="1100" b="0">
                          <a:solidFill>
                            <a:srgbClr val="EFEEEE"/>
                          </a:solidFill>
                          <a:latin typeface="Menlo"/>
                        </a:rPr>
                        <a:t>7,3%</a:t>
                      </a:r>
                    </a:p>
                  </a:txBody>
                  <a:tcPr marL="73152" marR="73152" marT="18288" marB="18288" anchor="ctr">
                    <a:solidFill>
                      <a:srgbClr val="000000"/>
                    </a:solidFill>
                  </a:tcPr>
                </a:tc>
                <a:tc>
                  <a:txBody>
                    <a:bodyPr wrap="square"/>
                    <a:lstStyle/>
                    <a:p>
                      <a:pPr algn="r"/>
                      <a:r>
                        <a:rPr sz="1100" b="0">
                          <a:solidFill>
                            <a:srgbClr val="EFEEEE"/>
                          </a:solidFill>
                          <a:latin typeface="Menlo"/>
                        </a:rPr>
                        <a:t>0,96M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Klaviyo / sms</a:t>
                      </a:r>
                    </a:p>
                  </a:txBody>
                  <a:tcPr marL="73152" marR="73152" marT="18288" marB="18288" anchor="ctr">
                    <a:solidFill>
                      <a:srgbClr val="0B0B0B"/>
                    </a:solidFill>
                  </a:tcPr>
                </a:tc>
                <a:tc>
                  <a:txBody>
                    <a:bodyPr wrap="square"/>
                    <a:lstStyle/>
                    <a:p>
                      <a:pPr algn="r"/>
                      <a:r>
                        <a:rPr sz="1100" b="0">
                          <a:solidFill>
                            <a:srgbClr val="EFEEEE"/>
                          </a:solidFill>
                          <a:latin typeface="Menlo"/>
                        </a:rPr>
                        <a:t>7.572</a:t>
                      </a:r>
                    </a:p>
                  </a:txBody>
                  <a:tcPr marL="73152" marR="73152" marT="18288" marB="18288" anchor="ctr">
                    <a:solidFill>
                      <a:srgbClr val="0B0B0B"/>
                    </a:solidFill>
                  </a:tcPr>
                </a:tc>
                <a:tc>
                  <a:txBody>
                    <a:bodyPr wrap="square"/>
                    <a:lstStyle/>
                    <a:p>
                      <a:pPr algn="r"/>
                      <a:r>
                        <a:rPr sz="1100" b="0">
                          <a:solidFill>
                            <a:srgbClr val="EFEEEE"/>
                          </a:solidFill>
                          <a:latin typeface="Menlo"/>
                        </a:rPr>
                        <a:t>155</a:t>
                      </a:r>
                    </a:p>
                  </a:txBody>
                  <a:tcPr marL="73152" marR="73152" marT="18288" marB="18288" anchor="ctr">
                    <a:solidFill>
                      <a:srgbClr val="0B0B0B"/>
                    </a:solidFill>
                  </a:tcPr>
                </a:tc>
                <a:tc>
                  <a:txBody>
                    <a:bodyPr wrap="square"/>
                    <a:lstStyle/>
                    <a:p>
                      <a:pPr algn="r"/>
                      <a:r>
                        <a:rPr sz="1100" b="0">
                          <a:solidFill>
                            <a:srgbClr val="EFEEEE"/>
                          </a:solidFill>
                          <a:latin typeface="Menlo"/>
                        </a:rPr>
                        <a:t>2,05%</a:t>
                      </a:r>
                    </a:p>
                  </a:txBody>
                  <a:tcPr marL="73152" marR="73152" marT="18288" marB="18288" anchor="ctr">
                    <a:solidFill>
                      <a:srgbClr val="0B0B0B"/>
                    </a:solidFill>
                  </a:tcPr>
                </a:tc>
                <a:tc>
                  <a:txBody>
                    <a:bodyPr wrap="square"/>
                    <a:lstStyle/>
                    <a:p>
                      <a:pPr algn="r"/>
                      <a:r>
                        <a:rPr sz="1100" b="0">
                          <a:solidFill>
                            <a:srgbClr val="EFEEEE"/>
                          </a:solidFill>
                          <a:latin typeface="Menlo"/>
                        </a:rPr>
                        <a:t>1,3%</a:t>
                      </a:r>
                    </a:p>
                  </a:txBody>
                  <a:tcPr marL="73152" marR="73152" marT="18288" marB="18288" anchor="ctr">
                    <a:solidFill>
                      <a:srgbClr val="0B0B0B"/>
                    </a:solidFill>
                  </a:tcPr>
                </a:tc>
                <a:tc>
                  <a:txBody>
                    <a:bodyPr wrap="square"/>
                    <a:lstStyle/>
                    <a:p>
                      <a:pPr algn="r"/>
                      <a:r>
                        <a:rPr sz="1100" b="0">
                          <a:solidFill>
                            <a:srgbClr val="EFEEEE"/>
                          </a:solidFill>
                          <a:latin typeface="Menlo"/>
                        </a:rPr>
                        <a:t>0,16M</a:t>
                      </a:r>
                    </a:p>
                  </a:txBody>
                  <a:tcPr marL="73152" marR="73152" marT="18288" marB="18288" anchor="ctr">
                    <a:solidFill>
                      <a:srgbClr val="0B0B0B"/>
                    </a:solidFill>
                  </a:tcPr>
                </a:tc>
              </a:tr>
            </a:tbl>
          </a:graphicData>
        </a:graphic>
      </p:graphicFrame>
      <p:sp>
        <p:nvSpPr>
          <p:cNvPr id="11" name="TextBox 10"/>
          <p:cNvSpPr txBox="1"/>
          <p:nvPr/>
        </p:nvSpPr>
        <p:spPr>
          <a:xfrm>
            <a:off x="1005840" y="4937760"/>
            <a:ext cx="10149840" cy="365760"/>
          </a:xfrm>
          <a:prstGeom prst="rect">
            <a:avLst/>
          </a:prstGeom>
          <a:noFill/>
        </p:spPr>
        <p:txBody>
          <a:bodyPr wrap="square" lIns="0" rIns="0" tIns="0" bIns="0" anchor="t">
            <a:spAutoFit/>
          </a:bodyPr>
          <a:lstStyle/>
          <a:p>
            <a:pPr algn="l"/>
            <a:r>
              <a:rPr sz="1100" b="0" i="0">
                <a:solidFill>
                  <a:srgbClr val="6B7C75"/>
                </a:solidFill>
                <a:latin typeface="Helvetica Neue"/>
              </a:rPr>
              <a:t>Concentration risk: 43,6% of orders come from one paid channel. Email already returns a strong 2,55% CVR at lower cost.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Retention is underbuilt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Returning visitors convert 26% better, yet only about 1 in 5 users comes back.</a:t>
            </a:r>
          </a:p>
        </p:txBody>
      </p:sp>
      <p:sp>
        <p:nvSpPr>
          <p:cNvPr id="10" name="Rounded Rectangle 9"/>
          <p:cNvSpPr/>
          <p:nvPr/>
        </p:nvSpPr>
        <p:spPr>
          <a:xfrm>
            <a:off x="792327" y="265176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907792"/>
            <a:ext cx="2446020" cy="502920"/>
          </a:xfrm>
          <a:prstGeom prst="rect">
            <a:avLst/>
          </a:prstGeom>
          <a:noFill/>
        </p:spPr>
        <p:txBody>
          <a:bodyPr wrap="square" lIns="0" rIns="0" tIns="0" bIns="0" anchor="t">
            <a:spAutoFit/>
          </a:bodyPr>
          <a:lstStyle/>
          <a:p>
            <a:pPr algn="ctr"/>
            <a:r>
              <a:rPr sz="3000" b="1" i="0">
                <a:solidFill>
                  <a:srgbClr val="FFFFFF"/>
                </a:solidFill>
                <a:latin typeface="Menlo"/>
              </a:rPr>
              <a:t>2,66%</a:t>
            </a:r>
          </a:p>
        </p:txBody>
      </p:sp>
      <p:sp>
        <p:nvSpPr>
          <p:cNvPr id="12" name="TextBox 11"/>
          <p:cNvSpPr txBox="1"/>
          <p:nvPr/>
        </p:nvSpPr>
        <p:spPr>
          <a:xfrm>
            <a:off x="792327" y="343814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USER CVR</a:t>
            </a:r>
          </a:p>
        </p:txBody>
      </p:sp>
      <p:sp>
        <p:nvSpPr>
          <p:cNvPr id="13" name="TextBox 12"/>
          <p:cNvSpPr txBox="1"/>
          <p:nvPr/>
        </p:nvSpPr>
        <p:spPr>
          <a:xfrm>
            <a:off x="792327" y="367588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269.835 sessions</a:t>
            </a:r>
          </a:p>
        </p:txBody>
      </p:sp>
      <p:sp>
        <p:nvSpPr>
          <p:cNvPr id="14" name="Rounded Rectangle 13"/>
          <p:cNvSpPr/>
          <p:nvPr/>
        </p:nvSpPr>
        <p:spPr>
          <a:xfrm>
            <a:off x="3512667" y="265176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907792"/>
            <a:ext cx="2446020" cy="502920"/>
          </a:xfrm>
          <a:prstGeom prst="rect">
            <a:avLst/>
          </a:prstGeom>
          <a:noFill/>
        </p:spPr>
        <p:txBody>
          <a:bodyPr wrap="square" lIns="0" rIns="0" tIns="0" bIns="0" anchor="t">
            <a:spAutoFit/>
          </a:bodyPr>
          <a:lstStyle/>
          <a:p>
            <a:pPr algn="ctr"/>
            <a:r>
              <a:rPr sz="3000" b="1" i="0">
                <a:solidFill>
                  <a:srgbClr val="22C55E"/>
                </a:solidFill>
                <a:latin typeface="Menlo"/>
              </a:rPr>
              <a:t>3,36%</a:t>
            </a:r>
          </a:p>
        </p:txBody>
      </p:sp>
      <p:sp>
        <p:nvSpPr>
          <p:cNvPr id="16" name="TextBox 15"/>
          <p:cNvSpPr txBox="1"/>
          <p:nvPr/>
        </p:nvSpPr>
        <p:spPr>
          <a:xfrm>
            <a:off x="3512667" y="343814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RETURNING CVR</a:t>
            </a:r>
          </a:p>
        </p:txBody>
      </p:sp>
      <p:sp>
        <p:nvSpPr>
          <p:cNvPr id="17" name="TextBox 16"/>
          <p:cNvSpPr txBox="1"/>
          <p:nvPr/>
        </p:nvSpPr>
        <p:spPr>
          <a:xfrm>
            <a:off x="3512667" y="367588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26% higher</a:t>
            </a:r>
          </a:p>
        </p:txBody>
      </p:sp>
      <p:sp>
        <p:nvSpPr>
          <p:cNvPr id="18" name="Rounded Rectangle 17"/>
          <p:cNvSpPr/>
          <p:nvPr/>
        </p:nvSpPr>
        <p:spPr>
          <a:xfrm>
            <a:off x="6233007" y="265176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907792"/>
            <a:ext cx="2446020" cy="502920"/>
          </a:xfrm>
          <a:prstGeom prst="rect">
            <a:avLst/>
          </a:prstGeom>
          <a:noFill/>
        </p:spPr>
        <p:txBody>
          <a:bodyPr wrap="square" lIns="0" rIns="0" tIns="0" bIns="0" anchor="t">
            <a:spAutoFit/>
          </a:bodyPr>
          <a:lstStyle/>
          <a:p>
            <a:pPr algn="ctr"/>
            <a:r>
              <a:rPr sz="3000" b="1" i="0">
                <a:solidFill>
                  <a:srgbClr val="F7D007"/>
                </a:solidFill>
                <a:latin typeface="Menlo"/>
              </a:rPr>
              <a:t>40%</a:t>
            </a:r>
          </a:p>
        </p:txBody>
      </p:sp>
      <p:sp>
        <p:nvSpPr>
          <p:cNvPr id="20" name="TextBox 19"/>
          <p:cNvSpPr txBox="1"/>
          <p:nvPr/>
        </p:nvSpPr>
        <p:spPr>
          <a:xfrm>
            <a:off x="6233007" y="343814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REV FROM RETURNING</a:t>
            </a:r>
          </a:p>
        </p:txBody>
      </p:sp>
      <p:sp>
        <p:nvSpPr>
          <p:cNvPr id="21" name="TextBox 20"/>
          <p:cNvSpPr txBox="1"/>
          <p:nvPr/>
        </p:nvSpPr>
        <p:spPr>
          <a:xfrm>
            <a:off x="6233007" y="367588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4,81M SEK</a:t>
            </a:r>
          </a:p>
        </p:txBody>
      </p:sp>
      <p:sp>
        <p:nvSpPr>
          <p:cNvPr id="22" name="Rounded Rectangle 21"/>
          <p:cNvSpPr/>
          <p:nvPr/>
        </p:nvSpPr>
        <p:spPr>
          <a:xfrm>
            <a:off x="8953347" y="265176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907792"/>
            <a:ext cx="2446020" cy="502920"/>
          </a:xfrm>
          <a:prstGeom prst="rect">
            <a:avLst/>
          </a:prstGeom>
          <a:noFill/>
        </p:spPr>
        <p:txBody>
          <a:bodyPr wrap="square" lIns="0" rIns="0" tIns="0" bIns="0" anchor="t">
            <a:spAutoFit/>
          </a:bodyPr>
          <a:lstStyle/>
          <a:p>
            <a:pPr algn="ctr"/>
            <a:r>
              <a:rPr sz="3000" b="1" i="0">
                <a:solidFill>
                  <a:srgbClr val="EF4444"/>
                </a:solidFill>
                <a:latin typeface="Menlo"/>
              </a:rPr>
              <a:t>~19%</a:t>
            </a:r>
          </a:p>
        </p:txBody>
      </p:sp>
      <p:sp>
        <p:nvSpPr>
          <p:cNvPr id="24" name="TextBox 23"/>
          <p:cNvSpPr txBox="1"/>
          <p:nvPr/>
        </p:nvSpPr>
        <p:spPr>
          <a:xfrm>
            <a:off x="8953347" y="343814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USERS WHO RETURN</a:t>
            </a:r>
          </a:p>
        </p:txBody>
      </p:sp>
      <p:sp>
        <p:nvSpPr>
          <p:cNvPr id="25" name="TextBox 24"/>
          <p:cNvSpPr txBox="1"/>
          <p:nvPr/>
        </p:nvSpPr>
        <p:spPr>
          <a:xfrm>
            <a:off x="8953347" y="367588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80,8% are new</a:t>
            </a:r>
          </a:p>
        </p:txBody>
      </p:sp>
      <p:sp>
        <p:nvSpPr>
          <p:cNvPr id="26" name="Rounded Rectangle 25"/>
          <p:cNvSpPr/>
          <p:nvPr/>
        </p:nvSpPr>
        <p:spPr>
          <a:xfrm>
            <a:off x="1280160" y="4663440"/>
            <a:ext cx="9601200" cy="7772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4800600"/>
            <a:ext cx="9144000" cy="502920"/>
          </a:xfrm>
          <a:prstGeom prst="rect">
            <a:avLst/>
          </a:prstGeom>
          <a:noFill/>
        </p:spPr>
        <p:txBody>
          <a:bodyPr wrap="square" lIns="0" rIns="0" tIns="0" bIns="0" anchor="ctr">
            <a:spAutoFit/>
          </a:bodyPr>
          <a:lstStyle/>
          <a:p>
            <a:pPr algn="l">
              <a:lnSpc>
                <a:spcPct val="140000"/>
              </a:lnSpc>
            </a:pPr>
            <a:r>
              <a:rPr sz="1200" b="0" i="0">
                <a:solidFill>
                  <a:srgbClr val="CCCCCC"/>
                </a:solidFill>
                <a:latin typeface="Helvetica Neue"/>
              </a:rPr>
              <a:t>The subscription (Abonnement) plus Klaviyo flows are the levers to lift the return rate. Retention compounds on the 4,7 Trustpilot base.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Boxes outconvert everything</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intro wine box converts at more than double a single bottle page.</a:t>
            </a:r>
          </a:p>
        </p:txBody>
      </p:sp>
      <p:graphicFrame>
        <p:nvGraphicFramePr>
          <p:cNvPr id="10" name="Table 9"/>
          <p:cNvGraphicFramePr>
            <a:graphicFrameLocks noGrp="1"/>
          </p:cNvGraphicFramePr>
          <p:nvPr/>
        </p:nvGraphicFramePr>
        <p:xfrm>
          <a:off x="1645920" y="2286000"/>
          <a:ext cx="8869678" cy="2340864"/>
        </p:xfrm>
        <a:graphic>
          <a:graphicData uri="http://schemas.openxmlformats.org/drawingml/2006/table">
            <a:tbl>
              <a:tblPr>
                <a:tableStyleId>{2D5ABB26-0587-4C30-8999-92F81FD0307C}</a:tableStyleId>
              </a:tblPr>
              <a:tblGrid>
                <a:gridCol w="3262411"/>
                <a:gridCol w="1529255"/>
                <a:gridCol w="1325354"/>
                <a:gridCol w="1325354"/>
                <a:gridCol w="1427304"/>
              </a:tblGrid>
              <a:tr h="365760">
                <a:tc>
                  <a:txBody>
                    <a:bodyPr wrap="square"/>
                    <a:lstStyle/>
                    <a:p>
                      <a:pPr algn="l"/>
                      <a:r>
                        <a:rPr sz="900" b="1" spc="100">
                          <a:solidFill>
                            <a:srgbClr val="999999"/>
                          </a:solidFill>
                          <a:latin typeface="Helvetica Neue"/>
                        </a:rPr>
                        <a:t>LANDING PAGE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ORDERS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REVENUE</a:t>
                      </a:r>
                    </a:p>
                  </a:txBody>
                  <a:tcPr marL="73152" marR="73152" marT="18288" marB="18288" anchor="ctr">
                    <a:solidFill>
                      <a:srgbClr val="0A0A0A"/>
                    </a:solidFill>
                  </a:tcPr>
                </a:tc>
              </a:tr>
              <a:tr h="329184">
                <a:tc>
                  <a:txBody>
                    <a:bodyPr wrap="square"/>
                    <a:lstStyle/>
                    <a:p>
                      <a:pPr algn="l"/>
                      <a:r>
                        <a:rPr sz="1100" b="1">
                          <a:solidFill>
                            <a:srgbClr val="F7D007"/>
                          </a:solidFill>
                          <a:latin typeface="Helvetica Neue"/>
                        </a:rPr>
                        <a:t>XL introlåda (box)</a:t>
                      </a:r>
                    </a:p>
                  </a:txBody>
                  <a:tcPr marL="73152" marR="73152" marT="18288" marB="18288" anchor="ctr">
                    <a:solidFill>
                      <a:srgbClr val="000000"/>
                    </a:solidFill>
                  </a:tcPr>
                </a:tc>
                <a:tc>
                  <a:txBody>
                    <a:bodyPr wrap="square"/>
                    <a:lstStyle/>
                    <a:p>
                      <a:pPr algn="r"/>
                      <a:r>
                        <a:rPr sz="1100" b="0">
                          <a:solidFill>
                            <a:srgbClr val="EFEEEE"/>
                          </a:solidFill>
                          <a:latin typeface="Menlo"/>
                        </a:rPr>
                        <a:t>25.583</a:t>
                      </a:r>
                    </a:p>
                  </a:txBody>
                  <a:tcPr marL="73152" marR="73152" marT="18288" marB="18288" anchor="ctr">
                    <a:solidFill>
                      <a:srgbClr val="000000"/>
                    </a:solidFill>
                  </a:tcPr>
                </a:tc>
                <a:tc>
                  <a:txBody>
                    <a:bodyPr wrap="square"/>
                    <a:lstStyle/>
                    <a:p>
                      <a:pPr algn="r"/>
                      <a:r>
                        <a:rPr sz="1100" b="0">
                          <a:solidFill>
                            <a:srgbClr val="EFEEEE"/>
                          </a:solidFill>
                          <a:latin typeface="Menlo"/>
                        </a:rPr>
                        <a:t>1.418</a:t>
                      </a:r>
                    </a:p>
                  </a:txBody>
                  <a:tcPr marL="73152" marR="73152" marT="18288" marB="18288" anchor="ctr">
                    <a:solidFill>
                      <a:srgbClr val="000000"/>
                    </a:solidFill>
                  </a:tcPr>
                </a:tc>
                <a:tc>
                  <a:txBody>
                    <a:bodyPr wrap="square"/>
                    <a:lstStyle/>
                    <a:p>
                      <a:pPr algn="r"/>
                      <a:r>
                        <a:rPr sz="1100" b="0">
                          <a:solidFill>
                            <a:srgbClr val="22C55E"/>
                          </a:solidFill>
                          <a:latin typeface="Menlo"/>
                        </a:rPr>
                        <a:t>5,54%</a:t>
                      </a:r>
                    </a:p>
                  </a:txBody>
                  <a:tcPr marL="73152" marR="73152" marT="18288" marB="18288" anchor="ctr">
                    <a:solidFill>
                      <a:srgbClr val="000000"/>
                    </a:solidFill>
                  </a:tcPr>
                </a:tc>
                <a:tc>
                  <a:txBody>
                    <a:bodyPr wrap="square"/>
                    <a:lstStyle/>
                    <a:p>
                      <a:pPr algn="r"/>
                      <a:r>
                        <a:rPr sz="1100" b="0">
                          <a:solidFill>
                            <a:srgbClr val="EFEEEE"/>
                          </a:solidFill>
                          <a:latin typeface="Menlo"/>
                        </a:rPr>
                        <a:t>1,34M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XL Smaken av Sydeuropa</a:t>
                      </a:r>
                    </a:p>
                  </a:txBody>
                  <a:tcPr marL="73152" marR="73152" marT="18288" marB="18288" anchor="ctr">
                    <a:solidFill>
                      <a:srgbClr val="0B0B0B"/>
                    </a:solidFill>
                  </a:tcPr>
                </a:tc>
                <a:tc>
                  <a:txBody>
                    <a:bodyPr wrap="square"/>
                    <a:lstStyle/>
                    <a:p>
                      <a:pPr algn="r"/>
                      <a:r>
                        <a:rPr sz="1100" b="0">
                          <a:solidFill>
                            <a:srgbClr val="EFEEEE"/>
                          </a:solidFill>
                          <a:latin typeface="Menlo"/>
                        </a:rPr>
                        <a:t>11.764</a:t>
                      </a:r>
                    </a:p>
                  </a:txBody>
                  <a:tcPr marL="73152" marR="73152" marT="18288" marB="18288" anchor="ctr">
                    <a:solidFill>
                      <a:srgbClr val="0B0B0B"/>
                    </a:solidFill>
                  </a:tcPr>
                </a:tc>
                <a:tc>
                  <a:txBody>
                    <a:bodyPr wrap="square"/>
                    <a:lstStyle/>
                    <a:p>
                      <a:pPr algn="r"/>
                      <a:r>
                        <a:rPr sz="1100" b="0">
                          <a:solidFill>
                            <a:srgbClr val="EFEEEE"/>
                          </a:solidFill>
                          <a:latin typeface="Menlo"/>
                        </a:rPr>
                        <a:t>482</a:t>
                      </a:r>
                    </a:p>
                  </a:txBody>
                  <a:tcPr marL="73152" marR="73152" marT="18288" marB="18288" anchor="ctr">
                    <a:solidFill>
                      <a:srgbClr val="0B0B0B"/>
                    </a:solidFill>
                  </a:tcPr>
                </a:tc>
                <a:tc>
                  <a:txBody>
                    <a:bodyPr wrap="square"/>
                    <a:lstStyle/>
                    <a:p>
                      <a:pPr algn="r"/>
                      <a:r>
                        <a:rPr sz="1100" b="0">
                          <a:solidFill>
                            <a:srgbClr val="22C55E"/>
                          </a:solidFill>
                          <a:latin typeface="Menlo"/>
                        </a:rPr>
                        <a:t>4,10%</a:t>
                      </a:r>
                    </a:p>
                  </a:txBody>
                  <a:tcPr marL="73152" marR="73152" marT="18288" marB="18288" anchor="ctr">
                    <a:solidFill>
                      <a:srgbClr val="0B0B0B"/>
                    </a:solidFill>
                  </a:tcPr>
                </a:tc>
                <a:tc>
                  <a:txBody>
                    <a:bodyPr wrap="square"/>
                    <a:lstStyle/>
                    <a:p>
                      <a:pPr algn="r"/>
                      <a:r>
                        <a:rPr sz="1100" b="0">
                          <a:solidFill>
                            <a:srgbClr val="EFEEEE"/>
                          </a:solidFill>
                          <a:latin typeface="Menlo"/>
                        </a:rPr>
                        <a:t>0,46M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The Fantini box</a:t>
                      </a:r>
                    </a:p>
                  </a:txBody>
                  <a:tcPr marL="73152" marR="73152" marT="18288" marB="18288" anchor="ctr">
                    <a:solidFill>
                      <a:srgbClr val="000000"/>
                    </a:solidFill>
                  </a:tcPr>
                </a:tc>
                <a:tc>
                  <a:txBody>
                    <a:bodyPr wrap="square"/>
                    <a:lstStyle/>
                    <a:p>
                      <a:pPr algn="r"/>
                      <a:r>
                        <a:rPr sz="1100" b="0">
                          <a:solidFill>
                            <a:srgbClr val="EFEEEE"/>
                          </a:solidFill>
                          <a:latin typeface="Menlo"/>
                        </a:rPr>
                        <a:t>21.018</a:t>
                      </a:r>
                    </a:p>
                  </a:txBody>
                  <a:tcPr marL="73152" marR="73152" marT="18288" marB="18288" anchor="ctr">
                    <a:solidFill>
                      <a:srgbClr val="000000"/>
                    </a:solidFill>
                  </a:tcPr>
                </a:tc>
                <a:tc>
                  <a:txBody>
                    <a:bodyPr wrap="square"/>
                    <a:lstStyle/>
                    <a:p>
                      <a:pPr algn="r"/>
                      <a:r>
                        <a:rPr sz="1100" b="0">
                          <a:solidFill>
                            <a:srgbClr val="EFEEEE"/>
                          </a:solidFill>
                          <a:latin typeface="Menlo"/>
                        </a:rPr>
                        <a:t>816</a:t>
                      </a:r>
                    </a:p>
                  </a:txBody>
                  <a:tcPr marL="73152" marR="73152" marT="18288" marB="18288" anchor="ctr">
                    <a:solidFill>
                      <a:srgbClr val="000000"/>
                    </a:solidFill>
                  </a:tcPr>
                </a:tc>
                <a:tc>
                  <a:txBody>
                    <a:bodyPr wrap="square"/>
                    <a:lstStyle/>
                    <a:p>
                      <a:pPr algn="r"/>
                      <a:r>
                        <a:rPr sz="1100" b="0">
                          <a:solidFill>
                            <a:srgbClr val="EFEEEE"/>
                          </a:solidFill>
                          <a:latin typeface="Menlo"/>
                        </a:rPr>
                        <a:t>3,88%</a:t>
                      </a:r>
                    </a:p>
                  </a:txBody>
                  <a:tcPr marL="73152" marR="73152" marT="18288" marB="18288" anchor="ctr">
                    <a:solidFill>
                      <a:srgbClr val="000000"/>
                    </a:solidFill>
                  </a:tcPr>
                </a:tc>
                <a:tc>
                  <a:txBody>
                    <a:bodyPr wrap="square"/>
                    <a:lstStyle/>
                    <a:p>
                      <a:pPr algn="r"/>
                      <a:r>
                        <a:rPr sz="1100" b="0">
                          <a:solidFill>
                            <a:srgbClr val="EFEEEE"/>
                          </a:solidFill>
                          <a:latin typeface="Menlo"/>
                        </a:rPr>
                        <a:t>0,78M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Homepage /</a:t>
                      </a:r>
                    </a:p>
                  </a:txBody>
                  <a:tcPr marL="73152" marR="73152" marT="18288" marB="18288" anchor="ctr">
                    <a:solidFill>
                      <a:srgbClr val="0B0B0B"/>
                    </a:solidFill>
                  </a:tcPr>
                </a:tc>
                <a:tc>
                  <a:txBody>
                    <a:bodyPr wrap="square"/>
                    <a:lstStyle/>
                    <a:p>
                      <a:pPr algn="r"/>
                      <a:r>
                        <a:rPr sz="1100" b="0">
                          <a:solidFill>
                            <a:srgbClr val="EFEEEE"/>
                          </a:solidFill>
                          <a:latin typeface="Menlo"/>
                        </a:rPr>
                        <a:t>62.611</a:t>
                      </a:r>
                    </a:p>
                  </a:txBody>
                  <a:tcPr marL="73152" marR="73152" marT="18288" marB="18288" anchor="ctr">
                    <a:solidFill>
                      <a:srgbClr val="0B0B0B"/>
                    </a:solidFill>
                  </a:tcPr>
                </a:tc>
                <a:tc>
                  <a:txBody>
                    <a:bodyPr wrap="square"/>
                    <a:lstStyle/>
                    <a:p>
                      <a:pPr algn="r"/>
                      <a:r>
                        <a:rPr sz="1100" b="0">
                          <a:solidFill>
                            <a:srgbClr val="EFEEEE"/>
                          </a:solidFill>
                          <a:latin typeface="Menlo"/>
                        </a:rPr>
                        <a:t>2.105</a:t>
                      </a:r>
                    </a:p>
                  </a:txBody>
                  <a:tcPr marL="73152" marR="73152" marT="18288" marB="18288" anchor="ctr">
                    <a:solidFill>
                      <a:srgbClr val="0B0B0B"/>
                    </a:solidFill>
                  </a:tcPr>
                </a:tc>
                <a:tc>
                  <a:txBody>
                    <a:bodyPr wrap="square"/>
                    <a:lstStyle/>
                    <a:p>
                      <a:pPr algn="r"/>
                      <a:r>
                        <a:rPr sz="1100" b="0">
                          <a:solidFill>
                            <a:srgbClr val="EFEEEE"/>
                          </a:solidFill>
                          <a:latin typeface="Menlo"/>
                        </a:rPr>
                        <a:t>3,36%</a:t>
                      </a:r>
                    </a:p>
                  </a:txBody>
                  <a:tcPr marL="73152" marR="73152" marT="18288" marB="18288" anchor="ctr">
                    <a:solidFill>
                      <a:srgbClr val="0B0B0B"/>
                    </a:solidFill>
                  </a:tcPr>
                </a:tc>
                <a:tc>
                  <a:txBody>
                    <a:bodyPr wrap="square"/>
                    <a:lstStyle/>
                    <a:p>
                      <a:pPr algn="r"/>
                      <a:r>
                        <a:rPr sz="1100" b="0">
                          <a:solidFill>
                            <a:srgbClr val="EFEEEE"/>
                          </a:solidFill>
                          <a:latin typeface="Menlo"/>
                        </a:rPr>
                        <a:t>2,38M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/collections/vinlador</a:t>
                      </a:r>
                    </a:p>
                  </a:txBody>
                  <a:tcPr marL="73152" marR="73152" marT="18288" marB="18288" anchor="ctr">
                    <a:solidFill>
                      <a:srgbClr val="000000"/>
                    </a:solidFill>
                  </a:tcPr>
                </a:tc>
                <a:tc>
                  <a:txBody>
                    <a:bodyPr wrap="square"/>
                    <a:lstStyle/>
                    <a:p>
                      <a:pPr algn="r"/>
                      <a:r>
                        <a:rPr sz="1100" b="0">
                          <a:solidFill>
                            <a:srgbClr val="EFEEEE"/>
                          </a:solidFill>
                          <a:latin typeface="Menlo"/>
                        </a:rPr>
                        <a:t>17.849</a:t>
                      </a:r>
                    </a:p>
                  </a:txBody>
                  <a:tcPr marL="73152" marR="73152" marT="18288" marB="18288" anchor="ctr">
                    <a:solidFill>
                      <a:srgbClr val="000000"/>
                    </a:solidFill>
                  </a:tcPr>
                </a:tc>
                <a:tc>
                  <a:txBody>
                    <a:bodyPr wrap="square"/>
                    <a:lstStyle/>
                    <a:p>
                      <a:pPr algn="r"/>
                      <a:r>
                        <a:rPr sz="1100" b="0">
                          <a:solidFill>
                            <a:srgbClr val="EFEEEE"/>
                          </a:solidFill>
                          <a:latin typeface="Menlo"/>
                        </a:rPr>
                        <a:t>465</a:t>
                      </a:r>
                    </a:p>
                  </a:txBody>
                  <a:tcPr marL="73152" marR="73152" marT="18288" marB="18288" anchor="ctr">
                    <a:solidFill>
                      <a:srgbClr val="000000"/>
                    </a:solidFill>
                  </a:tcPr>
                </a:tc>
                <a:tc>
                  <a:txBody>
                    <a:bodyPr wrap="square"/>
                    <a:lstStyle/>
                    <a:p>
                      <a:pPr algn="r"/>
                      <a:r>
                        <a:rPr sz="1100" b="0">
                          <a:solidFill>
                            <a:srgbClr val="F59E0B"/>
                          </a:solidFill>
                          <a:latin typeface="Menlo"/>
                        </a:rPr>
                        <a:t>2,60%</a:t>
                      </a:r>
                    </a:p>
                  </a:txBody>
                  <a:tcPr marL="73152" marR="73152" marT="18288" marB="18288" anchor="ctr">
                    <a:solidFill>
                      <a:srgbClr val="000000"/>
                    </a:solidFill>
                  </a:tcPr>
                </a:tc>
                <a:tc>
                  <a:txBody>
                    <a:bodyPr wrap="square"/>
                    <a:lstStyle/>
                    <a:p>
                      <a:pPr algn="r"/>
                      <a:r>
                        <a:rPr sz="1100" b="0">
                          <a:solidFill>
                            <a:srgbClr val="EFEEEE"/>
                          </a:solidFill>
                          <a:latin typeface="Menlo"/>
                        </a:rPr>
                        <a:t>0,50M</a:t>
                      </a:r>
                    </a:p>
                  </a:txBody>
                  <a:tcPr marL="73152" marR="73152" marT="18288" marB="18288" anchor="ctr">
                    <a:solidFill>
                      <a:srgbClr val="000000"/>
                    </a:solidFill>
                  </a:tcPr>
                </a:tc>
              </a:tr>
              <a:tr h="329184">
                <a:tc>
                  <a:txBody>
                    <a:bodyPr wrap="square"/>
                    <a:lstStyle/>
                    <a:p>
                      <a:pPr algn="l"/>
                      <a:r>
                        <a:rPr sz="1100" b="1">
                          <a:solidFill>
                            <a:srgbClr val="F59E0B"/>
                          </a:solidFill>
                          <a:latin typeface="Helvetica Neue"/>
                        </a:rPr>
                        <a:t>PNK bubbles (single line)</a:t>
                      </a:r>
                    </a:p>
                  </a:txBody>
                  <a:tcPr marL="73152" marR="73152" marT="18288" marB="18288" anchor="ctr">
                    <a:solidFill>
                      <a:srgbClr val="0B0B0B"/>
                    </a:solidFill>
                  </a:tcPr>
                </a:tc>
                <a:tc>
                  <a:txBody>
                    <a:bodyPr wrap="square"/>
                    <a:lstStyle/>
                    <a:p>
                      <a:pPr algn="r"/>
                      <a:r>
                        <a:rPr sz="1100" b="0">
                          <a:solidFill>
                            <a:srgbClr val="EFEEEE"/>
                          </a:solidFill>
                          <a:latin typeface="Menlo"/>
                        </a:rPr>
                        <a:t>9.202</a:t>
                      </a:r>
                    </a:p>
                  </a:txBody>
                  <a:tcPr marL="73152" marR="73152" marT="18288" marB="18288" anchor="ctr">
                    <a:solidFill>
                      <a:srgbClr val="0B0B0B"/>
                    </a:solidFill>
                  </a:tcPr>
                </a:tc>
                <a:tc>
                  <a:txBody>
                    <a:bodyPr wrap="square"/>
                    <a:lstStyle/>
                    <a:p>
                      <a:pPr algn="r"/>
                      <a:r>
                        <a:rPr sz="1100" b="0">
                          <a:solidFill>
                            <a:srgbClr val="EFEEEE"/>
                          </a:solidFill>
                          <a:latin typeface="Menlo"/>
                        </a:rPr>
                        <a:t>199</a:t>
                      </a:r>
                    </a:p>
                  </a:txBody>
                  <a:tcPr marL="73152" marR="73152" marT="18288" marB="18288" anchor="ctr">
                    <a:solidFill>
                      <a:srgbClr val="0B0B0B"/>
                    </a:solidFill>
                  </a:tcPr>
                </a:tc>
                <a:tc>
                  <a:txBody>
                    <a:bodyPr wrap="square"/>
                    <a:lstStyle/>
                    <a:p>
                      <a:pPr algn="r"/>
                      <a:r>
                        <a:rPr sz="1100" b="0">
                          <a:solidFill>
                            <a:srgbClr val="F59E0B"/>
                          </a:solidFill>
                          <a:latin typeface="Menlo"/>
                        </a:rPr>
                        <a:t>2,16%</a:t>
                      </a:r>
                    </a:p>
                  </a:txBody>
                  <a:tcPr marL="73152" marR="73152" marT="18288" marB="18288" anchor="ctr">
                    <a:solidFill>
                      <a:srgbClr val="0B0B0B"/>
                    </a:solidFill>
                  </a:tcPr>
                </a:tc>
                <a:tc>
                  <a:txBody>
                    <a:bodyPr wrap="square"/>
                    <a:lstStyle/>
                    <a:p>
                      <a:pPr algn="r"/>
                      <a:r>
                        <a:rPr sz="1100" b="0">
                          <a:solidFill>
                            <a:srgbClr val="EFEEEE"/>
                          </a:solidFill>
                          <a:latin typeface="Menlo"/>
                        </a:rPr>
                        <a:t>0,15M</a:t>
                      </a:r>
                    </a:p>
                  </a:txBody>
                  <a:tcPr marL="73152" marR="73152" marT="18288" marB="18288" anchor="ctr">
                    <a:solidFill>
                      <a:srgbClr val="0B0B0B"/>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DATA QUALITY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store is better than the dashboard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Nearly a third of sessions land as "(not set)" and almost never convert.</a:t>
            </a:r>
          </a:p>
        </p:txBody>
      </p:sp>
      <p:sp>
        <p:nvSpPr>
          <p:cNvPr id="10" name="Rounded Rectangle 9"/>
          <p:cNvSpPr/>
          <p:nvPr/>
        </p:nvSpPr>
        <p:spPr>
          <a:xfrm>
            <a:off x="79232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633472"/>
            <a:ext cx="2446020" cy="502920"/>
          </a:xfrm>
          <a:prstGeom prst="rect">
            <a:avLst/>
          </a:prstGeom>
          <a:noFill/>
        </p:spPr>
        <p:txBody>
          <a:bodyPr wrap="square" lIns="0" rIns="0" tIns="0" bIns="0" anchor="t">
            <a:spAutoFit/>
          </a:bodyPr>
          <a:lstStyle/>
          <a:p>
            <a:pPr algn="ctr"/>
            <a:r>
              <a:rPr sz="3000" b="1" i="0">
                <a:solidFill>
                  <a:srgbClr val="EF4444"/>
                </a:solidFill>
                <a:latin typeface="Menlo"/>
              </a:rPr>
              <a:t>129.913</a:t>
            </a:r>
          </a:p>
        </p:txBody>
      </p:sp>
      <p:sp>
        <p:nvSpPr>
          <p:cNvPr id="12" name="TextBox 11"/>
          <p:cNvSpPr txBox="1"/>
          <p:nvPr/>
        </p:nvSpPr>
        <p:spPr>
          <a:xfrm>
            <a:off x="79232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"(NOT SET)" SESSIONS</a:t>
            </a:r>
          </a:p>
        </p:txBody>
      </p:sp>
      <p:sp>
        <p:nvSpPr>
          <p:cNvPr id="13" name="TextBox 12"/>
          <p:cNvSpPr txBox="1"/>
          <p:nvPr/>
        </p:nvSpPr>
        <p:spPr>
          <a:xfrm>
            <a:off x="79232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28,7% of all sessions</a:t>
            </a:r>
          </a:p>
        </p:txBody>
      </p:sp>
      <p:sp>
        <p:nvSpPr>
          <p:cNvPr id="14" name="Rounded Rectangle 13"/>
          <p:cNvSpPr/>
          <p:nvPr/>
        </p:nvSpPr>
        <p:spPr>
          <a:xfrm>
            <a:off x="351266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633472"/>
            <a:ext cx="2446020" cy="502920"/>
          </a:xfrm>
          <a:prstGeom prst="rect">
            <a:avLst/>
          </a:prstGeom>
          <a:noFill/>
        </p:spPr>
        <p:txBody>
          <a:bodyPr wrap="square" lIns="0" rIns="0" tIns="0" bIns="0" anchor="t">
            <a:spAutoFit/>
          </a:bodyPr>
          <a:lstStyle/>
          <a:p>
            <a:pPr algn="ctr"/>
            <a:r>
              <a:rPr sz="3000" b="1" i="0">
                <a:solidFill>
                  <a:srgbClr val="EF4444"/>
                </a:solidFill>
                <a:latin typeface="Menlo"/>
              </a:rPr>
              <a:t>10</a:t>
            </a:r>
          </a:p>
        </p:txBody>
      </p:sp>
      <p:sp>
        <p:nvSpPr>
          <p:cNvPr id="16" name="TextBox 15"/>
          <p:cNvSpPr txBox="1"/>
          <p:nvPr/>
        </p:nvSpPr>
        <p:spPr>
          <a:xfrm>
            <a:off x="351266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ORDERS FROM THEM</a:t>
            </a:r>
          </a:p>
        </p:txBody>
      </p:sp>
      <p:sp>
        <p:nvSpPr>
          <p:cNvPr id="17" name="TextBox 16"/>
          <p:cNvSpPr txBox="1"/>
          <p:nvPr/>
        </p:nvSpPr>
        <p:spPr>
          <a:xfrm>
            <a:off x="351266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64% bounce, 37s dwell</a:t>
            </a:r>
          </a:p>
        </p:txBody>
      </p:sp>
      <p:sp>
        <p:nvSpPr>
          <p:cNvPr id="18" name="Rounded Rectangle 17"/>
          <p:cNvSpPr/>
          <p:nvPr/>
        </p:nvSpPr>
        <p:spPr>
          <a:xfrm>
            <a:off x="623300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~3,6%</a:t>
            </a:r>
          </a:p>
        </p:txBody>
      </p:sp>
      <p:sp>
        <p:nvSpPr>
          <p:cNvPr id="20" name="TextBox 19"/>
          <p:cNvSpPr txBox="1"/>
          <p:nvPr/>
        </p:nvSpPr>
        <p:spPr>
          <a:xfrm>
            <a:off x="623300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CVR ON CLEAN TRAFFIC</a:t>
            </a:r>
          </a:p>
        </p:txBody>
      </p:sp>
      <p:sp>
        <p:nvSpPr>
          <p:cNvPr id="21" name="TextBox 20"/>
          <p:cNvSpPr txBox="1"/>
          <p:nvPr/>
        </p:nvSpPr>
        <p:spPr>
          <a:xfrm>
            <a:off x="623300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vs 2,58% reported</a:t>
            </a:r>
          </a:p>
        </p:txBody>
      </p:sp>
      <p:sp>
        <p:nvSpPr>
          <p:cNvPr id="22" name="Rounded Rectangle 21"/>
          <p:cNvSpPr/>
          <p:nvPr/>
        </p:nvSpPr>
        <p:spPr>
          <a:xfrm>
            <a:off x="895334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CAPI</a:t>
            </a:r>
          </a:p>
        </p:txBody>
      </p:sp>
      <p:sp>
        <p:nvSpPr>
          <p:cNvPr id="24" name="TextBox 23"/>
          <p:cNvSpPr txBox="1"/>
          <p:nvPr/>
        </p:nvSpPr>
        <p:spPr>
          <a:xfrm>
            <a:off x="895334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THE FIX</a:t>
            </a:r>
          </a:p>
        </p:txBody>
      </p:sp>
      <p:sp>
        <p:nvSpPr>
          <p:cNvPr id="25" name="TextBox 24"/>
          <p:cNvSpPr txBox="1"/>
          <p:nvPr/>
        </p:nvSpPr>
        <p:spPr>
          <a:xfrm>
            <a:off x="895334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Server side + consent</a:t>
            </a:r>
          </a:p>
        </p:txBody>
      </p:sp>
      <p:sp>
        <p:nvSpPr>
          <p:cNvPr id="26" name="Rounded Rectangle 25"/>
          <p:cNvSpPr/>
          <p:nvPr/>
        </p:nvSpPr>
        <p:spPr>
          <a:xfrm>
            <a:off x="1280160" y="4389120"/>
            <a:ext cx="9601200" cy="10058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4526280"/>
            <a:ext cx="9144000" cy="731520"/>
          </a:xfrm>
          <a:prstGeom prst="rect">
            <a:avLst/>
          </a:prstGeom>
          <a:noFill/>
        </p:spPr>
        <p:txBody>
          <a:bodyPr wrap="square" lIns="0" rIns="0" tIns="0" bIns="0" anchor="ctr">
            <a:spAutoFit/>
          </a:bodyPr>
          <a:lstStyle/>
          <a:p>
            <a:pPr algn="l">
              <a:lnSpc>
                <a:spcPct val="140000"/>
              </a:lnSpc>
            </a:pPr>
            <a:r>
              <a:rPr sz="1200" b="0" i="0">
                <a:solidFill>
                  <a:srgbClr val="CCCCCC"/>
                </a:solidFill>
                <a:latin typeface="Helvetica Neue"/>
              </a:rPr>
              <a:t>Most likely consent denied cookieless pings (Cookiebot) plus Facebook in app browser sessions where the landing page fails to resolve. Recovering this signal also feeds Meta and Google better conversion data, improving ad optimization on the channel the store depends 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12</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02</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02</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Voice of Customer</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4,7 out of 5 on 5.985 Trustpilot reviews. We read 300 verbatim to find what drives the buy and what breaks the trust.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TRUSTPILOT · VERIFIED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A loved brand with a sharp tail</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94% of reviews sit at 4 or 5 stars. The negative tail is highly concentrated on one issue.</a:t>
            </a:r>
          </a:p>
        </p:txBody>
      </p:sp>
      <p:sp>
        <p:nvSpPr>
          <p:cNvPr id="10" name="Rounded Rectangle 9"/>
          <p:cNvSpPr/>
          <p:nvPr/>
        </p:nvSpPr>
        <p:spPr>
          <a:xfrm>
            <a:off x="792327" y="246888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724912"/>
            <a:ext cx="2446020" cy="502920"/>
          </a:xfrm>
          <a:prstGeom prst="rect">
            <a:avLst/>
          </a:prstGeom>
          <a:noFill/>
        </p:spPr>
        <p:txBody>
          <a:bodyPr wrap="square" lIns="0" rIns="0" tIns="0" bIns="0" anchor="t">
            <a:spAutoFit/>
          </a:bodyPr>
          <a:lstStyle/>
          <a:p>
            <a:pPr algn="ctr"/>
            <a:r>
              <a:rPr sz="3000" b="1" i="0">
                <a:solidFill>
                  <a:srgbClr val="F7D007"/>
                </a:solidFill>
                <a:latin typeface="Menlo"/>
              </a:rPr>
              <a:t>4,7</a:t>
            </a:r>
          </a:p>
        </p:txBody>
      </p:sp>
      <p:sp>
        <p:nvSpPr>
          <p:cNvPr id="12" name="TextBox 11"/>
          <p:cNvSpPr txBox="1"/>
          <p:nvPr/>
        </p:nvSpPr>
        <p:spPr>
          <a:xfrm>
            <a:off x="792327" y="325526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TRUSTSCORE</a:t>
            </a:r>
          </a:p>
        </p:txBody>
      </p:sp>
      <p:sp>
        <p:nvSpPr>
          <p:cNvPr id="13" name="TextBox 12"/>
          <p:cNvSpPr txBox="1"/>
          <p:nvPr/>
        </p:nvSpPr>
        <p:spPr>
          <a:xfrm>
            <a:off x="792327" y="349300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"Utmärkt"</a:t>
            </a:r>
          </a:p>
        </p:txBody>
      </p:sp>
      <p:sp>
        <p:nvSpPr>
          <p:cNvPr id="14" name="Rounded Rectangle 13"/>
          <p:cNvSpPr/>
          <p:nvPr/>
        </p:nvSpPr>
        <p:spPr>
          <a:xfrm>
            <a:off x="3512667" y="246888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724912"/>
            <a:ext cx="2446020" cy="502920"/>
          </a:xfrm>
          <a:prstGeom prst="rect">
            <a:avLst/>
          </a:prstGeom>
          <a:noFill/>
        </p:spPr>
        <p:txBody>
          <a:bodyPr wrap="square" lIns="0" rIns="0" tIns="0" bIns="0" anchor="t">
            <a:spAutoFit/>
          </a:bodyPr>
          <a:lstStyle/>
          <a:p>
            <a:pPr algn="ctr"/>
            <a:r>
              <a:rPr sz="3000" b="1" i="0">
                <a:solidFill>
                  <a:srgbClr val="FFFFFF"/>
                </a:solidFill>
                <a:latin typeface="Menlo"/>
              </a:rPr>
              <a:t>5.985</a:t>
            </a:r>
          </a:p>
        </p:txBody>
      </p:sp>
      <p:sp>
        <p:nvSpPr>
          <p:cNvPr id="16" name="TextBox 15"/>
          <p:cNvSpPr txBox="1"/>
          <p:nvPr/>
        </p:nvSpPr>
        <p:spPr>
          <a:xfrm>
            <a:off x="3512667" y="325526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REVIEWS</a:t>
            </a:r>
          </a:p>
        </p:txBody>
      </p:sp>
      <p:sp>
        <p:nvSpPr>
          <p:cNvPr id="17" name="TextBox 16"/>
          <p:cNvSpPr txBox="1"/>
          <p:nvPr/>
        </p:nvSpPr>
        <p:spPr>
          <a:xfrm>
            <a:off x="3512667" y="349300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79,6% at 5 stars</a:t>
            </a:r>
          </a:p>
        </p:txBody>
      </p:sp>
      <p:sp>
        <p:nvSpPr>
          <p:cNvPr id="18" name="Rounded Rectangle 17"/>
          <p:cNvSpPr/>
          <p:nvPr/>
        </p:nvSpPr>
        <p:spPr>
          <a:xfrm>
            <a:off x="6233007" y="246888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724912"/>
            <a:ext cx="2446020" cy="502920"/>
          </a:xfrm>
          <a:prstGeom prst="rect">
            <a:avLst/>
          </a:prstGeom>
          <a:noFill/>
        </p:spPr>
        <p:txBody>
          <a:bodyPr wrap="square" lIns="0" rIns="0" tIns="0" bIns="0" anchor="t">
            <a:spAutoFit/>
          </a:bodyPr>
          <a:lstStyle/>
          <a:p>
            <a:pPr algn="ctr"/>
            <a:r>
              <a:rPr sz="3000" b="1" i="0">
                <a:solidFill>
                  <a:srgbClr val="EF4444"/>
                </a:solidFill>
                <a:latin typeface="Menlo"/>
              </a:rPr>
              <a:t>86%</a:t>
            </a:r>
          </a:p>
        </p:txBody>
      </p:sp>
      <p:sp>
        <p:nvSpPr>
          <p:cNvPr id="20" name="TextBox 19"/>
          <p:cNvSpPr txBox="1"/>
          <p:nvPr/>
        </p:nvSpPr>
        <p:spPr>
          <a:xfrm>
            <a:off x="6233007" y="325526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COMPLAINTS RE DELIVERY</a:t>
            </a:r>
          </a:p>
        </p:txBody>
      </p:sp>
      <p:sp>
        <p:nvSpPr>
          <p:cNvPr id="21" name="TextBox 20"/>
          <p:cNvSpPr txBox="1"/>
          <p:nvPr/>
        </p:nvSpPr>
        <p:spPr>
          <a:xfrm>
            <a:off x="6233007" y="349300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sampled low star</a:t>
            </a:r>
          </a:p>
        </p:txBody>
      </p:sp>
      <p:sp>
        <p:nvSpPr>
          <p:cNvPr id="22" name="Rounded Rectangle 21"/>
          <p:cNvSpPr/>
          <p:nvPr/>
        </p:nvSpPr>
        <p:spPr>
          <a:xfrm>
            <a:off x="8953347" y="246888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724912"/>
            <a:ext cx="2446020" cy="502920"/>
          </a:xfrm>
          <a:prstGeom prst="rect">
            <a:avLst/>
          </a:prstGeom>
          <a:noFill/>
        </p:spPr>
        <p:txBody>
          <a:bodyPr wrap="square" lIns="0" rIns="0" tIns="0" bIns="0" anchor="t">
            <a:spAutoFit/>
          </a:bodyPr>
          <a:lstStyle/>
          <a:p>
            <a:pPr algn="ctr"/>
            <a:r>
              <a:rPr sz="3000" b="1" i="0">
                <a:solidFill>
                  <a:srgbClr val="F59E0B"/>
                </a:solidFill>
                <a:latin typeface="Menlo"/>
              </a:rPr>
              <a:t>14%</a:t>
            </a:r>
          </a:p>
        </p:txBody>
      </p:sp>
      <p:sp>
        <p:nvSpPr>
          <p:cNvPr id="24" name="TextBox 23"/>
          <p:cNvSpPr txBox="1"/>
          <p:nvPr/>
        </p:nvSpPr>
        <p:spPr>
          <a:xfrm>
            <a:off x="8953347" y="325526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COMPLAINTS RE TASTE</a:t>
            </a:r>
          </a:p>
        </p:txBody>
      </p:sp>
      <p:sp>
        <p:nvSpPr>
          <p:cNvPr id="25" name="TextBox 24"/>
          <p:cNvSpPr txBox="1"/>
          <p:nvPr/>
        </p:nvSpPr>
        <p:spPr>
          <a:xfrm>
            <a:off x="8953347" y="349300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"smakar som saft"</a:t>
            </a:r>
          </a:p>
        </p:txBody>
      </p:sp>
      <p:sp>
        <p:nvSpPr>
          <p:cNvPr id="26" name="Rounded Rectangle 25"/>
          <p:cNvSpPr/>
          <p:nvPr/>
        </p:nvSpPr>
        <p:spPr>
          <a:xfrm>
            <a:off x="1280160" y="4480560"/>
            <a:ext cx="9601200" cy="77724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4617720"/>
            <a:ext cx="9144000" cy="502920"/>
          </a:xfrm>
          <a:prstGeom prst="rect">
            <a:avLst/>
          </a:prstGeom>
          <a:noFill/>
        </p:spPr>
        <p:txBody>
          <a:bodyPr wrap="square" lIns="0" rIns="0" tIns="0" bIns="0" anchor="ctr">
            <a:spAutoFit/>
          </a:bodyPr>
          <a:lstStyle/>
          <a:p>
            <a:pPr algn="l">
              <a:lnSpc>
                <a:spcPct val="140000"/>
              </a:lnSpc>
            </a:pPr>
            <a:r>
              <a:rPr sz="1200" b="0" i="0">
                <a:solidFill>
                  <a:srgbClr val="CCCCCC"/>
                </a:solidFill>
                <a:latin typeface="Helvetica Neue"/>
              </a:rPr>
              <a:t>Buy drivers (sampled 200 high star): fast delivery 36%, easy to order 34%, price and value 28%, discovery boxes 21%, wine quality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Why people buy, in their words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This copy already lives in your reviews. It is stronger than any marketing line.</a:t>
            </a:r>
          </a:p>
        </p:txBody>
      </p:sp>
      <p:sp>
        <p:nvSpPr>
          <p:cNvPr id="10" name="Rounded Rectangle 9"/>
          <p:cNvSpPr/>
          <p:nvPr/>
        </p:nvSpPr>
        <p:spPr>
          <a:xfrm>
            <a:off x="792327" y="2103120"/>
            <a:ext cx="5143500" cy="1691640"/>
          </a:xfrm>
          <a:prstGeom prst="roundRect">
            <a:avLst>
              <a:gd name="adj" fmla="val 5000"/>
            </a:avLst>
          </a:prstGeom>
          <a:solidFill>
            <a:srgbClr val="08120C"/>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8600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"Smidigt, enkelt, prisvärt, bra viner mm! Dessutom inga begränsade öppettider att förhålla sig till."</a:t>
            </a:r>
          </a:p>
        </p:txBody>
      </p:sp>
      <p:sp>
        <p:nvSpPr>
          <p:cNvPr id="12" name="TextBox 11"/>
          <p:cNvSpPr txBox="1"/>
          <p:nvPr/>
        </p:nvSpPr>
        <p:spPr>
          <a:xfrm>
            <a:off x="1048359" y="306324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Smooth, easy, good value, and no restricted opening hours.</a:t>
            </a:r>
          </a:p>
        </p:txBody>
      </p:sp>
      <p:sp>
        <p:nvSpPr>
          <p:cNvPr id="13" name="TextBox 12"/>
          <p:cNvSpPr txBox="1"/>
          <p:nvPr/>
        </p:nvSpPr>
        <p:spPr>
          <a:xfrm>
            <a:off x="1048359" y="350215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kundnamn · 4 stjärnor</a:t>
            </a:r>
          </a:p>
        </p:txBody>
      </p:sp>
      <p:sp>
        <p:nvSpPr>
          <p:cNvPr id="14" name="Rounded Rectangle 13"/>
          <p:cNvSpPr/>
          <p:nvPr/>
        </p:nvSpPr>
        <p:spPr>
          <a:xfrm>
            <a:off x="6255867" y="2103120"/>
            <a:ext cx="5143500" cy="1691640"/>
          </a:xfrm>
          <a:prstGeom prst="roundRect">
            <a:avLst>
              <a:gd name="adj" fmla="val 5000"/>
            </a:avLst>
          </a:prstGeom>
          <a:solidFill>
            <a:srgbClr val="08120C"/>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1899" y="228600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"Är så skönt med färdiga bland lådor av viner, man har stor chans att hitta nya favoriter."</a:t>
            </a:r>
          </a:p>
        </p:txBody>
      </p:sp>
      <p:sp>
        <p:nvSpPr>
          <p:cNvPr id="16" name="TextBox 15"/>
          <p:cNvSpPr txBox="1"/>
          <p:nvPr/>
        </p:nvSpPr>
        <p:spPr>
          <a:xfrm>
            <a:off x="6511899" y="306324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Ready made mixed boxes give a real chance to find new favourites.</a:t>
            </a:r>
          </a:p>
        </p:txBody>
      </p:sp>
      <p:sp>
        <p:nvSpPr>
          <p:cNvPr id="17" name="TextBox 16"/>
          <p:cNvSpPr txBox="1"/>
          <p:nvPr/>
        </p:nvSpPr>
        <p:spPr>
          <a:xfrm>
            <a:off x="6511899" y="350215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Ritva Nilsson · 5 stjärnor</a:t>
            </a:r>
          </a:p>
        </p:txBody>
      </p:sp>
      <p:sp>
        <p:nvSpPr>
          <p:cNvPr id="18" name="Rounded Rectangle 17"/>
          <p:cNvSpPr/>
          <p:nvPr/>
        </p:nvSpPr>
        <p:spPr>
          <a:xfrm>
            <a:off x="792327" y="4069080"/>
            <a:ext cx="5143500" cy="1691640"/>
          </a:xfrm>
          <a:prstGeom prst="roundRect">
            <a:avLst>
              <a:gd name="adj" fmla="val 5000"/>
            </a:avLst>
          </a:prstGeom>
          <a:solidFill>
            <a:srgbClr val="08120C"/>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25196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"...trevligt att smaka viner från mindre kända vingårdar!"</a:t>
            </a:r>
          </a:p>
        </p:txBody>
      </p:sp>
      <p:sp>
        <p:nvSpPr>
          <p:cNvPr id="20" name="TextBox 19"/>
          <p:cNvSpPr txBox="1"/>
          <p:nvPr/>
        </p:nvSpPr>
        <p:spPr>
          <a:xfrm>
            <a:off x="1048359" y="502920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Nice to try wines from lesser known vineyards, at affordable prices.</a:t>
            </a:r>
          </a:p>
        </p:txBody>
      </p:sp>
      <p:sp>
        <p:nvSpPr>
          <p:cNvPr id="21" name="TextBox 20"/>
          <p:cNvSpPr txBox="1"/>
          <p:nvPr/>
        </p:nvSpPr>
        <p:spPr>
          <a:xfrm>
            <a:off x="1048359" y="546811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Martin Åström · 5 stjärnor</a:t>
            </a:r>
          </a:p>
        </p:txBody>
      </p:sp>
      <p:sp>
        <p:nvSpPr>
          <p:cNvPr id="22" name="Rounded Rectangle 21"/>
          <p:cNvSpPr/>
          <p:nvPr/>
        </p:nvSpPr>
        <p:spPr>
          <a:xfrm>
            <a:off x="6255867" y="4069080"/>
            <a:ext cx="5143500" cy="1691640"/>
          </a:xfrm>
          <a:prstGeom prst="roundRect">
            <a:avLst>
              <a:gd name="adj" fmla="val 5000"/>
            </a:avLst>
          </a:prstGeom>
          <a:solidFill>
            <a:srgbClr val="08120C"/>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1899" y="425196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"Mycket goda alkoholfria alternativ, såväl vitt vin som mousserande."</a:t>
            </a:r>
          </a:p>
        </p:txBody>
      </p:sp>
      <p:sp>
        <p:nvSpPr>
          <p:cNvPr id="24" name="TextBox 23"/>
          <p:cNvSpPr txBox="1"/>
          <p:nvPr/>
        </p:nvSpPr>
        <p:spPr>
          <a:xfrm>
            <a:off x="6511899" y="502920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Very good alcohol free options. A niche but loyal segment.</a:t>
            </a:r>
          </a:p>
        </p:txBody>
      </p:sp>
      <p:sp>
        <p:nvSpPr>
          <p:cNvPr id="25" name="TextBox 24"/>
          <p:cNvSpPr txBox="1"/>
          <p:nvPr/>
        </p:nvSpPr>
        <p:spPr>
          <a:xfrm>
            <a:off x="6511899" y="546811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Sari Andersson · 5 stjärnor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 · THE CORE PROBLEM</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"1-3 dagar" is breaking trust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homepage promises 1 to 3 day delivery. Customers report 7 to 16 days.</a:t>
            </a:r>
          </a:p>
        </p:txBody>
      </p:sp>
      <p:sp>
        <p:nvSpPr>
          <p:cNvPr id="10" name="Rounded Rectangle 9"/>
          <p:cNvSpPr/>
          <p:nvPr/>
        </p:nvSpPr>
        <p:spPr>
          <a:xfrm>
            <a:off x="792327" y="2103120"/>
            <a:ext cx="5143500" cy="1691640"/>
          </a:xfrm>
          <a:prstGeom prst="roundRect">
            <a:avLst>
              <a:gd name="adj" fmla="val 5000"/>
            </a:avLst>
          </a:prstGeom>
          <a:solidFill>
            <a:srgbClr val="120A0A"/>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8600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"1-3 dagars leverans står det. Just nu väntat i 11 dagar. Första och sista gången tyvärr."</a:t>
            </a:r>
          </a:p>
        </p:txBody>
      </p:sp>
      <p:sp>
        <p:nvSpPr>
          <p:cNvPr id="12" name="TextBox 11"/>
          <p:cNvSpPr txBox="1"/>
          <p:nvPr/>
        </p:nvSpPr>
        <p:spPr>
          <a:xfrm>
            <a:off x="1048359" y="306324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Says 1-3 days. Waited 11 days. First and last time.</a:t>
            </a:r>
          </a:p>
        </p:txBody>
      </p:sp>
      <p:sp>
        <p:nvSpPr>
          <p:cNvPr id="13" name="TextBox 12"/>
          <p:cNvSpPr txBox="1"/>
          <p:nvPr/>
        </p:nvSpPr>
        <p:spPr>
          <a:xfrm>
            <a:off x="1048359" y="350215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Sebastian Svahn · 1 stjärna</a:t>
            </a:r>
          </a:p>
        </p:txBody>
      </p:sp>
      <p:sp>
        <p:nvSpPr>
          <p:cNvPr id="14" name="Rounded Rectangle 13"/>
          <p:cNvSpPr/>
          <p:nvPr/>
        </p:nvSpPr>
        <p:spPr>
          <a:xfrm>
            <a:off x="6255867" y="2103120"/>
            <a:ext cx="5143500" cy="1691640"/>
          </a:xfrm>
          <a:prstGeom prst="roundRect">
            <a:avLst>
              <a:gd name="adj" fmla="val 5000"/>
            </a:avLst>
          </a:prstGeom>
          <a:solidFill>
            <a:srgbClr val="120A0A"/>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1899" y="228600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"Vilseledande marknadsföring! Leverans som aldrig är 1-3 dagar som det står på sidan."</a:t>
            </a:r>
          </a:p>
        </p:txBody>
      </p:sp>
      <p:sp>
        <p:nvSpPr>
          <p:cNvPr id="16" name="TextBox 15"/>
          <p:cNvSpPr txBox="1"/>
          <p:nvPr/>
        </p:nvSpPr>
        <p:spPr>
          <a:xfrm>
            <a:off x="6511899" y="306324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Misleading marketing. Never the 1-3 days the site claims.</a:t>
            </a:r>
          </a:p>
        </p:txBody>
      </p:sp>
      <p:sp>
        <p:nvSpPr>
          <p:cNvPr id="17" name="TextBox 16"/>
          <p:cNvSpPr txBox="1"/>
          <p:nvPr/>
        </p:nvSpPr>
        <p:spPr>
          <a:xfrm>
            <a:off x="6511899" y="350215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Elias Lindell · 1 stjärna</a:t>
            </a:r>
          </a:p>
        </p:txBody>
      </p:sp>
      <p:sp>
        <p:nvSpPr>
          <p:cNvPr id="18" name="Rounded Rectangle 17"/>
          <p:cNvSpPr/>
          <p:nvPr/>
        </p:nvSpPr>
        <p:spPr>
          <a:xfrm>
            <a:off x="792327" y="4069080"/>
            <a:ext cx="5143500" cy="1691640"/>
          </a:xfrm>
          <a:prstGeom prst="roundRect">
            <a:avLst>
              <a:gd name="adj" fmla="val 5000"/>
            </a:avLst>
          </a:prstGeom>
          <a:solidFill>
            <a:srgbClr val="120A0A"/>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25196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"Dittvin utlovar 1-3 dagars leverans men det är snarare 10-13. Trust me."</a:t>
            </a:r>
          </a:p>
        </p:txBody>
      </p:sp>
      <p:sp>
        <p:nvSpPr>
          <p:cNvPr id="20" name="TextBox 19"/>
          <p:cNvSpPr txBox="1"/>
          <p:nvPr/>
        </p:nvSpPr>
        <p:spPr>
          <a:xfrm>
            <a:off x="1048359" y="502920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Promises 1-3 days but it is more like 10-13.</a:t>
            </a:r>
          </a:p>
        </p:txBody>
      </p:sp>
      <p:sp>
        <p:nvSpPr>
          <p:cNvPr id="21" name="TextBox 20"/>
          <p:cNvSpPr txBox="1"/>
          <p:nvPr/>
        </p:nvSpPr>
        <p:spPr>
          <a:xfrm>
            <a:off x="1048359" y="546811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Mattias Bedding · 2 stjärnor</a:t>
            </a:r>
          </a:p>
        </p:txBody>
      </p:sp>
      <p:sp>
        <p:nvSpPr>
          <p:cNvPr id="22" name="Rounded Rectangle 21"/>
          <p:cNvSpPr/>
          <p:nvPr/>
        </p:nvSpPr>
        <p:spPr>
          <a:xfrm>
            <a:off x="6255867" y="4069080"/>
            <a:ext cx="5143500" cy="1691640"/>
          </a:xfrm>
          <a:prstGeom prst="roundRect">
            <a:avLst>
              <a:gd name="adj" fmla="val 5000"/>
            </a:avLst>
          </a:prstGeom>
          <a:solidFill>
            <a:srgbClr val="120A0A"/>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1899" y="425196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"Ska levereras mellan 17-22, sen 5 minuter innan så avbryts leveransen!"</a:t>
            </a:r>
          </a:p>
        </p:txBody>
      </p:sp>
      <p:sp>
        <p:nvSpPr>
          <p:cNvPr id="24" name="TextBox 23"/>
          <p:cNvSpPr txBox="1"/>
          <p:nvPr/>
        </p:nvSpPr>
        <p:spPr>
          <a:xfrm>
            <a:off x="6511899" y="502920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Meant to arrive 17-22, then cancelled 5 minutes before. Alcohol needs someone home.</a:t>
            </a:r>
          </a:p>
        </p:txBody>
      </p:sp>
      <p:sp>
        <p:nvSpPr>
          <p:cNvPr id="25" name="TextBox 24"/>
          <p:cNvSpPr txBox="1"/>
          <p:nvPr/>
        </p:nvSpPr>
        <p:spPr>
          <a:xfrm>
            <a:off x="6511899" y="546811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Elias Lindell · 1 stjärna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 · SECONDARY FRICTIONS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Quality doubt and robot service</a:t>
            </a:r>
          </a:p>
        </p:txBody>
      </p:sp>
      <p:sp>
        <p:nvSpPr>
          <p:cNvPr id="9" name="Rounded Rectangle 8"/>
          <p:cNvSpPr/>
          <p:nvPr/>
        </p:nvSpPr>
        <p:spPr>
          <a:xfrm>
            <a:off x="792327" y="2103120"/>
            <a:ext cx="5143500" cy="1691640"/>
          </a:xfrm>
          <a:prstGeom prst="roundRect">
            <a:avLst>
              <a:gd name="adj" fmla="val 5000"/>
            </a:avLst>
          </a:prstGeom>
          <a:solidFill>
            <a:srgbClr val="120A0A"/>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8359" y="228600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"Köpte 12 så kallade kvalitetsviner. Flertalet knappt drickbara och sämre än de billigare på systemet."</a:t>
            </a:r>
          </a:p>
        </p:txBody>
      </p:sp>
      <p:sp>
        <p:nvSpPr>
          <p:cNvPr id="11" name="TextBox 10"/>
          <p:cNvSpPr txBox="1"/>
          <p:nvPr/>
        </p:nvSpPr>
        <p:spPr>
          <a:xfrm>
            <a:off x="1048359" y="306324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12 so called quality wines, several barely drinkable and worse than Systembolaget budget.</a:t>
            </a:r>
          </a:p>
        </p:txBody>
      </p:sp>
      <p:sp>
        <p:nvSpPr>
          <p:cNvPr id="12" name="TextBox 11"/>
          <p:cNvSpPr txBox="1"/>
          <p:nvPr/>
        </p:nvSpPr>
        <p:spPr>
          <a:xfrm>
            <a:off x="1048359" y="350215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Consumer · 2 stjärnor</a:t>
            </a:r>
          </a:p>
        </p:txBody>
      </p:sp>
      <p:sp>
        <p:nvSpPr>
          <p:cNvPr id="13" name="Rounded Rectangle 12"/>
          <p:cNvSpPr/>
          <p:nvPr/>
        </p:nvSpPr>
        <p:spPr>
          <a:xfrm>
            <a:off x="6255867" y="2103120"/>
            <a:ext cx="5143500" cy="1691640"/>
          </a:xfrm>
          <a:prstGeom prst="roundRect">
            <a:avLst>
              <a:gd name="adj" fmla="val 5000"/>
            </a:avLst>
          </a:prstGeom>
          <a:solidFill>
            <a:srgbClr val="101010"/>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1899" y="228600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"Vinerna smakar som saft."</a:t>
            </a:r>
          </a:p>
        </p:txBody>
      </p:sp>
      <p:sp>
        <p:nvSpPr>
          <p:cNvPr id="15" name="TextBox 14"/>
          <p:cNvSpPr txBox="1"/>
          <p:nvPr/>
        </p:nvSpPr>
        <p:spPr>
          <a:xfrm>
            <a:off x="6511899" y="306324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The wines taste like juice. 14% of complaints mention taste.</a:t>
            </a:r>
          </a:p>
        </p:txBody>
      </p:sp>
      <p:sp>
        <p:nvSpPr>
          <p:cNvPr id="16" name="TextBox 15"/>
          <p:cNvSpPr txBox="1"/>
          <p:nvPr/>
        </p:nvSpPr>
        <p:spPr>
          <a:xfrm>
            <a:off x="6511899" y="350215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Harry Frank · 2 stjärnor</a:t>
            </a:r>
          </a:p>
        </p:txBody>
      </p:sp>
      <p:sp>
        <p:nvSpPr>
          <p:cNvPr id="17" name="Rounded Rectangle 16"/>
          <p:cNvSpPr/>
          <p:nvPr/>
        </p:nvSpPr>
        <p:spPr>
          <a:xfrm>
            <a:off x="792327" y="4069080"/>
            <a:ext cx="5143500" cy="1691640"/>
          </a:xfrm>
          <a:prstGeom prst="roundRect">
            <a:avLst>
              <a:gd name="adj" fmla="val 5000"/>
            </a:avLst>
          </a:prstGeom>
          <a:solidFill>
            <a:srgbClr val="120A0A"/>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8359" y="425196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"Kundservice är ett automatiskt AI svar som 'beklagar och ska ta din feedback med oss'."</a:t>
            </a:r>
          </a:p>
        </p:txBody>
      </p:sp>
      <p:sp>
        <p:nvSpPr>
          <p:cNvPr id="19" name="TextBox 18"/>
          <p:cNvSpPr txBox="1"/>
          <p:nvPr/>
        </p:nvSpPr>
        <p:spPr>
          <a:xfrm>
            <a:off x="1048359" y="502920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Customer service is an automatic AI reply. 38% of complaints cite service.</a:t>
            </a:r>
          </a:p>
        </p:txBody>
      </p:sp>
      <p:sp>
        <p:nvSpPr>
          <p:cNvPr id="20" name="TextBox 19"/>
          <p:cNvSpPr txBox="1"/>
          <p:nvPr/>
        </p:nvSpPr>
        <p:spPr>
          <a:xfrm>
            <a:off x="1048359" y="546811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Elias Lindell · 1 stjärna</a:t>
            </a:r>
          </a:p>
        </p:txBody>
      </p:sp>
      <p:sp>
        <p:nvSpPr>
          <p:cNvPr id="21" name="Rounded Rectangle 20"/>
          <p:cNvSpPr/>
          <p:nvPr/>
        </p:nvSpPr>
        <p:spPr>
          <a:xfrm>
            <a:off x="6255867" y="4069080"/>
            <a:ext cx="5143500" cy="1691640"/>
          </a:xfrm>
          <a:prstGeom prst="roundRect">
            <a:avLst>
              <a:gd name="adj" fmla="val 5000"/>
            </a:avLst>
          </a:prstGeom>
          <a:solidFill>
            <a:srgbClr val="08120C"/>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1899" y="4251960"/>
            <a:ext cx="4631436" cy="822960"/>
          </a:xfrm>
          <a:prstGeom prst="rect">
            <a:avLst/>
          </a:prstGeom>
          <a:noFill/>
        </p:spPr>
        <p:txBody>
          <a:bodyPr wrap="square" lIns="0" rIns="0" tIns="0" bIns="0" anchor="t">
            <a:spAutoFit/>
          </a:bodyPr>
          <a:lstStyle/>
          <a:p>
            <a:pPr algn="l"/>
            <a:r>
              <a:rPr sz="1200" b="0" i="1">
                <a:solidFill>
                  <a:srgbClr val="EFEEEE"/>
                </a:solidFill>
                <a:latin typeface="Helvetica Neue"/>
              </a:rPr>
              <a:t>"En flaska var skadad, dom löste det snabbt och lätt. Mycket bra återkoppling på mejl."</a:t>
            </a:r>
          </a:p>
        </p:txBody>
      </p:sp>
      <p:sp>
        <p:nvSpPr>
          <p:cNvPr id="23" name="TextBox 22"/>
          <p:cNvSpPr txBox="1"/>
          <p:nvPr/>
        </p:nvSpPr>
        <p:spPr>
          <a:xfrm>
            <a:off x="6511899" y="5029200"/>
            <a:ext cx="4631436" cy="411480"/>
          </a:xfrm>
          <a:prstGeom prst="rect">
            <a:avLst/>
          </a:prstGeom>
          <a:noFill/>
        </p:spPr>
        <p:txBody>
          <a:bodyPr wrap="square" lIns="0" rIns="0" tIns="0" bIns="0" anchor="t">
            <a:spAutoFit/>
          </a:bodyPr>
          <a:lstStyle/>
          <a:p>
            <a:pPr algn="l"/>
            <a:r>
              <a:rPr sz="1000" b="0" i="0">
                <a:solidFill>
                  <a:srgbClr val="999999"/>
                </a:solidFill>
                <a:latin typeface="Helvetica Neue"/>
              </a:rPr>
              <a:t>Solved quickly. When service is fast, it becomes a 5 star reason.</a:t>
            </a:r>
          </a:p>
        </p:txBody>
      </p:sp>
      <p:sp>
        <p:nvSpPr>
          <p:cNvPr id="24" name="TextBox 23"/>
          <p:cNvSpPr txBox="1"/>
          <p:nvPr/>
        </p:nvSpPr>
        <p:spPr>
          <a:xfrm>
            <a:off x="6511899" y="5468112"/>
            <a:ext cx="4631436" cy="228600"/>
          </a:xfrm>
          <a:prstGeom prst="rect">
            <a:avLst/>
          </a:prstGeom>
          <a:noFill/>
        </p:spPr>
        <p:txBody>
          <a:bodyPr wrap="square" lIns="0" rIns="0" tIns="0" bIns="0" anchor="t">
            <a:spAutoFit/>
          </a:bodyPr>
          <a:lstStyle/>
          <a:p>
            <a:pPr algn="l"/>
            <a:r>
              <a:rPr sz="900" b="0" i="0" spc="100">
                <a:solidFill>
                  <a:srgbClr val="6B7C75"/>
                </a:solidFill>
                <a:latin typeface="Helvetica Neue"/>
              </a:rPr>
              <a:t>Bengt Angséus · 5 stjärnor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THE CATEGORY'S BIGGEST BARRIER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You cannot taste it before you buy</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Online wine's one structural disadvantage: no tasting. Removing taste uncertainty lifts conversion and order value at once.</a:t>
            </a:r>
          </a:p>
        </p:txBody>
      </p:sp>
      <p:sp>
        <p:nvSpPr>
          <p:cNvPr id="10" name="Rounded Rectangle 9"/>
          <p:cNvSpPr/>
          <p:nvPr/>
        </p:nvSpPr>
        <p:spPr>
          <a:xfrm>
            <a:off x="792327" y="2103120"/>
            <a:ext cx="5074920" cy="31089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331720"/>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THE PROBLEM, IN YOUR OWN REVIEWS</a:t>
            </a:r>
          </a:p>
        </p:txBody>
      </p:sp>
      <p:sp>
        <p:nvSpPr>
          <p:cNvPr id="12" name="TextBox 11"/>
          <p:cNvSpPr txBox="1"/>
          <p:nvPr/>
        </p:nvSpPr>
        <p:spPr>
          <a:xfrm>
            <a:off x="1066647" y="2606040"/>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Taste is a blind gamble</a:t>
            </a:r>
          </a:p>
        </p:txBody>
      </p:sp>
      <p:sp>
        <p:nvSpPr>
          <p:cNvPr id="13" name="TextBox 12"/>
          <p:cNvSpPr txBox="1"/>
          <p:nvPr/>
        </p:nvSpPr>
        <p:spPr>
          <a:xfrm>
            <a:off x="1066647" y="3035808"/>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14% of complaints are about taste, and buyers ask for the information outright. A box of 12 unknown wines is a leap of faith, so price and discount become the only decision cues.</a:t>
            </a:r>
          </a:p>
        </p:txBody>
      </p:sp>
      <p:sp>
        <p:nvSpPr>
          <p:cNvPr id="14" name="Rounded Rectangle 13"/>
          <p:cNvSpPr/>
          <p:nvPr/>
        </p:nvSpPr>
        <p:spPr>
          <a:xfrm>
            <a:off x="1066647" y="3931920"/>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3807" y="3986784"/>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"Vinerna smakar som saft"</a:t>
            </a:r>
          </a:p>
        </p:txBody>
      </p:sp>
      <p:sp>
        <p:nvSpPr>
          <p:cNvPr id="16" name="Rounded Rectangle 15"/>
          <p:cNvSpPr/>
          <p:nvPr/>
        </p:nvSpPr>
        <p:spPr>
          <a:xfrm>
            <a:off x="1066647" y="4608576"/>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3807" y="4663440"/>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"Jag saknar en beskrivning av respektive vin."</a:t>
            </a:r>
          </a:p>
        </p:txBody>
      </p:sp>
      <p:sp>
        <p:nvSpPr>
          <p:cNvPr id="18" name="Rounded Rectangle 17"/>
          <p:cNvSpPr/>
          <p:nvPr/>
        </p:nvSpPr>
        <p:spPr>
          <a:xfrm>
            <a:off x="6324447" y="2103120"/>
            <a:ext cx="5074920" cy="31089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2331720"/>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THE FIX: A TASTE PROFILE ON EVERY WINE</a:t>
            </a:r>
          </a:p>
        </p:txBody>
      </p:sp>
      <p:sp>
        <p:nvSpPr>
          <p:cNvPr id="20" name="TextBox 19"/>
          <p:cNvSpPr txBox="1"/>
          <p:nvPr/>
        </p:nvSpPr>
        <p:spPr>
          <a:xfrm>
            <a:off x="6598767" y="2606040"/>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Show the flavor before the buy</a:t>
            </a:r>
          </a:p>
        </p:txBody>
      </p:sp>
      <p:sp>
        <p:nvSpPr>
          <p:cNvPr id="21" name="TextBox 20"/>
          <p:cNvSpPr txBox="1"/>
          <p:nvPr/>
        </p:nvSpPr>
        <p:spPr>
          <a:xfrm>
            <a:off x="6598767" y="3035808"/>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Dry to sweet and light to full scales, plain language tasting notes, the Vivino score you already hold, and food pairing. Plus a short "hitta din smak" taste match quiz.</a:t>
            </a:r>
          </a:p>
        </p:txBody>
      </p:sp>
      <p:sp>
        <p:nvSpPr>
          <p:cNvPr id="22" name="Rounded Rectangle 21"/>
          <p:cNvSpPr/>
          <p:nvPr/>
        </p:nvSpPr>
        <p:spPr>
          <a:xfrm>
            <a:off x="6598767" y="3931920"/>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5927" y="3986784"/>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Torrt ————o———— Sött   ·   Lätt ———————o— Fylligt</a:t>
            </a:r>
          </a:p>
        </p:txBody>
      </p:sp>
      <p:sp>
        <p:nvSpPr>
          <p:cNvPr id="24" name="Rounded Rectangle 23"/>
          <p:cNvSpPr/>
          <p:nvPr/>
        </p:nvSpPr>
        <p:spPr>
          <a:xfrm>
            <a:off x="6598767" y="4608576"/>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35927" y="4663440"/>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Mörka bär · Kryddig · Vivino 4,1 · Passar grillat kött</a:t>
            </a:r>
          </a:p>
        </p:txBody>
      </p:sp>
      <p:sp>
        <p:nvSpPr>
          <p:cNvPr id="26" name="TextBox 25"/>
          <p:cNvSpPr txBox="1"/>
          <p:nvPr/>
        </p:nvSpPr>
        <p:spPr>
          <a:xfrm>
            <a:off x="1280160" y="5532120"/>
            <a:ext cx="9601200" cy="457200"/>
          </a:xfrm>
          <a:prstGeom prst="rect">
            <a:avLst/>
          </a:prstGeom>
          <a:noFill/>
        </p:spPr>
        <p:txBody>
          <a:bodyPr wrap="square" lIns="0" rIns="0" tIns="0" bIns="0" anchor="t">
            <a:spAutoFit/>
          </a:bodyPr>
          <a:lstStyle/>
          <a:p>
            <a:pPr algn="ctr"/>
            <a:r>
              <a:rPr sz="1100" b="0" i="0">
                <a:solidFill>
                  <a:srgbClr val="6B7C75"/>
                </a:solidFill>
                <a:latin typeface="Helvetica Neue"/>
              </a:rPr>
              <a:t>The highest leverage content fix for a wine PDP: it turns a blind box into an informed pick, lifts add to cart, powers the AOV box ladder, and cuts the "smakar som saft" complaints.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18</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03</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03</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The Trust Equation</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Two levers decide the first purchase: is it legal, and will it arrive. dittvin is silent on the first and unreliable on the second.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MARKET CONTEXT · HIGHEST LEVERAGE GAP</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Nobody told the Swede it is legal</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dittvin lawfully ships as a Danish cross border private importer. It never explains this, so doubt fills the gap.</a:t>
            </a:r>
          </a:p>
        </p:txBody>
      </p:sp>
      <p:sp>
        <p:nvSpPr>
          <p:cNvPr id="10" name="Rounded Rectangle 9"/>
          <p:cNvSpPr/>
          <p:nvPr/>
        </p:nvSpPr>
        <p:spPr>
          <a:xfrm>
            <a:off x="792327" y="2103120"/>
            <a:ext cx="5074920" cy="31089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331720"/>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WHAT DITTVIN DOES TODAY</a:t>
            </a:r>
          </a:p>
        </p:txBody>
      </p:sp>
      <p:sp>
        <p:nvSpPr>
          <p:cNvPr id="12" name="TextBox 11"/>
          <p:cNvSpPr txBox="1"/>
          <p:nvPr/>
        </p:nvSpPr>
        <p:spPr>
          <a:xfrm>
            <a:off x="1066647" y="2606040"/>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Silence on legality</a:t>
            </a:r>
          </a:p>
        </p:txBody>
      </p:sp>
      <p:sp>
        <p:nvSpPr>
          <p:cNvPr id="13" name="TextBox 12"/>
          <p:cNvSpPr txBox="1"/>
          <p:nvPr/>
        </p:nvSpPr>
        <p:spPr>
          <a:xfrm>
            <a:off x="1066647" y="3035808"/>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Zero mention of Systembolaget, private import, Swedish alcohol tax, or that VAT is included. The Danish operator identity is buried in the footer.</a:t>
            </a:r>
          </a:p>
        </p:txBody>
      </p:sp>
      <p:sp>
        <p:nvSpPr>
          <p:cNvPr id="14" name="Rounded Rectangle 13"/>
          <p:cNvSpPr/>
          <p:nvPr/>
        </p:nvSpPr>
        <p:spPr>
          <a:xfrm>
            <a:off x="1066647" y="3931920"/>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3807" y="3986784"/>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"Tror detta r bedrägeri. VARNING" (I think this is fraud)</a:t>
            </a:r>
          </a:p>
        </p:txBody>
      </p:sp>
      <p:sp>
        <p:nvSpPr>
          <p:cNvPr id="16" name="Rounded Rectangle 15"/>
          <p:cNvSpPr/>
          <p:nvPr/>
        </p:nvSpPr>
        <p:spPr>
          <a:xfrm>
            <a:off x="6324447" y="2103120"/>
            <a:ext cx="5074920" cy="31089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2331720"/>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WHAT THE BEST RIVAL DOES</a:t>
            </a:r>
          </a:p>
        </p:txBody>
      </p:sp>
      <p:sp>
        <p:nvSpPr>
          <p:cNvPr id="18" name="TextBox 17"/>
          <p:cNvSpPr txBox="1"/>
          <p:nvPr/>
        </p:nvSpPr>
        <p:spPr>
          <a:xfrm>
            <a:off x="6598767" y="2606040"/>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KRAN states it plainly</a:t>
            </a:r>
          </a:p>
        </p:txBody>
      </p:sp>
      <p:sp>
        <p:nvSpPr>
          <p:cNvPr id="19" name="TextBox 18"/>
          <p:cNvSpPr txBox="1"/>
          <p:nvPr/>
        </p:nvSpPr>
        <p:spPr>
          <a:xfrm>
            <a:off x="6598767" y="3035808"/>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"Vi lyder under den svenska alkohollagstiftningen och regleras av svenska Skatteverket som distansförsäljare." Winefamly, Winefinder and Supervin also show Trygg E-handel.</a:t>
            </a:r>
          </a:p>
        </p:txBody>
      </p:sp>
      <p:sp>
        <p:nvSpPr>
          <p:cNvPr id="20" name="Rounded Rectangle 19"/>
          <p:cNvSpPr/>
          <p:nvPr/>
        </p:nvSpPr>
        <p:spPr>
          <a:xfrm>
            <a:off x="6598767" y="3931920"/>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35927" y="3986784"/>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The fix: a plain "Is this legal? Yes" block on PDP and cart.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 · STRATEGY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Three beliefs to destroy</a:t>
            </a:r>
          </a:p>
        </p:txBody>
      </p:sp>
      <p:sp>
        <p:nvSpPr>
          <p:cNvPr id="9" name="Rounded Rectangle 8"/>
          <p:cNvSpPr/>
          <p:nvPr/>
        </p:nvSpPr>
        <p:spPr>
          <a:xfrm>
            <a:off x="792327" y="2194560"/>
            <a:ext cx="3352800" cy="292608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0927" y="2377440"/>
            <a:ext cx="731520" cy="457200"/>
          </a:xfrm>
          <a:prstGeom prst="rect">
            <a:avLst/>
          </a:prstGeom>
          <a:noFill/>
        </p:spPr>
        <p:txBody>
          <a:bodyPr wrap="square" lIns="0" rIns="0" tIns="0" bIns="0" anchor="t">
            <a:spAutoFit/>
          </a:bodyPr>
          <a:lstStyle/>
          <a:p>
            <a:pPr algn="l"/>
            <a:r>
              <a:rPr sz="2600" b="1" i="0">
                <a:solidFill>
                  <a:srgbClr val="F7D007"/>
                </a:solidFill>
                <a:latin typeface="Menlo"/>
              </a:rPr>
              <a:t>1</a:t>
            </a:r>
          </a:p>
        </p:txBody>
      </p:sp>
      <p:sp>
        <p:nvSpPr>
          <p:cNvPr id="11" name="TextBox 10"/>
          <p:cNvSpPr txBox="1"/>
          <p:nvPr/>
        </p:nvSpPr>
        <p:spPr>
          <a:xfrm>
            <a:off x="102092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"Buying wine privately might be illegal."</a:t>
            </a:r>
          </a:p>
        </p:txBody>
      </p:sp>
      <p:sp>
        <p:nvSpPr>
          <p:cNvPr id="12" name="TextBox 11"/>
          <p:cNvSpPr txBox="1"/>
          <p:nvPr/>
        </p:nvSpPr>
        <p:spPr>
          <a:xfrm>
            <a:off x="102092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Destroy it with a plain language legality block: Danish private import, Skatteverket distance seller, tax and VAT included, Trustpilot proof at hesitation.</a:t>
            </a:r>
          </a:p>
        </p:txBody>
      </p:sp>
      <p:sp>
        <p:nvSpPr>
          <p:cNvPr id="13" name="Rounded Rectangle 12"/>
          <p:cNvSpPr/>
          <p:nvPr/>
        </p:nvSpPr>
        <p:spPr>
          <a:xfrm>
            <a:off x="102092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092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80,8% are new buyers</a:t>
            </a:r>
          </a:p>
        </p:txBody>
      </p:sp>
      <p:sp>
        <p:nvSpPr>
          <p:cNvPr id="15" name="Rounded Rectangle 14"/>
          <p:cNvSpPr/>
          <p:nvPr/>
        </p:nvSpPr>
        <p:spPr>
          <a:xfrm>
            <a:off x="4419447" y="2194560"/>
            <a:ext cx="3352800" cy="292608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8047" y="2377440"/>
            <a:ext cx="731520" cy="457200"/>
          </a:xfrm>
          <a:prstGeom prst="rect">
            <a:avLst/>
          </a:prstGeom>
          <a:noFill/>
        </p:spPr>
        <p:txBody>
          <a:bodyPr wrap="square" lIns="0" rIns="0" tIns="0" bIns="0" anchor="t">
            <a:spAutoFit/>
          </a:bodyPr>
          <a:lstStyle/>
          <a:p>
            <a:pPr algn="l"/>
            <a:r>
              <a:rPr sz="2600" b="1" i="0">
                <a:solidFill>
                  <a:srgbClr val="F7D007"/>
                </a:solidFill>
                <a:latin typeface="Menlo"/>
              </a:rPr>
              <a:t>2</a:t>
            </a:r>
          </a:p>
        </p:txBody>
      </p:sp>
      <p:sp>
        <p:nvSpPr>
          <p:cNvPr id="17" name="TextBox 16"/>
          <p:cNvSpPr txBox="1"/>
          <p:nvPr/>
        </p:nvSpPr>
        <p:spPr>
          <a:xfrm>
            <a:off x="464804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"They will not deliver on time."</a:t>
            </a:r>
          </a:p>
        </p:txBody>
      </p:sp>
      <p:sp>
        <p:nvSpPr>
          <p:cNvPr id="18" name="TextBox 17"/>
          <p:cNvSpPr txBox="1"/>
          <p:nvPr/>
        </p:nvSpPr>
        <p:spPr>
          <a:xfrm>
            <a:off x="464804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Destroy it by fixing the promise, not the wine. Honest order specific ETA, proactive updates, and a chooseable delivery window.</a:t>
            </a:r>
          </a:p>
        </p:txBody>
      </p:sp>
      <p:sp>
        <p:nvSpPr>
          <p:cNvPr id="19" name="Rounded Rectangle 18"/>
          <p:cNvSpPr/>
          <p:nvPr/>
        </p:nvSpPr>
        <p:spPr>
          <a:xfrm>
            <a:off x="464804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804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86% of complaints</a:t>
            </a:r>
          </a:p>
        </p:txBody>
      </p:sp>
      <p:sp>
        <p:nvSpPr>
          <p:cNvPr id="21" name="Rounded Rectangle 20"/>
          <p:cNvSpPr/>
          <p:nvPr/>
        </p:nvSpPr>
        <p:spPr>
          <a:xfrm>
            <a:off x="8046567" y="2194560"/>
            <a:ext cx="3352800" cy="292608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167" y="2377440"/>
            <a:ext cx="731520" cy="457200"/>
          </a:xfrm>
          <a:prstGeom prst="rect">
            <a:avLst/>
          </a:prstGeom>
          <a:noFill/>
        </p:spPr>
        <p:txBody>
          <a:bodyPr wrap="square" lIns="0" rIns="0" tIns="0" bIns="0" anchor="t">
            <a:spAutoFit/>
          </a:bodyPr>
          <a:lstStyle/>
          <a:p>
            <a:pPr algn="l"/>
            <a:r>
              <a:rPr sz="2600" b="1" i="0">
                <a:solidFill>
                  <a:srgbClr val="F7D007"/>
                </a:solidFill>
                <a:latin typeface="Menlo"/>
              </a:rPr>
              <a:t>3</a:t>
            </a:r>
          </a:p>
        </p:txBody>
      </p:sp>
      <p:sp>
        <p:nvSpPr>
          <p:cNvPr id="23" name="TextBox 22"/>
          <p:cNvSpPr txBox="1"/>
          <p:nvPr/>
        </p:nvSpPr>
        <p:spPr>
          <a:xfrm>
            <a:off x="827516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"The 'quality wines' are cheap plonk."</a:t>
            </a:r>
          </a:p>
        </p:txBody>
      </p:sp>
      <p:sp>
        <p:nvSpPr>
          <p:cNvPr id="24" name="TextBox 23"/>
          <p:cNvSpPr txBox="1"/>
          <p:nvPr/>
        </p:nvSpPr>
        <p:spPr>
          <a:xfrm>
            <a:off x="827516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Destroy it with real per wine specs: grape, region, a dry to sweet scale, and the Vivino score. A box should not be a blind gamble.</a:t>
            </a:r>
          </a:p>
        </p:txBody>
      </p:sp>
      <p:sp>
        <p:nvSpPr>
          <p:cNvPr id="25" name="Rounded Rectangle 24"/>
          <p:cNvSpPr/>
          <p:nvPr/>
        </p:nvSpPr>
        <p:spPr>
          <a:xfrm>
            <a:off x="827516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16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14% cite taste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21</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04</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04</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Heuristic Analysis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Entry, home and PDP, reviewed on the mobile experience that carries 86% of the store. Every claim is screenshot verified.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HEURISTIC · ENTRY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Two walls before a single product</a:t>
            </a:r>
          </a:p>
        </p:txBody>
      </p:sp>
      <p:sp>
        <p:nvSpPr>
          <p:cNvPr id="9" name="Rounded Rectangle 8"/>
          <p:cNvSpPr/>
          <p:nvPr/>
        </p:nvSpPr>
        <p:spPr>
          <a:xfrm>
            <a:off x="822960" y="1828800"/>
            <a:ext cx="2011680" cy="429768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ptx-entry.jpg"/>
          <p:cNvPicPr>
            <a:picLocks noChangeAspect="1"/>
          </p:cNvPicPr>
          <p:nvPr/>
        </p:nvPicPr>
        <p:blipFill>
          <a:blip r:embed="rId3"/>
          <a:stretch>
            <a:fillRect/>
          </a:stretch>
        </p:blipFill>
        <p:spPr>
          <a:xfrm>
            <a:off x="835852" y="1828800"/>
            <a:ext cx="1985895" cy="4297680"/>
          </a:xfrm>
          <a:prstGeom prst="rect">
            <a:avLst/>
          </a:prstGeom>
        </p:spPr>
      </p:pic>
      <p:sp>
        <p:nvSpPr>
          <p:cNvPr id="11" name="TextBox 10"/>
          <p:cNvSpPr txBox="1"/>
          <p:nvPr/>
        </p:nvSpPr>
        <p:spPr>
          <a:xfrm>
            <a:off x="822960" y="6199632"/>
            <a:ext cx="2011680" cy="274320"/>
          </a:xfrm>
          <a:prstGeom prst="rect">
            <a:avLst/>
          </a:prstGeom>
          <a:noFill/>
        </p:spPr>
        <p:txBody>
          <a:bodyPr wrap="square" lIns="0" rIns="0" tIns="0" bIns="0" anchor="t">
            <a:spAutoFit/>
          </a:bodyPr>
          <a:lstStyle/>
          <a:p>
            <a:pPr algn="ctr"/>
            <a:r>
              <a:rPr sz="1000" b="1" i="0" spc="200">
                <a:solidFill>
                  <a:srgbClr val="FFFFFF"/>
                </a:solidFill>
                <a:latin typeface="Helvetica Neue"/>
              </a:rPr>
              <a:t>ENTRY · MOBILE</a:t>
            </a:r>
          </a:p>
        </p:txBody>
      </p:sp>
      <p:sp>
        <p:nvSpPr>
          <p:cNvPr id="12" name="Oval 11"/>
          <p:cNvSpPr/>
          <p:nvPr/>
        </p:nvSpPr>
        <p:spPr>
          <a:xfrm>
            <a:off x="3566160" y="2066544"/>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2192" y="2011680"/>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Double interstitial. </a:t>
            </a:r>
            <a:r>
              <a:rPr sz="1300" b="0" i="0">
                <a:solidFill>
                  <a:srgbClr val="CCCCCC"/>
                </a:solidFill>
                <a:latin typeface="Helvetica Neue"/>
              </a:rPr>
              <a:t>A legally required age gate stacks on a spin the wheel popup. Two dismissals before the first product.</a:t>
            </a:r>
          </a:p>
        </p:txBody>
      </p:sp>
      <p:sp>
        <p:nvSpPr>
          <p:cNvPr id="14" name="Oval 13"/>
          <p:cNvSpPr/>
          <p:nvPr/>
        </p:nvSpPr>
        <p:spPr>
          <a:xfrm>
            <a:off x="3566160" y="2651760"/>
            <a:ext cx="109728" cy="109728"/>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22192" y="2596896"/>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Turn the age gate into a trust moment. </a:t>
            </a:r>
            <a:r>
              <a:rPr sz="1300" b="0" i="0">
                <a:solidFill>
                  <a:srgbClr val="CCCCCC"/>
                </a:solidFill>
                <a:latin typeface="Helvetica Neue"/>
              </a:rPr>
              <a:t>Add one line: lawful Danish import, tax included. The perfect place to answer legality.</a:t>
            </a:r>
          </a:p>
        </p:txBody>
      </p:sp>
      <p:sp>
        <p:nvSpPr>
          <p:cNvPr id="16" name="Oval 15"/>
          <p:cNvSpPr/>
          <p:nvPr/>
        </p:nvSpPr>
        <p:spPr>
          <a:xfrm>
            <a:off x="3566160" y="3236976"/>
            <a:ext cx="109728" cy="109728"/>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22192" y="3182112"/>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Emoji heavy promo bar. </a:t>
            </a:r>
            <a:r>
              <a:rPr sz="1300" b="0" i="0">
                <a:solidFill>
                  <a:srgbClr val="CCCCCC"/>
                </a:solidFill>
                <a:latin typeface="Helvetica Neue"/>
              </a:rPr>
              <a:t>Clashes with a "kvalitetsviner" premium promise on a wine brand.</a:t>
            </a:r>
          </a:p>
        </p:txBody>
      </p:sp>
      <p:sp>
        <p:nvSpPr>
          <p:cNvPr id="18" name="Oval 17"/>
          <p:cNvSpPr/>
          <p:nvPr/>
        </p:nvSpPr>
        <p:spPr>
          <a:xfrm>
            <a:off x="3566160" y="3822192"/>
            <a:ext cx="109728" cy="10972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22192" y="3767328"/>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Chat and Klaviyo present. </a:t>
            </a:r>
            <a:r>
              <a:rPr sz="1300" b="0" i="0">
                <a:solidFill>
                  <a:srgbClr val="CCCCCC"/>
                </a:solidFill>
                <a:latin typeface="Helvetica Neue"/>
              </a:rPr>
              <a:t>Support and capture are live. The issue is stacking and sequence, not absence.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HEURISTIC · HOMEPAGE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Strong bones, two real cracks</a:t>
            </a:r>
          </a:p>
        </p:txBody>
      </p:sp>
      <p:sp>
        <p:nvSpPr>
          <p:cNvPr id="9" name="Rounded Rectangle 8"/>
          <p:cNvSpPr/>
          <p:nvPr/>
        </p:nvSpPr>
        <p:spPr>
          <a:xfrm>
            <a:off x="822960" y="1828800"/>
            <a:ext cx="2011680" cy="429768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ptx-home.jpg"/>
          <p:cNvPicPr>
            <a:picLocks noChangeAspect="1"/>
          </p:cNvPicPr>
          <p:nvPr/>
        </p:nvPicPr>
        <p:blipFill>
          <a:blip r:embed="rId3"/>
          <a:stretch>
            <a:fillRect/>
          </a:stretch>
        </p:blipFill>
        <p:spPr>
          <a:xfrm>
            <a:off x="897636" y="1828800"/>
            <a:ext cx="1862328" cy="4297680"/>
          </a:xfrm>
          <a:prstGeom prst="rect">
            <a:avLst/>
          </a:prstGeom>
        </p:spPr>
      </p:pic>
      <p:sp>
        <p:nvSpPr>
          <p:cNvPr id="11" name="TextBox 10"/>
          <p:cNvSpPr txBox="1"/>
          <p:nvPr/>
        </p:nvSpPr>
        <p:spPr>
          <a:xfrm>
            <a:off x="822960" y="6199632"/>
            <a:ext cx="2011680" cy="274320"/>
          </a:xfrm>
          <a:prstGeom prst="rect">
            <a:avLst/>
          </a:prstGeom>
          <a:noFill/>
        </p:spPr>
        <p:txBody>
          <a:bodyPr wrap="square" lIns="0" rIns="0" tIns="0" bIns="0" anchor="t">
            <a:spAutoFit/>
          </a:bodyPr>
          <a:lstStyle/>
          <a:p>
            <a:pPr algn="ctr"/>
            <a:r>
              <a:rPr sz="1000" b="1" i="0" spc="200">
                <a:solidFill>
                  <a:srgbClr val="FFFFFF"/>
                </a:solidFill>
                <a:latin typeface="Helvetica Neue"/>
              </a:rPr>
              <a:t>HOMEPAGE · MOBILE</a:t>
            </a:r>
          </a:p>
        </p:txBody>
      </p:sp>
      <p:sp>
        <p:nvSpPr>
          <p:cNvPr id="12" name="Oval 11"/>
          <p:cNvSpPr/>
          <p:nvPr/>
        </p:nvSpPr>
        <p:spPr>
          <a:xfrm>
            <a:off x="3566160" y="2066544"/>
            <a:ext cx="109728" cy="10972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2192" y="2011680"/>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Clear category circles. </a:t>
            </a:r>
            <a:r>
              <a:rPr sz="1300" b="0" i="0">
                <a:solidFill>
                  <a:srgbClr val="CCCCCC"/>
                </a:solidFill>
                <a:latin typeface="Helvetica Neue"/>
              </a:rPr>
              <a:t>Rött, Vitt, Mousserande, Rosé, Gin, Vinlådor, Erbjudanden, Abonnemang, Alkoholfri. Vivino badges on products.</a:t>
            </a:r>
          </a:p>
        </p:txBody>
      </p:sp>
      <p:sp>
        <p:nvSpPr>
          <p:cNvPr id="14" name="Oval 13"/>
          <p:cNvSpPr/>
          <p:nvPr/>
        </p:nvSpPr>
        <p:spPr>
          <a:xfrm>
            <a:off x="3566160" y="265176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22192" y="2596896"/>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Everything is on sale. </a:t>
            </a:r>
            <a:r>
              <a:rPr sz="1300" b="0" i="0">
                <a:solidFill>
                  <a:srgbClr val="CCCCCC"/>
                </a:solidFill>
                <a:latin typeface="Helvetica Neue"/>
              </a:rPr>
              <a:t>Every product wears a red discount flag plus "Spara X kr". Permanent discounting reads as generic, not premium.</a:t>
            </a:r>
          </a:p>
        </p:txBody>
      </p:sp>
      <p:sp>
        <p:nvSpPr>
          <p:cNvPr id="16" name="TextBox 15"/>
          <p:cNvSpPr txBox="1"/>
          <p:nvPr/>
        </p:nvSpPr>
        <p:spPr>
          <a:xfrm>
            <a:off x="3822192" y="3054096"/>
            <a:ext cx="7607808" cy="274320"/>
          </a:xfrm>
          <a:prstGeom prst="rect">
            <a:avLst/>
          </a:prstGeom>
          <a:noFill/>
        </p:spPr>
        <p:txBody>
          <a:bodyPr wrap="square" lIns="0" rIns="0" tIns="0" bIns="0" anchor="t">
            <a:spAutoFit/>
          </a:bodyPr>
          <a:lstStyle/>
          <a:p>
            <a:pPr algn="l"/>
            <a:r>
              <a:rPr sz="1100" b="1" i="0">
                <a:solidFill>
                  <a:srgbClr val="F7D007"/>
                </a:solidFill>
                <a:latin typeface="Helvetica Neue"/>
              </a:rPr>
              <a:t>Reserve discounting for real offers.</a:t>
            </a:r>
          </a:p>
        </p:txBody>
      </p:sp>
      <p:sp>
        <p:nvSpPr>
          <p:cNvPr id="17" name="Oval 16"/>
          <p:cNvSpPr/>
          <p:nvPr/>
        </p:nvSpPr>
        <p:spPr>
          <a:xfrm>
            <a:off x="3566160" y="3547872"/>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192" y="3493008"/>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Sections render inconsistently. </a:t>
            </a:r>
            <a:r>
              <a:rPr sz="1300" b="0" i="0">
                <a:solidFill>
                  <a:srgbClr val="CCCCCC"/>
                </a:solidFill>
                <a:latin typeface="Helvetica Neue"/>
              </a:rPr>
              <a:t>"Upplev..." and "Kunskap..." load as empty bands on one capture and filled on the next.</a:t>
            </a:r>
          </a:p>
        </p:txBody>
      </p:sp>
      <p:sp>
        <p:nvSpPr>
          <p:cNvPr id="19" name="TextBox 18"/>
          <p:cNvSpPr txBox="1"/>
          <p:nvPr/>
        </p:nvSpPr>
        <p:spPr>
          <a:xfrm>
            <a:off x="3822192" y="3950208"/>
            <a:ext cx="7607808" cy="274320"/>
          </a:xfrm>
          <a:prstGeom prst="rect">
            <a:avLst/>
          </a:prstGeom>
          <a:noFill/>
        </p:spPr>
        <p:txBody>
          <a:bodyPr wrap="square" lIns="0" rIns="0" tIns="0" bIns="0" anchor="t">
            <a:spAutoFit/>
          </a:bodyPr>
          <a:lstStyle/>
          <a:p>
            <a:pPr algn="l"/>
            <a:r>
              <a:rPr sz="1100" b="1" i="0">
                <a:solidFill>
                  <a:srgbClr val="F7D007"/>
                </a:solidFill>
                <a:latin typeface="Helvetica Neue"/>
              </a:rPr>
              <a:t>Flaky, tied to 90+ JS errors.</a:t>
            </a:r>
          </a:p>
        </p:txBody>
      </p:sp>
      <p:sp>
        <p:nvSpPr>
          <p:cNvPr id="20" name="Oval 19"/>
          <p:cNvSpPr/>
          <p:nvPr/>
        </p:nvSpPr>
        <p:spPr>
          <a:xfrm>
            <a:off x="3566160" y="4443984"/>
            <a:ext cx="109728" cy="109728"/>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22192" y="4389120"/>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Trust assets buried. </a:t>
            </a:r>
            <a:r>
              <a:rPr sz="1300" b="0" i="0">
                <a:solidFill>
                  <a:srgbClr val="CCCCCC"/>
                </a:solidFill>
                <a:latin typeface="Helvetica Neue"/>
              </a:rPr>
              <a:t>The Danish operator line and Løvens Hule backing sit only in the footer.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HEURISTIC · COLLECTION &amp; PDP</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Good buy box, missing reassurance</a:t>
            </a:r>
          </a:p>
        </p:txBody>
      </p:sp>
      <p:sp>
        <p:nvSpPr>
          <p:cNvPr id="9" name="Rounded Rectangle 8"/>
          <p:cNvSpPr/>
          <p:nvPr/>
        </p:nvSpPr>
        <p:spPr>
          <a:xfrm>
            <a:off x="822960" y="1828800"/>
            <a:ext cx="2011680" cy="429768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ptx-pdp.jpg"/>
          <p:cNvPicPr>
            <a:picLocks noChangeAspect="1"/>
          </p:cNvPicPr>
          <p:nvPr/>
        </p:nvPicPr>
        <p:blipFill>
          <a:blip r:embed="rId3"/>
          <a:stretch>
            <a:fillRect/>
          </a:stretch>
        </p:blipFill>
        <p:spPr>
          <a:xfrm>
            <a:off x="897636" y="1828800"/>
            <a:ext cx="1862328" cy="4297680"/>
          </a:xfrm>
          <a:prstGeom prst="rect">
            <a:avLst/>
          </a:prstGeom>
        </p:spPr>
      </p:pic>
      <p:sp>
        <p:nvSpPr>
          <p:cNvPr id="11" name="TextBox 10"/>
          <p:cNvSpPr txBox="1"/>
          <p:nvPr/>
        </p:nvSpPr>
        <p:spPr>
          <a:xfrm>
            <a:off x="822960" y="6199632"/>
            <a:ext cx="2011680" cy="274320"/>
          </a:xfrm>
          <a:prstGeom prst="rect">
            <a:avLst/>
          </a:prstGeom>
          <a:noFill/>
        </p:spPr>
        <p:txBody>
          <a:bodyPr wrap="square" lIns="0" rIns="0" tIns="0" bIns="0" anchor="t">
            <a:spAutoFit/>
          </a:bodyPr>
          <a:lstStyle/>
          <a:p>
            <a:pPr algn="ctr"/>
            <a:r>
              <a:rPr sz="1000" b="1" i="0" spc="200">
                <a:solidFill>
                  <a:srgbClr val="FFFFFF"/>
                </a:solidFill>
                <a:latin typeface="Helvetica Neue"/>
              </a:rPr>
              <a:t>FANTINI BOX PDP · MOBILE</a:t>
            </a:r>
          </a:p>
        </p:txBody>
      </p:sp>
      <p:sp>
        <p:nvSpPr>
          <p:cNvPr id="12" name="Oval 11"/>
          <p:cNvSpPr/>
          <p:nvPr/>
        </p:nvSpPr>
        <p:spPr>
          <a:xfrm>
            <a:off x="3566160" y="2066544"/>
            <a:ext cx="109728" cy="10972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2192" y="2011680"/>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Solid fundamentals. </a:t>
            </a:r>
            <a:r>
              <a:rPr sz="1300" b="0" i="0">
                <a:solidFill>
                  <a:srgbClr val="CCCCCC"/>
                </a:solidFill>
                <a:latin typeface="Helvetica Neue"/>
              </a:rPr>
              <a:t>Sticky add to cart, strikethrough price, "+75.000 vinälskare", Trustpilot and award badges, free shipping bar.</a:t>
            </a:r>
          </a:p>
        </p:txBody>
      </p:sp>
      <p:sp>
        <p:nvSpPr>
          <p:cNvPr id="14" name="Oval 13"/>
          <p:cNvSpPr/>
          <p:nvPr/>
        </p:nvSpPr>
        <p:spPr>
          <a:xfrm>
            <a:off x="3566160" y="265176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22192" y="2596896"/>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No legality block at the decision point. </a:t>
            </a:r>
            <a:r>
              <a:rPr sz="1300" b="0" i="0">
                <a:solidFill>
                  <a:srgbClr val="CCCCCC"/>
                </a:solidFill>
                <a:latin typeface="Helvetica Neue"/>
              </a:rPr>
              <a:t>The exact place KRAN and Winefamly reassure, dittvin stays silent. Suppresses the 64% who view but never add.</a:t>
            </a:r>
          </a:p>
        </p:txBody>
      </p:sp>
      <p:sp>
        <p:nvSpPr>
          <p:cNvPr id="16" name="Oval 15"/>
          <p:cNvSpPr/>
          <p:nvPr/>
        </p:nvSpPr>
        <p:spPr>
          <a:xfrm>
            <a:off x="3566160" y="3236976"/>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22192" y="3182112"/>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Thin box detail. </a:t>
            </a:r>
            <a:r>
              <a:rPr sz="1300" b="0" i="0">
                <a:solidFill>
                  <a:srgbClr val="CCCCCC"/>
                </a:solidFill>
                <a:latin typeface="Helvetica Neue"/>
              </a:rPr>
              <a:t>Only 3 gallery images for a 12 bottle box, and no per wine grape, sweetness or Vivino.</a:t>
            </a:r>
          </a:p>
        </p:txBody>
      </p:sp>
      <p:sp>
        <p:nvSpPr>
          <p:cNvPr id="18" name="TextBox 17"/>
          <p:cNvSpPr txBox="1"/>
          <p:nvPr/>
        </p:nvSpPr>
        <p:spPr>
          <a:xfrm>
            <a:off x="3822192" y="3639312"/>
            <a:ext cx="7607808" cy="274320"/>
          </a:xfrm>
          <a:prstGeom prst="rect">
            <a:avLst/>
          </a:prstGeom>
          <a:noFill/>
        </p:spPr>
        <p:txBody>
          <a:bodyPr wrap="square" lIns="0" rIns="0" tIns="0" bIns="0" anchor="t">
            <a:spAutoFit/>
          </a:bodyPr>
          <a:lstStyle/>
          <a:p>
            <a:pPr algn="l"/>
            <a:r>
              <a:rPr sz="1100" b="1" i="0">
                <a:solidFill>
                  <a:srgbClr val="F7D007"/>
                </a:solidFill>
                <a:latin typeface="Helvetica Neue"/>
              </a:rPr>
              <a:t>Customers ask for it directly.</a:t>
            </a:r>
          </a:p>
        </p:txBody>
      </p:sp>
      <p:sp>
        <p:nvSpPr>
          <p:cNvPr id="19" name="Oval 18"/>
          <p:cNvSpPr/>
          <p:nvPr/>
        </p:nvSpPr>
        <p:spPr>
          <a:xfrm>
            <a:off x="3566160" y="4133088"/>
            <a:ext cx="109728" cy="109728"/>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22192" y="4078224"/>
            <a:ext cx="7607808" cy="548640"/>
          </a:xfrm>
          <a:prstGeom prst="rect">
            <a:avLst/>
          </a:prstGeom>
          <a:noFill/>
        </p:spPr>
        <p:txBody>
          <a:bodyPr wrap="square" lIns="0" rIns="0" tIns="0" bIns="0" anchor="t">
            <a:spAutoFit/>
          </a:bodyPr>
          <a:lstStyle/>
          <a:p>
            <a:pPr algn="l">
              <a:lnSpc>
                <a:spcPct val="115000"/>
              </a:lnSpc>
            </a:pPr>
            <a:r>
              <a:rPr sz="1300" b="1" i="0">
                <a:solidFill>
                  <a:srgbClr val="FFFFFF"/>
                </a:solidFill>
                <a:latin typeface="Helvetica Neue"/>
              </a:rPr>
              <a:t>Danish leaks and shipping caveats. </a:t>
            </a:r>
            <a:r>
              <a:rPr sz="1300" b="0" i="0">
                <a:solidFill>
                  <a:srgbClr val="CCCCCC"/>
                </a:solidFill>
                <a:latin typeface="Helvetica Neue"/>
              </a:rPr>
              <a:t>Title reads "Kjøb hos Dittvin.se", and free shipping is quietly limited to Airmee.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HEURISTIC · BALANCE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Strengths to protect</a:t>
            </a:r>
          </a:p>
        </p:txBody>
      </p:sp>
      <p:sp>
        <p:nvSpPr>
          <p:cNvPr id="9" name="Rounded Rectangle 8"/>
          <p:cNvSpPr/>
          <p:nvPr/>
        </p:nvSpPr>
        <p:spPr>
          <a:xfrm>
            <a:off x="792327" y="210312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092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Box led assortment</a:t>
            </a:r>
          </a:p>
        </p:txBody>
      </p:sp>
      <p:sp>
        <p:nvSpPr>
          <p:cNvPr id="11" name="TextBox 10"/>
          <p:cNvSpPr txBox="1"/>
          <p:nvPr/>
        </p:nvSpPr>
        <p:spPr>
          <a:xfrm>
            <a:off x="1020927" y="2880360"/>
            <a:ext cx="2895600" cy="822960"/>
          </a:xfrm>
          <a:prstGeom prst="rect">
            <a:avLst/>
          </a:prstGeom>
          <a:noFill/>
        </p:spPr>
        <p:txBody>
          <a:bodyPr wrap="square" lIns="0" rIns="0" tIns="0" bIns="0" anchor="t">
            <a:spAutoFit/>
          </a:bodyPr>
          <a:lstStyle/>
          <a:p>
            <a:pPr algn="l"/>
            <a:r>
              <a:rPr sz="1100" b="0" i="0">
                <a:solidFill>
                  <a:srgbClr val="CCCCCC"/>
                </a:solidFill>
                <a:latin typeface="Helvetica Neue"/>
              </a:rPr>
              <a:t>The best converter (5,54%) and a genuine customer love. Product and data agree.</a:t>
            </a:r>
          </a:p>
        </p:txBody>
      </p:sp>
      <p:sp>
        <p:nvSpPr>
          <p:cNvPr id="12" name="Rounded Rectangle 11"/>
          <p:cNvSpPr/>
          <p:nvPr/>
        </p:nvSpPr>
        <p:spPr>
          <a:xfrm>
            <a:off x="4419447" y="210312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804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4,7 Trustpilot on 5.985</a:t>
            </a:r>
          </a:p>
        </p:txBody>
      </p:sp>
      <p:sp>
        <p:nvSpPr>
          <p:cNvPr id="14" name="TextBox 13"/>
          <p:cNvSpPr txBox="1"/>
          <p:nvPr/>
        </p:nvSpPr>
        <p:spPr>
          <a:xfrm>
            <a:off x="4648047" y="2880360"/>
            <a:ext cx="2895600" cy="822960"/>
          </a:xfrm>
          <a:prstGeom prst="rect">
            <a:avLst/>
          </a:prstGeom>
          <a:noFill/>
        </p:spPr>
        <p:txBody>
          <a:bodyPr wrap="square" lIns="0" rIns="0" tIns="0" bIns="0" anchor="t">
            <a:spAutoFit/>
          </a:bodyPr>
          <a:lstStyle/>
          <a:p>
            <a:pPr algn="l"/>
            <a:r>
              <a:rPr sz="1100" b="0" i="0">
                <a:solidFill>
                  <a:srgbClr val="CCCCCC"/>
                </a:solidFill>
                <a:latin typeface="Helvetica Neue"/>
              </a:rPr>
              <a:t>A deep, credible review base. A powerful proof asset for the legality and quality objections.</a:t>
            </a:r>
          </a:p>
        </p:txBody>
      </p:sp>
      <p:sp>
        <p:nvSpPr>
          <p:cNvPr id="15" name="Rounded Rectangle 14"/>
          <p:cNvSpPr/>
          <p:nvPr/>
        </p:nvSpPr>
        <p:spPr>
          <a:xfrm>
            <a:off x="8046567" y="210312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16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Low homepage bounce</a:t>
            </a:r>
          </a:p>
        </p:txBody>
      </p:sp>
      <p:sp>
        <p:nvSpPr>
          <p:cNvPr id="17" name="TextBox 16"/>
          <p:cNvSpPr txBox="1"/>
          <p:nvPr/>
        </p:nvSpPr>
        <p:spPr>
          <a:xfrm>
            <a:off x="8275167" y="2880360"/>
            <a:ext cx="2895600" cy="822960"/>
          </a:xfrm>
          <a:prstGeom prst="rect">
            <a:avLst/>
          </a:prstGeom>
          <a:noFill/>
        </p:spPr>
        <p:txBody>
          <a:bodyPr wrap="square" lIns="0" rIns="0" tIns="0" bIns="0" anchor="t">
            <a:spAutoFit/>
          </a:bodyPr>
          <a:lstStyle/>
          <a:p>
            <a:pPr algn="l"/>
            <a:r>
              <a:rPr sz="1100" b="0" i="0">
                <a:solidFill>
                  <a:srgbClr val="CCCCCC"/>
                </a:solidFill>
                <a:latin typeface="Helvetica Neue"/>
              </a:rPr>
              <a:t>24,9% bounce is excellent. The top of the experience works. The leaks are deeper.</a:t>
            </a:r>
          </a:p>
        </p:txBody>
      </p:sp>
      <p:sp>
        <p:nvSpPr>
          <p:cNvPr id="18" name="Rounded Rectangle 17"/>
          <p:cNvSpPr/>
          <p:nvPr/>
        </p:nvSpPr>
        <p:spPr>
          <a:xfrm>
            <a:off x="792327" y="429768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0927" y="45262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Sticky ATC + free ship bar</a:t>
            </a:r>
          </a:p>
        </p:txBody>
      </p:sp>
      <p:sp>
        <p:nvSpPr>
          <p:cNvPr id="20" name="TextBox 19"/>
          <p:cNvSpPr txBox="1"/>
          <p:nvPr/>
        </p:nvSpPr>
        <p:spPr>
          <a:xfrm>
            <a:off x="1020927" y="5074920"/>
            <a:ext cx="2895600" cy="822960"/>
          </a:xfrm>
          <a:prstGeom prst="rect">
            <a:avLst/>
          </a:prstGeom>
          <a:noFill/>
        </p:spPr>
        <p:txBody>
          <a:bodyPr wrap="square" lIns="0" rIns="0" tIns="0" bIns="0" anchor="t">
            <a:spAutoFit/>
          </a:bodyPr>
          <a:lstStyle/>
          <a:p>
            <a:pPr algn="l"/>
            <a:r>
              <a:rPr sz="1100" b="0" i="0">
                <a:solidFill>
                  <a:srgbClr val="CCCCCC"/>
                </a:solidFill>
                <a:latin typeface="Helvetica Neue"/>
              </a:rPr>
              <a:t>Mobile buy box mechanics are already in place, including a cart progress bar.</a:t>
            </a:r>
          </a:p>
        </p:txBody>
      </p:sp>
      <p:sp>
        <p:nvSpPr>
          <p:cNvPr id="21" name="Rounded Rectangle 20"/>
          <p:cNvSpPr/>
          <p:nvPr/>
        </p:nvSpPr>
        <p:spPr>
          <a:xfrm>
            <a:off x="4419447" y="429768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8047" y="45262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Real differentiators</a:t>
            </a:r>
          </a:p>
        </p:txBody>
      </p:sp>
      <p:sp>
        <p:nvSpPr>
          <p:cNvPr id="23" name="TextBox 22"/>
          <p:cNvSpPr txBox="1"/>
          <p:nvPr/>
        </p:nvSpPr>
        <p:spPr>
          <a:xfrm>
            <a:off x="4648047" y="5074920"/>
            <a:ext cx="2895600" cy="822960"/>
          </a:xfrm>
          <a:prstGeom prst="rect">
            <a:avLst/>
          </a:prstGeom>
          <a:noFill/>
        </p:spPr>
        <p:txBody>
          <a:bodyPr wrap="square" lIns="0" rIns="0" tIns="0" bIns="0" anchor="t">
            <a:spAutoFit/>
          </a:bodyPr>
          <a:lstStyle/>
          <a:p>
            <a:pPr algn="l"/>
            <a:r>
              <a:rPr sz="1100" b="0" i="0">
                <a:solidFill>
                  <a:srgbClr val="CCCCCC"/>
                </a:solidFill>
                <a:latin typeface="Helvetica Neue"/>
              </a:rPr>
              <a:t>Subscription plus boxes, alcohol free range, award medals, and Løvens Hule backing rivals lack.</a:t>
            </a:r>
          </a:p>
        </p:txBody>
      </p:sp>
      <p:sp>
        <p:nvSpPr>
          <p:cNvPr id="24" name="Rounded Rectangle 23"/>
          <p:cNvSpPr/>
          <p:nvPr/>
        </p:nvSpPr>
        <p:spPr>
          <a:xfrm>
            <a:off x="8046567" y="429768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167" y="45262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Strong owned channels</a:t>
            </a:r>
          </a:p>
        </p:txBody>
      </p:sp>
      <p:sp>
        <p:nvSpPr>
          <p:cNvPr id="26" name="TextBox 25"/>
          <p:cNvSpPr txBox="1"/>
          <p:nvPr/>
        </p:nvSpPr>
        <p:spPr>
          <a:xfrm>
            <a:off x="8275167" y="5074920"/>
            <a:ext cx="2895600" cy="822960"/>
          </a:xfrm>
          <a:prstGeom prst="rect">
            <a:avLst/>
          </a:prstGeom>
          <a:noFill/>
        </p:spPr>
        <p:txBody>
          <a:bodyPr wrap="square" lIns="0" rIns="0" tIns="0" bIns="0" anchor="t">
            <a:spAutoFit/>
          </a:bodyPr>
          <a:lstStyle/>
          <a:p>
            <a:pPr algn="l"/>
            <a:r>
              <a:rPr sz="1100" b="0" i="0">
                <a:solidFill>
                  <a:srgbClr val="CCCCCC"/>
                </a:solidFill>
                <a:latin typeface="Helvetica Neue"/>
              </a:rPr>
              <a:t>Klaviyo email drives 16% of orders at 2,55% CVR. A ready lever to reduce paid dependence.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26</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05</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05</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Competitor Landscape</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Five verified rivals plus the monopoly. Everyone reassures on legality except dittvin.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COMPETITOR · VERIFIED MATRIX</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Where dittvin sits</a:t>
            </a:r>
          </a:p>
        </p:txBody>
      </p:sp>
      <p:graphicFrame>
        <p:nvGraphicFramePr>
          <p:cNvPr id="9" name="Table 8"/>
          <p:cNvGraphicFramePr>
            <a:graphicFrameLocks noGrp="1"/>
          </p:cNvGraphicFramePr>
          <p:nvPr/>
        </p:nvGraphicFramePr>
        <p:xfrm>
          <a:off x="640080" y="1920240"/>
          <a:ext cx="10881360" cy="2542032"/>
        </p:xfrm>
        <a:graphic>
          <a:graphicData uri="http://schemas.openxmlformats.org/drawingml/2006/table">
            <a:tbl>
              <a:tblPr>
                <a:tableStyleId>{2D5ABB26-0587-4C30-8999-92F81FD0307C}</a:tableStyleId>
              </a:tblPr>
              <a:tblGrid>
                <a:gridCol w="2487168"/>
                <a:gridCol w="1399032"/>
                <a:gridCol w="1399032"/>
                <a:gridCol w="1399032"/>
                <a:gridCol w="1243584"/>
                <a:gridCol w="1399032"/>
                <a:gridCol w="1554480"/>
              </a:tblGrid>
              <a:tr h="365760">
                <a:tc>
                  <a:txBody>
                    <a:bodyPr wrap="square"/>
                    <a:lstStyle/>
                    <a:p>
                      <a:pPr algn="l"/>
                      <a:r>
                        <a:rPr sz="900" b="1" spc="100">
                          <a:solidFill>
                            <a:srgbClr val="999999"/>
                          </a:solidFill>
                          <a:latin typeface="Helvetica Neue"/>
                        </a:rPr>
                        <a:t>CAPABILITY</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DITTVIN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WINEFINDER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WINEFAMLY</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KRAN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SUPERVIN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SYSTEM-BOLAGET</a:t>
                      </a:r>
                    </a:p>
                  </a:txBody>
                  <a:tcPr marL="73152" marR="73152" marT="18288" marB="18288" anchor="ctr">
                    <a:solidFill>
                      <a:srgbClr val="0A0A0A"/>
                    </a:solidFill>
                  </a:tcPr>
                </a:tc>
              </a:tr>
              <a:tr h="310896">
                <a:tc>
                  <a:txBody>
                    <a:bodyPr wrap="square"/>
                    <a:lstStyle/>
                    <a:p>
                      <a:pPr algn="l"/>
                      <a:r>
                        <a:rPr sz="950" b="1">
                          <a:solidFill>
                            <a:srgbClr val="EFEEEE"/>
                          </a:solidFill>
                          <a:latin typeface="Helvetica Neue"/>
                        </a:rPr>
                        <a:t>Legality messaging</a:t>
                      </a:r>
                    </a:p>
                  </a:txBody>
                  <a:tcPr marL="73152" marR="73152" marT="18288" marB="18288" anchor="ctr">
                    <a:solidFill>
                      <a:srgbClr val="000000"/>
                    </a:solidFill>
                  </a:tcPr>
                </a:tc>
                <a:tc>
                  <a:txBody>
                    <a:bodyPr wrap="square"/>
                    <a:lstStyle/>
                    <a:p>
                      <a:pPr algn="l"/>
                      <a:r>
                        <a:rPr sz="950" b="0">
                          <a:solidFill>
                            <a:srgbClr val="EF4444"/>
                          </a:solidFill>
                          <a:latin typeface="Helvetica Neue"/>
                        </a:rPr>
                        <a:t>None</a:t>
                      </a:r>
                    </a:p>
                  </a:txBody>
                  <a:tcPr marL="73152" marR="73152" marT="18288" marB="18288" anchor="ctr">
                    <a:solidFill>
                      <a:srgbClr val="000000"/>
                    </a:solidFill>
                  </a:tcPr>
                </a:tc>
                <a:tc>
                  <a:txBody>
                    <a:bodyPr wrap="square"/>
                    <a:lstStyle/>
                    <a:p>
                      <a:pPr algn="l"/>
                      <a:r>
                        <a:rPr sz="950" b="0">
                          <a:solidFill>
                            <a:srgbClr val="F59E0B"/>
                          </a:solidFill>
                          <a:latin typeface="Helvetica Neue"/>
                        </a:rPr>
                        <a:t>Trygg</a:t>
                      </a:r>
                    </a:p>
                  </a:txBody>
                  <a:tcPr marL="73152" marR="73152" marT="18288" marB="18288" anchor="ctr">
                    <a:solidFill>
                      <a:srgbClr val="000000"/>
                    </a:solidFill>
                  </a:tcPr>
                </a:tc>
                <a:tc>
                  <a:txBody>
                    <a:bodyPr wrap="square"/>
                    <a:lstStyle/>
                    <a:p>
                      <a:pPr algn="l"/>
                      <a:r>
                        <a:rPr sz="950" b="0">
                          <a:solidFill>
                            <a:srgbClr val="22C55E"/>
                          </a:solidFill>
                          <a:latin typeface="Helvetica Neue"/>
                        </a:rPr>
                        <a:t>Tax stated</a:t>
                      </a:r>
                    </a:p>
                  </a:txBody>
                  <a:tcPr marL="73152" marR="73152" marT="18288" marB="18288" anchor="ctr">
                    <a:solidFill>
                      <a:srgbClr val="000000"/>
                    </a:solidFill>
                  </a:tcPr>
                </a:tc>
                <a:tc>
                  <a:txBody>
                    <a:bodyPr wrap="square"/>
                    <a:lstStyle/>
                    <a:p>
                      <a:pPr algn="l"/>
                      <a:r>
                        <a:rPr sz="950" b="0">
                          <a:solidFill>
                            <a:srgbClr val="22C55E"/>
                          </a:solidFill>
                          <a:latin typeface="Helvetica Neue"/>
                        </a:rPr>
                        <a:t>Skatteverket</a:t>
                      </a:r>
                    </a:p>
                  </a:txBody>
                  <a:tcPr marL="73152" marR="73152" marT="18288" marB="18288" anchor="ctr">
                    <a:solidFill>
                      <a:srgbClr val="000000"/>
                    </a:solidFill>
                  </a:tcPr>
                </a:tc>
                <a:tc>
                  <a:txBody>
                    <a:bodyPr wrap="square"/>
                    <a:lstStyle/>
                    <a:p>
                      <a:pPr algn="l"/>
                      <a:r>
                        <a:rPr sz="950" b="0">
                          <a:solidFill>
                            <a:srgbClr val="F59E0B"/>
                          </a:solidFill>
                          <a:latin typeface="Helvetica Neue"/>
                        </a:rPr>
                        <a:t>CVR+Trygg</a:t>
                      </a:r>
                    </a:p>
                  </a:txBody>
                  <a:tcPr marL="73152" marR="73152" marT="18288" marB="18288" anchor="ctr">
                    <a:solidFill>
                      <a:srgbClr val="000000"/>
                    </a:solidFill>
                  </a:tcPr>
                </a:tc>
                <a:tc>
                  <a:txBody>
                    <a:bodyPr wrap="square"/>
                    <a:lstStyle/>
                    <a:p>
                      <a:pPr algn="l"/>
                      <a:r>
                        <a:rPr sz="950" b="0">
                          <a:solidFill>
                            <a:srgbClr val="22C55E"/>
                          </a:solidFill>
                          <a:latin typeface="Helvetica Neue"/>
                        </a:rPr>
                        <a:t>Is channel</a:t>
                      </a:r>
                    </a:p>
                  </a:txBody>
                  <a:tcPr marL="73152" marR="73152" marT="18288" marB="18288" anchor="ctr">
                    <a:solidFill>
                      <a:srgbClr val="000000"/>
                    </a:solidFill>
                  </a:tcPr>
                </a:tc>
              </a:tr>
              <a:tr h="310896">
                <a:tc>
                  <a:txBody>
                    <a:bodyPr wrap="square"/>
                    <a:lstStyle/>
                    <a:p>
                      <a:pPr algn="l"/>
                      <a:r>
                        <a:rPr sz="950" b="1">
                          <a:solidFill>
                            <a:srgbClr val="EFEEEE"/>
                          </a:solidFill>
                          <a:latin typeface="Helvetica Neue"/>
                        </a:rPr>
                        <a:t>Trygg E-handel</a:t>
                      </a:r>
                    </a:p>
                  </a:txBody>
                  <a:tcPr marL="73152" marR="73152" marT="18288" marB="18288" anchor="ctr">
                    <a:solidFill>
                      <a:srgbClr val="0B0B0B"/>
                    </a:solidFill>
                  </a:tcPr>
                </a:tc>
                <a:tc>
                  <a:txBody>
                    <a:bodyPr wrap="square"/>
                    <a:lstStyle/>
                    <a:p>
                      <a:pPr algn="l"/>
                      <a:r>
                        <a:rPr sz="950" b="0">
                          <a:solidFill>
                            <a:srgbClr val="EF4444"/>
                          </a:solidFill>
                          <a:latin typeface="Helvetica Neue"/>
                        </a:rPr>
                        <a:t>No</a:t>
                      </a:r>
                    </a:p>
                  </a:txBody>
                  <a:tcPr marL="73152" marR="73152" marT="18288" marB="18288" anchor="ctr">
                    <a:solidFill>
                      <a:srgbClr val="0B0B0B"/>
                    </a:solidFill>
                  </a:tcPr>
                </a:tc>
                <a:tc>
                  <a:txBody>
                    <a:bodyPr wrap="square"/>
                    <a:lstStyle/>
                    <a:p>
                      <a:pPr algn="l"/>
                      <a:r>
                        <a:rPr sz="950" b="0">
                          <a:solidFill>
                            <a:srgbClr val="22C55E"/>
                          </a:solidFill>
                          <a:latin typeface="Helvetica Neue"/>
                        </a:rPr>
                        <a:t>Yes</a:t>
                      </a:r>
                    </a:p>
                  </a:txBody>
                  <a:tcPr marL="73152" marR="73152" marT="18288" marB="18288" anchor="ctr">
                    <a:solidFill>
                      <a:srgbClr val="0B0B0B"/>
                    </a:solidFill>
                  </a:tcPr>
                </a:tc>
                <a:tc>
                  <a:txBody>
                    <a:bodyPr wrap="square"/>
                    <a:lstStyle/>
                    <a:p>
                      <a:pPr algn="l"/>
                      <a:r>
                        <a:rPr sz="950" b="0">
                          <a:solidFill>
                            <a:srgbClr val="22C55E"/>
                          </a:solidFill>
                          <a:latin typeface="Helvetica Neue"/>
                        </a:rPr>
                        <a:t>Yes</a:t>
                      </a:r>
                    </a:p>
                  </a:txBody>
                  <a:tcPr marL="73152" marR="73152" marT="18288" marB="18288" anchor="ctr">
                    <a:solidFill>
                      <a:srgbClr val="0B0B0B"/>
                    </a:solidFill>
                  </a:tcPr>
                </a:tc>
                <a:tc>
                  <a:txBody>
                    <a:bodyPr wrap="square"/>
                    <a:lstStyle/>
                    <a:p>
                      <a:pPr algn="l"/>
                      <a:r>
                        <a:rPr sz="950" b="0">
                          <a:solidFill>
                            <a:srgbClr val="EF4444"/>
                          </a:solidFill>
                          <a:latin typeface="Helvetica Neue"/>
                        </a:rPr>
                        <a:t>No</a:t>
                      </a:r>
                    </a:p>
                  </a:txBody>
                  <a:tcPr marL="73152" marR="73152" marT="18288" marB="18288" anchor="ctr">
                    <a:solidFill>
                      <a:srgbClr val="0B0B0B"/>
                    </a:solidFill>
                  </a:tcPr>
                </a:tc>
                <a:tc>
                  <a:txBody>
                    <a:bodyPr wrap="square"/>
                    <a:lstStyle/>
                    <a:p>
                      <a:pPr algn="l"/>
                      <a:r>
                        <a:rPr sz="950" b="0">
                          <a:solidFill>
                            <a:srgbClr val="22C55E"/>
                          </a:solidFill>
                          <a:latin typeface="Helvetica Neue"/>
                        </a:rPr>
                        <a:t>Yes</a:t>
                      </a:r>
                    </a:p>
                  </a:txBody>
                  <a:tcPr marL="73152" marR="73152" marT="18288" marB="18288" anchor="ctr">
                    <a:solidFill>
                      <a:srgbClr val="0B0B0B"/>
                    </a:solidFill>
                  </a:tcPr>
                </a:tc>
                <a:tc>
                  <a:txBody>
                    <a:bodyPr wrap="square"/>
                    <a:lstStyle/>
                    <a:p>
                      <a:pPr algn="l"/>
                      <a:r>
                        <a:rPr sz="950" b="0">
                          <a:solidFill>
                            <a:srgbClr val="EFEEEE"/>
                          </a:solidFill>
                          <a:latin typeface="Helvetica Neue"/>
                        </a:rPr>
                        <a:t>N/A</a:t>
                      </a:r>
                    </a:p>
                  </a:txBody>
                  <a:tcPr marL="73152" marR="73152" marT="18288" marB="18288" anchor="ctr">
                    <a:solidFill>
                      <a:srgbClr val="0B0B0B"/>
                    </a:solidFill>
                  </a:tcPr>
                </a:tc>
              </a:tr>
              <a:tr h="310896">
                <a:tc>
                  <a:txBody>
                    <a:bodyPr wrap="square"/>
                    <a:lstStyle/>
                    <a:p>
                      <a:pPr algn="l"/>
                      <a:r>
                        <a:rPr sz="950" b="1">
                          <a:solidFill>
                            <a:srgbClr val="EFEEEE"/>
                          </a:solidFill>
                          <a:latin typeface="Helvetica Neue"/>
                        </a:rPr>
                        <a:t>Delivery clarity</a:t>
                      </a:r>
                    </a:p>
                  </a:txBody>
                  <a:tcPr marL="73152" marR="73152" marT="18288" marB="18288" anchor="ctr">
                    <a:solidFill>
                      <a:srgbClr val="000000"/>
                    </a:solidFill>
                  </a:tcPr>
                </a:tc>
                <a:tc>
                  <a:txBody>
                    <a:bodyPr wrap="square"/>
                    <a:lstStyle/>
                    <a:p>
                      <a:pPr algn="l"/>
                      <a:r>
                        <a:rPr sz="950" b="0">
                          <a:solidFill>
                            <a:srgbClr val="F59E0B"/>
                          </a:solidFill>
                          <a:latin typeface="Helvetica Neue"/>
                        </a:rPr>
                        <a:t>Vague</a:t>
                      </a:r>
                    </a:p>
                  </a:txBody>
                  <a:tcPr marL="73152" marR="73152" marT="18288" marB="18288" anchor="ctr">
                    <a:solidFill>
                      <a:srgbClr val="000000"/>
                    </a:solidFill>
                  </a:tcPr>
                </a:tc>
                <a:tc>
                  <a:txBody>
                    <a:bodyPr wrap="square"/>
                    <a:lstStyle/>
                    <a:p>
                      <a:pPr algn="l"/>
                      <a:r>
                        <a:rPr sz="950" b="0">
                          <a:solidFill>
                            <a:srgbClr val="F59E0B"/>
                          </a:solidFill>
                          <a:latin typeface="Helvetica Neue"/>
                        </a:rPr>
                        <a:t>Carriers</a:t>
                      </a:r>
                    </a:p>
                  </a:txBody>
                  <a:tcPr marL="73152" marR="73152" marT="18288" marB="18288" anchor="ctr">
                    <a:solidFill>
                      <a:srgbClr val="000000"/>
                    </a:solidFill>
                  </a:tcPr>
                </a:tc>
                <a:tc>
                  <a:txBody>
                    <a:bodyPr wrap="square"/>
                    <a:lstStyle/>
                    <a:p>
                      <a:pPr algn="l"/>
                      <a:r>
                        <a:rPr sz="950" b="0">
                          <a:solidFill>
                            <a:srgbClr val="F59E0B"/>
                          </a:solidFill>
                          <a:latin typeface="Helvetica Neue"/>
                        </a:rPr>
                        <a:t>Home</a:t>
                      </a:r>
                    </a:p>
                  </a:txBody>
                  <a:tcPr marL="73152" marR="73152" marT="18288" marB="18288" anchor="ctr">
                    <a:solidFill>
                      <a:srgbClr val="000000"/>
                    </a:solidFill>
                  </a:tcPr>
                </a:tc>
                <a:tc>
                  <a:txBody>
                    <a:bodyPr wrap="square"/>
                    <a:lstStyle/>
                    <a:p>
                      <a:pPr algn="l"/>
                      <a:r>
                        <a:rPr sz="950" b="0">
                          <a:solidFill>
                            <a:srgbClr val="F59E0B"/>
                          </a:solidFill>
                          <a:latin typeface="Helvetica Neue"/>
                        </a:rPr>
                        <a:t>Not stated</a:t>
                      </a:r>
                    </a:p>
                  </a:txBody>
                  <a:tcPr marL="73152" marR="73152" marT="18288" marB="18288" anchor="ctr">
                    <a:solidFill>
                      <a:srgbClr val="000000"/>
                    </a:solidFill>
                  </a:tcPr>
                </a:tc>
                <a:tc>
                  <a:txBody>
                    <a:bodyPr wrap="square"/>
                    <a:lstStyle/>
                    <a:p>
                      <a:pPr algn="l"/>
                      <a:r>
                        <a:rPr sz="950" b="0">
                          <a:solidFill>
                            <a:srgbClr val="22C55E"/>
                          </a:solidFill>
                          <a:latin typeface="Helvetica Neue"/>
                        </a:rPr>
                        <a:t>29 kr, 2-5d</a:t>
                      </a:r>
                    </a:p>
                  </a:txBody>
                  <a:tcPr marL="73152" marR="73152" marT="18288" marB="18288" anchor="ctr">
                    <a:solidFill>
                      <a:srgbClr val="000000"/>
                    </a:solidFill>
                  </a:tcPr>
                </a:tc>
                <a:tc>
                  <a:txBody>
                    <a:bodyPr wrap="square"/>
                    <a:lstStyle/>
                    <a:p>
                      <a:pPr algn="l"/>
                      <a:r>
                        <a:rPr sz="950" b="0">
                          <a:solidFill>
                            <a:srgbClr val="F59E0B"/>
                          </a:solidFill>
                          <a:latin typeface="Helvetica Neue"/>
                        </a:rPr>
                        <a:t>Multiple</a:t>
                      </a:r>
                    </a:p>
                  </a:txBody>
                  <a:tcPr marL="73152" marR="73152" marT="18288" marB="18288" anchor="ctr">
                    <a:solidFill>
                      <a:srgbClr val="000000"/>
                    </a:solidFill>
                  </a:tcPr>
                </a:tc>
              </a:tr>
              <a:tr h="310896">
                <a:tc>
                  <a:txBody>
                    <a:bodyPr wrap="square"/>
                    <a:lstStyle/>
                    <a:p>
                      <a:pPr algn="l"/>
                      <a:r>
                        <a:rPr sz="950" b="1">
                          <a:solidFill>
                            <a:srgbClr val="EFEEEE"/>
                          </a:solidFill>
                          <a:latin typeface="Helvetica Neue"/>
                        </a:rPr>
                        <a:t>Subscription</a:t>
                      </a:r>
                    </a:p>
                  </a:txBody>
                  <a:tcPr marL="73152" marR="73152" marT="18288" marB="18288" anchor="ctr">
                    <a:solidFill>
                      <a:srgbClr val="0B0B0B"/>
                    </a:solidFill>
                  </a:tcPr>
                </a:tc>
                <a:tc>
                  <a:txBody>
                    <a:bodyPr wrap="square"/>
                    <a:lstStyle/>
                    <a:p>
                      <a:pPr algn="l"/>
                      <a:r>
                        <a:rPr sz="950" b="0">
                          <a:solidFill>
                            <a:srgbClr val="22C55E"/>
                          </a:solidFill>
                          <a:latin typeface="Helvetica Neue"/>
                        </a:rPr>
                        <a:t>Yes</a:t>
                      </a:r>
                    </a:p>
                  </a:txBody>
                  <a:tcPr marL="73152" marR="73152" marT="18288" marB="18288" anchor="ctr">
                    <a:solidFill>
                      <a:srgbClr val="0B0B0B"/>
                    </a:solidFill>
                  </a:tcPr>
                </a:tc>
                <a:tc>
                  <a:txBody>
                    <a:bodyPr wrap="square"/>
                    <a:lstStyle/>
                    <a:p>
                      <a:pPr algn="l"/>
                      <a:r>
                        <a:rPr sz="950" b="0">
                          <a:solidFill>
                            <a:srgbClr val="EF4444"/>
                          </a:solidFill>
                          <a:latin typeface="Helvetica Neue"/>
                        </a:rPr>
                        <a:t>No</a:t>
                      </a:r>
                    </a:p>
                  </a:txBody>
                  <a:tcPr marL="73152" marR="73152" marT="18288" marB="18288" anchor="ctr">
                    <a:solidFill>
                      <a:srgbClr val="0B0B0B"/>
                    </a:solidFill>
                  </a:tcPr>
                </a:tc>
                <a:tc>
                  <a:txBody>
                    <a:bodyPr wrap="square"/>
                    <a:lstStyle/>
                    <a:p>
                      <a:pPr algn="l"/>
                      <a:r>
                        <a:rPr sz="950" b="0">
                          <a:solidFill>
                            <a:srgbClr val="F59E0B"/>
                          </a:solidFill>
                          <a:latin typeface="Helvetica Neue"/>
                        </a:rPr>
                        <a:t>Boxes</a:t>
                      </a:r>
                    </a:p>
                  </a:txBody>
                  <a:tcPr marL="73152" marR="73152" marT="18288" marB="18288" anchor="ctr">
                    <a:solidFill>
                      <a:srgbClr val="0B0B0B"/>
                    </a:solidFill>
                  </a:tcPr>
                </a:tc>
                <a:tc>
                  <a:txBody>
                    <a:bodyPr wrap="square"/>
                    <a:lstStyle/>
                    <a:p>
                      <a:pPr algn="l"/>
                      <a:r>
                        <a:rPr sz="950" b="0">
                          <a:solidFill>
                            <a:srgbClr val="22C55E"/>
                          </a:solidFill>
                          <a:latin typeface="Helvetica Neue"/>
                        </a:rPr>
                        <a:t>Club</a:t>
                      </a:r>
                    </a:p>
                  </a:txBody>
                  <a:tcPr marL="73152" marR="73152" marT="18288" marB="18288" anchor="ctr">
                    <a:solidFill>
                      <a:srgbClr val="0B0B0B"/>
                    </a:solidFill>
                  </a:tcPr>
                </a:tc>
                <a:tc>
                  <a:txBody>
                    <a:bodyPr wrap="square"/>
                    <a:lstStyle/>
                    <a:p>
                      <a:pPr algn="l"/>
                      <a:r>
                        <a:rPr sz="950" b="0">
                          <a:solidFill>
                            <a:srgbClr val="EF4444"/>
                          </a:solidFill>
                          <a:latin typeface="Helvetica Neue"/>
                        </a:rPr>
                        <a:t>No</a:t>
                      </a:r>
                    </a:p>
                  </a:txBody>
                  <a:tcPr marL="73152" marR="73152" marT="18288" marB="18288" anchor="ctr">
                    <a:solidFill>
                      <a:srgbClr val="0B0B0B"/>
                    </a:solidFill>
                  </a:tcPr>
                </a:tc>
                <a:tc>
                  <a:txBody>
                    <a:bodyPr wrap="square"/>
                    <a:lstStyle/>
                    <a:p>
                      <a:pPr algn="l"/>
                      <a:r>
                        <a:rPr sz="950" b="0">
                          <a:solidFill>
                            <a:srgbClr val="EF4444"/>
                          </a:solidFill>
                          <a:latin typeface="Helvetica Neue"/>
                        </a:rPr>
                        <a:t>No</a:t>
                      </a:r>
                    </a:p>
                  </a:txBody>
                  <a:tcPr marL="73152" marR="73152" marT="18288" marB="18288" anchor="ctr">
                    <a:solidFill>
                      <a:srgbClr val="0B0B0B"/>
                    </a:solidFill>
                  </a:tcPr>
                </a:tc>
              </a:tr>
              <a:tr h="310896">
                <a:tc>
                  <a:txBody>
                    <a:bodyPr wrap="square"/>
                    <a:lstStyle/>
                    <a:p>
                      <a:pPr algn="l"/>
                      <a:r>
                        <a:rPr sz="950" b="1">
                          <a:solidFill>
                            <a:srgbClr val="EFEEEE"/>
                          </a:solidFill>
                          <a:latin typeface="Helvetica Neue"/>
                        </a:rPr>
                        <a:t>Wine boxes</a:t>
                      </a:r>
                    </a:p>
                  </a:txBody>
                  <a:tcPr marL="73152" marR="73152" marT="18288" marB="18288" anchor="ctr">
                    <a:solidFill>
                      <a:srgbClr val="000000"/>
                    </a:solidFill>
                  </a:tcPr>
                </a:tc>
                <a:tc>
                  <a:txBody>
                    <a:bodyPr wrap="square"/>
                    <a:lstStyle/>
                    <a:p>
                      <a:pPr algn="l"/>
                      <a:r>
                        <a:rPr sz="950" b="0">
                          <a:solidFill>
                            <a:srgbClr val="22C55E"/>
                          </a:solidFill>
                          <a:latin typeface="Helvetica Neue"/>
                        </a:rPr>
                        <a:t>Yes</a:t>
                      </a:r>
                    </a:p>
                  </a:txBody>
                  <a:tcPr marL="73152" marR="73152" marT="18288" marB="18288" anchor="ctr">
                    <a:solidFill>
                      <a:srgbClr val="000000"/>
                    </a:solidFill>
                  </a:tcPr>
                </a:tc>
                <a:tc>
                  <a:txBody>
                    <a:bodyPr wrap="square"/>
                    <a:lstStyle/>
                    <a:p>
                      <a:pPr algn="l"/>
                      <a:r>
                        <a:rPr sz="950" b="0">
                          <a:solidFill>
                            <a:srgbClr val="22C55E"/>
                          </a:solidFill>
                          <a:latin typeface="Helvetica Neue"/>
                        </a:rPr>
                        <a:t>Yes</a:t>
                      </a:r>
                    </a:p>
                  </a:txBody>
                  <a:tcPr marL="73152" marR="73152" marT="18288" marB="18288" anchor="ctr">
                    <a:solidFill>
                      <a:srgbClr val="000000"/>
                    </a:solidFill>
                  </a:tcPr>
                </a:tc>
                <a:tc>
                  <a:txBody>
                    <a:bodyPr wrap="square"/>
                    <a:lstStyle/>
                    <a:p>
                      <a:pPr algn="l"/>
                      <a:r>
                        <a:rPr sz="950" b="0">
                          <a:solidFill>
                            <a:srgbClr val="22C55E"/>
                          </a:solidFill>
                          <a:latin typeface="Helvetica Neue"/>
                        </a:rPr>
                        <a:t>Yes</a:t>
                      </a:r>
                    </a:p>
                  </a:txBody>
                  <a:tcPr marL="73152" marR="73152" marT="18288" marB="18288" anchor="ctr">
                    <a:solidFill>
                      <a:srgbClr val="000000"/>
                    </a:solidFill>
                  </a:tcPr>
                </a:tc>
                <a:tc>
                  <a:txBody>
                    <a:bodyPr wrap="square"/>
                    <a:lstStyle/>
                    <a:p>
                      <a:pPr algn="l"/>
                      <a:r>
                        <a:rPr sz="950" b="0">
                          <a:solidFill>
                            <a:srgbClr val="22C55E"/>
                          </a:solidFill>
                          <a:latin typeface="Helvetica Neue"/>
                        </a:rPr>
                        <a:t>Yes</a:t>
                      </a:r>
                    </a:p>
                  </a:txBody>
                  <a:tcPr marL="73152" marR="73152" marT="18288" marB="18288" anchor="ctr">
                    <a:solidFill>
                      <a:srgbClr val="000000"/>
                    </a:solidFill>
                  </a:tcPr>
                </a:tc>
                <a:tc>
                  <a:txBody>
                    <a:bodyPr wrap="square"/>
                    <a:lstStyle/>
                    <a:p>
                      <a:pPr algn="l"/>
                      <a:r>
                        <a:rPr sz="950" b="0">
                          <a:solidFill>
                            <a:srgbClr val="22C55E"/>
                          </a:solidFill>
                          <a:latin typeface="Helvetica Neue"/>
                        </a:rPr>
                        <a:t>Yes</a:t>
                      </a:r>
                    </a:p>
                  </a:txBody>
                  <a:tcPr marL="73152" marR="73152" marT="18288" marB="18288" anchor="ctr">
                    <a:solidFill>
                      <a:srgbClr val="000000"/>
                    </a:solidFill>
                  </a:tcPr>
                </a:tc>
                <a:tc>
                  <a:txBody>
                    <a:bodyPr wrap="square"/>
                    <a:lstStyle/>
                    <a:p>
                      <a:pPr algn="l"/>
                      <a:r>
                        <a:rPr sz="950" b="0">
                          <a:solidFill>
                            <a:srgbClr val="EF4444"/>
                          </a:solidFill>
                          <a:latin typeface="Helvetica Neue"/>
                        </a:rPr>
                        <a:t>No</a:t>
                      </a:r>
                    </a:p>
                  </a:txBody>
                  <a:tcPr marL="73152" marR="73152" marT="18288" marB="18288" anchor="ctr">
                    <a:solidFill>
                      <a:srgbClr val="000000"/>
                    </a:solidFill>
                  </a:tcPr>
                </a:tc>
              </a:tr>
              <a:tr h="310896">
                <a:tc>
                  <a:txBody>
                    <a:bodyPr wrap="square"/>
                    <a:lstStyle/>
                    <a:p>
                      <a:pPr algn="l"/>
                      <a:r>
                        <a:rPr sz="950" b="1">
                          <a:solidFill>
                            <a:srgbClr val="EFEEEE"/>
                          </a:solidFill>
                          <a:latin typeface="Helvetica Neue"/>
                        </a:rPr>
                        <a:t>Reviews shown</a:t>
                      </a:r>
                    </a:p>
                  </a:txBody>
                  <a:tcPr marL="73152" marR="73152" marT="18288" marB="18288" anchor="ctr">
                    <a:solidFill>
                      <a:srgbClr val="0B0B0B"/>
                    </a:solidFill>
                  </a:tcPr>
                </a:tc>
                <a:tc>
                  <a:txBody>
                    <a:bodyPr wrap="square"/>
                    <a:lstStyle/>
                    <a:p>
                      <a:pPr algn="l"/>
                      <a:r>
                        <a:rPr sz="950" b="0">
                          <a:solidFill>
                            <a:srgbClr val="F59E0B"/>
                          </a:solidFill>
                          <a:latin typeface="Helvetica Neue"/>
                        </a:rPr>
                        <a:t>Vivino</a:t>
                      </a:r>
                    </a:p>
                  </a:txBody>
                  <a:tcPr marL="73152" marR="73152" marT="18288" marB="18288" anchor="ctr">
                    <a:solidFill>
                      <a:srgbClr val="0B0B0B"/>
                    </a:solidFill>
                  </a:tcPr>
                </a:tc>
                <a:tc>
                  <a:txBody>
                    <a:bodyPr wrap="square"/>
                    <a:lstStyle/>
                    <a:p>
                      <a:pPr algn="l"/>
                      <a:r>
                        <a:rPr sz="950" b="0">
                          <a:solidFill>
                            <a:srgbClr val="22C55E"/>
                          </a:solidFill>
                          <a:latin typeface="Helvetica Neue"/>
                        </a:rPr>
                        <a:t>Critic+stars</a:t>
                      </a:r>
                    </a:p>
                  </a:txBody>
                  <a:tcPr marL="73152" marR="73152" marT="18288" marB="18288" anchor="ctr">
                    <a:solidFill>
                      <a:srgbClr val="0B0B0B"/>
                    </a:solidFill>
                  </a:tcPr>
                </a:tc>
                <a:tc>
                  <a:txBody>
                    <a:bodyPr wrap="square"/>
                    <a:lstStyle/>
                    <a:p>
                      <a:pPr algn="l"/>
                      <a:r>
                        <a:rPr sz="950" b="0">
                          <a:solidFill>
                            <a:srgbClr val="F59E0B"/>
                          </a:solidFill>
                          <a:latin typeface="Helvetica Neue"/>
                        </a:rPr>
                        <a:t>Not shown</a:t>
                      </a:r>
                    </a:p>
                  </a:txBody>
                  <a:tcPr marL="73152" marR="73152" marT="18288" marB="18288" anchor="ctr">
                    <a:solidFill>
                      <a:srgbClr val="0B0B0B"/>
                    </a:solidFill>
                  </a:tcPr>
                </a:tc>
                <a:tc>
                  <a:txBody>
                    <a:bodyPr wrap="square"/>
                    <a:lstStyle/>
                    <a:p>
                      <a:pPr algn="l"/>
                      <a:r>
                        <a:rPr sz="950" b="0">
                          <a:solidFill>
                            <a:srgbClr val="F59E0B"/>
                          </a:solidFill>
                          <a:latin typeface="Helvetica Neue"/>
                        </a:rPr>
                        <a:t>Press</a:t>
                      </a:r>
                    </a:p>
                  </a:txBody>
                  <a:tcPr marL="73152" marR="73152" marT="18288" marB="18288" anchor="ctr">
                    <a:solidFill>
                      <a:srgbClr val="0B0B0B"/>
                    </a:solidFill>
                  </a:tcPr>
                </a:tc>
                <a:tc>
                  <a:txBody>
                    <a:bodyPr wrap="square"/>
                    <a:lstStyle/>
                    <a:p>
                      <a:pPr algn="l"/>
                      <a:r>
                        <a:rPr sz="950" b="0">
                          <a:solidFill>
                            <a:srgbClr val="22C55E"/>
                          </a:solidFill>
                          <a:latin typeface="Helvetica Neue"/>
                        </a:rPr>
                        <a:t>Trustpilot</a:t>
                      </a:r>
                    </a:p>
                  </a:txBody>
                  <a:tcPr marL="73152" marR="73152" marT="18288" marB="18288" anchor="ctr">
                    <a:solidFill>
                      <a:srgbClr val="0B0B0B"/>
                    </a:solidFill>
                  </a:tcPr>
                </a:tc>
                <a:tc>
                  <a:txBody>
                    <a:bodyPr wrap="square"/>
                    <a:lstStyle/>
                    <a:p>
                      <a:pPr algn="l"/>
                      <a:r>
                        <a:rPr sz="950" b="0">
                          <a:solidFill>
                            <a:srgbClr val="EF4444"/>
                          </a:solidFill>
                          <a:latin typeface="Helvetica Neue"/>
                        </a:rPr>
                        <a:t>None</a:t>
                      </a:r>
                    </a:p>
                  </a:txBody>
                  <a:tcPr marL="73152" marR="73152" marT="18288" marB="18288" anchor="ctr">
                    <a:solidFill>
                      <a:srgbClr val="0B0B0B"/>
                    </a:solidFill>
                  </a:tcPr>
                </a:tc>
              </a:tr>
              <a:tr h="310896">
                <a:tc>
                  <a:txBody>
                    <a:bodyPr wrap="square"/>
                    <a:lstStyle/>
                    <a:p>
                      <a:pPr algn="l"/>
                      <a:r>
                        <a:rPr sz="950" b="1">
                          <a:solidFill>
                            <a:srgbClr val="EFEEEE"/>
                          </a:solidFill>
                          <a:latin typeface="Helvetica Neue"/>
                        </a:rPr>
                        <a:t>Filtering</a:t>
                      </a:r>
                    </a:p>
                  </a:txBody>
                  <a:tcPr marL="73152" marR="73152" marT="18288" marB="18288" anchor="ctr">
                    <a:solidFill>
                      <a:srgbClr val="000000"/>
                    </a:solidFill>
                  </a:tcPr>
                </a:tc>
                <a:tc>
                  <a:txBody>
                    <a:bodyPr wrap="square"/>
                    <a:lstStyle/>
                    <a:p>
                      <a:pPr algn="l"/>
                      <a:r>
                        <a:rPr sz="950" b="0">
                          <a:solidFill>
                            <a:srgbClr val="F59E0B"/>
                          </a:solidFill>
                          <a:latin typeface="Helvetica Neue"/>
                        </a:rPr>
                        <a:t>Basic</a:t>
                      </a:r>
                    </a:p>
                  </a:txBody>
                  <a:tcPr marL="73152" marR="73152" marT="18288" marB="18288" anchor="ctr">
                    <a:solidFill>
                      <a:srgbClr val="000000"/>
                    </a:solidFill>
                  </a:tcPr>
                </a:tc>
                <a:tc>
                  <a:txBody>
                    <a:bodyPr wrap="square"/>
                    <a:lstStyle/>
                    <a:p>
                      <a:pPr algn="l"/>
                      <a:r>
                        <a:rPr sz="950" b="0">
                          <a:solidFill>
                            <a:srgbClr val="22C55E"/>
                          </a:solidFill>
                          <a:latin typeface="Helvetica Neue"/>
                        </a:rPr>
                        <a:t>Faceted</a:t>
                      </a:r>
                    </a:p>
                  </a:txBody>
                  <a:tcPr marL="73152" marR="73152" marT="18288" marB="18288" anchor="ctr">
                    <a:solidFill>
                      <a:srgbClr val="000000"/>
                    </a:solidFill>
                  </a:tcPr>
                </a:tc>
                <a:tc>
                  <a:txBody>
                    <a:bodyPr wrap="square"/>
                    <a:lstStyle/>
                    <a:p>
                      <a:pPr algn="l"/>
                      <a:r>
                        <a:rPr sz="950" b="0">
                          <a:solidFill>
                            <a:srgbClr val="F59E0B"/>
                          </a:solidFill>
                          <a:latin typeface="Helvetica Neue"/>
                        </a:rPr>
                        <a:t>Category</a:t>
                      </a:r>
                    </a:p>
                  </a:txBody>
                  <a:tcPr marL="73152" marR="73152" marT="18288" marB="18288" anchor="ctr">
                    <a:solidFill>
                      <a:srgbClr val="000000"/>
                    </a:solidFill>
                  </a:tcPr>
                </a:tc>
                <a:tc>
                  <a:txBody>
                    <a:bodyPr wrap="square"/>
                    <a:lstStyle/>
                    <a:p>
                      <a:pPr algn="l"/>
                      <a:r>
                        <a:rPr sz="950" b="0">
                          <a:solidFill>
                            <a:srgbClr val="EF4444"/>
                          </a:solidFill>
                          <a:latin typeface="Helvetica Neue"/>
                        </a:rPr>
                        <a:t>Minimal</a:t>
                      </a:r>
                    </a:p>
                  </a:txBody>
                  <a:tcPr marL="73152" marR="73152" marT="18288" marB="18288" anchor="ctr">
                    <a:solidFill>
                      <a:srgbClr val="000000"/>
                    </a:solidFill>
                  </a:tcPr>
                </a:tc>
                <a:tc>
                  <a:txBody>
                    <a:bodyPr wrap="square"/>
                    <a:lstStyle/>
                    <a:p>
                      <a:pPr algn="l"/>
                      <a:r>
                        <a:rPr sz="950" b="0">
                          <a:solidFill>
                            <a:srgbClr val="F59E0B"/>
                          </a:solidFill>
                          <a:latin typeface="Helvetica Neue"/>
                        </a:rPr>
                        <a:t>Category</a:t>
                      </a:r>
                    </a:p>
                  </a:txBody>
                  <a:tcPr marL="73152" marR="73152" marT="18288" marB="18288" anchor="ctr">
                    <a:solidFill>
                      <a:srgbClr val="000000"/>
                    </a:solidFill>
                  </a:tcPr>
                </a:tc>
                <a:tc>
                  <a:txBody>
                    <a:bodyPr wrap="square"/>
                    <a:lstStyle/>
                    <a:p>
                      <a:pPr algn="l"/>
                      <a:r>
                        <a:rPr sz="950" b="0">
                          <a:solidFill>
                            <a:srgbClr val="22C55E"/>
                          </a:solidFill>
                          <a:latin typeface="Helvetica Neue"/>
                        </a:rPr>
                        <a:t>Food pair</a:t>
                      </a:r>
                    </a:p>
                  </a:txBody>
                  <a:tcPr marL="73152" marR="73152" marT="18288" marB="18288" anchor="ctr">
                    <a:solidFill>
                      <a:srgbClr val="000000"/>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COMPETITOR · OPPORTUNITY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Five gaps, one big wedge</a:t>
            </a:r>
          </a:p>
        </p:txBody>
      </p:sp>
      <p:sp>
        <p:nvSpPr>
          <p:cNvPr id="9" name="Rounded Rectangle 8"/>
          <p:cNvSpPr/>
          <p:nvPr/>
        </p:nvSpPr>
        <p:spPr>
          <a:xfrm>
            <a:off x="792327" y="192024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0927" y="2103120"/>
            <a:ext cx="731520" cy="457200"/>
          </a:xfrm>
          <a:prstGeom prst="rect">
            <a:avLst/>
          </a:prstGeom>
          <a:noFill/>
        </p:spPr>
        <p:txBody>
          <a:bodyPr wrap="square" lIns="0" rIns="0" tIns="0" bIns="0" anchor="t">
            <a:spAutoFit/>
          </a:bodyPr>
          <a:lstStyle/>
          <a:p>
            <a:pPr algn="l"/>
            <a:r>
              <a:rPr sz="2600" b="1" i="0">
                <a:solidFill>
                  <a:srgbClr val="EF4444"/>
                </a:solidFill>
                <a:latin typeface="Menlo"/>
              </a:rPr>
              <a:t>1</a:t>
            </a:r>
          </a:p>
        </p:txBody>
      </p:sp>
      <p:sp>
        <p:nvSpPr>
          <p:cNvPr id="11" name="TextBox 10"/>
          <p:cNvSpPr txBox="1"/>
          <p:nvPr/>
        </p:nvSpPr>
        <p:spPr>
          <a:xfrm>
            <a:off x="1020927" y="26974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Own the legality question</a:t>
            </a:r>
          </a:p>
        </p:txBody>
      </p:sp>
      <p:sp>
        <p:nvSpPr>
          <p:cNvPr id="12" name="TextBox 11"/>
          <p:cNvSpPr txBox="1"/>
          <p:nvPr/>
        </p:nvSpPr>
        <p:spPr>
          <a:xfrm>
            <a:off x="1020927" y="329184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The top objection, and only KRAN answers it (buried in text). A visible "why this is legal" module out reassures everyone.</a:t>
            </a:r>
          </a:p>
        </p:txBody>
      </p:sp>
      <p:sp>
        <p:nvSpPr>
          <p:cNvPr id="13" name="Rounded Rectangle 12"/>
          <p:cNvSpPr/>
          <p:nvPr/>
        </p:nvSpPr>
        <p:spPr>
          <a:xfrm>
            <a:off x="1020927" y="3474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0927" y="3474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Biggest wedge</a:t>
            </a:r>
          </a:p>
        </p:txBody>
      </p:sp>
      <p:sp>
        <p:nvSpPr>
          <p:cNvPr id="15" name="Rounded Rectangle 14"/>
          <p:cNvSpPr/>
          <p:nvPr/>
        </p:nvSpPr>
        <p:spPr>
          <a:xfrm>
            <a:off x="4419447" y="192024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8047" y="2103120"/>
            <a:ext cx="731520" cy="457200"/>
          </a:xfrm>
          <a:prstGeom prst="rect">
            <a:avLst/>
          </a:prstGeom>
          <a:noFill/>
        </p:spPr>
        <p:txBody>
          <a:bodyPr wrap="square" lIns="0" rIns="0" tIns="0" bIns="0" anchor="t">
            <a:spAutoFit/>
          </a:bodyPr>
          <a:lstStyle/>
          <a:p>
            <a:pPr algn="l"/>
            <a:r>
              <a:rPr sz="2600" b="1" i="0">
                <a:solidFill>
                  <a:srgbClr val="EF4444"/>
                </a:solidFill>
                <a:latin typeface="Menlo"/>
              </a:rPr>
              <a:t>2</a:t>
            </a:r>
          </a:p>
        </p:txBody>
      </p:sp>
      <p:sp>
        <p:nvSpPr>
          <p:cNvPr id="17" name="TextBox 16"/>
          <p:cNvSpPr txBox="1"/>
          <p:nvPr/>
        </p:nvSpPr>
        <p:spPr>
          <a:xfrm>
            <a:off x="4648047" y="26974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Add Trygg E-handel</a:t>
            </a:r>
          </a:p>
        </p:txBody>
      </p:sp>
      <p:sp>
        <p:nvSpPr>
          <p:cNvPr id="18" name="TextBox 17"/>
          <p:cNvSpPr txBox="1"/>
          <p:nvPr/>
        </p:nvSpPr>
        <p:spPr>
          <a:xfrm>
            <a:off x="4648047" y="329184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Three of four direct rivals show the Swedish trust mark. dittvin leans on a Danish TV endorsement.</a:t>
            </a:r>
          </a:p>
        </p:txBody>
      </p:sp>
      <p:sp>
        <p:nvSpPr>
          <p:cNvPr id="19" name="Rounded Rectangle 18"/>
          <p:cNvSpPr/>
          <p:nvPr/>
        </p:nvSpPr>
        <p:spPr>
          <a:xfrm>
            <a:off x="4648047" y="3474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8047" y="3474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Quick win</a:t>
            </a:r>
          </a:p>
        </p:txBody>
      </p:sp>
      <p:sp>
        <p:nvSpPr>
          <p:cNvPr id="21" name="Rounded Rectangle 20"/>
          <p:cNvSpPr/>
          <p:nvPr/>
        </p:nvSpPr>
        <p:spPr>
          <a:xfrm>
            <a:off x="8046567" y="192024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167" y="2103120"/>
            <a:ext cx="731520" cy="457200"/>
          </a:xfrm>
          <a:prstGeom prst="rect">
            <a:avLst/>
          </a:prstGeom>
          <a:noFill/>
        </p:spPr>
        <p:txBody>
          <a:bodyPr wrap="square" lIns="0" rIns="0" tIns="0" bIns="0" anchor="t">
            <a:spAutoFit/>
          </a:bodyPr>
          <a:lstStyle/>
          <a:p>
            <a:pPr algn="l"/>
            <a:r>
              <a:rPr sz="2600" b="1" i="0">
                <a:solidFill>
                  <a:srgbClr val="EF4444"/>
                </a:solidFill>
                <a:latin typeface="Menlo"/>
              </a:rPr>
              <a:t>3</a:t>
            </a:r>
          </a:p>
        </p:txBody>
      </p:sp>
      <p:sp>
        <p:nvSpPr>
          <p:cNvPr id="23" name="TextBox 22"/>
          <p:cNvSpPr txBox="1"/>
          <p:nvPr/>
        </p:nvSpPr>
        <p:spPr>
          <a:xfrm>
            <a:off x="8275167" y="26974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Make delivery concrete</a:t>
            </a:r>
          </a:p>
        </p:txBody>
      </p:sp>
      <p:sp>
        <p:nvSpPr>
          <p:cNvPr id="24" name="TextBox 23"/>
          <p:cNvSpPr txBox="1"/>
          <p:nvPr/>
        </p:nvSpPr>
        <p:spPr>
          <a:xfrm>
            <a:off x="8275167" y="329184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Supervin states "from 29 kr, free over 999, 2-5 days". dittvin says only "snabb" with a caveated threshold.</a:t>
            </a:r>
          </a:p>
        </p:txBody>
      </p:sp>
      <p:sp>
        <p:nvSpPr>
          <p:cNvPr id="25" name="Rounded Rectangle 24"/>
          <p:cNvSpPr/>
          <p:nvPr/>
        </p:nvSpPr>
        <p:spPr>
          <a:xfrm>
            <a:off x="8275167" y="3474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167" y="3474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Trust + clarity</a:t>
            </a:r>
          </a:p>
        </p:txBody>
      </p:sp>
      <p:sp>
        <p:nvSpPr>
          <p:cNvPr id="27" name="Rounded Rectangle 26"/>
          <p:cNvSpPr/>
          <p:nvPr/>
        </p:nvSpPr>
        <p:spPr>
          <a:xfrm>
            <a:off x="792327" y="425196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0927" y="4434840"/>
            <a:ext cx="731520" cy="457200"/>
          </a:xfrm>
          <a:prstGeom prst="rect">
            <a:avLst/>
          </a:prstGeom>
          <a:noFill/>
        </p:spPr>
        <p:txBody>
          <a:bodyPr wrap="square" lIns="0" rIns="0" tIns="0" bIns="0" anchor="t">
            <a:spAutoFit/>
          </a:bodyPr>
          <a:lstStyle/>
          <a:p>
            <a:pPr algn="l"/>
            <a:r>
              <a:rPr sz="2600" b="1" i="0">
                <a:solidFill>
                  <a:srgbClr val="EF4444"/>
                </a:solidFill>
                <a:latin typeface="Menlo"/>
              </a:rPr>
              <a:t>4</a:t>
            </a:r>
          </a:p>
        </p:txBody>
      </p:sp>
      <p:sp>
        <p:nvSpPr>
          <p:cNvPr id="29" name="TextBox 28"/>
          <p:cNvSpPr txBox="1"/>
          <p:nvPr/>
        </p:nvSpPr>
        <p:spPr>
          <a:xfrm>
            <a:off x="1020927" y="50292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Localize fully to Swedish</a:t>
            </a:r>
          </a:p>
        </p:txBody>
      </p:sp>
      <p:sp>
        <p:nvSpPr>
          <p:cNvPr id="30" name="TextBox 29"/>
          <p:cNvSpPr txBox="1"/>
          <p:nvPr/>
        </p:nvSpPr>
        <p:spPr>
          <a:xfrm>
            <a:off x="1020927" y="562356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Danish product types and titles leak through ("Kjøb", "Smagekasser"). It reads un Swedish.</a:t>
            </a:r>
          </a:p>
        </p:txBody>
      </p:sp>
      <p:sp>
        <p:nvSpPr>
          <p:cNvPr id="31" name="Rounded Rectangle 30"/>
          <p:cNvSpPr/>
          <p:nvPr/>
        </p:nvSpPr>
        <p:spPr>
          <a:xfrm>
            <a:off x="1020927" y="580644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0927" y="580644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Polish</a:t>
            </a:r>
          </a:p>
        </p:txBody>
      </p:sp>
      <p:sp>
        <p:nvSpPr>
          <p:cNvPr id="33" name="Rounded Rectangle 32"/>
          <p:cNvSpPr/>
          <p:nvPr/>
        </p:nvSpPr>
        <p:spPr>
          <a:xfrm>
            <a:off x="4419447" y="425196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8047" y="4434840"/>
            <a:ext cx="731520" cy="457200"/>
          </a:xfrm>
          <a:prstGeom prst="rect">
            <a:avLst/>
          </a:prstGeom>
          <a:noFill/>
        </p:spPr>
        <p:txBody>
          <a:bodyPr wrap="square" lIns="0" rIns="0" tIns="0" bIns="0" anchor="t">
            <a:spAutoFit/>
          </a:bodyPr>
          <a:lstStyle/>
          <a:p>
            <a:pPr algn="l"/>
            <a:r>
              <a:rPr sz="2600" b="1" i="0">
                <a:solidFill>
                  <a:srgbClr val="EF4444"/>
                </a:solidFill>
                <a:latin typeface="Menlo"/>
              </a:rPr>
              <a:t>5</a:t>
            </a:r>
          </a:p>
        </p:txBody>
      </p:sp>
      <p:sp>
        <p:nvSpPr>
          <p:cNvPr id="35" name="TextBox 34"/>
          <p:cNvSpPr txBox="1"/>
          <p:nvPr/>
        </p:nvSpPr>
        <p:spPr>
          <a:xfrm>
            <a:off x="4648047" y="50292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Merchandise proof, not discounts</a:t>
            </a:r>
          </a:p>
        </p:txBody>
      </p:sp>
      <p:sp>
        <p:nvSpPr>
          <p:cNvPr id="36" name="TextBox 35"/>
          <p:cNvSpPr txBox="1"/>
          <p:nvPr/>
        </p:nvSpPr>
        <p:spPr>
          <a:xfrm>
            <a:off x="4648047" y="562356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dittvin holds medals, Vivino and 4,7 Trustpilot but relies on a blanket 10% off. Own "curated value with proof".</a:t>
            </a:r>
          </a:p>
        </p:txBody>
      </p:sp>
      <p:sp>
        <p:nvSpPr>
          <p:cNvPr id="37" name="Rounded Rectangle 36"/>
          <p:cNvSpPr/>
          <p:nvPr/>
        </p:nvSpPr>
        <p:spPr>
          <a:xfrm>
            <a:off x="4648047" y="580644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48047" y="580644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Positioning</a:t>
            </a:r>
          </a:p>
        </p:txBody>
      </p:sp>
      <p:sp>
        <p:nvSpPr>
          <p:cNvPr id="39" name="Rounded Rectangle 38"/>
          <p:cNvSpPr/>
          <p:nvPr/>
        </p:nvSpPr>
        <p:spPr>
          <a:xfrm>
            <a:off x="8046567" y="4251960"/>
            <a:ext cx="3352800" cy="20574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5167" y="4434840"/>
            <a:ext cx="731520" cy="457200"/>
          </a:xfrm>
          <a:prstGeom prst="rect">
            <a:avLst/>
          </a:prstGeom>
          <a:noFill/>
        </p:spPr>
        <p:txBody>
          <a:bodyPr wrap="square" lIns="0" rIns="0" tIns="0" bIns="0" anchor="t">
            <a:spAutoFit/>
          </a:bodyPr>
          <a:lstStyle/>
          <a:p>
            <a:pPr algn="l"/>
            <a:r>
              <a:rPr sz="2600" b="1" i="0">
                <a:solidFill>
                  <a:srgbClr val="22C55E"/>
                </a:solidFill>
                <a:latin typeface="Menlo"/>
              </a:rPr>
              <a:t>+</a:t>
            </a:r>
          </a:p>
        </p:txBody>
      </p:sp>
      <p:sp>
        <p:nvSpPr>
          <p:cNvPr id="41" name="TextBox 40"/>
          <p:cNvSpPr txBox="1"/>
          <p:nvPr/>
        </p:nvSpPr>
        <p:spPr>
          <a:xfrm>
            <a:off x="8275167" y="50292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The retention moat rivals lack</a:t>
            </a:r>
          </a:p>
        </p:txBody>
      </p:sp>
      <p:sp>
        <p:nvSpPr>
          <p:cNvPr id="42" name="TextBox 41"/>
          <p:cNvSpPr txBox="1"/>
          <p:nvPr/>
        </p:nvSpPr>
        <p:spPr>
          <a:xfrm>
            <a:off x="8275167" y="562356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dittvin already has subscription plus boxes. Own "the recurring discovery box for everyday Swedes".</a:t>
            </a:r>
          </a:p>
        </p:txBody>
      </p:sp>
      <p:sp>
        <p:nvSpPr>
          <p:cNvPr id="43" name="Rounded Rectangle 42"/>
          <p:cNvSpPr/>
          <p:nvPr/>
        </p:nvSpPr>
        <p:spPr>
          <a:xfrm>
            <a:off x="8275167" y="580644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167" y="580644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Defensible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29</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06</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06</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Technical Audit</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Verified by live network capture, not an HTML scan. The tags are all present, but the configuration is noisy.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TECHNICAL · TRACKING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Clean the data before you trust it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Everything fires (GTM, GA4, Meta Pixel, Google Ads, Klaviyo, Clarity, Cookiebot). The problem is redundancy and one clear misconfiguration.</a:t>
            </a:r>
          </a:p>
        </p:txBody>
      </p:sp>
      <p:sp>
        <p:nvSpPr>
          <p:cNvPr id="10" name="Rounded Rectangle 9"/>
          <p:cNvSpPr/>
          <p:nvPr/>
        </p:nvSpPr>
        <p:spPr>
          <a:xfrm>
            <a:off x="792327" y="2194560"/>
            <a:ext cx="3352800" cy="1828800"/>
          </a:xfrm>
          <a:prstGeom prst="roundRect">
            <a:avLst>
              <a:gd name="adj" fmla="val 5000"/>
            </a:avLst>
          </a:prstGeom>
          <a:solidFill>
            <a:srgbClr val="1A0808"/>
          </a:solidFill>
          <a:ln w="9525">
            <a:solidFill>
              <a:srgbClr val="4A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42316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Conversion fires on the homepage</a:t>
            </a:r>
          </a:p>
        </p:txBody>
      </p:sp>
      <p:sp>
        <p:nvSpPr>
          <p:cNvPr id="12" name="TextBox 11"/>
          <p:cNvSpPr txBox="1"/>
          <p:nvPr/>
        </p:nvSpPr>
        <p:spPr>
          <a:xfrm>
            <a:off x="1020927" y="297180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A Google Ads conversion tag fires "en=conversion, value 1,43 SEK" on homepage load. Every visit logs a conversion, polluting Ads data.</a:t>
            </a:r>
          </a:p>
        </p:txBody>
      </p:sp>
      <p:sp>
        <p:nvSpPr>
          <p:cNvPr id="13" name="Rounded Rectangle 12"/>
          <p:cNvSpPr/>
          <p:nvPr/>
        </p:nvSpPr>
        <p:spPr>
          <a:xfrm>
            <a:off x="1020927" y="352044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0927" y="352044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HIGH · low effort</a:t>
            </a:r>
          </a:p>
        </p:txBody>
      </p:sp>
      <p:sp>
        <p:nvSpPr>
          <p:cNvPr id="15" name="Rounded Rectangle 14"/>
          <p:cNvSpPr/>
          <p:nvPr/>
        </p:nvSpPr>
        <p:spPr>
          <a:xfrm>
            <a:off x="4419447" y="2194560"/>
            <a:ext cx="3352800" cy="1828800"/>
          </a:xfrm>
          <a:prstGeom prst="roundRect">
            <a:avLst>
              <a:gd name="adj" fmla="val 5000"/>
            </a:avLst>
          </a:prstGeom>
          <a:solidFill>
            <a:srgbClr val="1A0808"/>
          </a:solidFill>
          <a:ln w="9525">
            <a:solidFill>
              <a:srgbClr val="4A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8047" y="242316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Four GA4 properties at once</a:t>
            </a:r>
          </a:p>
        </p:txBody>
      </p:sp>
      <p:sp>
        <p:nvSpPr>
          <p:cNvPr id="17" name="TextBox 16"/>
          <p:cNvSpPr txBox="1"/>
          <p:nvPr/>
        </p:nvSpPr>
        <p:spPr>
          <a:xfrm>
            <a:off x="4648047" y="297180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G-2H577FR3BL, QVVPL3QFTK, ZHBPVPWFVY, ZPDXL42WNW all fire page_view in parallel. Fragmented, duplicated reporting.</a:t>
            </a:r>
          </a:p>
        </p:txBody>
      </p:sp>
      <p:sp>
        <p:nvSpPr>
          <p:cNvPr id="18" name="Rounded Rectangle 17"/>
          <p:cNvSpPr/>
          <p:nvPr/>
        </p:nvSpPr>
        <p:spPr>
          <a:xfrm>
            <a:off x="4648047" y="352044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8047" y="352044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HIGH · med effort</a:t>
            </a:r>
          </a:p>
        </p:txBody>
      </p:sp>
      <p:sp>
        <p:nvSpPr>
          <p:cNvPr id="20" name="Rounded Rectangle 19"/>
          <p:cNvSpPr/>
          <p:nvPr/>
        </p:nvSpPr>
        <p:spPr>
          <a:xfrm>
            <a:off x="8046567" y="2194560"/>
            <a:ext cx="3352800" cy="18288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167" y="242316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Dead and duplicate tags</a:t>
            </a:r>
          </a:p>
        </p:txBody>
      </p:sp>
      <p:sp>
        <p:nvSpPr>
          <p:cNvPr id="22" name="TextBox 21"/>
          <p:cNvSpPr txBox="1"/>
          <p:nvPr/>
        </p:nvSpPr>
        <p:spPr>
          <a:xfrm>
            <a:off x="8275167" y="297180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Legacy Universal Analytics still sits in GTM (dead since 2023), and two Google Ads accounts fire.</a:t>
            </a:r>
          </a:p>
        </p:txBody>
      </p:sp>
      <p:sp>
        <p:nvSpPr>
          <p:cNvPr id="23" name="Rounded Rectangle 22"/>
          <p:cNvSpPr/>
          <p:nvPr/>
        </p:nvSpPr>
        <p:spPr>
          <a:xfrm>
            <a:off x="8275167" y="352044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167" y="352044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MED · low effort</a:t>
            </a:r>
          </a:p>
        </p:txBody>
      </p:sp>
      <p:sp>
        <p:nvSpPr>
          <p:cNvPr id="25" name="Rounded Rectangle 24"/>
          <p:cNvSpPr/>
          <p:nvPr/>
        </p:nvSpPr>
        <p:spPr>
          <a:xfrm>
            <a:off x="792327" y="4297680"/>
            <a:ext cx="3352800" cy="18288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0927" y="45262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90+ console errors per load</a:t>
            </a:r>
          </a:p>
        </p:txBody>
      </p:sp>
      <p:sp>
        <p:nvSpPr>
          <p:cNvPr id="27" name="TextBox 26"/>
          <p:cNvSpPr txBox="1"/>
          <p:nvPr/>
        </p:nvSpPr>
        <p:spPr>
          <a:xfrm>
            <a:off x="1020927" y="507492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Every page throws 90 to 190 JS errors. Likely cause of the blank homepage sections and a checkout suspect.</a:t>
            </a:r>
          </a:p>
        </p:txBody>
      </p:sp>
      <p:sp>
        <p:nvSpPr>
          <p:cNvPr id="28" name="Rounded Rectangle 27"/>
          <p:cNvSpPr/>
          <p:nvPr/>
        </p:nvSpPr>
        <p:spPr>
          <a:xfrm>
            <a:off x="1020927" y="56235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0927" y="56235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MED</a:t>
            </a:r>
          </a:p>
        </p:txBody>
      </p:sp>
      <p:sp>
        <p:nvSpPr>
          <p:cNvPr id="30" name="Rounded Rectangle 29"/>
          <p:cNvSpPr/>
          <p:nvPr/>
        </p:nvSpPr>
        <p:spPr>
          <a:xfrm>
            <a:off x="4419447" y="429768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8047" y="45262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Clarity is already installed</a:t>
            </a:r>
          </a:p>
        </p:txBody>
      </p:sp>
      <p:sp>
        <p:nvSpPr>
          <p:cNvPr id="32" name="TextBox 31"/>
          <p:cNvSpPr txBox="1"/>
          <p:nvPr/>
        </p:nvSpPr>
        <p:spPr>
          <a:xfrm>
            <a:off x="4648047" y="507492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Microsoft Clarity (v7fb9kby3w) is live and collecting session replays you are not using. Grant dashboard access.</a:t>
            </a:r>
          </a:p>
        </p:txBody>
      </p:sp>
      <p:sp>
        <p:nvSpPr>
          <p:cNvPr id="33" name="Rounded Rectangle 32"/>
          <p:cNvSpPr/>
          <p:nvPr/>
        </p:nvSpPr>
        <p:spPr>
          <a:xfrm>
            <a:off x="4648047" y="56235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8047" y="56235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ASSET · no effort</a:t>
            </a:r>
          </a:p>
        </p:txBody>
      </p:sp>
      <p:sp>
        <p:nvSpPr>
          <p:cNvPr id="35" name="Rounded Rectangle 34"/>
          <p:cNvSpPr/>
          <p:nvPr/>
        </p:nvSpPr>
        <p:spPr>
          <a:xfrm>
            <a:off x="8046567" y="4297680"/>
            <a:ext cx="3352800" cy="18288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167" y="45262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Recover the "(not set)" signal</a:t>
            </a:r>
          </a:p>
        </p:txBody>
      </p:sp>
      <p:sp>
        <p:nvSpPr>
          <p:cNvPr id="37" name="TextBox 36"/>
          <p:cNvSpPr txBox="1"/>
          <p:nvPr/>
        </p:nvSpPr>
        <p:spPr>
          <a:xfrm>
            <a:off x="8275167" y="507492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Server side GTM plus Meta CAPI and consent mode modeling recover the 29% of sessions currently lost.</a:t>
            </a:r>
          </a:p>
        </p:txBody>
      </p:sp>
      <p:sp>
        <p:nvSpPr>
          <p:cNvPr id="38" name="Rounded Rectangle 37"/>
          <p:cNvSpPr/>
          <p:nvPr/>
        </p:nvSpPr>
        <p:spPr>
          <a:xfrm>
            <a:off x="8275167" y="56235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167" y="56235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HIGH · high effort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31</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07</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07</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Industry Benchmarks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Every figure carries a named source. General ecommerce rows are the fair apples to apples comparison.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BENCHMARKS · VERIFIED SOURCES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Where dittvin stands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Ahead where acquisition is measured, behind where revenue compounds.</a:t>
            </a:r>
          </a:p>
        </p:txBody>
      </p:sp>
      <p:graphicFrame>
        <p:nvGraphicFramePr>
          <p:cNvPr id="10" name="Table 9"/>
          <p:cNvGraphicFramePr>
            <a:graphicFrameLocks noGrp="1"/>
          </p:cNvGraphicFramePr>
          <p:nvPr/>
        </p:nvGraphicFramePr>
        <p:xfrm>
          <a:off x="914400" y="2103120"/>
          <a:ext cx="10332718" cy="2852928"/>
        </p:xfrm>
        <a:graphic>
          <a:graphicData uri="http://schemas.openxmlformats.org/drawingml/2006/table">
            <a:tbl>
              <a:tblPr>
                <a:tableStyleId>{2D5ABB26-0587-4C30-8999-92F81FD0307C}</a:tableStyleId>
              </a:tblPr>
              <a:tblGrid>
                <a:gridCol w="2853798"/>
                <a:gridCol w="1672916"/>
                <a:gridCol w="4526715"/>
                <a:gridCol w="1279289"/>
              </a:tblGrid>
              <a:tr h="365760">
                <a:tc>
                  <a:txBody>
                    <a:bodyPr wrap="square"/>
                    <a:lstStyle/>
                    <a:p>
                      <a:pPr algn="l"/>
                      <a:r>
                        <a:rPr sz="900" b="1" spc="100">
                          <a:solidFill>
                            <a:srgbClr val="999999"/>
                          </a:solidFill>
                          <a:latin typeface="Helvetica Neue"/>
                        </a:rPr>
                        <a:t>METRIC</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DITTVIN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BENCHMARK (SOURCE)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VERDICT</a:t>
                      </a:r>
                    </a:p>
                  </a:txBody>
                  <a:tcPr marL="73152" marR="73152" marT="18288" marB="18288" anchor="ctr">
                    <a:solidFill>
                      <a:srgbClr val="0A0A0A"/>
                    </a:solidFill>
                  </a:tcPr>
                </a:tc>
              </a:tr>
              <a:tr h="310896">
                <a:tc>
                  <a:txBody>
                    <a:bodyPr wrap="square"/>
                    <a:lstStyle/>
                    <a:p>
                      <a:pPr algn="l"/>
                      <a:r>
                        <a:rPr sz="1050" b="1">
                          <a:solidFill>
                            <a:srgbClr val="EFEEEE"/>
                          </a:solidFill>
                          <a:latin typeface="Helvetica Neue"/>
                        </a:rPr>
                        <a:t>Session conversion rate</a:t>
                      </a:r>
                    </a:p>
                  </a:txBody>
                  <a:tcPr marL="73152" marR="73152" marT="18288" marB="18288" anchor="ctr">
                    <a:solidFill>
                      <a:srgbClr val="000000"/>
                    </a:solidFill>
                  </a:tcPr>
                </a:tc>
                <a:tc>
                  <a:txBody>
                    <a:bodyPr wrap="square"/>
                    <a:lstStyle/>
                    <a:p>
                      <a:pPr algn="l"/>
                      <a:r>
                        <a:rPr sz="1050" b="0">
                          <a:solidFill>
                            <a:srgbClr val="F7D007"/>
                          </a:solidFill>
                          <a:latin typeface="Helvetica Neue"/>
                        </a:rPr>
                        <a:t>2,58%</a:t>
                      </a:r>
                    </a:p>
                  </a:txBody>
                  <a:tcPr marL="73152" marR="73152" marT="18288" marB="18288" anchor="ctr">
                    <a:solidFill>
                      <a:srgbClr val="000000"/>
                    </a:solidFill>
                  </a:tcPr>
                </a:tc>
                <a:tc>
                  <a:txBody>
                    <a:bodyPr wrap="square"/>
                    <a:lstStyle/>
                    <a:p>
                      <a:pPr algn="l"/>
                      <a:r>
                        <a:rPr sz="1050" b="0">
                          <a:solidFill>
                            <a:srgbClr val="EFEEEE"/>
                          </a:solidFill>
                          <a:latin typeface="Helvetica Neue"/>
                        </a:rPr>
                        <a:t>1,4% Shopify avg (Littledata 2023)</a:t>
                      </a:r>
                    </a:p>
                  </a:txBody>
                  <a:tcPr marL="73152" marR="73152" marT="18288" marB="18288" anchor="ctr">
                    <a:solidFill>
                      <a:srgbClr val="000000"/>
                    </a:solidFill>
                  </a:tcPr>
                </a:tc>
                <a:tc>
                  <a:txBody>
                    <a:bodyPr wrap="square"/>
                    <a:lstStyle/>
                    <a:p>
                      <a:pPr algn="l"/>
                      <a:r>
                        <a:rPr sz="1050" b="0">
                          <a:solidFill>
                            <a:srgbClr val="22C55E"/>
                          </a:solidFill>
                          <a:latin typeface="Helvetica Neue"/>
                        </a:rPr>
                        <a:t>Ahead</a:t>
                      </a:r>
                    </a:p>
                  </a:txBody>
                  <a:tcPr marL="73152" marR="73152" marT="18288" marB="18288" anchor="ctr">
                    <a:solidFill>
                      <a:srgbClr val="000000"/>
                    </a:solidFill>
                  </a:tcPr>
                </a:tc>
              </a:tr>
              <a:tr h="310896">
                <a:tc>
                  <a:txBody>
                    <a:bodyPr wrap="square"/>
                    <a:lstStyle/>
                    <a:p>
                      <a:pPr algn="l"/>
                      <a:r>
                        <a:rPr sz="1050" b="1">
                          <a:solidFill>
                            <a:srgbClr val="EFEEEE"/>
                          </a:solidFill>
                          <a:latin typeface="Helvetica Neue"/>
                        </a:rPr>
                        <a:t>Average order value</a:t>
                      </a:r>
                    </a:p>
                  </a:txBody>
                  <a:tcPr marL="73152" marR="73152" marT="18288" marB="18288" anchor="ctr">
                    <a:solidFill>
                      <a:srgbClr val="0B0B0B"/>
                    </a:solidFill>
                  </a:tcPr>
                </a:tc>
                <a:tc>
                  <a:txBody>
                    <a:bodyPr wrap="square"/>
                    <a:lstStyle/>
                    <a:p>
                      <a:pPr algn="l"/>
                      <a:r>
                        <a:rPr sz="1050" b="0">
                          <a:solidFill>
                            <a:srgbClr val="F7D007"/>
                          </a:solidFill>
                          <a:latin typeface="Helvetica Neue"/>
                        </a:rPr>
                        <a:t>867 SEK</a:t>
                      </a:r>
                    </a:p>
                  </a:txBody>
                  <a:tcPr marL="73152" marR="73152" marT="18288" marB="18288" anchor="ctr">
                    <a:solidFill>
                      <a:srgbClr val="0B0B0B"/>
                    </a:solidFill>
                  </a:tcPr>
                </a:tc>
                <a:tc>
                  <a:txBody>
                    <a:bodyPr wrap="square"/>
                    <a:lstStyle/>
                    <a:p>
                      <a:pPr algn="l"/>
                      <a:r>
                        <a:rPr sz="1050" b="0">
                          <a:solidFill>
                            <a:srgbClr val="EFEEEE"/>
                          </a:solidFill>
                          <a:latin typeface="Helvetica Neue"/>
                        </a:rPr>
                        <a:t>~$85 Shopify avg (Littledata 2023)</a:t>
                      </a:r>
                    </a:p>
                  </a:txBody>
                  <a:tcPr marL="73152" marR="73152" marT="18288" marB="18288" anchor="ctr">
                    <a:solidFill>
                      <a:srgbClr val="0B0B0B"/>
                    </a:solidFill>
                  </a:tcPr>
                </a:tc>
                <a:tc>
                  <a:txBody>
                    <a:bodyPr wrap="square"/>
                    <a:lstStyle/>
                    <a:p>
                      <a:pPr algn="l"/>
                      <a:r>
                        <a:rPr sz="1050" b="0">
                          <a:solidFill>
                            <a:srgbClr val="22C55E"/>
                          </a:solidFill>
                          <a:latin typeface="Helvetica Neue"/>
                        </a:rPr>
                        <a:t>On par</a:t>
                      </a:r>
                    </a:p>
                  </a:txBody>
                  <a:tcPr marL="73152" marR="73152" marT="18288" marB="18288" anchor="ctr">
                    <a:solidFill>
                      <a:srgbClr val="0B0B0B"/>
                    </a:solidFill>
                  </a:tcPr>
                </a:tc>
              </a:tr>
              <a:tr h="310896">
                <a:tc>
                  <a:txBody>
                    <a:bodyPr wrap="square"/>
                    <a:lstStyle/>
                    <a:p>
                      <a:pPr algn="l"/>
                      <a:r>
                        <a:rPr sz="1050" b="1">
                          <a:solidFill>
                            <a:srgbClr val="EFEEEE"/>
                          </a:solidFill>
                          <a:latin typeface="Helvetica Neue"/>
                        </a:rPr>
                        <a:t>RPV per session</a:t>
                      </a:r>
                    </a:p>
                  </a:txBody>
                  <a:tcPr marL="73152" marR="73152" marT="18288" marB="18288" anchor="ctr">
                    <a:solidFill>
                      <a:srgbClr val="000000"/>
                    </a:solidFill>
                  </a:tcPr>
                </a:tc>
                <a:tc>
                  <a:txBody>
                    <a:bodyPr wrap="square"/>
                    <a:lstStyle/>
                    <a:p>
                      <a:pPr algn="l"/>
                      <a:r>
                        <a:rPr sz="1050" b="0">
                          <a:solidFill>
                            <a:srgbClr val="F7D007"/>
                          </a:solidFill>
                          <a:latin typeface="Helvetica Neue"/>
                        </a:rPr>
                        <a:t>26 / 73+ SEK</a:t>
                      </a:r>
                    </a:p>
                  </a:txBody>
                  <a:tcPr marL="73152" marR="73152" marT="18288" marB="18288" anchor="ctr">
                    <a:solidFill>
                      <a:srgbClr val="000000"/>
                    </a:solidFill>
                  </a:tcPr>
                </a:tc>
                <a:tc>
                  <a:txBody>
                    <a:bodyPr wrap="square"/>
                    <a:lstStyle/>
                    <a:p>
                      <a:pPr algn="l"/>
                      <a:r>
                        <a:rPr sz="1050" b="0">
                          <a:solidFill>
                            <a:srgbClr val="EFEEEE"/>
                          </a:solidFill>
                          <a:latin typeface="Helvetica Neue"/>
                        </a:rPr>
                        <a:t>~$1,19 Shopify Est. (AOV x CVR)</a:t>
                      </a:r>
                    </a:p>
                  </a:txBody>
                  <a:tcPr marL="73152" marR="73152" marT="18288" marB="18288" anchor="ctr">
                    <a:solidFill>
                      <a:srgbClr val="000000"/>
                    </a:solidFill>
                  </a:tcPr>
                </a:tc>
                <a:tc>
                  <a:txBody>
                    <a:bodyPr wrap="square"/>
                    <a:lstStyle/>
                    <a:p>
                      <a:pPr algn="l"/>
                      <a:r>
                        <a:rPr sz="1050" b="0">
                          <a:solidFill>
                            <a:srgbClr val="22C55E"/>
                          </a:solidFill>
                          <a:latin typeface="Helvetica Neue"/>
                        </a:rPr>
                        <a:t>Ahead</a:t>
                      </a:r>
                    </a:p>
                  </a:txBody>
                  <a:tcPr marL="73152" marR="73152" marT="18288" marB="18288" anchor="ctr">
                    <a:solidFill>
                      <a:srgbClr val="000000"/>
                    </a:solidFill>
                  </a:tcPr>
                </a:tc>
              </a:tr>
              <a:tr h="310896">
                <a:tc>
                  <a:txBody>
                    <a:bodyPr wrap="square"/>
                    <a:lstStyle/>
                    <a:p>
                      <a:pPr algn="l"/>
                      <a:r>
                        <a:rPr sz="1050" b="1">
                          <a:solidFill>
                            <a:srgbClr val="EFEEEE"/>
                          </a:solidFill>
                          <a:latin typeface="Helvetica Neue"/>
                        </a:rPr>
                        <a:t>Cart abandonment</a:t>
                      </a:r>
                    </a:p>
                  </a:txBody>
                  <a:tcPr marL="73152" marR="73152" marT="18288" marB="18288" anchor="ctr">
                    <a:solidFill>
                      <a:srgbClr val="0B0B0B"/>
                    </a:solidFill>
                  </a:tcPr>
                </a:tc>
                <a:tc>
                  <a:txBody>
                    <a:bodyPr wrap="square"/>
                    <a:lstStyle/>
                    <a:p>
                      <a:pPr algn="l"/>
                      <a:r>
                        <a:rPr sz="1050" b="0">
                          <a:solidFill>
                            <a:srgbClr val="F7D007"/>
                          </a:solidFill>
                          <a:latin typeface="Helvetica Neue"/>
                        </a:rPr>
                        <a:t>60%</a:t>
                      </a:r>
                    </a:p>
                  </a:txBody>
                  <a:tcPr marL="73152" marR="73152" marT="18288" marB="18288" anchor="ctr">
                    <a:solidFill>
                      <a:srgbClr val="0B0B0B"/>
                    </a:solidFill>
                  </a:tcPr>
                </a:tc>
                <a:tc>
                  <a:txBody>
                    <a:bodyPr wrap="square"/>
                    <a:lstStyle/>
                    <a:p>
                      <a:pPr algn="l"/>
                      <a:r>
                        <a:rPr sz="1050" b="0">
                          <a:solidFill>
                            <a:srgbClr val="EFEEEE"/>
                          </a:solidFill>
                          <a:latin typeface="Helvetica Neue"/>
                        </a:rPr>
                        <a:t>70,2% avg of 50 studies (Baymard 2025)</a:t>
                      </a:r>
                    </a:p>
                  </a:txBody>
                  <a:tcPr marL="73152" marR="73152" marT="18288" marB="18288" anchor="ctr">
                    <a:solidFill>
                      <a:srgbClr val="0B0B0B"/>
                    </a:solidFill>
                  </a:tcPr>
                </a:tc>
                <a:tc>
                  <a:txBody>
                    <a:bodyPr wrap="square"/>
                    <a:lstStyle/>
                    <a:p>
                      <a:pPr algn="l"/>
                      <a:r>
                        <a:rPr sz="1050" b="0">
                          <a:solidFill>
                            <a:srgbClr val="22C55E"/>
                          </a:solidFill>
                          <a:latin typeface="Helvetica Neue"/>
                        </a:rPr>
                        <a:t>Ahead</a:t>
                      </a:r>
                    </a:p>
                  </a:txBody>
                  <a:tcPr marL="73152" marR="73152" marT="18288" marB="18288" anchor="ctr">
                    <a:solidFill>
                      <a:srgbClr val="0B0B0B"/>
                    </a:solidFill>
                  </a:tcPr>
                </a:tc>
              </a:tr>
              <a:tr h="310896">
                <a:tc>
                  <a:txBody>
                    <a:bodyPr wrap="square"/>
                    <a:lstStyle/>
                    <a:p>
                      <a:pPr algn="l"/>
                      <a:r>
                        <a:rPr sz="1050" b="1">
                          <a:solidFill>
                            <a:srgbClr val="EFEEEE"/>
                          </a:solidFill>
                          <a:latin typeface="Helvetica Neue"/>
                        </a:rPr>
                        <a:t>Repeat customer rate</a:t>
                      </a:r>
                    </a:p>
                  </a:txBody>
                  <a:tcPr marL="73152" marR="73152" marT="18288" marB="18288" anchor="ctr">
                    <a:solidFill>
                      <a:srgbClr val="000000"/>
                    </a:solidFill>
                  </a:tcPr>
                </a:tc>
                <a:tc>
                  <a:txBody>
                    <a:bodyPr wrap="square"/>
                    <a:lstStyle/>
                    <a:p>
                      <a:pPr algn="l"/>
                      <a:r>
                        <a:rPr sz="1050" b="0">
                          <a:solidFill>
                            <a:srgbClr val="EF4444"/>
                          </a:solidFill>
                          <a:latin typeface="Helvetica Neue"/>
                        </a:rPr>
                        <a:t>~19%</a:t>
                      </a:r>
                    </a:p>
                  </a:txBody>
                  <a:tcPr marL="73152" marR="73152" marT="18288" marB="18288" anchor="ctr">
                    <a:solidFill>
                      <a:srgbClr val="000000"/>
                    </a:solidFill>
                  </a:tcPr>
                </a:tc>
                <a:tc>
                  <a:txBody>
                    <a:bodyPr wrap="square"/>
                    <a:lstStyle/>
                    <a:p>
                      <a:pPr algn="l"/>
                      <a:r>
                        <a:rPr sz="1050" b="0">
                          <a:solidFill>
                            <a:srgbClr val="EFEEEE"/>
                          </a:solidFill>
                          <a:latin typeface="Helvetica Neue"/>
                        </a:rPr>
                        <a:t>under 20% is weak (OpenSend, MetricUno)</a:t>
                      </a:r>
                    </a:p>
                  </a:txBody>
                  <a:tcPr marL="73152" marR="73152" marT="18288" marB="18288" anchor="ctr">
                    <a:solidFill>
                      <a:srgbClr val="000000"/>
                    </a:solidFill>
                  </a:tcPr>
                </a:tc>
                <a:tc>
                  <a:txBody>
                    <a:bodyPr wrap="square"/>
                    <a:lstStyle/>
                    <a:p>
                      <a:pPr algn="l"/>
                      <a:r>
                        <a:rPr sz="1050" b="0">
                          <a:solidFill>
                            <a:srgbClr val="EF4444"/>
                          </a:solidFill>
                          <a:latin typeface="Helvetica Neue"/>
                        </a:rPr>
                        <a:t>Behind</a:t>
                      </a:r>
                    </a:p>
                  </a:txBody>
                  <a:tcPr marL="73152" marR="73152" marT="18288" marB="18288" anchor="ctr">
                    <a:solidFill>
                      <a:srgbClr val="000000"/>
                    </a:solidFill>
                  </a:tcPr>
                </a:tc>
              </a:tr>
              <a:tr h="310896">
                <a:tc>
                  <a:txBody>
                    <a:bodyPr wrap="square"/>
                    <a:lstStyle/>
                    <a:p>
                      <a:pPr algn="l"/>
                      <a:r>
                        <a:rPr sz="1050" b="1">
                          <a:solidFill>
                            <a:srgbClr val="EFEEEE"/>
                          </a:solidFill>
                          <a:latin typeface="Helvetica Neue"/>
                        </a:rPr>
                        <a:t>Email share of orders</a:t>
                      </a:r>
                    </a:p>
                  </a:txBody>
                  <a:tcPr marL="73152" marR="73152" marT="18288" marB="18288" anchor="ctr">
                    <a:solidFill>
                      <a:srgbClr val="0B0B0B"/>
                    </a:solidFill>
                  </a:tcPr>
                </a:tc>
                <a:tc>
                  <a:txBody>
                    <a:bodyPr wrap="square"/>
                    <a:lstStyle/>
                    <a:p>
                      <a:pPr algn="l"/>
                      <a:r>
                        <a:rPr sz="1050" b="0">
                          <a:solidFill>
                            <a:srgbClr val="F59E0B"/>
                          </a:solidFill>
                          <a:latin typeface="Helvetica Neue"/>
                        </a:rPr>
                        <a:t>16%</a:t>
                      </a:r>
                    </a:p>
                  </a:txBody>
                  <a:tcPr marL="73152" marR="73152" marT="18288" marB="18288" anchor="ctr">
                    <a:solidFill>
                      <a:srgbClr val="0B0B0B"/>
                    </a:solidFill>
                  </a:tcPr>
                </a:tc>
                <a:tc>
                  <a:txBody>
                    <a:bodyPr wrap="square"/>
                    <a:lstStyle/>
                    <a:p>
                      <a:pPr algn="l"/>
                      <a:r>
                        <a:rPr sz="1050" b="0">
                          <a:solidFill>
                            <a:srgbClr val="EFEEEE"/>
                          </a:solidFill>
                          <a:latin typeface="Helvetica Neue"/>
                        </a:rPr>
                        <a:t>~20-30% of DTC revenue Est. (Omnisend)</a:t>
                      </a:r>
                    </a:p>
                  </a:txBody>
                  <a:tcPr marL="73152" marR="73152" marT="18288" marB="18288" anchor="ctr">
                    <a:solidFill>
                      <a:srgbClr val="0B0B0B"/>
                    </a:solidFill>
                  </a:tcPr>
                </a:tc>
                <a:tc>
                  <a:txBody>
                    <a:bodyPr wrap="square"/>
                    <a:lstStyle/>
                    <a:p>
                      <a:pPr algn="l"/>
                      <a:r>
                        <a:rPr sz="1050" b="0">
                          <a:solidFill>
                            <a:srgbClr val="F59E0B"/>
                          </a:solidFill>
                          <a:latin typeface="Helvetica Neue"/>
                        </a:rPr>
                        <a:t>Behind</a:t>
                      </a:r>
                    </a:p>
                  </a:txBody>
                  <a:tcPr marL="73152" marR="73152" marT="18288" marB="18288" anchor="ctr">
                    <a:solidFill>
                      <a:srgbClr val="0B0B0B"/>
                    </a:solidFill>
                  </a:tcPr>
                </a:tc>
              </a:tr>
              <a:tr h="310896">
                <a:tc>
                  <a:txBody>
                    <a:bodyPr wrap="square"/>
                    <a:lstStyle/>
                    <a:p>
                      <a:pPr algn="l"/>
                      <a:r>
                        <a:rPr sz="1050" b="1">
                          <a:solidFill>
                            <a:srgbClr val="EFEEEE"/>
                          </a:solidFill>
                          <a:latin typeface="Helvetica Neue"/>
                        </a:rPr>
                        <a:t>Subscription / club share</a:t>
                      </a:r>
                    </a:p>
                  </a:txBody>
                  <a:tcPr marL="73152" marR="73152" marT="18288" marB="18288" anchor="ctr">
                    <a:solidFill>
                      <a:srgbClr val="000000"/>
                    </a:solidFill>
                  </a:tcPr>
                </a:tc>
                <a:tc>
                  <a:txBody>
                    <a:bodyPr wrap="square"/>
                    <a:lstStyle/>
                    <a:p>
                      <a:pPr algn="l"/>
                      <a:r>
                        <a:rPr sz="1050" b="0">
                          <a:solidFill>
                            <a:srgbClr val="EF4444"/>
                          </a:solidFill>
                          <a:latin typeface="Helvetica Neue"/>
                        </a:rPr>
                        <a:t>0,2%</a:t>
                      </a:r>
                    </a:p>
                  </a:txBody>
                  <a:tcPr marL="73152" marR="73152" marT="18288" marB="18288" anchor="ctr">
                    <a:solidFill>
                      <a:srgbClr val="000000"/>
                    </a:solidFill>
                  </a:tcPr>
                </a:tc>
                <a:tc>
                  <a:txBody>
                    <a:bodyPr wrap="square"/>
                    <a:lstStyle/>
                    <a:p>
                      <a:pPr algn="l"/>
                      <a:r>
                        <a:rPr sz="1050" b="0">
                          <a:solidFill>
                            <a:srgbClr val="EFEEEE"/>
                          </a:solidFill>
                          <a:latin typeface="Helvetica Neue"/>
                        </a:rPr>
                        <a:t>wine clubs 39% of winery DtC (SVB 2025)</a:t>
                      </a:r>
                    </a:p>
                  </a:txBody>
                  <a:tcPr marL="73152" marR="73152" marT="18288" marB="18288" anchor="ctr">
                    <a:solidFill>
                      <a:srgbClr val="000000"/>
                    </a:solidFill>
                  </a:tcPr>
                </a:tc>
                <a:tc>
                  <a:txBody>
                    <a:bodyPr wrap="square"/>
                    <a:lstStyle/>
                    <a:p>
                      <a:pPr algn="l"/>
                      <a:r>
                        <a:rPr sz="1050" b="0">
                          <a:solidFill>
                            <a:srgbClr val="EF4444"/>
                          </a:solidFill>
                          <a:latin typeface="Helvetica Neue"/>
                        </a:rPr>
                        <a:t>Behind</a:t>
                      </a:r>
                    </a:p>
                  </a:txBody>
                  <a:tcPr marL="73152" marR="73152" marT="18288" marB="18288" anchor="ctr">
                    <a:solidFill>
                      <a:srgbClr val="000000"/>
                    </a:solidFill>
                  </a:tcPr>
                </a:tc>
              </a:tr>
              <a:tr h="310896">
                <a:tc>
                  <a:txBody>
                    <a:bodyPr wrap="square"/>
                    <a:lstStyle/>
                    <a:p>
                      <a:pPr algn="l"/>
                      <a:r>
                        <a:rPr sz="1050" b="1">
                          <a:solidFill>
                            <a:srgbClr val="EFEEEE"/>
                          </a:solidFill>
                          <a:latin typeface="Helvetica Neue"/>
                        </a:rPr>
                        <a:t>Mobile share of traffic</a:t>
                      </a:r>
                    </a:p>
                  </a:txBody>
                  <a:tcPr marL="73152" marR="73152" marT="18288" marB="18288" anchor="ctr">
                    <a:solidFill>
                      <a:srgbClr val="0B0B0B"/>
                    </a:solidFill>
                  </a:tcPr>
                </a:tc>
                <a:tc>
                  <a:txBody>
                    <a:bodyPr wrap="square"/>
                    <a:lstStyle/>
                    <a:p>
                      <a:pPr algn="l"/>
                      <a:r>
                        <a:rPr sz="1050" b="0">
                          <a:solidFill>
                            <a:srgbClr val="EFEEEE"/>
                          </a:solidFill>
                          <a:latin typeface="Helvetica Neue"/>
                        </a:rPr>
                        <a:t>86%</a:t>
                      </a:r>
                    </a:p>
                  </a:txBody>
                  <a:tcPr marL="73152" marR="73152" marT="18288" marB="18288" anchor="ctr">
                    <a:solidFill>
                      <a:srgbClr val="0B0B0B"/>
                    </a:solidFill>
                  </a:tcPr>
                </a:tc>
                <a:tc>
                  <a:txBody>
                    <a:bodyPr wrap="square"/>
                    <a:lstStyle/>
                    <a:p>
                      <a:pPr algn="l"/>
                      <a:r>
                        <a:rPr sz="1050" b="0">
                          <a:solidFill>
                            <a:srgbClr val="EFEEEE"/>
                          </a:solidFill>
                          <a:latin typeface="Helvetica Neue"/>
                        </a:rPr>
                        <a:t>mobile converts ~37% below desktop (Littledata)</a:t>
                      </a:r>
                    </a:p>
                  </a:txBody>
                  <a:tcPr marL="73152" marR="73152" marT="18288" marB="18288" anchor="ctr">
                    <a:solidFill>
                      <a:srgbClr val="0B0B0B"/>
                    </a:solidFill>
                  </a:tcPr>
                </a:tc>
                <a:tc>
                  <a:txBody>
                    <a:bodyPr wrap="square"/>
                    <a:lstStyle/>
                    <a:p>
                      <a:pPr algn="l"/>
                      <a:r>
                        <a:rPr sz="1050" b="0">
                          <a:solidFill>
                            <a:srgbClr val="F59E0B"/>
                          </a:solidFill>
                          <a:latin typeface="Helvetica Neue"/>
                        </a:rPr>
                        <a:t>Upside</a:t>
                      </a:r>
                    </a:p>
                  </a:txBody>
                  <a:tcPr marL="73152" marR="73152" marT="18288" marB="18288" anchor="ctr">
                    <a:solidFill>
                      <a:srgbClr val="0B0B0B"/>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BENCHMARKS · THE READ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Strong at the top, soft where it compounds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funnel and order value are genuine strengths. The RPV upside is monetizing retention.</a:t>
            </a:r>
          </a:p>
        </p:txBody>
      </p:sp>
      <p:sp>
        <p:nvSpPr>
          <p:cNvPr id="10" name="Rounded Rectangle 9"/>
          <p:cNvSpPr/>
          <p:nvPr/>
        </p:nvSpPr>
        <p:spPr>
          <a:xfrm>
            <a:off x="792327" y="2194560"/>
            <a:ext cx="5074920" cy="29260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423160"/>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ALREADY AHEAD</a:t>
            </a:r>
          </a:p>
        </p:txBody>
      </p:sp>
      <p:sp>
        <p:nvSpPr>
          <p:cNvPr id="12" name="TextBox 11"/>
          <p:cNvSpPr txBox="1"/>
          <p:nvPr/>
        </p:nvSpPr>
        <p:spPr>
          <a:xfrm>
            <a:off x="1066647" y="2697480"/>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Acquisition is a strength</a:t>
            </a:r>
          </a:p>
        </p:txBody>
      </p:sp>
      <p:sp>
        <p:nvSpPr>
          <p:cNvPr id="13" name="TextBox 12"/>
          <p:cNvSpPr txBox="1"/>
          <p:nvPr/>
        </p:nvSpPr>
        <p:spPr>
          <a:xfrm>
            <a:off x="1066647" y="3127248"/>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Conversion ~1,8x the Shopify average, on 86% mobile. AOV above the Shopify line. RPV ~1,75x the derived Shopify benchmark. Cart abandonment 10 points better than Baymard.</a:t>
            </a:r>
          </a:p>
        </p:txBody>
      </p:sp>
      <p:sp>
        <p:nvSpPr>
          <p:cNvPr id="14" name="Rounded Rectangle 13"/>
          <p:cNvSpPr/>
          <p:nvPr/>
        </p:nvSpPr>
        <p:spPr>
          <a:xfrm>
            <a:off x="6324447" y="2194560"/>
            <a:ext cx="5074920" cy="29260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2423160"/>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THE RPV GAPS</a:t>
            </a:r>
          </a:p>
        </p:txBody>
      </p:sp>
      <p:sp>
        <p:nvSpPr>
          <p:cNvPr id="16" name="TextBox 15"/>
          <p:cNvSpPr txBox="1"/>
          <p:nvPr/>
        </p:nvSpPr>
        <p:spPr>
          <a:xfrm>
            <a:off x="6598767" y="2697480"/>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Retention is underbuilt</a:t>
            </a:r>
          </a:p>
        </p:txBody>
      </p:sp>
      <p:sp>
        <p:nvSpPr>
          <p:cNvPr id="17" name="TextBox 16"/>
          <p:cNvSpPr txBox="1"/>
          <p:nvPr/>
        </p:nvSpPr>
        <p:spPr>
          <a:xfrm>
            <a:off x="6598767" y="3127248"/>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Repeat rate ~19% sits under the "weak" 20% line, in the category that monetizes retention hardest. Email 16% of orders vs a 20-30% norm. Subscription 0,2% of revenue is the biggest single gap.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34</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08</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08</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RPV: The Northstar</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Revenue per visitor = conversion x order value, compounded by repeat. Before we grow it, we have to be able to see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MEASUREMENT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You are measuring one third of the business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Shopify recorded three times the orders GA4 did over the same 91 days.</a:t>
            </a:r>
          </a:p>
        </p:txBody>
      </p:sp>
      <p:graphicFrame>
        <p:nvGraphicFramePr>
          <p:cNvPr id="10" name="Table 9"/>
          <p:cNvGraphicFramePr>
            <a:graphicFrameLocks noGrp="1"/>
          </p:cNvGraphicFramePr>
          <p:nvPr/>
        </p:nvGraphicFramePr>
        <p:xfrm>
          <a:off x="1463040" y="2194560"/>
          <a:ext cx="9235440" cy="2011680"/>
        </p:xfrm>
        <a:graphic>
          <a:graphicData uri="http://schemas.openxmlformats.org/drawingml/2006/table">
            <a:tbl>
              <a:tblPr>
                <a:tableStyleId>{2D5ABB26-0587-4C30-8999-92F81FD0307C}</a:tableStyleId>
              </a:tblPr>
              <a:tblGrid>
                <a:gridCol w="3108960"/>
                <a:gridCol w="2194560"/>
                <a:gridCol w="2194560"/>
                <a:gridCol w="1737360"/>
              </a:tblGrid>
              <a:tr h="365760">
                <a:tc>
                  <a:txBody>
                    <a:bodyPr wrap="square"/>
                    <a:lstStyle/>
                    <a:p>
                      <a:pPr algn="l"/>
                      <a:r>
                        <a:rPr sz="900" b="1" spc="100">
                          <a:solidFill>
                            <a:srgbClr val="999999"/>
                          </a:solidFill>
                          <a:latin typeface="Helvetica Neue"/>
                        </a:rPr>
                        <a:t>METRIC (SAME 91 DAYS)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SHOPIFY (TRUTH)</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GA4 AUDIT PROPERTY</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GA4 CAPTURES</a:t>
                      </a:r>
                    </a:p>
                  </a:txBody>
                  <a:tcPr marL="73152" marR="73152" marT="18288" marB="18288" anchor="ctr">
                    <a:solidFill>
                      <a:srgbClr val="0A0A0A"/>
                    </a:solidFill>
                  </a:tcPr>
                </a:tc>
              </a:tr>
              <a:tr h="329184">
                <a:tc>
                  <a:txBody>
                    <a:bodyPr wrap="square"/>
                    <a:lstStyle/>
                    <a:p>
                      <a:pPr algn="l"/>
                      <a:r>
                        <a:rPr sz="1100" b="1">
                          <a:solidFill>
                            <a:srgbClr val="F7D007"/>
                          </a:solidFill>
                          <a:latin typeface="Helvetica Neue"/>
                        </a:rPr>
                        <a:t>Orders</a:t>
                      </a:r>
                    </a:p>
                  </a:txBody>
                  <a:tcPr marL="73152" marR="73152" marT="18288" marB="18288" anchor="ctr">
                    <a:solidFill>
                      <a:srgbClr val="000000"/>
                    </a:solidFill>
                  </a:tcPr>
                </a:tc>
                <a:tc>
                  <a:txBody>
                    <a:bodyPr wrap="square"/>
                    <a:lstStyle/>
                    <a:p>
                      <a:pPr algn="r"/>
                      <a:r>
                        <a:rPr sz="1100" b="0">
                          <a:solidFill>
                            <a:srgbClr val="EFEEEE"/>
                          </a:solidFill>
                          <a:latin typeface="Menlo"/>
                        </a:rPr>
                        <a:t>38.310</a:t>
                      </a:r>
                    </a:p>
                  </a:txBody>
                  <a:tcPr marL="73152" marR="73152" marT="18288" marB="18288" anchor="ctr">
                    <a:solidFill>
                      <a:srgbClr val="000000"/>
                    </a:solidFill>
                  </a:tcPr>
                </a:tc>
                <a:tc>
                  <a:txBody>
                    <a:bodyPr wrap="square"/>
                    <a:lstStyle/>
                    <a:p>
                      <a:pPr algn="r"/>
                      <a:r>
                        <a:rPr sz="1100" b="0">
                          <a:solidFill>
                            <a:srgbClr val="EFEEEE"/>
                          </a:solidFill>
                          <a:latin typeface="Menlo"/>
                        </a:rPr>
                        <a:t>11.689</a:t>
                      </a:r>
                    </a:p>
                  </a:txBody>
                  <a:tcPr marL="73152" marR="73152" marT="18288" marB="18288" anchor="ctr">
                    <a:solidFill>
                      <a:srgbClr val="000000"/>
                    </a:solidFill>
                  </a:tcPr>
                </a:tc>
                <a:tc>
                  <a:txBody>
                    <a:bodyPr wrap="square"/>
                    <a:lstStyle/>
                    <a:p>
                      <a:pPr algn="r"/>
                      <a:r>
                        <a:rPr sz="1100" b="0">
                          <a:solidFill>
                            <a:srgbClr val="EF4444"/>
                          </a:solidFill>
                          <a:latin typeface="Menlo"/>
                        </a:rPr>
                        <a:t>31%</a:t>
                      </a:r>
                    </a:p>
                  </a:txBody>
                  <a:tcPr marL="73152" marR="73152" marT="18288" marB="18288" anchor="ctr">
                    <a:solidFill>
                      <a:srgbClr val="000000"/>
                    </a:solidFill>
                  </a:tcPr>
                </a:tc>
              </a:tr>
              <a:tr h="329184">
                <a:tc>
                  <a:txBody>
                    <a:bodyPr wrap="square"/>
                    <a:lstStyle/>
                    <a:p>
                      <a:pPr algn="l"/>
                      <a:r>
                        <a:rPr sz="1100" b="1">
                          <a:solidFill>
                            <a:srgbClr val="F7D007"/>
                          </a:solidFill>
                          <a:latin typeface="Helvetica Neue"/>
                        </a:rPr>
                        <a:t>Gross revenue</a:t>
                      </a:r>
                    </a:p>
                  </a:txBody>
                  <a:tcPr marL="73152" marR="73152" marT="18288" marB="18288" anchor="ctr">
                    <a:solidFill>
                      <a:srgbClr val="0B0B0B"/>
                    </a:solidFill>
                  </a:tcPr>
                </a:tc>
                <a:tc>
                  <a:txBody>
                    <a:bodyPr wrap="square"/>
                    <a:lstStyle/>
                    <a:p>
                      <a:pPr algn="r"/>
                      <a:r>
                        <a:rPr sz="1100" b="0">
                          <a:solidFill>
                            <a:srgbClr val="EFEEEE"/>
                          </a:solidFill>
                          <a:latin typeface="Menlo"/>
                        </a:rPr>
                        <a:t>33,2M SEK</a:t>
                      </a:r>
                    </a:p>
                  </a:txBody>
                  <a:tcPr marL="73152" marR="73152" marT="18288" marB="18288" anchor="ctr">
                    <a:solidFill>
                      <a:srgbClr val="0B0B0B"/>
                    </a:solidFill>
                  </a:tcPr>
                </a:tc>
                <a:tc>
                  <a:txBody>
                    <a:bodyPr wrap="square"/>
                    <a:lstStyle/>
                    <a:p>
                      <a:pPr algn="r"/>
                      <a:r>
                        <a:rPr sz="1100" b="0">
                          <a:solidFill>
                            <a:srgbClr val="EFEEEE"/>
                          </a:solidFill>
                          <a:latin typeface="Menlo"/>
                        </a:rPr>
                        <a:t>11,9M SEK</a:t>
                      </a:r>
                    </a:p>
                  </a:txBody>
                  <a:tcPr marL="73152" marR="73152" marT="18288" marB="18288" anchor="ctr">
                    <a:solidFill>
                      <a:srgbClr val="0B0B0B"/>
                    </a:solidFill>
                  </a:tcPr>
                </a:tc>
                <a:tc>
                  <a:txBody>
                    <a:bodyPr wrap="square"/>
                    <a:lstStyle/>
                    <a:p>
                      <a:pPr algn="r"/>
                      <a:r>
                        <a:rPr sz="1100" b="0">
                          <a:solidFill>
                            <a:srgbClr val="EF4444"/>
                          </a:solidFill>
                          <a:latin typeface="Menlo"/>
                        </a:rPr>
                        <a:t>36%</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Total sales incl tax</a:t>
                      </a:r>
                    </a:p>
                  </a:txBody>
                  <a:tcPr marL="73152" marR="73152" marT="18288" marB="18288" anchor="ctr">
                    <a:solidFill>
                      <a:srgbClr val="000000"/>
                    </a:solidFill>
                  </a:tcPr>
                </a:tc>
                <a:tc>
                  <a:txBody>
                    <a:bodyPr wrap="square"/>
                    <a:lstStyle/>
                    <a:p>
                      <a:pPr algn="r"/>
                      <a:r>
                        <a:rPr sz="1100" b="0">
                          <a:solidFill>
                            <a:srgbClr val="EFEEEE"/>
                          </a:solidFill>
                          <a:latin typeface="Menlo"/>
                        </a:rPr>
                        <a:t>39,9M SEK</a:t>
                      </a:r>
                    </a:p>
                  </a:txBody>
                  <a:tcPr marL="73152" marR="73152" marT="18288" marB="18288" anchor="ctr">
                    <a:solidFill>
                      <a:srgbClr val="000000"/>
                    </a:solidFill>
                  </a:tcPr>
                </a:tc>
                <a:tc>
                  <a:txBody>
                    <a:bodyPr wrap="square"/>
                    <a:lstStyle/>
                    <a:p>
                      <a:pPr algn="r"/>
                      <a:r>
                        <a:rPr sz="1100" b="0">
                          <a:solidFill>
                            <a:srgbClr val="EFEEEE"/>
                          </a:solidFill>
                          <a:latin typeface="Menlo"/>
                        </a:rPr>
                        <a:t>n/a</a:t>
                      </a:r>
                    </a:p>
                  </a:txBody>
                  <a:tcPr marL="73152" marR="73152" marT="18288" marB="18288" anchor="ctr">
                    <a:solidFill>
                      <a:srgbClr val="000000"/>
                    </a:solidFill>
                  </a:tcPr>
                </a:tc>
                <a:tc>
                  <a:txBody>
                    <a:bodyPr wrap="square"/>
                    <a:lstStyle/>
                    <a:p>
                      <a:pPr algn="r"/>
                      <a:r>
                        <a:rPr sz="1100" b="0">
                          <a:solidFill>
                            <a:srgbClr val="EFEEEE"/>
                          </a:solidFill>
                          <a:latin typeface="Menlo"/>
                        </a:rPr>
                        <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Net sales (ex tax, disc)</a:t>
                      </a:r>
                    </a:p>
                  </a:txBody>
                  <a:tcPr marL="73152" marR="73152" marT="18288" marB="18288" anchor="ctr">
                    <a:solidFill>
                      <a:srgbClr val="0B0B0B"/>
                    </a:solidFill>
                  </a:tcPr>
                </a:tc>
                <a:tc>
                  <a:txBody>
                    <a:bodyPr wrap="square"/>
                    <a:lstStyle/>
                    <a:p>
                      <a:pPr algn="r"/>
                      <a:r>
                        <a:rPr sz="1100" b="0">
                          <a:solidFill>
                            <a:srgbClr val="EFEEEE"/>
                          </a:solidFill>
                          <a:latin typeface="Menlo"/>
                        </a:rPr>
                        <a:t>31,9M SEK</a:t>
                      </a:r>
                    </a:p>
                  </a:txBody>
                  <a:tcPr marL="73152" marR="73152" marT="18288" marB="18288" anchor="ctr">
                    <a:solidFill>
                      <a:srgbClr val="0B0B0B"/>
                    </a:solidFill>
                  </a:tcPr>
                </a:tc>
                <a:tc>
                  <a:txBody>
                    <a:bodyPr wrap="square"/>
                    <a:lstStyle/>
                    <a:p>
                      <a:pPr algn="r"/>
                      <a:r>
                        <a:rPr sz="1100" b="0">
                          <a:solidFill>
                            <a:srgbClr val="EFEEEE"/>
                          </a:solidFill>
                          <a:latin typeface="Menlo"/>
                        </a:rPr>
                        <a:t>n/a</a:t>
                      </a:r>
                    </a:p>
                  </a:txBody>
                  <a:tcPr marL="73152" marR="73152" marT="18288" marB="18288" anchor="ctr">
                    <a:solidFill>
                      <a:srgbClr val="0B0B0B"/>
                    </a:solidFill>
                  </a:tcPr>
                </a:tc>
                <a:tc>
                  <a:txBody>
                    <a:bodyPr wrap="square"/>
                    <a:lstStyle/>
                    <a:p>
                      <a:pPr algn="r"/>
                      <a:r>
                        <a:rPr sz="1100" b="0">
                          <a:solidFill>
                            <a:srgbClr val="EFEEEE"/>
                          </a:solidFill>
                          <a:latin typeface="Menlo"/>
                        </a:rPr>
                        <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Refund rate</a:t>
                      </a:r>
                    </a:p>
                  </a:txBody>
                  <a:tcPr marL="73152" marR="73152" marT="18288" marB="18288" anchor="ctr">
                    <a:solidFill>
                      <a:srgbClr val="000000"/>
                    </a:solidFill>
                  </a:tcPr>
                </a:tc>
                <a:tc>
                  <a:txBody>
                    <a:bodyPr wrap="square"/>
                    <a:lstStyle/>
                    <a:p>
                      <a:pPr algn="r"/>
                      <a:r>
                        <a:rPr sz="1100" b="0">
                          <a:solidFill>
                            <a:srgbClr val="22C55E"/>
                          </a:solidFill>
                          <a:latin typeface="Menlo"/>
                        </a:rPr>
                        <a:t>0,4%</a:t>
                      </a:r>
                    </a:p>
                  </a:txBody>
                  <a:tcPr marL="73152" marR="73152" marT="18288" marB="18288" anchor="ctr">
                    <a:solidFill>
                      <a:srgbClr val="000000"/>
                    </a:solidFill>
                  </a:tcPr>
                </a:tc>
                <a:tc>
                  <a:txBody>
                    <a:bodyPr wrap="square"/>
                    <a:lstStyle/>
                    <a:p>
                      <a:pPr algn="r"/>
                      <a:r>
                        <a:rPr sz="1100" b="0">
                          <a:solidFill>
                            <a:srgbClr val="EFEEEE"/>
                          </a:solidFill>
                          <a:latin typeface="Menlo"/>
                        </a:rPr>
                        <a:t>n/a</a:t>
                      </a:r>
                    </a:p>
                  </a:txBody>
                  <a:tcPr marL="73152" marR="73152" marT="18288" marB="18288" anchor="ctr">
                    <a:solidFill>
                      <a:srgbClr val="000000"/>
                    </a:solidFill>
                  </a:tcPr>
                </a:tc>
                <a:tc>
                  <a:txBody>
                    <a:bodyPr wrap="square"/>
                    <a:lstStyle/>
                    <a:p>
                      <a:pPr algn="r"/>
                      <a:r>
                        <a:rPr sz="1100" b="0">
                          <a:solidFill>
                            <a:srgbClr val="EFEEEE"/>
                          </a:solidFill>
                          <a:latin typeface="Menlo"/>
                        </a:rPr>
                        <a:t/>
                      </a:r>
                    </a:p>
                  </a:txBody>
                  <a:tcPr marL="73152" marR="73152" marT="18288" marB="18288" anchor="ctr">
                    <a:solidFill>
                      <a:srgbClr val="000000"/>
                    </a:solidFill>
                  </a:tcPr>
                </a:tc>
              </a:tr>
            </a:tbl>
          </a:graphicData>
        </a:graphic>
      </p:graphicFrame>
      <p:sp>
        <p:nvSpPr>
          <p:cNvPr id="11" name="Rounded Rectangle 10"/>
          <p:cNvSpPr/>
          <p:nvPr/>
        </p:nvSpPr>
        <p:spPr>
          <a:xfrm>
            <a:off x="1463040" y="4480560"/>
            <a:ext cx="9235440" cy="10515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91640" y="4617720"/>
            <a:ext cx="8778240" cy="777240"/>
          </a:xfrm>
          <a:prstGeom prst="rect">
            <a:avLst/>
          </a:prstGeom>
          <a:noFill/>
        </p:spPr>
        <p:txBody>
          <a:bodyPr wrap="square" lIns="0" rIns="0" tIns="0" bIns="0" anchor="ctr">
            <a:spAutoFit/>
          </a:bodyPr>
          <a:lstStyle/>
          <a:p>
            <a:pPr algn="l">
              <a:lnSpc>
                <a:spcPct val="140000"/>
              </a:lnSpc>
            </a:pPr>
            <a:r>
              <a:rPr sz="1200" b="0" i="0">
                <a:solidFill>
                  <a:srgbClr val="CCCCCC"/>
                </a:solidFill>
                <a:latin typeface="Helvetica Neue"/>
              </a:rPr>
              <a:t>Causes: Cookiebot consent denial, Facebook in app browser attribution loss on 41% of traffic, and 4 parallel GA4 properties. So the store is ~3x larger than the GA4 view, Facebook optimizes on 1/3 of the signal, and Shopify is the RPV source of truth until GA4 is rebuilt server side with Meta CAPI.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THE EQUATION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RPV = conversion x order value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Four levers move the northstar. The real numbers, corrected against Shopify.</a:t>
            </a:r>
          </a:p>
        </p:txBody>
      </p:sp>
      <p:sp>
        <p:nvSpPr>
          <p:cNvPr id="10" name="Rounded Rectangle 9"/>
          <p:cNvSpPr/>
          <p:nvPr/>
        </p:nvSpPr>
        <p:spPr>
          <a:xfrm>
            <a:off x="792327" y="256032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816352"/>
            <a:ext cx="2446020" cy="502920"/>
          </a:xfrm>
          <a:prstGeom prst="rect">
            <a:avLst/>
          </a:prstGeom>
          <a:noFill/>
        </p:spPr>
        <p:txBody>
          <a:bodyPr wrap="square" lIns="0" rIns="0" tIns="0" bIns="0" anchor="t">
            <a:spAutoFit/>
          </a:bodyPr>
          <a:lstStyle/>
          <a:p>
            <a:pPr algn="ctr"/>
            <a:r>
              <a:rPr sz="3000" b="1" i="0">
                <a:solidFill>
                  <a:srgbClr val="F7D007"/>
                </a:solidFill>
                <a:latin typeface="Menlo"/>
              </a:rPr>
              <a:t>867 SEK</a:t>
            </a:r>
          </a:p>
        </p:txBody>
      </p:sp>
      <p:sp>
        <p:nvSpPr>
          <p:cNvPr id="12" name="TextBox 11"/>
          <p:cNvSpPr txBox="1"/>
          <p:nvPr/>
        </p:nvSpPr>
        <p:spPr>
          <a:xfrm>
            <a:off x="792327" y="334670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TRUE AOV (SHOPIFY)</a:t>
            </a:r>
          </a:p>
        </p:txBody>
      </p:sp>
      <p:sp>
        <p:nvSpPr>
          <p:cNvPr id="13" name="TextBox 12"/>
          <p:cNvSpPr txBox="1"/>
          <p:nvPr/>
        </p:nvSpPr>
        <p:spPr>
          <a:xfrm>
            <a:off x="792327" y="358444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GA4 overstated it at 1.017</a:t>
            </a:r>
          </a:p>
        </p:txBody>
      </p:sp>
      <p:sp>
        <p:nvSpPr>
          <p:cNvPr id="14" name="Rounded Rectangle 13"/>
          <p:cNvSpPr/>
          <p:nvPr/>
        </p:nvSpPr>
        <p:spPr>
          <a:xfrm>
            <a:off x="3512667" y="256032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816352"/>
            <a:ext cx="2446020" cy="502920"/>
          </a:xfrm>
          <a:prstGeom prst="rect">
            <a:avLst/>
          </a:prstGeom>
          <a:noFill/>
        </p:spPr>
        <p:txBody>
          <a:bodyPr wrap="square" lIns="0" rIns="0" tIns="0" bIns="0" anchor="t">
            <a:spAutoFit/>
          </a:bodyPr>
          <a:lstStyle/>
          <a:p>
            <a:pPr algn="ctr"/>
            <a:r>
              <a:rPr sz="3000" b="1" i="0">
                <a:solidFill>
                  <a:srgbClr val="F7D007"/>
                </a:solidFill>
                <a:latin typeface="Menlo"/>
              </a:rPr>
              <a:t>73+ SEK</a:t>
            </a:r>
          </a:p>
        </p:txBody>
      </p:sp>
      <p:sp>
        <p:nvSpPr>
          <p:cNvPr id="16" name="TextBox 15"/>
          <p:cNvSpPr txBox="1"/>
          <p:nvPr/>
        </p:nvSpPr>
        <p:spPr>
          <a:xfrm>
            <a:off x="3512667" y="334670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TRUE RPV / SESSION</a:t>
            </a:r>
          </a:p>
        </p:txBody>
      </p:sp>
      <p:sp>
        <p:nvSpPr>
          <p:cNvPr id="17" name="TextBox 16"/>
          <p:cNvSpPr txBox="1"/>
          <p:nvPr/>
        </p:nvSpPr>
        <p:spPr>
          <a:xfrm>
            <a:off x="3512667" y="358444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vs 26 SEK GA4 implied</a:t>
            </a:r>
          </a:p>
        </p:txBody>
      </p:sp>
      <p:sp>
        <p:nvSpPr>
          <p:cNvPr id="18" name="Rounded Rectangle 17"/>
          <p:cNvSpPr/>
          <p:nvPr/>
        </p:nvSpPr>
        <p:spPr>
          <a:xfrm>
            <a:off x="6233007" y="256032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816352"/>
            <a:ext cx="2446020" cy="502920"/>
          </a:xfrm>
          <a:prstGeom prst="rect">
            <a:avLst/>
          </a:prstGeom>
          <a:noFill/>
        </p:spPr>
        <p:txBody>
          <a:bodyPr wrap="square" lIns="0" rIns="0" tIns="0" bIns="0" anchor="t">
            <a:spAutoFit/>
          </a:bodyPr>
          <a:lstStyle/>
          <a:p>
            <a:pPr algn="ctr"/>
            <a:r>
              <a:rPr sz="3000" b="1" i="0">
                <a:solidFill>
                  <a:srgbClr val="FFFFFF"/>
                </a:solidFill>
                <a:latin typeface="Menlo"/>
              </a:rPr>
              <a:t>38.310</a:t>
            </a:r>
          </a:p>
        </p:txBody>
      </p:sp>
      <p:sp>
        <p:nvSpPr>
          <p:cNvPr id="20" name="TextBox 19"/>
          <p:cNvSpPr txBox="1"/>
          <p:nvPr/>
        </p:nvSpPr>
        <p:spPr>
          <a:xfrm>
            <a:off x="6233007" y="334670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REAL ORDERS / 91D</a:t>
            </a:r>
          </a:p>
        </p:txBody>
      </p:sp>
      <p:sp>
        <p:nvSpPr>
          <p:cNvPr id="21" name="TextBox 20"/>
          <p:cNvSpPr txBox="1"/>
          <p:nvPr/>
        </p:nvSpPr>
        <p:spPr>
          <a:xfrm>
            <a:off x="6233007" y="358444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3,3x the GA4 count</a:t>
            </a:r>
          </a:p>
        </p:txBody>
      </p:sp>
      <p:sp>
        <p:nvSpPr>
          <p:cNvPr id="22" name="Rounded Rectangle 21"/>
          <p:cNvSpPr/>
          <p:nvPr/>
        </p:nvSpPr>
        <p:spPr>
          <a:xfrm>
            <a:off x="8953347" y="256032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816352"/>
            <a:ext cx="2446020" cy="502920"/>
          </a:xfrm>
          <a:prstGeom prst="rect">
            <a:avLst/>
          </a:prstGeom>
          <a:noFill/>
        </p:spPr>
        <p:txBody>
          <a:bodyPr wrap="square" lIns="0" rIns="0" tIns="0" bIns="0" anchor="t">
            <a:spAutoFit/>
          </a:bodyPr>
          <a:lstStyle/>
          <a:p>
            <a:pPr algn="ctr"/>
            <a:r>
              <a:rPr sz="3000" b="1" i="0">
                <a:solidFill>
                  <a:srgbClr val="22C55E"/>
                </a:solidFill>
                <a:latin typeface="Menlo"/>
              </a:rPr>
              <a:t>0,2%</a:t>
            </a:r>
          </a:p>
        </p:txBody>
      </p:sp>
      <p:sp>
        <p:nvSpPr>
          <p:cNvPr id="24" name="TextBox 23"/>
          <p:cNvSpPr txBox="1"/>
          <p:nvPr/>
        </p:nvSpPr>
        <p:spPr>
          <a:xfrm>
            <a:off x="8953347" y="334670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ON SUBSCRIPTION</a:t>
            </a:r>
          </a:p>
        </p:txBody>
      </p:sp>
      <p:sp>
        <p:nvSpPr>
          <p:cNvPr id="25" name="TextBox 24"/>
          <p:cNvSpPr txBox="1"/>
          <p:nvPr/>
        </p:nvSpPr>
        <p:spPr>
          <a:xfrm>
            <a:off x="8953347" y="358444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The repeat engine is off</a:t>
            </a:r>
          </a:p>
        </p:txBody>
      </p:sp>
      <p:sp>
        <p:nvSpPr>
          <p:cNvPr id="26" name="Rounded Rectangle 25"/>
          <p:cNvSpPr/>
          <p:nvPr/>
        </p:nvSpPr>
        <p:spPr>
          <a:xfrm>
            <a:off x="1280160" y="4572000"/>
            <a:ext cx="9601200" cy="8229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4709160"/>
            <a:ext cx="9144000" cy="548640"/>
          </a:xfrm>
          <a:prstGeom prst="rect">
            <a:avLst/>
          </a:prstGeom>
          <a:noFill/>
        </p:spPr>
        <p:txBody>
          <a:bodyPr wrap="square" lIns="0" rIns="0" tIns="0" bIns="0" anchor="ctr">
            <a:spAutoFit/>
          </a:bodyPr>
          <a:lstStyle/>
          <a:p>
            <a:pPr algn="l">
              <a:lnSpc>
                <a:spcPct val="140000"/>
              </a:lnSpc>
            </a:pPr>
            <a:r>
              <a:rPr sz="1200" b="0" i="0">
                <a:solidFill>
                  <a:srgbClr val="CCCCCC"/>
                </a:solidFill>
                <a:latin typeface="Helvetica Neue"/>
              </a:rPr>
              <a:t>RPV lower bound = Shopify gross 33,2M / GA4 sessions 452.552 = 73 SEK. The point is not the exact number: AOV and repeat are the levers with the most room, and measurement lets us steer them.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THE AOV ENGINE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Boxes are the business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Tasting boxes are 76% of net sales at near full price. Realized blended discount is only 3,4%.</a:t>
            </a:r>
          </a:p>
        </p:txBody>
      </p:sp>
      <p:graphicFrame>
        <p:nvGraphicFramePr>
          <p:cNvPr id="10" name="Table 9"/>
          <p:cNvGraphicFramePr>
            <a:graphicFrameLocks noGrp="1"/>
          </p:cNvGraphicFramePr>
          <p:nvPr/>
        </p:nvGraphicFramePr>
        <p:xfrm>
          <a:off x="1280160" y="2286000"/>
          <a:ext cx="9601197" cy="1755648"/>
        </p:xfrm>
        <a:graphic>
          <a:graphicData uri="http://schemas.openxmlformats.org/drawingml/2006/table">
            <a:tbl>
              <a:tblPr>
                <a:tableStyleId>{2D5ABB26-0587-4C30-8999-92F81FD0307C}</a:tableStyleId>
              </a:tblPr>
              <a:tblGrid>
                <a:gridCol w="2717320"/>
                <a:gridCol w="1449237"/>
                <a:gridCol w="1992701"/>
                <a:gridCol w="1630392"/>
                <a:gridCol w="1811547"/>
              </a:tblGrid>
              <a:tr h="365760">
                <a:tc>
                  <a:txBody>
                    <a:bodyPr wrap="square"/>
                    <a:lstStyle/>
                    <a:p>
                      <a:pPr algn="l"/>
                      <a:r>
                        <a:rPr sz="900" b="1" spc="100">
                          <a:solidFill>
                            <a:srgbClr val="999999"/>
                          </a:solidFill>
                          <a:latin typeface="Helvetica Neue"/>
                        </a:rPr>
                        <a:t>SEGMENT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UNITS 91D</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SHARE OF NET SALES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AVG PRICE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REALIZED DISCOUNT</a:t>
                      </a:r>
                    </a:p>
                  </a:txBody>
                  <a:tcPr marL="73152" marR="73152" marT="18288" marB="18288" anchor="ctr">
                    <a:solidFill>
                      <a:srgbClr val="0A0A0A"/>
                    </a:solidFill>
                  </a:tcPr>
                </a:tc>
              </a:tr>
              <a:tr h="347472">
                <a:tc>
                  <a:txBody>
                    <a:bodyPr wrap="square"/>
                    <a:lstStyle/>
                    <a:p>
                      <a:pPr algn="l"/>
                      <a:r>
                        <a:rPr sz="1100" b="1">
                          <a:solidFill>
                            <a:srgbClr val="F7D007"/>
                          </a:solidFill>
                          <a:latin typeface="Helvetica Neue"/>
                        </a:rPr>
                        <a:t>Tasting boxes (vinlådor)</a:t>
                      </a:r>
                    </a:p>
                  </a:txBody>
                  <a:tcPr marL="73152" marR="73152" marT="18288" marB="18288" anchor="ctr">
                    <a:solidFill>
                      <a:srgbClr val="000000"/>
                    </a:solidFill>
                  </a:tcPr>
                </a:tc>
                <a:tc>
                  <a:txBody>
                    <a:bodyPr wrap="square"/>
                    <a:lstStyle/>
                    <a:p>
                      <a:pPr algn="r"/>
                      <a:r>
                        <a:rPr sz="1100" b="0">
                          <a:solidFill>
                            <a:srgbClr val="EFEEEE"/>
                          </a:solidFill>
                          <a:latin typeface="Menlo"/>
                        </a:rPr>
                        <a:t>43.617</a:t>
                      </a:r>
                    </a:p>
                  </a:txBody>
                  <a:tcPr marL="73152" marR="73152" marT="18288" marB="18288" anchor="ctr">
                    <a:solidFill>
                      <a:srgbClr val="000000"/>
                    </a:solidFill>
                  </a:tcPr>
                </a:tc>
                <a:tc>
                  <a:txBody>
                    <a:bodyPr wrap="square"/>
                    <a:lstStyle/>
                    <a:p>
                      <a:pPr algn="r"/>
                      <a:r>
                        <a:rPr sz="1100" b="0">
                          <a:solidFill>
                            <a:srgbClr val="22C55E"/>
                          </a:solidFill>
                          <a:latin typeface="Menlo"/>
                        </a:rPr>
                        <a:t>76,3%</a:t>
                      </a:r>
                    </a:p>
                  </a:txBody>
                  <a:tcPr marL="73152" marR="73152" marT="18288" marB="18288" anchor="ctr">
                    <a:solidFill>
                      <a:srgbClr val="000000"/>
                    </a:solidFill>
                  </a:tcPr>
                </a:tc>
                <a:tc>
                  <a:txBody>
                    <a:bodyPr wrap="square"/>
                    <a:lstStyle/>
                    <a:p>
                      <a:pPr algn="r"/>
                      <a:r>
                        <a:rPr sz="1100" b="0">
                          <a:solidFill>
                            <a:srgbClr val="EFEEEE"/>
                          </a:solidFill>
                          <a:latin typeface="Menlo"/>
                        </a:rPr>
                        <a:t>567 SEK</a:t>
                      </a:r>
                    </a:p>
                  </a:txBody>
                  <a:tcPr marL="73152" marR="73152" marT="18288" marB="18288" anchor="ctr">
                    <a:solidFill>
                      <a:srgbClr val="000000"/>
                    </a:solidFill>
                  </a:tcPr>
                </a:tc>
                <a:tc>
                  <a:txBody>
                    <a:bodyPr wrap="square"/>
                    <a:lstStyle/>
                    <a:p>
                      <a:pPr algn="r"/>
                      <a:r>
                        <a:rPr sz="1100" b="0">
                          <a:solidFill>
                            <a:srgbClr val="22C55E"/>
                          </a:solidFill>
                          <a:latin typeface="Menlo"/>
                        </a:rPr>
                        <a:t>1,2%</a:t>
                      </a:r>
                    </a:p>
                  </a:txBody>
                  <a:tcPr marL="73152" marR="73152" marT="18288" marB="18288" anchor="ctr">
                    <a:solidFill>
                      <a:srgbClr val="000000"/>
                    </a:solidFill>
                  </a:tcPr>
                </a:tc>
              </a:tr>
              <a:tr h="347472">
                <a:tc>
                  <a:txBody>
                    <a:bodyPr wrap="square"/>
                    <a:lstStyle/>
                    <a:p>
                      <a:pPr algn="l"/>
                      <a:r>
                        <a:rPr sz="1100" b="1">
                          <a:solidFill>
                            <a:srgbClr val="EFEEEE"/>
                          </a:solidFill>
                          <a:latin typeface="Helvetica Neue"/>
                        </a:rPr>
                        <a:t>Single red bottles</a:t>
                      </a:r>
                    </a:p>
                  </a:txBody>
                  <a:tcPr marL="73152" marR="73152" marT="18288" marB="18288" anchor="ctr">
                    <a:solidFill>
                      <a:srgbClr val="0B0B0B"/>
                    </a:solidFill>
                  </a:tcPr>
                </a:tc>
                <a:tc>
                  <a:txBody>
                    <a:bodyPr wrap="square"/>
                    <a:lstStyle/>
                    <a:p>
                      <a:pPr algn="r"/>
                      <a:r>
                        <a:rPr sz="1100" b="0">
                          <a:solidFill>
                            <a:srgbClr val="EFEEEE"/>
                          </a:solidFill>
                          <a:latin typeface="Menlo"/>
                        </a:rPr>
                        <a:t>11.396</a:t>
                      </a:r>
                    </a:p>
                  </a:txBody>
                  <a:tcPr marL="73152" marR="73152" marT="18288" marB="18288" anchor="ctr">
                    <a:solidFill>
                      <a:srgbClr val="0B0B0B"/>
                    </a:solidFill>
                  </a:tcPr>
                </a:tc>
                <a:tc>
                  <a:txBody>
                    <a:bodyPr wrap="square"/>
                    <a:lstStyle/>
                    <a:p>
                      <a:pPr algn="r"/>
                      <a:r>
                        <a:rPr sz="1100" b="0">
                          <a:solidFill>
                            <a:srgbClr val="EFEEEE"/>
                          </a:solidFill>
                          <a:latin typeface="Menlo"/>
                        </a:rPr>
                        <a:t>12%</a:t>
                      </a:r>
                    </a:p>
                  </a:txBody>
                  <a:tcPr marL="73152" marR="73152" marT="18288" marB="18288" anchor="ctr">
                    <a:solidFill>
                      <a:srgbClr val="0B0B0B"/>
                    </a:solidFill>
                  </a:tcPr>
                </a:tc>
                <a:tc>
                  <a:txBody>
                    <a:bodyPr wrap="square"/>
                    <a:lstStyle/>
                    <a:p>
                      <a:pPr algn="r"/>
                      <a:r>
                        <a:rPr sz="1100" b="0">
                          <a:solidFill>
                            <a:srgbClr val="EFEEEE"/>
                          </a:solidFill>
                          <a:latin typeface="Menlo"/>
                        </a:rPr>
                        <a:t>~400 SEK</a:t>
                      </a:r>
                    </a:p>
                  </a:txBody>
                  <a:tcPr marL="73152" marR="73152" marT="18288" marB="18288" anchor="ctr">
                    <a:solidFill>
                      <a:srgbClr val="0B0B0B"/>
                    </a:solidFill>
                  </a:tcPr>
                </a:tc>
                <a:tc>
                  <a:txBody>
                    <a:bodyPr wrap="square"/>
                    <a:lstStyle/>
                    <a:p>
                      <a:pPr algn="r"/>
                      <a:r>
                        <a:rPr sz="1100" b="0">
                          <a:solidFill>
                            <a:srgbClr val="EF4444"/>
                          </a:solidFill>
                          <a:latin typeface="Menlo"/>
                        </a:rPr>
                        <a:t>18,4%</a:t>
                      </a:r>
                    </a:p>
                  </a:txBody>
                  <a:tcPr marL="73152" marR="73152" marT="18288" marB="18288" anchor="ctr">
                    <a:solidFill>
                      <a:srgbClr val="0B0B0B"/>
                    </a:solidFill>
                  </a:tcPr>
                </a:tc>
              </a:tr>
              <a:tr h="347472">
                <a:tc>
                  <a:txBody>
                    <a:bodyPr wrap="square"/>
                    <a:lstStyle/>
                    <a:p>
                      <a:pPr algn="l"/>
                      <a:r>
                        <a:rPr sz="1100" b="1">
                          <a:solidFill>
                            <a:srgbClr val="EFEEEE"/>
                          </a:solidFill>
                          <a:latin typeface="Helvetica Neue"/>
                        </a:rPr>
                        <a:t>Premium boxes (Grill, Guld)</a:t>
                      </a:r>
                    </a:p>
                  </a:txBody>
                  <a:tcPr marL="73152" marR="73152" marT="18288" marB="18288" anchor="ctr">
                    <a:solidFill>
                      <a:srgbClr val="000000"/>
                    </a:solidFill>
                  </a:tcPr>
                </a:tc>
                <a:tc>
                  <a:txBody>
                    <a:bodyPr wrap="square"/>
                    <a:lstStyle/>
                    <a:p>
                      <a:pPr algn="r"/>
                      <a:r>
                        <a:rPr sz="1100" b="0">
                          <a:solidFill>
                            <a:srgbClr val="EFEEEE"/>
                          </a:solidFill>
                          <a:latin typeface="Menlo"/>
                        </a:rPr>
                        <a:t>2.668</a:t>
                      </a:r>
                    </a:p>
                  </a:txBody>
                  <a:tcPr marL="73152" marR="73152" marT="18288" marB="18288" anchor="ctr">
                    <a:solidFill>
                      <a:srgbClr val="000000"/>
                    </a:solidFill>
                  </a:tcPr>
                </a:tc>
                <a:tc>
                  <a:txBody>
                    <a:bodyPr wrap="square"/>
                    <a:lstStyle/>
                    <a:p>
                      <a:pPr algn="r"/>
                      <a:r>
                        <a:rPr sz="1100" b="0">
                          <a:solidFill>
                            <a:srgbClr val="EFEEEE"/>
                          </a:solidFill>
                          <a:latin typeface="Menlo"/>
                        </a:rPr>
                        <a:t>7%</a:t>
                      </a:r>
                    </a:p>
                  </a:txBody>
                  <a:tcPr marL="73152" marR="73152" marT="18288" marB="18288" anchor="ctr">
                    <a:solidFill>
                      <a:srgbClr val="000000"/>
                    </a:solidFill>
                  </a:tcPr>
                </a:tc>
                <a:tc>
                  <a:txBody>
                    <a:bodyPr wrap="square"/>
                    <a:lstStyle/>
                    <a:p>
                      <a:pPr algn="r"/>
                      <a:r>
                        <a:rPr sz="1100" b="0">
                          <a:solidFill>
                            <a:srgbClr val="EFEEEE"/>
                          </a:solidFill>
                          <a:latin typeface="Menlo"/>
                        </a:rPr>
                        <a:t>700-865 SEK</a:t>
                      </a:r>
                    </a:p>
                  </a:txBody>
                  <a:tcPr marL="73152" marR="73152" marT="18288" marB="18288" anchor="ctr">
                    <a:solidFill>
                      <a:srgbClr val="000000"/>
                    </a:solidFill>
                  </a:tcPr>
                </a:tc>
                <a:tc>
                  <a:txBody>
                    <a:bodyPr wrap="square"/>
                    <a:lstStyle/>
                    <a:p>
                      <a:pPr algn="r"/>
                      <a:r>
                        <a:rPr sz="1100" b="0">
                          <a:solidFill>
                            <a:srgbClr val="EFEEEE"/>
                          </a:solidFill>
                          <a:latin typeface="Menlo"/>
                        </a:rPr>
                        <a:t>2-5%</a:t>
                      </a:r>
                    </a:p>
                  </a:txBody>
                  <a:tcPr marL="73152" marR="73152" marT="18288" marB="18288" anchor="ctr">
                    <a:solidFill>
                      <a:srgbClr val="000000"/>
                    </a:solidFill>
                  </a:tcPr>
                </a:tc>
              </a:tr>
              <a:tr h="347472">
                <a:tc>
                  <a:txBody>
                    <a:bodyPr wrap="square"/>
                    <a:lstStyle/>
                    <a:p>
                      <a:pPr algn="l"/>
                      <a:r>
                        <a:rPr sz="1100" b="1">
                          <a:solidFill>
                            <a:srgbClr val="EF4444"/>
                          </a:solidFill>
                          <a:latin typeface="Helvetica Neue"/>
                        </a:rPr>
                        <a:t>Subscription (Abonnement)</a:t>
                      </a:r>
                    </a:p>
                  </a:txBody>
                  <a:tcPr marL="73152" marR="73152" marT="18288" marB="18288" anchor="ctr">
                    <a:solidFill>
                      <a:srgbClr val="0B0B0B"/>
                    </a:solidFill>
                  </a:tcPr>
                </a:tc>
                <a:tc>
                  <a:txBody>
                    <a:bodyPr wrap="square"/>
                    <a:lstStyle/>
                    <a:p>
                      <a:pPr algn="r"/>
                      <a:r>
                        <a:rPr sz="1100" b="0">
                          <a:solidFill>
                            <a:srgbClr val="EFEEEE"/>
                          </a:solidFill>
                          <a:latin typeface="Menlo"/>
                        </a:rPr>
                        <a:t>108</a:t>
                      </a:r>
                    </a:p>
                  </a:txBody>
                  <a:tcPr marL="73152" marR="73152" marT="18288" marB="18288" anchor="ctr">
                    <a:solidFill>
                      <a:srgbClr val="0B0B0B"/>
                    </a:solidFill>
                  </a:tcPr>
                </a:tc>
                <a:tc>
                  <a:txBody>
                    <a:bodyPr wrap="square"/>
                    <a:lstStyle/>
                    <a:p>
                      <a:pPr algn="r"/>
                      <a:r>
                        <a:rPr sz="1100" b="0">
                          <a:solidFill>
                            <a:srgbClr val="EF4444"/>
                          </a:solidFill>
                          <a:latin typeface="Menlo"/>
                        </a:rPr>
                        <a:t>0,2%</a:t>
                      </a:r>
                    </a:p>
                  </a:txBody>
                  <a:tcPr marL="73152" marR="73152" marT="18288" marB="18288" anchor="ctr">
                    <a:solidFill>
                      <a:srgbClr val="0B0B0B"/>
                    </a:solidFill>
                  </a:tcPr>
                </a:tc>
                <a:tc>
                  <a:txBody>
                    <a:bodyPr wrap="square"/>
                    <a:lstStyle/>
                    <a:p>
                      <a:pPr algn="r"/>
                      <a:r>
                        <a:rPr sz="1100" b="0">
                          <a:solidFill>
                            <a:srgbClr val="EFEEEE"/>
                          </a:solidFill>
                          <a:latin typeface="Menlo"/>
                        </a:rPr>
                        <a:t>611 SEK</a:t>
                      </a:r>
                    </a:p>
                  </a:txBody>
                  <a:tcPr marL="73152" marR="73152" marT="18288" marB="18288" anchor="ctr">
                    <a:solidFill>
                      <a:srgbClr val="0B0B0B"/>
                    </a:solidFill>
                  </a:tcPr>
                </a:tc>
                <a:tc>
                  <a:txBody>
                    <a:bodyPr wrap="square"/>
                    <a:lstStyle/>
                    <a:p>
                      <a:pPr algn="r"/>
                      <a:r>
                        <a:rPr sz="1100" b="0">
                          <a:solidFill>
                            <a:srgbClr val="EFEEEE"/>
                          </a:solidFill>
                          <a:latin typeface="Menlo"/>
                        </a:rPr>
                        <a:t>0%</a:t>
                      </a:r>
                    </a:p>
                  </a:txBody>
                  <a:tcPr marL="73152" marR="73152" marT="18288" marB="18288" anchor="ctr">
                    <a:solidFill>
                      <a:srgbClr val="0B0B0B"/>
                    </a:solidFill>
                  </a:tcPr>
                </a:tc>
              </a:tr>
            </a:tbl>
          </a:graphicData>
        </a:graphic>
      </p:graphicFrame>
      <p:sp>
        <p:nvSpPr>
          <p:cNvPr id="11" name="TextBox 10"/>
          <p:cNvSpPr txBox="1"/>
          <p:nvPr/>
        </p:nvSpPr>
        <p:spPr>
          <a:xfrm>
            <a:off x="1280160" y="4480560"/>
            <a:ext cx="9601200" cy="548640"/>
          </a:xfrm>
          <a:prstGeom prst="rect">
            <a:avLst/>
          </a:prstGeom>
          <a:noFill/>
        </p:spPr>
        <p:txBody>
          <a:bodyPr wrap="square" lIns="0" rIns="0" tIns="0" bIns="0" anchor="t">
            <a:spAutoFit/>
          </a:bodyPr>
          <a:lstStyle/>
          <a:p>
            <a:pPr algn="l"/>
            <a:r>
              <a:rPr sz="1100" b="0" i="0">
                <a:solidFill>
                  <a:srgbClr val="6B7C75"/>
                </a:solidFill>
                <a:latin typeface="Helvetica Neue"/>
              </a:rPr>
              <a:t>Top 2 SKUs = 26,5% of net sales. Top 30 SKUs (6% of the catalog) = 80%. The AOV lever is a box ladder (567 SEK to the 700 SEK+ tiers) plus a real subscription, not more discounting.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38</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09</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09</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CRO &amp; RPV Roadmap</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Sequenced by leverage on revenue per visitor. Measurement first because it multiplies every other lever.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THE RPV GROWTH PLAN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Five levers, in order</a:t>
            </a:r>
          </a:p>
        </p:txBody>
      </p:sp>
      <p:graphicFrame>
        <p:nvGraphicFramePr>
          <p:cNvPr id="9" name="Table 8"/>
          <p:cNvGraphicFramePr>
            <a:graphicFrameLocks noGrp="1"/>
          </p:cNvGraphicFramePr>
          <p:nvPr/>
        </p:nvGraphicFramePr>
        <p:xfrm>
          <a:off x="640080" y="2011680"/>
          <a:ext cx="10881357" cy="3200400"/>
        </p:xfrm>
        <a:graphic>
          <a:graphicData uri="http://schemas.openxmlformats.org/drawingml/2006/table">
            <a:tbl>
              <a:tblPr>
                <a:tableStyleId>{2D5ABB26-0587-4C30-8999-92F81FD0307C}</a:tableStyleId>
              </a:tblPr>
              <a:tblGrid>
                <a:gridCol w="614270"/>
                <a:gridCol w="1667305"/>
                <a:gridCol w="3685621"/>
                <a:gridCol w="3773374"/>
                <a:gridCol w="1140787"/>
              </a:tblGrid>
              <a:tr h="365760">
                <a:tc>
                  <a:txBody>
                    <a:bodyPr wrap="square"/>
                    <a:lstStyle/>
                    <a:p>
                      <a:pPr algn="l"/>
                      <a:r>
                        <a:rPr sz="900" b="1" spc="100">
                          <a:solidFill>
                            <a:srgbClr val="999999"/>
                          </a:solidFill>
                          <a:latin typeface="Helvetica Neue"/>
                        </a:rPr>
                        <a: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LEVER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MOVE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WHY IT MOVES RPV</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EFFORT</a:t>
                      </a:r>
                    </a:p>
                  </a:txBody>
                  <a:tcPr marL="73152" marR="73152" marT="18288" marB="18288" anchor="ctr">
                    <a:solidFill>
                      <a:srgbClr val="0A0A0A"/>
                    </a:solidFill>
                  </a:tcPr>
                </a:tc>
              </a:tr>
              <a:tr h="566928">
                <a:tc>
                  <a:txBody>
                    <a:bodyPr wrap="square"/>
                    <a:lstStyle/>
                    <a:p>
                      <a:pPr algn="l"/>
                      <a:r>
                        <a:rPr sz="1050" b="1">
                          <a:solidFill>
                            <a:srgbClr val="EF4444"/>
                          </a:solidFill>
                          <a:latin typeface="Helvetica Neue"/>
                        </a:rPr>
                        <a:t>1</a:t>
                      </a:r>
                    </a:p>
                  </a:txBody>
                  <a:tcPr marL="73152" marR="73152" marT="18288" marB="18288" anchor="ctr">
                    <a:solidFill>
                      <a:srgbClr val="000000"/>
                    </a:solidFill>
                  </a:tcPr>
                </a:tc>
                <a:tc>
                  <a:txBody>
                    <a:bodyPr wrap="square"/>
                    <a:lstStyle/>
                    <a:p>
                      <a:pPr algn="l"/>
                      <a:r>
                        <a:rPr sz="1050" b="0">
                          <a:solidFill>
                            <a:srgbClr val="F7D007"/>
                          </a:solidFill>
                          <a:latin typeface="Helvetica Neue"/>
                        </a:rPr>
                        <a:t>Measurement</a:t>
                      </a:r>
                    </a:p>
                  </a:txBody>
                  <a:tcPr marL="73152" marR="73152" marT="18288" marB="18288" anchor="ctr">
                    <a:solidFill>
                      <a:srgbClr val="000000"/>
                    </a:solidFill>
                  </a:tcPr>
                </a:tc>
                <a:tc>
                  <a:txBody>
                    <a:bodyPr wrap="square"/>
                    <a:lstStyle/>
                    <a:p>
                      <a:pPr algn="l"/>
                      <a:r>
                        <a:rPr sz="1050" b="0">
                          <a:solidFill>
                            <a:srgbClr val="EFEEEE"/>
                          </a:solidFill>
                          <a:latin typeface="Helvetica Neue"/>
                        </a:rPr>
                        <a:t>Server side GTM + Consent Mode + Meta CAPI; one GA4</a:t>
                      </a:r>
                    </a:p>
                  </a:txBody>
                  <a:tcPr marL="73152" marR="73152" marT="18288" marB="18288" anchor="ctr">
                    <a:solidFill>
                      <a:srgbClr val="000000"/>
                    </a:solidFill>
                  </a:tcPr>
                </a:tc>
                <a:tc>
                  <a:txBody>
                    <a:bodyPr wrap="square"/>
                    <a:lstStyle/>
                    <a:p>
                      <a:pPr algn="l"/>
                      <a:r>
                        <a:rPr sz="1050" b="0">
                          <a:solidFill>
                            <a:srgbClr val="EFEEEE"/>
                          </a:solidFill>
                          <a:latin typeface="Helvetica Neue"/>
                        </a:rPr>
                        <a:t>Unlocks true RPV and feeds ad algorithms 3x the signal</a:t>
                      </a:r>
                    </a:p>
                  </a:txBody>
                  <a:tcPr marL="73152" marR="73152" marT="18288" marB="18288" anchor="ctr">
                    <a:solidFill>
                      <a:srgbClr val="000000"/>
                    </a:solidFill>
                  </a:tcPr>
                </a:tc>
                <a:tc>
                  <a:txBody>
                    <a:bodyPr wrap="square"/>
                    <a:lstStyle/>
                    <a:p>
                      <a:pPr algn="l"/>
                      <a:r>
                        <a:rPr sz="1050" b="0">
                          <a:solidFill>
                            <a:srgbClr val="EFEEEE"/>
                          </a:solidFill>
                          <a:latin typeface="Helvetica Neue"/>
                        </a:rPr>
                        <a:t>High</a:t>
                      </a:r>
                    </a:p>
                  </a:txBody>
                  <a:tcPr marL="73152" marR="73152" marT="18288" marB="18288" anchor="ctr">
                    <a:solidFill>
                      <a:srgbClr val="000000"/>
                    </a:solidFill>
                  </a:tcPr>
                </a:tc>
              </a:tr>
              <a:tr h="566928">
                <a:tc>
                  <a:txBody>
                    <a:bodyPr wrap="square"/>
                    <a:lstStyle/>
                    <a:p>
                      <a:pPr algn="l"/>
                      <a:r>
                        <a:rPr sz="1050" b="1">
                          <a:solidFill>
                            <a:srgbClr val="EF4444"/>
                          </a:solidFill>
                          <a:latin typeface="Helvetica Neue"/>
                        </a:rPr>
                        <a:t>2</a:t>
                      </a:r>
                    </a:p>
                  </a:txBody>
                  <a:tcPr marL="73152" marR="73152" marT="18288" marB="18288" anchor="ctr">
                    <a:solidFill>
                      <a:srgbClr val="0B0B0B"/>
                    </a:solidFill>
                  </a:tcPr>
                </a:tc>
                <a:tc>
                  <a:txBody>
                    <a:bodyPr wrap="square"/>
                    <a:lstStyle/>
                    <a:p>
                      <a:pPr algn="l"/>
                      <a:r>
                        <a:rPr sz="1050" b="0">
                          <a:solidFill>
                            <a:srgbClr val="F7D007"/>
                          </a:solidFill>
                          <a:latin typeface="Helvetica Neue"/>
                        </a:rPr>
                        <a:t>Subscription</a:t>
                      </a:r>
                    </a:p>
                  </a:txBody>
                  <a:tcPr marL="73152" marR="73152" marT="18288" marB="18288" anchor="ctr">
                    <a:solidFill>
                      <a:srgbClr val="0B0B0B"/>
                    </a:solidFill>
                  </a:tcPr>
                </a:tc>
                <a:tc>
                  <a:txBody>
                    <a:bodyPr wrap="square"/>
                    <a:lstStyle/>
                    <a:p>
                      <a:pPr algn="l"/>
                      <a:r>
                        <a:rPr sz="1050" b="0">
                          <a:solidFill>
                            <a:srgbClr val="EFEEEE"/>
                          </a:solidFill>
                          <a:latin typeface="Helvetica Neue"/>
                        </a:rPr>
                        <a:t>Launch a real monthly discovery box club</a:t>
                      </a:r>
                    </a:p>
                  </a:txBody>
                  <a:tcPr marL="73152" marR="73152" marT="18288" marB="18288" anchor="ctr">
                    <a:solidFill>
                      <a:srgbClr val="0B0B0B"/>
                    </a:solidFill>
                  </a:tcPr>
                </a:tc>
                <a:tc>
                  <a:txBody>
                    <a:bodyPr wrap="square"/>
                    <a:lstStyle/>
                    <a:p>
                      <a:pPr algn="l"/>
                      <a:r>
                        <a:rPr sz="1050" b="0">
                          <a:solidFill>
                            <a:srgbClr val="EFEEEE"/>
                          </a:solidFill>
                          <a:latin typeface="Helvetica Neue"/>
                        </a:rPr>
                        <a:t>Repeat is stuck at 19%; recurring RPV base</a:t>
                      </a:r>
                    </a:p>
                  </a:txBody>
                  <a:tcPr marL="73152" marR="73152" marT="18288" marB="18288" anchor="ctr">
                    <a:solidFill>
                      <a:srgbClr val="0B0B0B"/>
                    </a:solidFill>
                  </a:tcPr>
                </a:tc>
                <a:tc>
                  <a:txBody>
                    <a:bodyPr wrap="square"/>
                    <a:lstStyle/>
                    <a:p>
                      <a:pPr algn="l"/>
                      <a:r>
                        <a:rPr sz="1050" b="0">
                          <a:solidFill>
                            <a:srgbClr val="EFEEEE"/>
                          </a:solidFill>
                          <a:latin typeface="Helvetica Neue"/>
                        </a:rPr>
                        <a:t>Med</a:t>
                      </a:r>
                    </a:p>
                  </a:txBody>
                  <a:tcPr marL="73152" marR="73152" marT="18288" marB="18288" anchor="ctr">
                    <a:solidFill>
                      <a:srgbClr val="0B0B0B"/>
                    </a:solidFill>
                  </a:tcPr>
                </a:tc>
              </a:tr>
              <a:tr h="566928">
                <a:tc>
                  <a:txBody>
                    <a:bodyPr wrap="square"/>
                    <a:lstStyle/>
                    <a:p>
                      <a:pPr algn="l"/>
                      <a:r>
                        <a:rPr sz="1050" b="1">
                          <a:solidFill>
                            <a:srgbClr val="F59E0B"/>
                          </a:solidFill>
                          <a:latin typeface="Helvetica Neue"/>
                        </a:rPr>
                        <a:t>3</a:t>
                      </a:r>
                    </a:p>
                  </a:txBody>
                  <a:tcPr marL="73152" marR="73152" marT="18288" marB="18288" anchor="ctr">
                    <a:solidFill>
                      <a:srgbClr val="000000"/>
                    </a:solidFill>
                  </a:tcPr>
                </a:tc>
                <a:tc>
                  <a:txBody>
                    <a:bodyPr wrap="square"/>
                    <a:lstStyle/>
                    <a:p>
                      <a:pPr algn="l"/>
                      <a:r>
                        <a:rPr sz="1050" b="0">
                          <a:solidFill>
                            <a:srgbClr val="F7D007"/>
                          </a:solidFill>
                          <a:latin typeface="Helvetica Neue"/>
                        </a:rPr>
                        <a:t>AOV ladder</a:t>
                      </a:r>
                    </a:p>
                  </a:txBody>
                  <a:tcPr marL="73152" marR="73152" marT="18288" marB="18288" anchor="ctr">
                    <a:solidFill>
                      <a:srgbClr val="000000"/>
                    </a:solidFill>
                  </a:tcPr>
                </a:tc>
                <a:tc>
                  <a:txBody>
                    <a:bodyPr wrap="square"/>
                    <a:lstStyle/>
                    <a:p>
                      <a:pPr algn="l"/>
                      <a:r>
                        <a:rPr sz="1050" b="0">
                          <a:solidFill>
                            <a:srgbClr val="EFEEEE"/>
                          </a:solidFill>
                          <a:latin typeface="Helvetica Neue"/>
                        </a:rPr>
                        <a:t>Upsell 567 SEK buyers to 700 SEK+ boxes; Rebuy attach</a:t>
                      </a:r>
                    </a:p>
                  </a:txBody>
                  <a:tcPr marL="73152" marR="73152" marT="18288" marB="18288" anchor="ctr">
                    <a:solidFill>
                      <a:srgbClr val="000000"/>
                    </a:solidFill>
                  </a:tcPr>
                </a:tc>
                <a:tc>
                  <a:txBody>
                    <a:bodyPr wrap="square"/>
                    <a:lstStyle/>
                    <a:p>
                      <a:pPr algn="l"/>
                      <a:r>
                        <a:rPr sz="1050" b="0">
                          <a:solidFill>
                            <a:srgbClr val="EFEEEE"/>
                          </a:solidFill>
                          <a:latin typeface="Helvetica Neue"/>
                        </a:rPr>
                        <a:t>Lifts the AOV half of RPV without new traffic</a:t>
                      </a:r>
                    </a:p>
                  </a:txBody>
                  <a:tcPr marL="73152" marR="73152" marT="18288" marB="18288" anchor="ctr">
                    <a:solidFill>
                      <a:srgbClr val="000000"/>
                    </a:solidFill>
                  </a:tcPr>
                </a:tc>
                <a:tc>
                  <a:txBody>
                    <a:bodyPr wrap="square"/>
                    <a:lstStyle/>
                    <a:p>
                      <a:pPr algn="l"/>
                      <a:r>
                        <a:rPr sz="1050" b="0">
                          <a:solidFill>
                            <a:srgbClr val="EFEEEE"/>
                          </a:solidFill>
                          <a:latin typeface="Helvetica Neue"/>
                        </a:rPr>
                        <a:t>Med</a:t>
                      </a:r>
                    </a:p>
                  </a:txBody>
                  <a:tcPr marL="73152" marR="73152" marT="18288" marB="18288" anchor="ctr">
                    <a:solidFill>
                      <a:srgbClr val="000000"/>
                    </a:solidFill>
                  </a:tcPr>
                </a:tc>
              </a:tr>
              <a:tr h="566928">
                <a:tc>
                  <a:txBody>
                    <a:bodyPr wrap="square"/>
                    <a:lstStyle/>
                    <a:p>
                      <a:pPr algn="l"/>
                      <a:r>
                        <a:rPr sz="1050" b="1">
                          <a:solidFill>
                            <a:srgbClr val="F59E0B"/>
                          </a:solidFill>
                          <a:latin typeface="Helvetica Neue"/>
                        </a:rPr>
                        <a:t>4</a:t>
                      </a:r>
                    </a:p>
                  </a:txBody>
                  <a:tcPr marL="73152" marR="73152" marT="18288" marB="18288" anchor="ctr">
                    <a:solidFill>
                      <a:srgbClr val="0B0B0B"/>
                    </a:solidFill>
                  </a:tcPr>
                </a:tc>
                <a:tc>
                  <a:txBody>
                    <a:bodyPr wrap="square"/>
                    <a:lstStyle/>
                    <a:p>
                      <a:pPr algn="l"/>
                      <a:r>
                        <a:rPr sz="1050" b="0">
                          <a:solidFill>
                            <a:srgbClr val="F7D007"/>
                          </a:solidFill>
                          <a:latin typeface="Helvetica Neue"/>
                        </a:rPr>
                        <a:t>Conversion</a:t>
                      </a:r>
                    </a:p>
                  </a:txBody>
                  <a:tcPr marL="73152" marR="73152" marT="18288" marB="18288" anchor="ctr">
                    <a:solidFill>
                      <a:srgbClr val="0B0B0B"/>
                    </a:solidFill>
                  </a:tcPr>
                </a:tc>
                <a:tc>
                  <a:txBody>
                    <a:bodyPr wrap="square"/>
                    <a:lstStyle/>
                    <a:p>
                      <a:pPr algn="l"/>
                      <a:r>
                        <a:rPr sz="1050" b="0">
                          <a:solidFill>
                            <a:srgbClr val="EFEEEE"/>
                          </a:solidFill>
                          <a:latin typeface="Helvetica Neue"/>
                        </a:rPr>
                        <a:t>Legality block + honest delivery + cart clarity</a:t>
                      </a:r>
                    </a:p>
                  </a:txBody>
                  <a:tcPr marL="73152" marR="73152" marT="18288" marB="18288" anchor="ctr">
                    <a:solidFill>
                      <a:srgbClr val="0B0B0B"/>
                    </a:solidFill>
                  </a:tcPr>
                </a:tc>
                <a:tc>
                  <a:txBody>
                    <a:bodyPr wrap="square"/>
                    <a:lstStyle/>
                    <a:p>
                      <a:pPr algn="l"/>
                      <a:r>
                        <a:rPr sz="1050" b="0">
                          <a:solidFill>
                            <a:srgbClr val="EFEEEE"/>
                          </a:solidFill>
                          <a:latin typeface="Helvetica Neue"/>
                        </a:rPr>
                        <a:t>Lifts the conversion half of RPV, esp. first time buyers</a:t>
                      </a:r>
                    </a:p>
                  </a:txBody>
                  <a:tcPr marL="73152" marR="73152" marT="18288" marB="18288" anchor="ctr">
                    <a:solidFill>
                      <a:srgbClr val="0B0B0B"/>
                    </a:solidFill>
                  </a:tcPr>
                </a:tc>
                <a:tc>
                  <a:txBody>
                    <a:bodyPr wrap="square"/>
                    <a:lstStyle/>
                    <a:p>
                      <a:pPr algn="l"/>
                      <a:r>
                        <a:rPr sz="1050" b="0">
                          <a:solidFill>
                            <a:srgbClr val="EFEEEE"/>
                          </a:solidFill>
                          <a:latin typeface="Helvetica Neue"/>
                        </a:rPr>
                        <a:t>Med</a:t>
                      </a:r>
                    </a:p>
                  </a:txBody>
                  <a:tcPr marL="73152" marR="73152" marT="18288" marB="18288" anchor="ctr">
                    <a:solidFill>
                      <a:srgbClr val="0B0B0B"/>
                    </a:solidFill>
                  </a:tcPr>
                </a:tc>
              </a:tr>
              <a:tr h="566928">
                <a:tc>
                  <a:txBody>
                    <a:bodyPr wrap="square"/>
                    <a:lstStyle/>
                    <a:p>
                      <a:pPr algn="l"/>
                      <a:r>
                        <a:rPr sz="1050" b="1">
                          <a:solidFill>
                            <a:srgbClr val="6AA9FF"/>
                          </a:solidFill>
                          <a:latin typeface="Helvetica Neue"/>
                        </a:rPr>
                        <a:t>5</a:t>
                      </a:r>
                    </a:p>
                  </a:txBody>
                  <a:tcPr marL="73152" marR="73152" marT="18288" marB="18288" anchor="ctr">
                    <a:solidFill>
                      <a:srgbClr val="000000"/>
                    </a:solidFill>
                  </a:tcPr>
                </a:tc>
                <a:tc>
                  <a:txBody>
                    <a:bodyPr wrap="square"/>
                    <a:lstStyle/>
                    <a:p>
                      <a:pPr algn="l"/>
                      <a:r>
                        <a:rPr sz="1050" b="0">
                          <a:solidFill>
                            <a:srgbClr val="F7D007"/>
                          </a:solidFill>
                          <a:latin typeface="Helvetica Neue"/>
                        </a:rPr>
                        <a:t>Traffic mix</a:t>
                      </a:r>
                    </a:p>
                  </a:txBody>
                  <a:tcPr marL="73152" marR="73152" marT="18288" marB="18288" anchor="ctr">
                    <a:solidFill>
                      <a:srgbClr val="000000"/>
                    </a:solidFill>
                  </a:tcPr>
                </a:tc>
                <a:tc>
                  <a:txBody>
                    <a:bodyPr wrap="square"/>
                    <a:lstStyle/>
                    <a:p>
                      <a:pPr algn="l"/>
                      <a:r>
                        <a:rPr sz="1050" b="0">
                          <a:solidFill>
                            <a:srgbClr val="EFEEEE"/>
                          </a:solidFill>
                          <a:latin typeface="Helvetica Neue"/>
                        </a:rPr>
                        <a:t>Grow email/owned and organic; cut Facebook reliance</a:t>
                      </a:r>
                    </a:p>
                  </a:txBody>
                  <a:tcPr marL="73152" marR="73152" marT="18288" marB="18288" anchor="ctr">
                    <a:solidFill>
                      <a:srgbClr val="000000"/>
                    </a:solidFill>
                  </a:tcPr>
                </a:tc>
                <a:tc>
                  <a:txBody>
                    <a:bodyPr wrap="square"/>
                    <a:lstStyle/>
                    <a:p>
                      <a:pPr algn="l"/>
                      <a:r>
                        <a:rPr sz="1050" b="0">
                          <a:solidFill>
                            <a:srgbClr val="EFEEEE"/>
                          </a:solidFill>
                          <a:latin typeface="Helvetica Neue"/>
                        </a:rPr>
                        <a:t>Higher quality, cheaper traffic; de risks 43,6% concentration</a:t>
                      </a:r>
                    </a:p>
                  </a:txBody>
                  <a:tcPr marL="73152" marR="73152" marT="18288" marB="18288" anchor="ctr">
                    <a:solidFill>
                      <a:srgbClr val="000000"/>
                    </a:solidFill>
                  </a:tcPr>
                </a:tc>
                <a:tc>
                  <a:txBody>
                    <a:bodyPr wrap="square"/>
                    <a:lstStyle/>
                    <a:p>
                      <a:pPr algn="l"/>
                      <a:r>
                        <a:rPr sz="1050" b="0">
                          <a:solidFill>
                            <a:srgbClr val="EFEEEE"/>
                          </a:solidFill>
                          <a:latin typeface="Helvetica Neue"/>
                        </a:rPr>
                        <a:t>Strategic</a:t>
                      </a:r>
                    </a:p>
                  </a:txBody>
                  <a:tcPr marL="73152" marR="73152" marT="18288" marB="18288" anchor="ctr">
                    <a:solidFill>
                      <a:srgbClr val="000000"/>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IF YOU DO ONLY THREE THINGS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Start here</a:t>
            </a:r>
          </a:p>
        </p:txBody>
      </p:sp>
      <p:sp>
        <p:nvSpPr>
          <p:cNvPr id="9" name="Rounded Rectangle 8"/>
          <p:cNvSpPr/>
          <p:nvPr/>
        </p:nvSpPr>
        <p:spPr>
          <a:xfrm>
            <a:off x="792327" y="2194560"/>
            <a:ext cx="3352800" cy="292608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0927" y="2377440"/>
            <a:ext cx="731520" cy="457200"/>
          </a:xfrm>
          <a:prstGeom prst="rect">
            <a:avLst/>
          </a:prstGeom>
          <a:noFill/>
        </p:spPr>
        <p:txBody>
          <a:bodyPr wrap="square" lIns="0" rIns="0" tIns="0" bIns="0" anchor="t">
            <a:spAutoFit/>
          </a:bodyPr>
          <a:lstStyle/>
          <a:p>
            <a:pPr algn="l"/>
            <a:r>
              <a:rPr sz="2600" b="1" i="0">
                <a:solidFill>
                  <a:srgbClr val="F7D007"/>
                </a:solidFill>
                <a:latin typeface="Menlo"/>
              </a:rPr>
              <a:t>1</a:t>
            </a:r>
          </a:p>
        </p:txBody>
      </p:sp>
      <p:sp>
        <p:nvSpPr>
          <p:cNvPr id="11" name="TextBox 10"/>
          <p:cNvSpPr txBox="1"/>
          <p:nvPr/>
        </p:nvSpPr>
        <p:spPr>
          <a:xfrm>
            <a:off x="102092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Answer the legality question</a:t>
            </a:r>
          </a:p>
        </p:txBody>
      </p:sp>
      <p:sp>
        <p:nvSpPr>
          <p:cNvPr id="12" name="TextBox 11"/>
          <p:cNvSpPr txBox="1"/>
          <p:nvPr/>
        </p:nvSpPr>
        <p:spPr>
          <a:xfrm>
            <a:off x="102092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A visible "why this is legal" block on PDP and cart, with the age check, Danish import model, tax included, and your 4,7 Trustpilot proof.</a:t>
            </a:r>
          </a:p>
        </p:txBody>
      </p:sp>
      <p:sp>
        <p:nvSpPr>
          <p:cNvPr id="13" name="Rounded Rectangle 12"/>
          <p:cNvSpPr/>
          <p:nvPr/>
        </p:nvSpPr>
        <p:spPr>
          <a:xfrm>
            <a:off x="102092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092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Lifts 80,8% new buyers</a:t>
            </a:r>
          </a:p>
        </p:txBody>
      </p:sp>
      <p:sp>
        <p:nvSpPr>
          <p:cNvPr id="15" name="Rounded Rectangle 14"/>
          <p:cNvSpPr/>
          <p:nvPr/>
        </p:nvSpPr>
        <p:spPr>
          <a:xfrm>
            <a:off x="4419447" y="2194560"/>
            <a:ext cx="3352800" cy="292608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8047" y="2377440"/>
            <a:ext cx="731520" cy="457200"/>
          </a:xfrm>
          <a:prstGeom prst="rect">
            <a:avLst/>
          </a:prstGeom>
          <a:noFill/>
        </p:spPr>
        <p:txBody>
          <a:bodyPr wrap="square" lIns="0" rIns="0" tIns="0" bIns="0" anchor="t">
            <a:spAutoFit/>
          </a:bodyPr>
          <a:lstStyle/>
          <a:p>
            <a:pPr algn="l"/>
            <a:r>
              <a:rPr sz="2600" b="1" i="0">
                <a:solidFill>
                  <a:srgbClr val="F7D007"/>
                </a:solidFill>
                <a:latin typeface="Menlo"/>
              </a:rPr>
              <a:t>2</a:t>
            </a:r>
          </a:p>
        </p:txBody>
      </p:sp>
      <p:sp>
        <p:nvSpPr>
          <p:cNvPr id="17" name="TextBox 16"/>
          <p:cNvSpPr txBox="1"/>
          <p:nvPr/>
        </p:nvSpPr>
        <p:spPr>
          <a:xfrm>
            <a:off x="464804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Fix the delivery promise</a:t>
            </a:r>
          </a:p>
        </p:txBody>
      </p:sp>
      <p:sp>
        <p:nvSpPr>
          <p:cNvPr id="18" name="TextBox 17"/>
          <p:cNvSpPr txBox="1"/>
          <p:nvPr/>
        </p:nvSpPr>
        <p:spPr>
          <a:xfrm>
            <a:off x="464804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Replace "1-3 dagar" with an honest ETA and proactive updates. Protects the 40% of revenue from repeat buyers.</a:t>
            </a:r>
          </a:p>
        </p:txBody>
      </p:sp>
      <p:sp>
        <p:nvSpPr>
          <p:cNvPr id="19" name="Rounded Rectangle 18"/>
          <p:cNvSpPr/>
          <p:nvPr/>
        </p:nvSpPr>
        <p:spPr>
          <a:xfrm>
            <a:off x="464804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804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Kills 86% of complaints</a:t>
            </a:r>
          </a:p>
        </p:txBody>
      </p:sp>
      <p:sp>
        <p:nvSpPr>
          <p:cNvPr id="21" name="Rounded Rectangle 20"/>
          <p:cNvSpPr/>
          <p:nvPr/>
        </p:nvSpPr>
        <p:spPr>
          <a:xfrm>
            <a:off x="8046567" y="2194560"/>
            <a:ext cx="3352800" cy="292608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167" y="2377440"/>
            <a:ext cx="731520" cy="457200"/>
          </a:xfrm>
          <a:prstGeom prst="rect">
            <a:avLst/>
          </a:prstGeom>
          <a:noFill/>
        </p:spPr>
        <p:txBody>
          <a:bodyPr wrap="square" lIns="0" rIns="0" tIns="0" bIns="0" anchor="t">
            <a:spAutoFit/>
          </a:bodyPr>
          <a:lstStyle/>
          <a:p>
            <a:pPr algn="l"/>
            <a:r>
              <a:rPr sz="2600" b="1" i="0">
                <a:solidFill>
                  <a:srgbClr val="F7D007"/>
                </a:solidFill>
                <a:latin typeface="Menlo"/>
              </a:rPr>
              <a:t>3</a:t>
            </a:r>
          </a:p>
        </p:txBody>
      </p:sp>
      <p:sp>
        <p:nvSpPr>
          <p:cNvPr id="23" name="TextBox 22"/>
          <p:cNvSpPr txBox="1"/>
          <p:nvPr/>
        </p:nvSpPr>
        <p:spPr>
          <a:xfrm>
            <a:off x="8275167" y="297180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Recover the cart leak</a:t>
            </a:r>
          </a:p>
        </p:txBody>
      </p:sp>
      <p:sp>
        <p:nvSpPr>
          <p:cNvPr id="24" name="TextBox 23"/>
          <p:cNvSpPr txBox="1"/>
          <p:nvPr/>
        </p:nvSpPr>
        <p:spPr>
          <a:xfrm>
            <a:off x="8275167" y="3566160"/>
            <a:ext cx="2895600" cy="1188720"/>
          </a:xfrm>
          <a:prstGeom prst="rect">
            <a:avLst/>
          </a:prstGeom>
          <a:noFill/>
        </p:spPr>
        <p:txBody>
          <a:bodyPr wrap="square" lIns="0" rIns="0" tIns="0" bIns="0" anchor="t">
            <a:spAutoFit/>
          </a:bodyPr>
          <a:lstStyle/>
          <a:p>
            <a:pPr algn="l"/>
            <a:r>
              <a:rPr sz="1100" b="0" i="0">
                <a:solidFill>
                  <a:srgbClr val="CCCCCC"/>
                </a:solidFill>
                <a:latin typeface="Helvetica Neue"/>
              </a:rPr>
              <a:t>Surface shipping rules in cart and add a clear continue step. 60,2% of carts never reach checkout today.</a:t>
            </a:r>
          </a:p>
        </p:txBody>
      </p:sp>
      <p:sp>
        <p:nvSpPr>
          <p:cNvPr id="25" name="Rounded Rectangle 24"/>
          <p:cNvSpPr/>
          <p:nvPr/>
        </p:nvSpPr>
        <p:spPr>
          <a:xfrm>
            <a:off x="8275167" y="4617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167" y="4617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Est. 1,5-1,8M SEK/qtr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41</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10</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10</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Selected Test Plans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The first three tests to run, each with a hypothesis, primary metric, and a pre-agreed target. Built and QA'd by EcomHouse.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42</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DV-01</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PDP legality &amp; trust block</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64% of product viewers never add to cart.</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Zero on-site legality copy in a monopoly market.</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80,8% of buyers are first time and new to private import.</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Answering "is it legal?" at the buy box (Danish import, Skatteverket, tax included) removes the top objection and lifts add to cart for new buyers.</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View to add to cart (primary)</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PDP to purchase</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New visitor conversion rate</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ATC rate</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CONFIDENCE</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ORDERS</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DURATION</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2-4 wks</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1.jpeg"/>
          <p:cNvPicPr>
            <a:picLocks noChangeAspect="1"/>
          </p:cNvPicPr>
          <p:nvPr/>
        </p:nvPicPr>
        <p:blipFill>
          <a:blip r:embed="rId3"/>
          <a:stretch>
            <a:fillRect/>
          </a:stretch>
        </p:blipFill>
        <p:spPr>
          <a:xfrm>
            <a:off x="7824209" y="868680"/>
            <a:ext cx="202967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LEGALITY BLOCK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43</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DV-02</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Cart drawer: delivery clarity</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60,2% of add to carts never begin checkout.</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Delivery estimate is buried; "1-3 dagar" promise is broken.</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Free shipping is quietly Airmee-only, which confuses buyers.</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Elevating an honest 2-5 day delivery block with a chooseable day, plus tax-included and payment trust at checkout, recovers the cart to checkout leak.</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Cart to begin checkout (primary)</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Checkout completion</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Revenue per session</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Cart→CO</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CONFIDENCE</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ORDERS</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EST.</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1,5-1,8M/qtr</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2.jpeg"/>
          <p:cNvPicPr>
            <a:picLocks noChangeAspect="1"/>
          </p:cNvPicPr>
          <p:nvPr/>
        </p:nvPicPr>
        <p:blipFill>
          <a:blip r:embed="rId3"/>
          <a:stretch>
            <a:fillRect/>
          </a:stretch>
        </p:blipFill>
        <p:spPr>
          <a:xfrm>
            <a:off x="7824209" y="868680"/>
            <a:ext cx="202967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CART CLARITY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44</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DV-03</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Box PDP: AOV ladder &amp; taste detail</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Boxes are 76% of revenue; avg box 567 SEK.</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Premium 700 SEK+ tiers exist but sell in low volume.</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Buyers cannot taste; 14% of complaints are about taste.</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A tier ladder (6 / 12 XL / 12 Guld) with per bottle math and a per wine taste profile lifts order value and add to cart by removing the blind box risk.</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Revenue per session (primary)</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Average order value</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Add to cart rate</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RPV / AOV</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CONFIDENCE</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ORDERS</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DURATION</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2-4 wks</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3.jpeg"/>
          <p:cNvPicPr>
            <a:picLocks noChangeAspect="1"/>
          </p:cNvPicPr>
          <p:nvPr/>
        </p:nvPicPr>
        <p:blipFill>
          <a:blip r:embed="rId3"/>
          <a:stretch>
            <a:fillRect/>
          </a:stretch>
        </p:blipFill>
        <p:spPr>
          <a:xfrm>
            <a:off x="7955762" y="868680"/>
            <a:ext cx="1766570"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AOV LADDER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45</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11</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11</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How EcomHouse Works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You approve, we execute. Research through rollout, priced on the wins. Recent results from other DK clients.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THE ECOMHOUSE METHOD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Six steps, end to end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You approve. We execute. Every step is owned by us, including build, QA, and rollout. Client only approves the brief and rollout.</a:t>
            </a:r>
          </a:p>
        </p:txBody>
      </p:sp>
      <p:sp>
        <p:nvSpPr>
          <p:cNvPr id="10" name="Rounded Rectangle 9"/>
          <p:cNvSpPr/>
          <p:nvPr/>
        </p:nvSpPr>
        <p:spPr>
          <a:xfrm>
            <a:off x="44942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01</a:t>
            </a:r>
          </a:p>
        </p:txBody>
      </p:sp>
      <p:sp>
        <p:nvSpPr>
          <p:cNvPr id="12" name="TextBox 11"/>
          <p:cNvSpPr txBox="1"/>
          <p:nvPr/>
        </p:nvSpPr>
        <p:spPr>
          <a:xfrm>
            <a:off x="63230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Research</a:t>
            </a:r>
          </a:p>
        </p:txBody>
      </p:sp>
      <p:sp>
        <p:nvSpPr>
          <p:cNvPr id="13" name="TextBox 12"/>
          <p:cNvSpPr txBox="1"/>
          <p:nvPr/>
        </p:nvSpPr>
        <p:spPr>
          <a:xfrm>
            <a:off x="63230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GA4, Shopify, heatmaps, recordings, reviews, support.</a:t>
            </a:r>
          </a:p>
        </p:txBody>
      </p:sp>
      <p:sp>
        <p:nvSpPr>
          <p:cNvPr id="14" name="TextBox 13"/>
          <p:cNvSpPr txBox="1"/>
          <p:nvPr/>
        </p:nvSpPr>
        <p:spPr>
          <a:xfrm>
            <a:off x="2232507"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15" name="Rounded Rectangle 14"/>
          <p:cNvSpPr/>
          <p:nvPr/>
        </p:nvSpPr>
        <p:spPr>
          <a:xfrm>
            <a:off x="2351379"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4259"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02</a:t>
            </a:r>
          </a:p>
        </p:txBody>
      </p:sp>
      <p:sp>
        <p:nvSpPr>
          <p:cNvPr id="17" name="TextBox 16"/>
          <p:cNvSpPr txBox="1"/>
          <p:nvPr/>
        </p:nvSpPr>
        <p:spPr>
          <a:xfrm>
            <a:off x="2534259"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Ideate</a:t>
            </a:r>
          </a:p>
        </p:txBody>
      </p:sp>
      <p:sp>
        <p:nvSpPr>
          <p:cNvPr id="18" name="TextBox 17"/>
          <p:cNvSpPr txBox="1"/>
          <p:nvPr/>
        </p:nvSpPr>
        <p:spPr>
          <a:xfrm>
            <a:off x="2534259"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Hypothesis, variant concepts, copy, Figma prototype.</a:t>
            </a:r>
          </a:p>
        </p:txBody>
      </p:sp>
      <p:sp>
        <p:nvSpPr>
          <p:cNvPr id="19" name="TextBox 18"/>
          <p:cNvSpPr txBox="1"/>
          <p:nvPr/>
        </p:nvSpPr>
        <p:spPr>
          <a:xfrm>
            <a:off x="4134459"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0" name="Rounded Rectangle 19"/>
          <p:cNvSpPr/>
          <p:nvPr/>
        </p:nvSpPr>
        <p:spPr>
          <a:xfrm>
            <a:off x="4253331"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6211"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03</a:t>
            </a:r>
          </a:p>
        </p:txBody>
      </p:sp>
      <p:sp>
        <p:nvSpPr>
          <p:cNvPr id="22" name="TextBox 21"/>
          <p:cNvSpPr txBox="1"/>
          <p:nvPr/>
        </p:nvSpPr>
        <p:spPr>
          <a:xfrm>
            <a:off x="4436211"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Pre-test brief</a:t>
            </a:r>
          </a:p>
        </p:txBody>
      </p:sp>
      <p:sp>
        <p:nvSpPr>
          <p:cNvPr id="23" name="TextBox 22"/>
          <p:cNvSpPr txBox="1"/>
          <p:nvPr/>
        </p:nvSpPr>
        <p:spPr>
          <a:xfrm>
            <a:off x="4436211"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brief with metric, confidence, sample size.</a:t>
            </a:r>
          </a:p>
        </p:txBody>
      </p:sp>
      <p:sp>
        <p:nvSpPr>
          <p:cNvPr id="24" name="TextBox 23"/>
          <p:cNvSpPr txBox="1"/>
          <p:nvPr/>
        </p:nvSpPr>
        <p:spPr>
          <a:xfrm>
            <a:off x="6036411"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5" name="Rounded Rectangle 24"/>
          <p:cNvSpPr/>
          <p:nvPr/>
        </p:nvSpPr>
        <p:spPr>
          <a:xfrm>
            <a:off x="6155283"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38163"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04</a:t>
            </a:r>
          </a:p>
        </p:txBody>
      </p:sp>
      <p:sp>
        <p:nvSpPr>
          <p:cNvPr id="27" name="TextBox 26"/>
          <p:cNvSpPr txBox="1"/>
          <p:nvPr/>
        </p:nvSpPr>
        <p:spPr>
          <a:xfrm>
            <a:off x="6338163"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Build + QA</a:t>
            </a:r>
          </a:p>
        </p:txBody>
      </p:sp>
      <p:sp>
        <p:nvSpPr>
          <p:cNvPr id="28" name="TextBox 27"/>
          <p:cNvSpPr txBox="1"/>
          <p:nvPr/>
        </p:nvSpPr>
        <p:spPr>
          <a:xfrm>
            <a:off x="6338163"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Shopify or test tool variant, tracked, QA'd across devices.</a:t>
            </a:r>
          </a:p>
        </p:txBody>
      </p:sp>
      <p:sp>
        <p:nvSpPr>
          <p:cNvPr id="29" name="TextBox 28"/>
          <p:cNvSpPr txBox="1"/>
          <p:nvPr/>
        </p:nvSpPr>
        <p:spPr>
          <a:xfrm>
            <a:off x="7938363"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0" name="Rounded Rectangle 29"/>
          <p:cNvSpPr/>
          <p:nvPr/>
        </p:nvSpPr>
        <p:spPr>
          <a:xfrm>
            <a:off x="8057235"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0115"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05</a:t>
            </a:r>
          </a:p>
        </p:txBody>
      </p:sp>
      <p:sp>
        <p:nvSpPr>
          <p:cNvPr id="32" name="TextBox 31"/>
          <p:cNvSpPr txBox="1"/>
          <p:nvPr/>
        </p:nvSpPr>
        <p:spPr>
          <a:xfrm>
            <a:off x="8240115"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Run + monitor</a:t>
            </a:r>
          </a:p>
        </p:txBody>
      </p:sp>
      <p:sp>
        <p:nvSpPr>
          <p:cNvPr id="33" name="TextBox 32"/>
          <p:cNvSpPr txBox="1"/>
          <p:nvPr/>
        </p:nvSpPr>
        <p:spPr>
          <a:xfrm>
            <a:off x="8240115"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Live test with guardrail watch, weekly progress updates.</a:t>
            </a:r>
          </a:p>
        </p:txBody>
      </p:sp>
      <p:sp>
        <p:nvSpPr>
          <p:cNvPr id="34" name="TextBox 33"/>
          <p:cNvSpPr txBox="1"/>
          <p:nvPr/>
        </p:nvSpPr>
        <p:spPr>
          <a:xfrm>
            <a:off x="9840315"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5" name="Rounded Rectangle 34"/>
          <p:cNvSpPr/>
          <p:nvPr/>
        </p:nvSpPr>
        <p:spPr>
          <a:xfrm>
            <a:off x="995918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206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06</a:t>
            </a:r>
          </a:p>
        </p:txBody>
      </p:sp>
      <p:sp>
        <p:nvSpPr>
          <p:cNvPr id="37" name="TextBox 36"/>
          <p:cNvSpPr txBox="1"/>
          <p:nvPr/>
        </p:nvSpPr>
        <p:spPr>
          <a:xfrm>
            <a:off x="1014206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Analyze + roll out</a:t>
            </a:r>
          </a:p>
        </p:txBody>
      </p:sp>
      <p:sp>
        <p:nvSpPr>
          <p:cNvPr id="38" name="TextBox 37"/>
          <p:cNvSpPr txBox="1"/>
          <p:nvPr/>
        </p:nvSpPr>
        <p:spPr>
          <a:xfrm>
            <a:off x="1014206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verdict, fee invoiced on rollout to 100 % of traffic.</a:t>
            </a:r>
          </a:p>
        </p:txBody>
      </p:sp>
      <p:sp>
        <p:nvSpPr>
          <p:cNvPr id="39" name="Rounded Rectangle 38"/>
          <p:cNvSpPr/>
          <p:nvPr/>
        </p:nvSpPr>
        <p:spPr>
          <a:xfrm>
            <a:off x="914400" y="5029200"/>
            <a:ext cx="10360152"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5166360"/>
            <a:ext cx="9902952"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Zero-row service: </a:t>
            </a:r>
            <a:r>
              <a:rPr sz="1100" b="0" i="0">
                <a:solidFill>
                  <a:srgbClr val="CCCCCC"/>
                </a:solidFill>
                <a:latin typeface="Helvetica Neue"/>
              </a:rPr>
              <a:t>the client is not expected to do production work. We handle everything from research through analysis. The client approves the pre-test brief and the rollout decision in writing.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BRIEF + PROTOCOL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How every test launches and concludes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No test starts without a written, approved brief. Tests only conclude when all approved conditions are met.</a:t>
            </a:r>
          </a:p>
        </p:txBody>
      </p:sp>
      <p:sp>
        <p:nvSpPr>
          <p:cNvPr id="10" name="Rounded Rectangle 9"/>
          <p:cNvSpPr/>
          <p:nvPr/>
        </p:nvSpPr>
        <p:spPr>
          <a:xfrm>
            <a:off x="640080" y="2286000"/>
            <a:ext cx="6858000" cy="420624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14600"/>
            <a:ext cx="6309360" cy="274320"/>
          </a:xfrm>
          <a:prstGeom prst="rect">
            <a:avLst/>
          </a:prstGeom>
          <a:noFill/>
        </p:spPr>
        <p:txBody>
          <a:bodyPr wrap="square" lIns="0" rIns="0" tIns="0" bIns="0" anchor="t">
            <a:spAutoFit/>
          </a:bodyPr>
          <a:lstStyle/>
          <a:p>
            <a:pPr algn="l"/>
            <a:r>
              <a:rPr sz="900" b="1" i="0" spc="200">
                <a:solidFill>
                  <a:srgbClr val="F7D007"/>
                </a:solidFill>
                <a:latin typeface="Helvetica Neue"/>
              </a:rPr>
              <a:t>PRE-TEST BRIEF</a:t>
            </a:r>
          </a:p>
        </p:txBody>
      </p:sp>
      <p:sp>
        <p:nvSpPr>
          <p:cNvPr id="12" name="TextBox 11"/>
          <p:cNvSpPr txBox="1"/>
          <p:nvPr/>
        </p:nvSpPr>
        <p:spPr>
          <a:xfrm>
            <a:off x="914400" y="2788920"/>
            <a:ext cx="6309360" cy="365760"/>
          </a:xfrm>
          <a:prstGeom prst="rect">
            <a:avLst/>
          </a:prstGeom>
          <a:noFill/>
        </p:spPr>
        <p:txBody>
          <a:bodyPr wrap="square" lIns="0" rIns="0" tIns="0" bIns="0" anchor="t">
            <a:spAutoFit/>
          </a:bodyPr>
          <a:lstStyle/>
          <a:p>
            <a:pPr algn="l"/>
            <a:r>
              <a:rPr sz="1500" b="1" i="0">
                <a:solidFill>
                  <a:srgbClr val="FFFFFF"/>
                </a:solidFill>
                <a:latin typeface="Helvetica Neue"/>
              </a:rPr>
              <a:t>Every test launches with a written, approved brief</a:t>
            </a:r>
          </a:p>
        </p:txBody>
      </p:sp>
      <p:sp>
        <p:nvSpPr>
          <p:cNvPr id="13" name="TextBox 12"/>
          <p:cNvSpPr txBox="1"/>
          <p:nvPr/>
        </p:nvSpPr>
        <p:spPr>
          <a:xfrm>
            <a:off x="91440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1   Test setup</a:t>
            </a:r>
          </a:p>
        </p:txBody>
      </p:sp>
      <p:sp>
        <p:nvSpPr>
          <p:cNvPr id="14" name="TextBox 13"/>
          <p:cNvSpPr txBox="1"/>
          <p:nvPr/>
        </p:nvSpPr>
        <p:spPr>
          <a:xfrm>
            <a:off x="91440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5" name="TextBox 14"/>
          <p:cNvSpPr txBox="1"/>
          <p:nvPr/>
        </p:nvSpPr>
        <p:spPr>
          <a:xfrm>
            <a:off x="114300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Hypothesis and Control vs Variant difference</a:t>
            </a:r>
          </a:p>
        </p:txBody>
      </p:sp>
      <p:sp>
        <p:nvSpPr>
          <p:cNvPr id="16" name="TextBox 15"/>
          <p:cNvSpPr txBox="1"/>
          <p:nvPr/>
        </p:nvSpPr>
        <p:spPr>
          <a:xfrm>
            <a:off x="91440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7" name="TextBox 16"/>
          <p:cNvSpPr txBox="1"/>
          <p:nvPr/>
        </p:nvSpPr>
        <p:spPr>
          <a:xfrm>
            <a:off x="114300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Audience and traffic filters</a:t>
            </a:r>
          </a:p>
        </p:txBody>
      </p:sp>
      <p:sp>
        <p:nvSpPr>
          <p:cNvPr id="18" name="TextBox 17"/>
          <p:cNvSpPr txBox="1"/>
          <p:nvPr/>
        </p:nvSpPr>
        <p:spPr>
          <a:xfrm>
            <a:off x="91440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9" name="TextBox 18"/>
          <p:cNvSpPr txBox="1"/>
          <p:nvPr/>
        </p:nvSpPr>
        <p:spPr>
          <a:xfrm>
            <a:off x="114300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Funnel stage and stage multiplier</a:t>
            </a:r>
          </a:p>
        </p:txBody>
      </p:sp>
      <p:sp>
        <p:nvSpPr>
          <p:cNvPr id="20" name="TextBox 19"/>
          <p:cNvSpPr txBox="1"/>
          <p:nvPr/>
        </p:nvSpPr>
        <p:spPr>
          <a:xfrm>
            <a:off x="91440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1" name="TextBox 20"/>
          <p:cNvSpPr txBox="1"/>
          <p:nvPr/>
        </p:nvSpPr>
        <p:spPr>
          <a:xfrm>
            <a:off x="114300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URL targeting</a:t>
            </a:r>
          </a:p>
        </p:txBody>
      </p:sp>
      <p:sp>
        <p:nvSpPr>
          <p:cNvPr id="22" name="TextBox 21"/>
          <p:cNvSpPr txBox="1"/>
          <p:nvPr/>
        </p:nvSpPr>
        <p:spPr>
          <a:xfrm>
            <a:off x="91440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3" name="TextBox 22"/>
          <p:cNvSpPr txBox="1"/>
          <p:nvPr/>
        </p:nvSpPr>
        <p:spPr>
          <a:xfrm>
            <a:off x="114300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Frozen baselines from trailing 30 days</a:t>
            </a:r>
          </a:p>
        </p:txBody>
      </p:sp>
      <p:sp>
        <p:nvSpPr>
          <p:cNvPr id="24" name="TextBox 23"/>
          <p:cNvSpPr txBox="1"/>
          <p:nvPr/>
        </p:nvSpPr>
        <p:spPr>
          <a:xfrm>
            <a:off x="420624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2   Statistical parameters</a:t>
            </a:r>
          </a:p>
        </p:txBody>
      </p:sp>
      <p:sp>
        <p:nvSpPr>
          <p:cNvPr id="25" name="TextBox 24"/>
          <p:cNvSpPr txBox="1"/>
          <p:nvPr/>
        </p:nvSpPr>
        <p:spPr>
          <a:xfrm>
            <a:off x="420624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6" name="TextBox 25"/>
          <p:cNvSpPr txBox="1"/>
          <p:nvPr/>
        </p:nvSpPr>
        <p:spPr>
          <a:xfrm>
            <a:off x="443484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Primary metric (RPV or funnel metric)</a:t>
            </a:r>
          </a:p>
        </p:txBody>
      </p:sp>
      <p:sp>
        <p:nvSpPr>
          <p:cNvPr id="27" name="TextBox 26"/>
          <p:cNvSpPr txBox="1"/>
          <p:nvPr/>
        </p:nvSpPr>
        <p:spPr>
          <a:xfrm>
            <a:off x="420624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8" name="TextBox 27"/>
          <p:cNvSpPr txBox="1"/>
          <p:nvPr/>
        </p:nvSpPr>
        <p:spPr>
          <a:xfrm>
            <a:off x="443484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Statistical confidence (80 % default)</a:t>
            </a:r>
          </a:p>
        </p:txBody>
      </p:sp>
      <p:sp>
        <p:nvSpPr>
          <p:cNvPr id="29" name="TextBox 28"/>
          <p:cNvSpPr txBox="1"/>
          <p:nvPr/>
        </p:nvSpPr>
        <p:spPr>
          <a:xfrm>
            <a:off x="420624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0" name="TextBox 29"/>
          <p:cNvSpPr txBox="1"/>
          <p:nvPr/>
        </p:nvSpPr>
        <p:spPr>
          <a:xfrm>
            <a:off x="443484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Minimum visitor and order count</a:t>
            </a:r>
          </a:p>
        </p:txBody>
      </p:sp>
      <p:sp>
        <p:nvSpPr>
          <p:cNvPr id="31" name="TextBox 30"/>
          <p:cNvSpPr txBox="1"/>
          <p:nvPr/>
        </p:nvSpPr>
        <p:spPr>
          <a:xfrm>
            <a:off x="420624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2" name="TextBox 31"/>
          <p:cNvSpPr txBox="1"/>
          <p:nvPr/>
        </p:nvSpPr>
        <p:spPr>
          <a:xfrm>
            <a:off x="443484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Worked fee range at +5 / +10 / +15 %</a:t>
            </a:r>
          </a:p>
        </p:txBody>
      </p:sp>
      <p:sp>
        <p:nvSpPr>
          <p:cNvPr id="33" name="TextBox 32"/>
          <p:cNvSpPr txBox="1"/>
          <p:nvPr/>
        </p:nvSpPr>
        <p:spPr>
          <a:xfrm>
            <a:off x="420624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4" name="TextBox 33"/>
          <p:cNvSpPr txBox="1"/>
          <p:nvPr/>
        </p:nvSpPr>
        <p:spPr>
          <a:xfrm>
            <a:off x="443484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Data sources named explicitly</a:t>
            </a:r>
          </a:p>
        </p:txBody>
      </p:sp>
      <p:sp>
        <p:nvSpPr>
          <p:cNvPr id="35" name="Rounded Rectangle 34"/>
          <p:cNvSpPr/>
          <p:nvPr/>
        </p:nvSpPr>
        <p:spPr>
          <a:xfrm>
            <a:off x="7680960" y="2286000"/>
            <a:ext cx="3886200" cy="4206240"/>
          </a:xfrm>
          <a:prstGeom prst="roundRect">
            <a:avLst>
              <a:gd name="adj" fmla="val 4000"/>
            </a:avLst>
          </a:prstGeom>
          <a:solidFill>
            <a:srgbClr val="101010"/>
          </a:solidFill>
          <a:ln w="15240">
            <a:solidFill>
              <a:srgbClr val="6AA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0" y="2514600"/>
            <a:ext cx="3337560" cy="274320"/>
          </a:xfrm>
          <a:prstGeom prst="rect">
            <a:avLst/>
          </a:prstGeom>
          <a:noFill/>
        </p:spPr>
        <p:txBody>
          <a:bodyPr wrap="square" lIns="0" rIns="0" tIns="0" bIns="0" anchor="t">
            <a:spAutoFit/>
          </a:bodyPr>
          <a:lstStyle/>
          <a:p>
            <a:pPr algn="l"/>
            <a:r>
              <a:rPr sz="900" b="1" i="0" spc="200">
                <a:solidFill>
                  <a:srgbClr val="6AA9FF"/>
                </a:solidFill>
                <a:latin typeface="Helvetica Neue"/>
              </a:rPr>
              <a:t>TESTING PROTOCOL</a:t>
            </a:r>
          </a:p>
        </p:txBody>
      </p:sp>
      <p:sp>
        <p:nvSpPr>
          <p:cNvPr id="37" name="TextBox 36"/>
          <p:cNvSpPr txBox="1"/>
          <p:nvPr/>
        </p:nvSpPr>
        <p:spPr>
          <a:xfrm>
            <a:off x="7955280" y="2788920"/>
            <a:ext cx="3337560" cy="365760"/>
          </a:xfrm>
          <a:prstGeom prst="rect">
            <a:avLst/>
          </a:prstGeom>
          <a:noFill/>
        </p:spPr>
        <p:txBody>
          <a:bodyPr wrap="square" lIns="0" rIns="0" tIns="0" bIns="0" anchor="t">
            <a:spAutoFit/>
          </a:bodyPr>
          <a:lstStyle/>
          <a:p>
            <a:pPr algn="l"/>
            <a:r>
              <a:rPr sz="1400" b="1" i="0">
                <a:solidFill>
                  <a:srgbClr val="FFFFFF"/>
                </a:solidFill>
                <a:latin typeface="Helvetica Neue"/>
              </a:rPr>
              <a:t>Guardrails on tooling, rigor, conclusion</a:t>
            </a:r>
          </a:p>
        </p:txBody>
      </p:sp>
      <p:sp>
        <p:nvSpPr>
          <p:cNvPr id="38" name="TextBox 37"/>
          <p:cNvSpPr txBox="1"/>
          <p:nvPr/>
        </p:nvSpPr>
        <p:spPr>
          <a:xfrm>
            <a:off x="795528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DEFAULT TOOL</a:t>
            </a:r>
          </a:p>
        </p:txBody>
      </p:sp>
      <p:sp>
        <p:nvSpPr>
          <p:cNvPr id="39" name="TextBox 38"/>
          <p:cNvSpPr txBox="1"/>
          <p:nvPr/>
        </p:nvSpPr>
        <p:spPr>
          <a:xfrm>
            <a:off x="795528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IntelliGEMS</a:t>
            </a:r>
          </a:p>
        </p:txBody>
      </p:sp>
      <p:sp>
        <p:nvSpPr>
          <p:cNvPr id="40" name="TextBox 39"/>
          <p:cNvSpPr txBox="1"/>
          <p:nvPr/>
        </p:nvSpPr>
        <p:spPr>
          <a:xfrm>
            <a:off x="795528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Or Convert, GrowthBook, Shopify-native with written approval.</a:t>
            </a:r>
          </a:p>
        </p:txBody>
      </p:sp>
      <p:sp>
        <p:nvSpPr>
          <p:cNvPr id="41" name="TextBox 40"/>
          <p:cNvSpPr txBox="1"/>
          <p:nvPr/>
        </p:nvSpPr>
        <p:spPr>
          <a:xfrm>
            <a:off x="976122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CONFIDENCE</a:t>
            </a:r>
          </a:p>
        </p:txBody>
      </p:sp>
      <p:sp>
        <p:nvSpPr>
          <p:cNvPr id="42" name="TextBox 41"/>
          <p:cNvSpPr txBox="1"/>
          <p:nvPr/>
        </p:nvSpPr>
        <p:spPr>
          <a:xfrm>
            <a:off x="976122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80 % min</a:t>
            </a:r>
          </a:p>
        </p:txBody>
      </p:sp>
      <p:sp>
        <p:nvSpPr>
          <p:cNvPr id="43" name="TextBox 42"/>
          <p:cNvSpPr txBox="1"/>
          <p:nvPr/>
        </p:nvSpPr>
        <p:spPr>
          <a:xfrm>
            <a:off x="976122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Higher per test if you require it.</a:t>
            </a:r>
          </a:p>
        </p:txBody>
      </p:sp>
      <p:sp>
        <p:nvSpPr>
          <p:cNvPr id="44" name="TextBox 43"/>
          <p:cNvSpPr txBox="1"/>
          <p:nvPr/>
        </p:nvSpPr>
        <p:spPr>
          <a:xfrm>
            <a:off x="795528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CONCLUSION</a:t>
            </a:r>
          </a:p>
        </p:txBody>
      </p:sp>
      <p:sp>
        <p:nvSpPr>
          <p:cNvPr id="45" name="TextBox 44"/>
          <p:cNvSpPr txBox="1"/>
          <p:nvPr/>
        </p:nvSpPr>
        <p:spPr>
          <a:xfrm>
            <a:off x="795528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All conditions met</a:t>
            </a:r>
          </a:p>
        </p:txBody>
      </p:sp>
      <p:sp>
        <p:nvSpPr>
          <p:cNvPr id="46" name="TextBox 45"/>
          <p:cNvSpPr txBox="1"/>
          <p:nvPr/>
        </p:nvSpPr>
        <p:spPr>
          <a:xfrm>
            <a:off x="795528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Min visitors, orders, and confidence reached.</a:t>
            </a:r>
          </a:p>
        </p:txBody>
      </p:sp>
      <p:sp>
        <p:nvSpPr>
          <p:cNvPr id="47" name="TextBox 46"/>
          <p:cNvSpPr txBox="1"/>
          <p:nvPr/>
        </p:nvSpPr>
        <p:spPr>
          <a:xfrm>
            <a:off x="976122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REPORTING</a:t>
            </a:r>
          </a:p>
        </p:txBody>
      </p:sp>
      <p:sp>
        <p:nvSpPr>
          <p:cNvPr id="48" name="TextBox 47"/>
          <p:cNvSpPr txBox="1"/>
          <p:nvPr/>
        </p:nvSpPr>
        <p:spPr>
          <a:xfrm>
            <a:off x="976122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Weekly Loom</a:t>
            </a:r>
          </a:p>
        </p:txBody>
      </p:sp>
      <p:sp>
        <p:nvSpPr>
          <p:cNvPr id="49" name="TextBox 48"/>
          <p:cNvSpPr txBox="1"/>
          <p:nvPr/>
        </p:nvSpPr>
        <p:spPr>
          <a:xfrm>
            <a:off x="976122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Plus a running test log you can access anytime.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TRACK RECORD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Three winning EcomHouse tests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Real results from EcomHouse client engagements. Each test rolled out to 100 % of traffic after meeting the pre-approved confidence threshold. IntelliGEMS test tool.</a:t>
            </a:r>
          </a:p>
        </p:txBody>
      </p:sp>
      <p:sp>
        <p:nvSpPr>
          <p:cNvPr id="10" name="Rounded Rectangle 9"/>
          <p:cNvSpPr/>
          <p:nvPr/>
        </p:nvSpPr>
        <p:spPr>
          <a:xfrm>
            <a:off x="335129"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9"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Comforth · DK</a:t>
            </a:r>
          </a:p>
        </p:txBody>
      </p:sp>
      <p:sp>
        <p:nvSpPr>
          <p:cNvPr id="12" name="TextBox 11"/>
          <p:cNvSpPr txBox="1"/>
          <p:nvPr/>
        </p:nvSpPr>
        <p:spPr>
          <a:xfrm>
            <a:off x="609449"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Product tags on collection cards</a:t>
            </a:r>
          </a:p>
        </p:txBody>
      </p:sp>
      <p:sp>
        <p:nvSpPr>
          <p:cNvPr id="13" name="TextBox 12"/>
          <p:cNvSpPr txBox="1"/>
          <p:nvPr/>
        </p:nvSpPr>
        <p:spPr>
          <a:xfrm>
            <a:off x="609449"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PROFIT / VISITOR</a:t>
            </a:r>
          </a:p>
        </p:txBody>
      </p:sp>
      <p:sp>
        <p:nvSpPr>
          <p:cNvPr id="14" name="TextBox 13"/>
          <p:cNvSpPr txBox="1"/>
          <p:nvPr/>
        </p:nvSpPr>
        <p:spPr>
          <a:xfrm>
            <a:off x="609449"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+11,42%</a:t>
            </a:r>
          </a:p>
        </p:txBody>
      </p:sp>
      <p:sp>
        <p:nvSpPr>
          <p:cNvPr id="15" name="TextBox 14"/>
          <p:cNvSpPr txBox="1"/>
          <p:nvPr/>
        </p:nvSpPr>
        <p:spPr>
          <a:xfrm>
            <a:off x="609449"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-11 % to +39 %</a:t>
            </a:r>
          </a:p>
        </p:txBody>
      </p:sp>
      <p:sp>
        <p:nvSpPr>
          <p:cNvPr id="16" name="TextBox 15"/>
          <p:cNvSpPr txBox="1"/>
          <p:nvPr/>
        </p:nvSpPr>
        <p:spPr>
          <a:xfrm>
            <a:off x="609449"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+106.550 kr / mo</a:t>
            </a:r>
          </a:p>
        </p:txBody>
      </p:sp>
      <p:sp>
        <p:nvSpPr>
          <p:cNvPr id="17" name="Rectangle 16"/>
          <p:cNvSpPr/>
          <p:nvPr/>
        </p:nvSpPr>
        <p:spPr>
          <a:xfrm>
            <a:off x="609449"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449"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19" name="TextBox 18"/>
          <p:cNvSpPr txBox="1"/>
          <p:nvPr/>
        </p:nvSpPr>
        <p:spPr>
          <a:xfrm>
            <a:off x="1615289"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2,09% → 2,37%</a:t>
            </a:r>
          </a:p>
        </p:txBody>
      </p:sp>
      <p:sp>
        <p:nvSpPr>
          <p:cNvPr id="20" name="TextBox 19"/>
          <p:cNvSpPr txBox="1"/>
          <p:nvPr/>
        </p:nvSpPr>
        <p:spPr>
          <a:xfrm>
            <a:off x="609449"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+13,07%</a:t>
            </a:r>
          </a:p>
        </p:txBody>
      </p:sp>
      <p:sp>
        <p:nvSpPr>
          <p:cNvPr id="21" name="TextBox 20"/>
          <p:cNvSpPr txBox="1"/>
          <p:nvPr/>
        </p:nvSpPr>
        <p:spPr>
          <a:xfrm>
            <a:off x="609449"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22" name="TextBox 21"/>
          <p:cNvSpPr txBox="1"/>
          <p:nvPr/>
        </p:nvSpPr>
        <p:spPr>
          <a:xfrm>
            <a:off x="1615289"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26,88 → 29,87 kr</a:t>
            </a:r>
          </a:p>
        </p:txBody>
      </p:sp>
      <p:sp>
        <p:nvSpPr>
          <p:cNvPr id="23" name="TextBox 22"/>
          <p:cNvSpPr txBox="1"/>
          <p:nvPr/>
        </p:nvSpPr>
        <p:spPr>
          <a:xfrm>
            <a:off x="609449"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+11,13%</a:t>
            </a:r>
          </a:p>
        </p:txBody>
      </p:sp>
      <p:sp>
        <p:nvSpPr>
          <p:cNvPr id="24" name="TextBox 23"/>
          <p:cNvSpPr txBox="1"/>
          <p:nvPr/>
        </p:nvSpPr>
        <p:spPr>
          <a:xfrm>
            <a:off x="609449"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25" name="TextBox 24"/>
          <p:cNvSpPr txBox="1"/>
          <p:nvPr/>
        </p:nvSpPr>
        <p:spPr>
          <a:xfrm>
            <a:off x="1615289"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+169</a:t>
            </a:r>
          </a:p>
        </p:txBody>
      </p:sp>
      <p:sp>
        <p:nvSpPr>
          <p:cNvPr id="26" name="TextBox 25"/>
          <p:cNvSpPr txBox="1"/>
          <p:nvPr/>
        </p:nvSpPr>
        <p:spPr>
          <a:xfrm>
            <a:off x="609449"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Added trust + benefit tags to collection product cards. Lift compounded across all three metrics.</a:t>
            </a:r>
          </a:p>
        </p:txBody>
      </p:sp>
      <p:sp>
        <p:nvSpPr>
          <p:cNvPr id="27" name="Rounded Rectangle 26"/>
          <p:cNvSpPr/>
          <p:nvPr/>
        </p:nvSpPr>
        <p:spPr>
          <a:xfrm>
            <a:off x="4221328"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5648"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29" name="TextBox 28"/>
          <p:cNvSpPr txBox="1"/>
          <p:nvPr/>
        </p:nvSpPr>
        <p:spPr>
          <a:xfrm>
            <a:off x="4495648"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PDP volume discount tiers</a:t>
            </a:r>
          </a:p>
        </p:txBody>
      </p:sp>
      <p:sp>
        <p:nvSpPr>
          <p:cNvPr id="30" name="TextBox 29"/>
          <p:cNvSpPr txBox="1"/>
          <p:nvPr/>
        </p:nvSpPr>
        <p:spPr>
          <a:xfrm>
            <a:off x="4495648"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CONVERSION RATE</a:t>
            </a:r>
          </a:p>
        </p:txBody>
      </p:sp>
      <p:sp>
        <p:nvSpPr>
          <p:cNvPr id="31" name="TextBox 30"/>
          <p:cNvSpPr txBox="1"/>
          <p:nvPr/>
        </p:nvSpPr>
        <p:spPr>
          <a:xfrm>
            <a:off x="4495648"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+11,08%</a:t>
            </a:r>
          </a:p>
        </p:txBody>
      </p:sp>
      <p:sp>
        <p:nvSpPr>
          <p:cNvPr id="32" name="TextBox 31"/>
          <p:cNvSpPr txBox="1"/>
          <p:nvPr/>
        </p:nvSpPr>
        <p:spPr>
          <a:xfrm>
            <a:off x="4495648"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-3 % to +27 %</a:t>
            </a:r>
          </a:p>
        </p:txBody>
      </p:sp>
      <p:sp>
        <p:nvSpPr>
          <p:cNvPr id="33" name="TextBox 32"/>
          <p:cNvSpPr txBox="1"/>
          <p:nvPr/>
        </p:nvSpPr>
        <p:spPr>
          <a:xfrm>
            <a:off x="4495648"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+134.917 kr / mo (RPV)</a:t>
            </a:r>
          </a:p>
        </p:txBody>
      </p:sp>
      <p:sp>
        <p:nvSpPr>
          <p:cNvPr id="34" name="Rectangle 33"/>
          <p:cNvSpPr/>
          <p:nvPr/>
        </p:nvSpPr>
        <p:spPr>
          <a:xfrm>
            <a:off x="4495648"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5648"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36" name="TextBox 35"/>
          <p:cNvSpPr txBox="1"/>
          <p:nvPr/>
        </p:nvSpPr>
        <p:spPr>
          <a:xfrm>
            <a:off x="5501488"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20,36 → 23,84 kr</a:t>
            </a:r>
          </a:p>
        </p:txBody>
      </p:sp>
      <p:sp>
        <p:nvSpPr>
          <p:cNvPr id="37" name="TextBox 36"/>
          <p:cNvSpPr txBox="1"/>
          <p:nvPr/>
        </p:nvSpPr>
        <p:spPr>
          <a:xfrm>
            <a:off x="4495648"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+17,10%</a:t>
            </a:r>
          </a:p>
        </p:txBody>
      </p:sp>
      <p:sp>
        <p:nvSpPr>
          <p:cNvPr id="38" name="TextBox 37"/>
          <p:cNvSpPr txBox="1"/>
          <p:nvPr/>
        </p:nvSpPr>
        <p:spPr>
          <a:xfrm>
            <a:off x="4495648"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39" name="TextBox 38"/>
          <p:cNvSpPr txBox="1"/>
          <p:nvPr/>
        </p:nvSpPr>
        <p:spPr>
          <a:xfrm>
            <a:off x="5501488"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293,47 → 309,37 kr</a:t>
            </a:r>
          </a:p>
        </p:txBody>
      </p:sp>
      <p:sp>
        <p:nvSpPr>
          <p:cNvPr id="40" name="TextBox 39"/>
          <p:cNvSpPr txBox="1"/>
          <p:nvPr/>
        </p:nvSpPr>
        <p:spPr>
          <a:xfrm>
            <a:off x="4495648"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+5,42%</a:t>
            </a:r>
          </a:p>
        </p:txBody>
      </p:sp>
      <p:sp>
        <p:nvSpPr>
          <p:cNvPr id="41" name="TextBox 40"/>
          <p:cNvSpPr txBox="1"/>
          <p:nvPr/>
        </p:nvSpPr>
        <p:spPr>
          <a:xfrm>
            <a:off x="4495648"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42" name="TextBox 41"/>
          <p:cNvSpPr txBox="1"/>
          <p:nvPr/>
        </p:nvSpPr>
        <p:spPr>
          <a:xfrm>
            <a:off x="5501488"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+298</a:t>
            </a:r>
          </a:p>
        </p:txBody>
      </p:sp>
      <p:sp>
        <p:nvSpPr>
          <p:cNvPr id="43" name="TextBox 42"/>
          <p:cNvSpPr txBox="1"/>
          <p:nvPr/>
        </p:nvSpPr>
        <p:spPr>
          <a:xfrm>
            <a:off x="4495648"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Surfaced volume discount tiers directly on the PDP. CR was primary, RPV and AOV lifted simultaneously.</a:t>
            </a:r>
          </a:p>
        </p:txBody>
      </p:sp>
      <p:sp>
        <p:nvSpPr>
          <p:cNvPr id="44" name="Rounded Rectangle 43"/>
          <p:cNvSpPr/>
          <p:nvPr/>
        </p:nvSpPr>
        <p:spPr>
          <a:xfrm>
            <a:off x="8107527"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1847"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46" name="TextBox 45"/>
          <p:cNvSpPr txBox="1"/>
          <p:nvPr/>
        </p:nvSpPr>
        <p:spPr>
          <a:xfrm>
            <a:off x="8381847"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Homepage hero optimization</a:t>
            </a:r>
          </a:p>
        </p:txBody>
      </p:sp>
      <p:sp>
        <p:nvSpPr>
          <p:cNvPr id="47" name="TextBox 46"/>
          <p:cNvSpPr txBox="1"/>
          <p:nvPr/>
        </p:nvSpPr>
        <p:spPr>
          <a:xfrm>
            <a:off x="8381847"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REVENUE / VISITOR</a:t>
            </a:r>
          </a:p>
        </p:txBody>
      </p:sp>
      <p:sp>
        <p:nvSpPr>
          <p:cNvPr id="48" name="TextBox 47"/>
          <p:cNvSpPr txBox="1"/>
          <p:nvPr/>
        </p:nvSpPr>
        <p:spPr>
          <a:xfrm>
            <a:off x="8381847"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+20,87%</a:t>
            </a:r>
          </a:p>
        </p:txBody>
      </p:sp>
      <p:sp>
        <p:nvSpPr>
          <p:cNvPr id="49" name="TextBox 48"/>
          <p:cNvSpPr txBox="1"/>
          <p:nvPr/>
        </p:nvSpPr>
        <p:spPr>
          <a:xfrm>
            <a:off x="8381847"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-12 % to +67 %</a:t>
            </a:r>
          </a:p>
        </p:txBody>
      </p:sp>
      <p:sp>
        <p:nvSpPr>
          <p:cNvPr id="50" name="TextBox 49"/>
          <p:cNvSpPr txBox="1"/>
          <p:nvPr/>
        </p:nvSpPr>
        <p:spPr>
          <a:xfrm>
            <a:off x="8381847"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+272.913 kr / mo</a:t>
            </a:r>
          </a:p>
        </p:txBody>
      </p:sp>
      <p:sp>
        <p:nvSpPr>
          <p:cNvPr id="51" name="Rectangle 50"/>
          <p:cNvSpPr/>
          <p:nvPr/>
        </p:nvSpPr>
        <p:spPr>
          <a:xfrm>
            <a:off x="8381847"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1847"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53" name="TextBox 52"/>
          <p:cNvSpPr txBox="1"/>
          <p:nvPr/>
        </p:nvSpPr>
        <p:spPr>
          <a:xfrm>
            <a:off x="9387687"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16,3% → 17,6%</a:t>
            </a:r>
          </a:p>
        </p:txBody>
      </p:sp>
      <p:sp>
        <p:nvSpPr>
          <p:cNvPr id="54" name="TextBox 53"/>
          <p:cNvSpPr txBox="1"/>
          <p:nvPr/>
        </p:nvSpPr>
        <p:spPr>
          <a:xfrm>
            <a:off x="8381847"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+7,72%</a:t>
            </a:r>
          </a:p>
        </p:txBody>
      </p:sp>
      <p:sp>
        <p:nvSpPr>
          <p:cNvPr id="55" name="TextBox 54"/>
          <p:cNvSpPr txBox="1"/>
          <p:nvPr/>
        </p:nvSpPr>
        <p:spPr>
          <a:xfrm>
            <a:off x="8381847"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56" name="TextBox 55"/>
          <p:cNvSpPr txBox="1"/>
          <p:nvPr/>
        </p:nvSpPr>
        <p:spPr>
          <a:xfrm>
            <a:off x="9387687"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401,87 → 450,94 kr</a:t>
            </a:r>
          </a:p>
        </p:txBody>
      </p:sp>
      <p:sp>
        <p:nvSpPr>
          <p:cNvPr id="57" name="TextBox 56"/>
          <p:cNvSpPr txBox="1"/>
          <p:nvPr/>
        </p:nvSpPr>
        <p:spPr>
          <a:xfrm>
            <a:off x="8381847"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+12,21%</a:t>
            </a:r>
          </a:p>
        </p:txBody>
      </p:sp>
      <p:sp>
        <p:nvSpPr>
          <p:cNvPr id="58" name="TextBox 57"/>
          <p:cNvSpPr txBox="1"/>
          <p:nvPr/>
        </p:nvSpPr>
        <p:spPr>
          <a:xfrm>
            <a:off x="8381847"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PDP view rate</a:t>
            </a:r>
          </a:p>
        </p:txBody>
      </p:sp>
      <p:sp>
        <p:nvSpPr>
          <p:cNvPr id="59" name="TextBox 58"/>
          <p:cNvSpPr txBox="1"/>
          <p:nvPr/>
        </p:nvSpPr>
        <p:spPr>
          <a:xfrm>
            <a:off x="9387687"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56,6% → 61,8%</a:t>
            </a:r>
          </a:p>
        </p:txBody>
      </p:sp>
      <p:sp>
        <p:nvSpPr>
          <p:cNvPr id="60" name="TextBox 59"/>
          <p:cNvSpPr txBox="1"/>
          <p:nvPr/>
        </p:nvSpPr>
        <p:spPr>
          <a:xfrm>
            <a:off x="8381847" y="5568696"/>
            <a:ext cx="3200399" cy="228600"/>
          </a:xfrm>
          <a:prstGeom prst="rect">
            <a:avLst/>
          </a:prstGeom>
          <a:noFill/>
        </p:spPr>
        <p:txBody>
          <a:bodyPr wrap="square" lIns="0" rIns="0" tIns="0" bIns="0" anchor="t">
            <a:spAutoFit/>
          </a:bodyPr>
          <a:lstStyle/>
          <a:p>
            <a:pPr algn="r"/>
            <a:r>
              <a:rPr sz="900" b="1" i="0">
                <a:solidFill>
                  <a:srgbClr val="F7D007"/>
                </a:solidFill>
                <a:latin typeface="Menlo"/>
              </a:rPr>
              <a:t>+9,21%</a:t>
            </a:r>
          </a:p>
        </p:txBody>
      </p:sp>
      <p:sp>
        <p:nvSpPr>
          <p:cNvPr id="61" name="TextBox 60"/>
          <p:cNvSpPr txBox="1"/>
          <p:nvPr/>
        </p:nvSpPr>
        <p:spPr>
          <a:xfrm>
            <a:off x="8381847"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Reworked homepage hero with lighter background. Lifted the full funnel: more PDP views, higher AOV, more revenue.</a:t>
            </a:r>
          </a:p>
        </p:txBody>
      </p:sp>
      <p:sp>
        <p:nvSpPr>
          <p:cNvPr id="62" name="TextBox 61"/>
          <p:cNvSpPr txBox="1"/>
          <p:nvPr/>
        </p:nvSpPr>
        <p:spPr>
          <a:xfrm>
            <a:off x="0" y="6446520"/>
            <a:ext cx="12191695" cy="164592"/>
          </a:xfrm>
          <a:prstGeom prst="rect">
            <a:avLst/>
          </a:prstGeom>
          <a:noFill/>
        </p:spPr>
        <p:txBody>
          <a:bodyPr wrap="square" lIns="0" rIns="0" tIns="0" bIns="0" anchor="t">
            <a:spAutoFit/>
          </a:bodyPr>
          <a:lstStyle/>
          <a:p>
            <a:pPr algn="ctr"/>
            <a:r>
              <a:rPr sz="800" b="0" i="1">
                <a:solidFill>
                  <a:srgbClr val="6B7C75"/>
                </a:solidFill>
                <a:latin typeface="Helvetica Neue"/>
              </a:rPr>
              <a:t>Source: IntelliGEMS test reports. Confidence intervals shown reflect range of likely true effect. References available on request.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01</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Comforth · Product tags on collection cards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Added benefit and trust tags directly to product cards on collection pages. Variant lifted all three commercial metrics with no degradation in any guardrail.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forth | Product Tags Control.png"/>
          <p:cNvPicPr>
            <a:picLocks noChangeAspect="1"/>
          </p:cNvPicPr>
          <p:nvPr/>
        </p:nvPicPr>
        <p:blipFill>
          <a:blip r:embed="rId3"/>
          <a:stretch>
            <a:fillRect/>
          </a:stretch>
        </p:blipFill>
        <p:spPr>
          <a:xfrm>
            <a:off x="882127" y="2377440"/>
            <a:ext cx="1527586"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forth | Product Tags Variant.png"/>
          <p:cNvPicPr>
            <a:picLocks noChangeAspect="1"/>
          </p:cNvPicPr>
          <p:nvPr/>
        </p:nvPicPr>
        <p:blipFill>
          <a:blip r:embed="rId4"/>
          <a:stretch>
            <a:fillRect/>
          </a:stretch>
        </p:blipFill>
        <p:spPr>
          <a:xfrm>
            <a:off x="2990541" y="2377440"/>
            <a:ext cx="151699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PROFIT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+11,42%</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-11 % to +39 %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+106.550 kr / month projected</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2,09 %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2,37 %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+13,07%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26,88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29,87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+11,13%</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15,07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16,80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+11,42%</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Est. orders / mo</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+169</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50</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02</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PDP volume discount tiers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Surfaced volume discount tiers directly on the PDP. The variant lifted purchase rate, AOV, and downstream profit simultaneously.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PDP Volume discount  control.jpg"/>
          <p:cNvPicPr>
            <a:picLocks noChangeAspect="1"/>
          </p:cNvPicPr>
          <p:nvPr/>
        </p:nvPicPr>
        <p:blipFill>
          <a:blip r:embed="rId3"/>
          <a:stretch>
            <a:fillRect/>
          </a:stretch>
        </p:blipFill>
        <p:spPr>
          <a:xfrm>
            <a:off x="1185109" y="2377440"/>
            <a:ext cx="921621"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PDP Volume discount  variant.jpg"/>
          <p:cNvPicPr>
            <a:picLocks noChangeAspect="1"/>
          </p:cNvPicPr>
          <p:nvPr/>
        </p:nvPicPr>
        <p:blipFill>
          <a:blip r:embed="rId4"/>
          <a:stretch>
            <a:fillRect/>
          </a:stretch>
        </p:blipFill>
        <p:spPr>
          <a:xfrm>
            <a:off x="3329492" y="2377440"/>
            <a:ext cx="839096"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CONVERSION RATE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+11,08%</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-3 % to +27 %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+298 orders / month · +134.917 kr / mo (RPV)</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6,94 %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7,71 %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+11,08%</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20,36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23,84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+17,10%</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10,49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12,25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+16,68%</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293,47 kr</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309,37 kr</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+5,42%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51</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03</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Homepage hero optimization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Reworked homepage hero with a lighter background and a sharper category-led layout. Lift compounded through PDP views, AOV, and revenue.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Homepage hero optimization control.jpg"/>
          <p:cNvPicPr>
            <a:picLocks noChangeAspect="1"/>
          </p:cNvPicPr>
          <p:nvPr/>
        </p:nvPicPr>
        <p:blipFill>
          <a:blip r:embed="rId3"/>
          <a:stretch>
            <a:fillRect/>
          </a:stretch>
        </p:blipFill>
        <p:spPr>
          <a:xfrm>
            <a:off x="932688" y="2377440"/>
            <a:ext cx="1426464"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Homepage hero optimization variant.jpg"/>
          <p:cNvPicPr>
            <a:picLocks noChangeAspect="1"/>
          </p:cNvPicPr>
          <p:nvPr/>
        </p:nvPicPr>
        <p:blipFill>
          <a:blip r:embed="rId4"/>
          <a:stretch>
            <a:fillRect/>
          </a:stretch>
        </p:blipFill>
        <p:spPr>
          <a:xfrm>
            <a:off x="3238596" y="2377440"/>
            <a:ext cx="102088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+20,87%</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-12 % to +67 %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+251 orders / month · +272.913 kr / mo</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65,50 kr</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79,17 kr</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+20,87%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34,78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42,35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+21,78%</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401,87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450,94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+12,21%</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PDP view rate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56,6 %</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61,8 %</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+9,21%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52</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COMPENSATION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We win when you win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Performance-based fee on every winning test rolled out to 100 % of traffic. One-time charge per test. No attribution window. No recurring tail.</a:t>
            </a:r>
          </a:p>
        </p:txBody>
      </p:sp>
      <p:sp>
        <p:nvSpPr>
          <p:cNvPr id="10" name="Rounded Rectangle 9"/>
          <p:cNvSpPr/>
          <p:nvPr/>
        </p:nvSpPr>
        <p:spPr>
          <a:xfrm>
            <a:off x="929487" y="2331720"/>
            <a:ext cx="5029200" cy="3200400"/>
          </a:xfrm>
          <a:prstGeom prst="roundRect">
            <a:avLst>
              <a:gd name="adj" fmla="val 4000"/>
            </a:avLst>
          </a:prstGeom>
          <a:solidFill>
            <a:srgbClr val="141002"/>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PERFORMANCE FEE</a:t>
            </a:r>
          </a:p>
        </p:txBody>
      </p:sp>
      <p:sp>
        <p:nvSpPr>
          <p:cNvPr id="12" name="TextBox 11"/>
          <p:cNvSpPr txBox="1"/>
          <p:nvPr/>
        </p:nvSpPr>
        <p:spPr>
          <a:xfrm>
            <a:off x="124952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 of estimated monthly revenue uplift</a:t>
            </a:r>
          </a:p>
        </p:txBody>
      </p:sp>
      <p:sp>
        <p:nvSpPr>
          <p:cNvPr id="13" name="TextBox 12"/>
          <p:cNvSpPr txBox="1"/>
          <p:nvPr/>
        </p:nvSpPr>
        <p:spPr>
          <a:xfrm>
            <a:off x="124952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Y %</a:t>
            </a:r>
          </a:p>
        </p:txBody>
      </p:sp>
      <p:sp>
        <p:nvSpPr>
          <p:cNvPr id="14" name="TextBox 13"/>
          <p:cNvSpPr txBox="1"/>
          <p:nvPr/>
        </p:nvSpPr>
        <p:spPr>
          <a:xfrm>
            <a:off x="124952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Charged once per winning test on rollout. Calculated from the test's measured uplift and the client's own data, with the agreed stage multiplier applied.</a:t>
            </a:r>
          </a:p>
        </p:txBody>
      </p:sp>
      <p:sp>
        <p:nvSpPr>
          <p:cNvPr id="15" name="TextBox 14"/>
          <p:cNvSpPr txBox="1"/>
          <p:nvPr/>
        </p:nvSpPr>
        <p:spPr>
          <a:xfrm>
            <a:off x="124952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143240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One time fee per winning test</a:t>
            </a:r>
          </a:p>
        </p:txBody>
      </p:sp>
      <p:sp>
        <p:nvSpPr>
          <p:cNvPr id="17" name="TextBox 16"/>
          <p:cNvSpPr txBox="1"/>
          <p:nvPr/>
        </p:nvSpPr>
        <p:spPr>
          <a:xfrm>
            <a:off x="124952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143240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No recurring tail, no attribution window</a:t>
            </a:r>
          </a:p>
        </p:txBody>
      </p:sp>
      <p:sp>
        <p:nvSpPr>
          <p:cNvPr id="19" name="TextBox 18"/>
          <p:cNvSpPr txBox="1"/>
          <p:nvPr/>
        </p:nvSpPr>
        <p:spPr>
          <a:xfrm>
            <a:off x="124952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0" name="TextBox 19"/>
          <p:cNvSpPr txBox="1"/>
          <p:nvPr/>
        </p:nvSpPr>
        <p:spPr>
          <a:xfrm>
            <a:off x="143240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Loser and inconclusive tests are free</a:t>
            </a:r>
          </a:p>
        </p:txBody>
      </p:sp>
      <p:sp>
        <p:nvSpPr>
          <p:cNvPr id="21" name="Rounded Rectangle 20"/>
          <p:cNvSpPr/>
          <p:nvPr/>
        </p:nvSpPr>
        <p:spPr>
          <a:xfrm>
            <a:off x="6233007" y="2331720"/>
            <a:ext cx="5029200" cy="32004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OPTIONAL RETAINER</a:t>
            </a:r>
          </a:p>
        </p:txBody>
      </p:sp>
      <p:sp>
        <p:nvSpPr>
          <p:cNvPr id="23" name="TextBox 22"/>
          <p:cNvSpPr txBox="1"/>
          <p:nvPr/>
        </p:nvSpPr>
        <p:spPr>
          <a:xfrm>
            <a:off x="655304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Fixed monthly fee</a:t>
            </a:r>
          </a:p>
        </p:txBody>
      </p:sp>
      <p:sp>
        <p:nvSpPr>
          <p:cNvPr id="24" name="TextBox 23"/>
          <p:cNvSpPr txBox="1"/>
          <p:nvPr/>
        </p:nvSpPr>
        <p:spPr>
          <a:xfrm>
            <a:off x="655304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X kr / month</a:t>
            </a:r>
          </a:p>
        </p:txBody>
      </p:sp>
      <p:sp>
        <p:nvSpPr>
          <p:cNvPr id="25" name="TextBox 24"/>
          <p:cNvSpPr txBox="1"/>
          <p:nvPr/>
        </p:nvSpPr>
        <p:spPr>
          <a:xfrm>
            <a:off x="655304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Optional. Predictable monthly cost on top of (or instead of) the performance fee. Some clients prefer this for budgeting.</a:t>
            </a:r>
          </a:p>
        </p:txBody>
      </p:sp>
      <p:sp>
        <p:nvSpPr>
          <p:cNvPr id="26" name="TextBox 25"/>
          <p:cNvSpPr txBox="1"/>
          <p:nvPr/>
        </p:nvSpPr>
        <p:spPr>
          <a:xfrm>
            <a:off x="655304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7" name="TextBox 26"/>
          <p:cNvSpPr txBox="1"/>
          <p:nvPr/>
        </p:nvSpPr>
        <p:spPr>
          <a:xfrm>
            <a:off x="673592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Billed on the 1st, in advance</a:t>
            </a:r>
          </a:p>
        </p:txBody>
      </p:sp>
      <p:sp>
        <p:nvSpPr>
          <p:cNvPr id="28" name="TextBox 27"/>
          <p:cNvSpPr txBox="1"/>
          <p:nvPr/>
        </p:nvSpPr>
        <p:spPr>
          <a:xfrm>
            <a:off x="655304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9" name="TextBox 28"/>
          <p:cNvSpPr txBox="1"/>
          <p:nvPr/>
        </p:nvSpPr>
        <p:spPr>
          <a:xfrm>
            <a:off x="673592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Void if not agreed</a:t>
            </a:r>
          </a:p>
        </p:txBody>
      </p:sp>
      <p:sp>
        <p:nvSpPr>
          <p:cNvPr id="30" name="TextBox 29"/>
          <p:cNvSpPr txBox="1"/>
          <p:nvPr/>
        </p:nvSpPr>
        <p:spPr>
          <a:xfrm>
            <a:off x="655304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1" name="TextBox 30"/>
          <p:cNvSpPr txBox="1"/>
          <p:nvPr/>
        </p:nvSpPr>
        <p:spPr>
          <a:xfrm>
            <a:off x="673592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Stackable with the performance fee</a:t>
            </a:r>
          </a:p>
        </p:txBody>
      </p:sp>
      <p:sp>
        <p:nvSpPr>
          <p:cNvPr id="32" name="Rounded Rectangle 31"/>
          <p:cNvSpPr/>
          <p:nvPr/>
        </p:nvSpPr>
        <p:spPr>
          <a:xfrm>
            <a:off x="822960" y="5760720"/>
            <a:ext cx="10543032"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897880"/>
            <a:ext cx="10085832" cy="3200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Billing: </a:t>
            </a:r>
            <a:r>
              <a:rPr sz="1100" b="0" i="0">
                <a:solidFill>
                  <a:srgbClr val="CCCCCC"/>
                </a:solidFill>
                <a:latin typeface="Helvetica Neue"/>
              </a:rPr>
              <a:t>one invoice on the 1st covering the retainer (if any) plus the performance fee for every winning test rolled out last month. 8 day payment terms. Third-party costs (test tools, apps) paid by the client.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53</a:t>
            </a:r>
          </a:p>
        </p:txBody>
      </p:sp>
      <p:sp>
        <p:nvSpPr>
          <p:cNvPr id="7" name="TextBox 6"/>
          <p:cNvSpPr txBox="1"/>
          <p:nvPr/>
        </p:nvSpPr>
        <p:spPr>
          <a:xfrm>
            <a:off x="731520" y="2468880"/>
            <a:ext cx="10058400" cy="914400"/>
          </a:xfrm>
          <a:prstGeom prst="rect">
            <a:avLst/>
          </a:prstGeom>
          <a:noFill/>
        </p:spPr>
        <p:txBody>
          <a:bodyPr wrap="square" lIns="0" rIns="0" tIns="0" bIns="0" anchor="t">
            <a:spAutoFit/>
          </a:bodyPr>
          <a:lstStyle/>
          <a:p>
            <a:pPr algn="ctr"/>
            <a:r>
              <a:rPr sz="5600" b="1" i="0" spc="-100">
                <a:solidFill>
                  <a:srgbClr val="FFFFFF"/>
                </a:solidFill>
                <a:latin typeface="Helvetica Neue"/>
              </a:rPr>
              <a:t>Thank you</a:t>
            </a:r>
          </a:p>
        </p:txBody>
      </p:sp>
      <p:sp>
        <p:nvSpPr>
          <p:cNvPr id="8" name="TextBox 7"/>
          <p:cNvSpPr txBox="1"/>
          <p:nvPr/>
        </p:nvSpPr>
        <p:spPr>
          <a:xfrm>
            <a:off x="1828800" y="3566160"/>
            <a:ext cx="8503920" cy="640080"/>
          </a:xfrm>
          <a:prstGeom prst="rect">
            <a:avLst/>
          </a:prstGeom>
          <a:noFill/>
        </p:spPr>
        <p:txBody>
          <a:bodyPr wrap="square" lIns="0" rIns="0" tIns="0" bIns="0" anchor="t">
            <a:spAutoFit/>
          </a:bodyPr>
          <a:lstStyle/>
          <a:p>
            <a:pPr algn="ctr"/>
            <a:r>
              <a:rPr sz="1500" b="0" i="0">
                <a:solidFill>
                  <a:srgbClr val="F7D007"/>
                </a:solidFill>
                <a:latin typeface="Helvetica Neue"/>
              </a:rPr>
              <a:t>Recommended first sprint: fix measurement, then the legality trust block, the delivery promise, and cart shipping clarity.</a:t>
            </a:r>
          </a:p>
        </p:txBody>
      </p:sp>
      <p:sp>
        <p:nvSpPr>
          <p:cNvPr id="9" name="TextBox 8"/>
          <p:cNvSpPr txBox="1"/>
          <p:nvPr/>
        </p:nvSpPr>
        <p:spPr>
          <a:xfrm>
            <a:off x="1828800" y="4297680"/>
            <a:ext cx="8503920" cy="365760"/>
          </a:xfrm>
          <a:prstGeom prst="rect">
            <a:avLst/>
          </a:prstGeom>
          <a:noFill/>
        </p:spPr>
        <p:txBody>
          <a:bodyPr wrap="square" lIns="0" rIns="0" tIns="0" bIns="0" anchor="t">
            <a:spAutoFit/>
          </a:bodyPr>
          <a:lstStyle/>
          <a:p>
            <a:pPr algn="ctr"/>
            <a:r>
              <a:rPr sz="1300" b="0" i="0">
                <a:solidFill>
                  <a:srgbClr val="999999"/>
                </a:solidFill>
                <a:latin typeface="Helvetica Neue"/>
              </a:rPr>
              <a:t>Prepared by EcomHouse for dittvin.se.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